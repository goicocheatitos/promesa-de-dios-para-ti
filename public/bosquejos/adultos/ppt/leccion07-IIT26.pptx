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45720"/>
            <a:ext cx="2514600" cy="777240"/>
          </a:xfrm>
          <a:prstGeom prst="rect">
            <a:avLst/>
          </a:prstGeom>
          <a:solidFill>
            <a:srgbClr val="0D7377">
              <a:alpha val="70000"/>
            </a:srgbClr>
          </a:solidFill>
          <a:ln w="12700">
            <a:solidFill>
              <a:srgbClr val="0D7377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713232"/>
            <a:ext cx="1783080" cy="502920"/>
          </a:xfrm>
          <a:prstGeom prst="rect">
            <a:avLst/>
          </a:prstGeom>
          <a:solidFill>
            <a:srgbClr val="0D7377">
              <a:alpha val="45000"/>
            </a:srgbClr>
          </a:solidFill>
          <a:ln w="12700">
            <a:solidFill>
              <a:srgbClr val="0D7377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3566160"/>
            <a:ext cx="1554480" cy="1645920"/>
          </a:xfrm>
          <a:prstGeom prst="rect">
            <a:avLst/>
          </a:prstGeom>
          <a:solidFill>
            <a:srgbClr val="0D7377">
              <a:alpha val="45000"/>
            </a:srgbClr>
          </a:solidFill>
          <a:ln w="12700">
            <a:solidFill>
              <a:srgbClr val="0D7377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051560"/>
            <a:ext cx="118872" cy="24688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2860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PRINCIPALES DE LA LECCIÓN DE ESCUELA SABÁTICA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13232" y="68580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 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105156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ORACIÓN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13232" y="21488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Sábado 16 de mayo de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" y="2514600"/>
            <a:ext cx="8229600" cy="10241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7377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2514600"/>
            <a:ext cx="118872" cy="10241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32888"/>
            <a:ext cx="79095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memorizar: </a:t>
            </a:r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"Pueblos, esperen en él en todo tiempo; derramen ante él su corazón. Dios es nuestro refugio."  —  Salmo 62:8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1]  MOTIVA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Reflexiona antes de comenzar: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8631936" cy="160020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04672"/>
            <a:ext cx="128016" cy="1600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32104"/>
            <a:ext cx="832104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GPS:  </a:t>
            </a:r>
            <a:pPr indent="0" marL="0">
              <a:buNone/>
            </a:pPr>
            <a:r>
              <a:rPr lang="en-US" sz="14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te enseñó Jesús a orar, y qué elementos de alabanza, confesión, petición y gratitud faltan o necesitan fortalecerse en tu vida de oración?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" y="2532888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2532888"/>
            <a:ext cx="128016" cy="749808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7860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¿Cómo es tu oración típica? ¿Es principalmente una lista de peticiones o incluye también alabanza, confesión y gratitud genuinas?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56032" y="3419856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3419856"/>
            <a:ext cx="128016" cy="749808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65576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¿Has experimentado algún momento en que sentiste que Dios no respondía tus oraciones? ¿Qué aprendiste de esa experiencia?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¿Qué dice la Biblia?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1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oración en la crisis y la espera en Dios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Elías oró en la victoria del Carmelo y en el valle del desánimo. Dios respondió a ambas oraciones con poder pero también con ternura. La oración nos sostiene en los extremos de la experiencia.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Reyes 19:1-18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Rey. 19:1-4  —  </a:t>
            </a:r>
            <a:pPr indent="0" marL="0">
              <a:buNone/>
            </a:pPr>
            <a:r>
              <a:rPr lang="en-US" sz="115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profeta agotado que ora en el desierto: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la gran victoria en el Carmelo, Elías cayó en depresión y pidió morir. Su oración honesta revela que Dios acepta nuestras crisis emocionales y responde con compasión.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Rey. 19:5-8  —  </a:t>
            </a:r>
            <a:pPr indent="0" marL="0">
              <a:buNone/>
            </a:pPr>
            <a:r>
              <a:rPr lang="en-US" sz="115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Dios provee antes de responder: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hablarle, Dios atendió las necesidades físicas de Elías: comida y descanso. A veces la respuesta de Dios a nuestra oración comienza con el cuidado de nuestro cuerpo y mente.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Rey. 19:11-13  —  </a:t>
            </a:r>
            <a:pPr indent="0" marL="0">
              <a:buNone/>
            </a:pPr>
            <a:r>
              <a:rPr lang="en-US" sz="115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voz del silencio apacible: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Dios no estaba en el viento, el terremoto o el fuego, sino en una voz apacible y delicada. Aprender a escuchar esa voz requiere quietud, espera y disposición a ser guiados por él.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¿Qué dice la Biblia?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2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oración que Jesús nos enseñó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rechazó las oraciones ostentosas y rituales. En su lugar nos enseñó a orar como hijos que hablan con su Padre: con sencillez, sinceridad y confianza, siguiendo el modelo del Padrenuestro.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11:2-4; Mateo 6:5-15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Mat. 6:5-8  —  </a:t>
            </a:r>
            <a:pPr indent="0" marL="0">
              <a:buNone/>
            </a:pPr>
            <a:r>
              <a:rPr lang="en-US" sz="115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oración no es teatro: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condenó las oraciones largas y ostentosas hechas para ser vistos. La oración genuina es comunicación privada con el Padre que conoce lo que necesitamos antes de que lo pidamos.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Luc. 11:2-4  —  </a:t>
            </a:r>
            <a:pPr indent="0" marL="0">
              <a:buNone/>
            </a:pPr>
            <a:r>
              <a:rPr lang="en-US" sz="115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Padre nuestro: la estructura del Padrenuestro: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enseñó a comenzar reconociendo la paternidad de Dios, su santidad y su reino, antes de pedir el pan de cada día, el perdón y la liberación del mal. Este orden revela las prioridades correctas.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Mat. 6:14-15  —  </a:t>
            </a:r>
            <a:pPr indent="0" marL="0">
              <a:buNone/>
            </a:pPr>
            <a:r>
              <a:rPr lang="en-US" sz="115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Perdonar para ser perdonados: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conecta directamente el perdón divino con nuestra disposición a perdonar. Una oración genuina no puede coexistir con el rencor hacia los demás en nuestro corazón.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¿Qué dice la Biblia?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3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elementos de la oración genuina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nos muestra en su oración del capítulo 9 los componentes de una intercesión poderosa: alabanza, confesión honesta, petición basada en el carácter de Dios y dependencia del Espíritu Santo.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9:4-19; Romanos 8:26-27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Dan. 9:4-6  —  </a:t>
            </a:r>
            <a:pPr indent="0" marL="0">
              <a:buNone/>
            </a:pPr>
            <a:r>
              <a:rPr lang="en-US" sz="115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Confesión honesta sin excusas: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confiesa los pecados del pueblo sin minimizarlos ni buscar excusas. La confesión genuina abre el camino para que Dios actúe con gracia y misericordia en nuestra vida.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Dan. 9:17-19  —  </a:t>
            </a:r>
            <a:pPr indent="0" marL="0">
              <a:buNone/>
            </a:pPr>
            <a:r>
              <a:rPr lang="en-US" sz="115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Petición fundamentada en la misericordia de Dios: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no pide basándose en los méritos del pueblo sino en la misericordia y justicia de Dios. Toda oración efectiva descansa en el carácter divino, no en nuestros merecimientos.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Rom. 8:26-27  —  </a:t>
            </a:r>
            <a:pPr indent="0" marL="0">
              <a:buNone/>
            </a:pPr>
            <a:r>
              <a:rPr lang="en-US" sz="115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Espíritu intercede por nosotros: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no sabemos orar como deberíamos, el Espíritu Santo intercede por nosotros con gemidos indecibles. No estamos solos en nuestra oración: el Espíritu nos ayuda en nuestra debilidad.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6B44"/>
          </a:solidFill>
          <a:ln w="12700">
            <a:solidFill>
              <a:srgbClr val="1A6B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3]  APLICA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E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Reflexión personal: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68096"/>
            <a:ext cx="8686800" cy="1325880"/>
          </a:xfrm>
          <a:prstGeom prst="rect">
            <a:avLst/>
          </a:prstGeom>
          <a:solidFill>
            <a:srgbClr val="EAF7EF"/>
          </a:solidFill>
          <a:ln w="12700">
            <a:solidFill>
              <a:srgbClr val="88C5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68096"/>
            <a:ext cx="128016" cy="1325880"/>
          </a:xfrm>
          <a:prstGeom prst="rect">
            <a:avLst/>
          </a:prstGeom>
          <a:solidFill>
            <a:srgbClr val="1A6B44"/>
          </a:solidFill>
          <a:ln w="12700">
            <a:solidFill>
              <a:srgbClr val="1A6B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22960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6B44"/>
                </a:solidFill>
              </a:rPr>
              <a:t>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795528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 consultamos nuestras dudas y temores, solo se acrecentarán las perplejidades. Pero si vamos a Dios sintiéndonos desvalidos y dependientes, con humildad y confiada fe le presentamos nuestras necesidades, él puede y va a atender nuestro clamor."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75564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1A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Elena de White, El camino a Cristo, pp. 82, 83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148840"/>
            <a:ext cx="8686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88C5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148840"/>
            <a:ext cx="128016" cy="832104"/>
          </a:xfrm>
          <a:prstGeom prst="rect">
            <a:avLst/>
          </a:prstGeom>
          <a:solidFill>
            <a:srgbClr val="1A6B44"/>
          </a:solidFill>
          <a:ln w="12700">
            <a:solidFill>
              <a:srgbClr val="1A6B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222199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momento de tu vida la oración te ha sostenido cuando sentías que Dios no respondía? ¿Qué te enseñó esa experiencia de espera?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3017520"/>
            <a:ext cx="8686800" cy="832104"/>
          </a:xfrm>
          <a:prstGeom prst="rect">
            <a:avLst/>
          </a:prstGeom>
          <a:solidFill>
            <a:srgbClr val="EAF7EF"/>
          </a:solidFill>
          <a:ln w="12700">
            <a:solidFill>
              <a:srgbClr val="88C5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017520"/>
            <a:ext cx="128016" cy="832104"/>
          </a:xfrm>
          <a:prstGeom prst="rect">
            <a:avLst/>
          </a:prstGeom>
          <a:solidFill>
            <a:srgbClr val="1A6B44"/>
          </a:solidFill>
          <a:ln w="12700">
            <a:solidFill>
              <a:srgbClr val="1A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09067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medida el Padrenuestro estructura y enriquece tu oración diaria? ¿Qué elementos de ese modelo necesitas incorporar con más intención?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3886200"/>
            <a:ext cx="8686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88C5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886200"/>
            <a:ext cx="128016" cy="832104"/>
          </a:xfrm>
          <a:prstGeom prst="rect">
            <a:avLst/>
          </a:prstGeom>
          <a:solidFill>
            <a:srgbClr val="1A6B44"/>
          </a:solidFill>
          <a:ln w="12700">
            <a:solidFill>
              <a:srgbClr val="1A6B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395935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¿Tu oración incluye momentos de alabanza sincera y confesión honesta, o es principalmente una lista de peticiones? ¿Qué cambio deseas hacer?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7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2194560" cy="2011680"/>
          </a:xfrm>
          <a:prstGeom prst="rect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" y="3291840"/>
            <a:ext cx="1645920" cy="1920240"/>
          </a:xfrm>
          <a:prstGeom prst="rect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56032"/>
            <a:ext cx="2743200" cy="43891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5603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4]  CREA  — MI DECISIÓN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" y="804672"/>
            <a:ext cx="118872" cy="3886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822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tu respuesta honesta para esta semana: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1325880"/>
            <a:ext cx="8229600" cy="9966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453896"/>
            <a:ext cx="292608" cy="29260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453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78992" y="1399032"/>
            <a:ext cx="6647688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 usaré el Padrenuestro como guía para enriquecer mi oración diaria, incluyendo alabanza y confesión.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18120" y="1399032"/>
            <a:ext cx="9144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Sí  ☐ No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2377440"/>
            <a:ext cx="8229600" cy="996696"/>
          </a:xfrm>
          <a:prstGeom prst="rect">
            <a:avLst/>
          </a:prstGeom>
          <a:solidFill>
            <a:srgbClr val="E0F4F4">
              <a:alpha val="92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2505456"/>
            <a:ext cx="292608" cy="29260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78992" y="2450592"/>
            <a:ext cx="6647688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Llevaré un diario de oración donde registraré mis peticiones y las respuestas de Dios para fortalecer mi fe.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818120" y="2450592"/>
            <a:ext cx="9144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Sí  ☐ No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3429000"/>
            <a:ext cx="8229600" cy="9966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557016"/>
            <a:ext cx="292608" cy="29260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78992" y="3502152"/>
            <a:ext cx="6647688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Oraré por alguien con quien tengo dificultades, pidiendo a Dios que obre en esa relación y en mi propio corazón.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818120" y="3502152"/>
            <a:ext cx="9144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Sí  ☐ No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7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8040" y="0"/>
            <a:ext cx="2011680" cy="1828800"/>
          </a:xfrm>
          <a:prstGeom prst="rect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1691640"/>
            <a:ext cx="1371600" cy="1371600"/>
          </a:xfrm>
          <a:prstGeom prst="rect">
            <a:avLst/>
          </a:prstGeom>
          <a:solidFill>
            <a:srgbClr val="0D7377">
              <a:alpha val="25000"/>
            </a:srgbClr>
          </a:solidFill>
          <a:ln w="12700">
            <a:solidFill>
              <a:srgbClr val="0D7377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3520440"/>
            <a:ext cx="1920240" cy="1783080"/>
          </a:xfrm>
          <a:prstGeom prst="rect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005840"/>
            <a:ext cx="118872" cy="24231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8229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58368" y="24231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306324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- DSA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Lección 7 · LA ORACIÓN</dc:title>
  <dc:subject>PptxGenJS Presentation</dc:subject>
  <dc:creator>Dr. Tito Goicochea M.</dc:creator>
  <cp:lastModifiedBy>Dr. Tito Goicochea M.</cp:lastModifiedBy>
  <cp:revision>1</cp:revision>
  <dcterms:created xsi:type="dcterms:W3CDTF">2026-03-15T16:06:18Z</dcterms:created>
  <dcterms:modified xsi:type="dcterms:W3CDTF">2026-03-15T16:06:18Z</dcterms:modified>
</cp:coreProperties>
</file>