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45720"/>
            <a:ext cx="2514600" cy="777240"/>
          </a:xfrm>
          <a:prstGeom prst="rect">
            <a:avLst/>
          </a:prstGeom>
          <a:solidFill>
            <a:srgbClr val="0D7377">
              <a:alpha val="70000"/>
            </a:srgbClr>
          </a:solidFill>
          <a:ln w="12700">
            <a:solidFill>
              <a:srgbClr val="0D7377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713232"/>
            <a:ext cx="1783080" cy="502920"/>
          </a:xfrm>
          <a:prstGeom prst="rect">
            <a:avLst/>
          </a:prstGeom>
          <a:solidFill>
            <a:srgbClr val="0D7377">
              <a:alpha val="45000"/>
            </a:srgbClr>
          </a:solidFill>
          <a:ln w="12700">
            <a:solidFill>
              <a:srgbClr val="0D7377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" y="3566160"/>
            <a:ext cx="1554480" cy="1645920"/>
          </a:xfrm>
          <a:prstGeom prst="rect">
            <a:avLst/>
          </a:prstGeom>
          <a:solidFill>
            <a:srgbClr val="0D7377">
              <a:alpha val="45000"/>
            </a:srgbClr>
          </a:solidFill>
          <a:ln w="12700">
            <a:solidFill>
              <a:srgbClr val="0D7377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051560"/>
            <a:ext cx="118872" cy="24688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2860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PRINCIPALES DE LA LECCIÓN DE ESCUELA SABÁTICA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13232" y="68580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 12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105156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COMPÁRTELO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13232" y="21488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Sábado 20 de junio de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" y="2514600"/>
            <a:ext cx="8229600" cy="10241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7377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2514600"/>
            <a:ext cx="118872" cy="10241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532888"/>
            <a:ext cx="79095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memorizar: </a:t>
            </a:r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"Dios, el Señor, me dio lengua de sabios para saber hablar palabra de aliento al cansado."  —  Isaías 50:4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1]  MOTIVA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Reflexiona antes de comenzar: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8631936" cy="160020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04672"/>
            <a:ext cx="128016" cy="1600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32104"/>
            <a:ext cx="832104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GPS:  </a:t>
            </a:r>
            <a:pPr indent="0" marL="0">
              <a:buNone/>
            </a:pPr>
            <a:r>
              <a:rPr lang="en-US" sz="14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transforma tu experiencia con Dios tu manera de compartir el evangelio, y qué esperanza ofreces a quienes se han alejado de él?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6032" y="2532888"/>
            <a:ext cx="86319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2532888"/>
            <a:ext cx="128016" cy="749808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7860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¿Cuándo fue la última vez que compartiste tu fe con alguien de manera natural y espontánea? ¿Cómo resultó esa experiencia?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56032" y="3419856"/>
            <a:ext cx="86319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3419856"/>
            <a:ext cx="128016" cy="749808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65576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¿Tienes seres queridos que se han alejado de Dios? ¿Qué sentimientos y preguntas te genera esa situación?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¿Qué dice la Biblia?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1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Gran Comisión: el llamado a testificar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últimas palabras de Jesús antes de ascender fueron una comisión universal: ir y hacer discípulos de todas las naciones. Esta misión no es opcional sino el resultado natural de una relación viva con él.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Mateo 28:18-20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Mat. 28:18  —  </a:t>
            </a:r>
            <a:pPr indent="0" marL="0">
              <a:buNone/>
            </a:pPr>
            <a:r>
              <a:rPr lang="en-US" sz="1150" b="1" dirty="0">
                <a:solidFill>
                  <a:srgbClr val="7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autoridad me ha sido dada: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 declara que tiene toda autoridad en el cielo y en la tierra. El testimonio cristiano no depende de nuestras fuerzas sino de la autoridad absoluta de quien nos envía.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Mat. 28:19  —  </a:t>
            </a:r>
            <a:pPr indent="0" marL="0">
              <a:buNone/>
            </a:pPr>
            <a:r>
              <a:rPr lang="en-US" sz="1150" b="1" dirty="0">
                <a:solidFill>
                  <a:srgbClr val="7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y haced discípulos: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mandato es claro: ir, hacer discípulos, bautizar. No es solo predicar información sino acompañar a las personas en el proceso de conocer a Cristo y crecer en su relación con él.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Mat. 28:20  —  </a:t>
            </a:r>
            <a:pPr indent="0" marL="0">
              <a:buNone/>
            </a:pPr>
            <a:r>
              <a:rPr lang="en-US" sz="1150" b="1" dirty="0">
                <a:solidFill>
                  <a:srgbClr val="7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 estaré con vosotros siempre: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 prometió su presencia hasta el fin del mundo. El testimonio no es una tarea que hacemos solos sino un privilegio que realizamos con la compañía permanente de Cristo.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¿Qué dice la Biblia?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2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amor de Dios que impulsa el testimonio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amor de Cristo nos impulsa a testificar, no la obligación o el miedo. Cuando el amor de Dios llena nuestro corazón, compartirlo se vuelve natural como la flor que no puede esconder su fragancia.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Pedro 3:8-15; 2 Corintios 5:14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Ped. 3:8-9  —  </a:t>
            </a:r>
            <a:pPr indent="0" marL="0">
              <a:buNone/>
            </a:pPr>
            <a:r>
              <a:rPr lang="en-US" sz="1150" b="1" dirty="0">
                <a:solidFill>
                  <a:srgbClr val="7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comunidad que atrae: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llama a los creyentes a ser unánimes, compasivos, fraternales y humildes. Una comunidad que vive estos valores se convierte en el testimonio más poderoso que cualquier discurso.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Ped. 3:13-14  —  </a:t>
            </a:r>
            <a:pPr indent="0" marL="0">
              <a:buNone/>
            </a:pPr>
            <a:r>
              <a:rPr lang="en-US" sz="1150" b="1" dirty="0">
                <a:solidFill>
                  <a:srgbClr val="7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Disposición a sufrir por el bien: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sufrimos por hacer el bien, somos bienaventurados. El testimonio auténtico no busca popularidad sino fidelidad a Dios, incluso cuando eso genera resistencia o incomprensión.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Ped. 3:15  —  </a:t>
            </a:r>
            <a:pPr indent="0" marL="0">
              <a:buNone/>
            </a:pPr>
            <a:r>
              <a:rPr lang="en-US" sz="1150" b="1" dirty="0">
                <a:solidFill>
                  <a:srgbClr val="7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Preparados para dar razón de la esperanza: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Debemos estar siempre preparados para dar razón de la esperanza que hay en nosotros, con mansedumbre y reverencia. El testimonio efectivo combina convicciones claras con actitud amorosa.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¿Qué dice la Biblia?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3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Esperanza para los que se han alejado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Dios no se da por vencido con quienes se alejan. A través de Oseas y Zacarías revela que su amor compasivo persigue a los hijos extraviados y que siempre hay esperanza para quienes vuelven a él.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Oseas 7; Zacarías 10:6-12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Ose. 7:13-15  —  </a:t>
            </a:r>
            <a:pPr indent="0" marL="0">
              <a:buNone/>
            </a:pPr>
            <a:r>
              <a:rPr lang="en-US" sz="1150" b="1" dirty="0">
                <a:solidFill>
                  <a:srgbClr val="7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Dios lamenta el alejamiento: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Dios expresa su dolor ante el pueblo que se ha alejado. Su corazón no se endurece ante la infidelidad sino que clama con dolor: 'Los redimí, pero ellos hablaron mentiras contra mí'.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Zac. 10:6  —  </a:t>
            </a:r>
            <a:pPr indent="0" marL="0">
              <a:buNone/>
            </a:pPr>
            <a:r>
              <a:rPr lang="en-US" sz="1150" b="1" dirty="0">
                <a:solidFill>
                  <a:srgbClr val="7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fortaleceré y los haré volver: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Dios promete fortalecer a Judá y salvar a José. Los reunirá como cuando nunca los hubiese desechado. No hay alejamiento tan profundo que esté más allá del alcance de su amor restaurador.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Jer. 31:16-17  —  </a:t>
            </a:r>
            <a:pPr indent="0" marL="0">
              <a:buNone/>
            </a:pPr>
            <a:r>
              <a:rPr lang="en-US" sz="1150" b="1" dirty="0">
                <a:solidFill>
                  <a:srgbClr val="7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Esperanza para tu futuro: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Dios dice a Raquel que deje el llanto porque hay recompensa para su trabajo y esperanza para su futuro: los hijos volverán. Esta promesa es para todos los que interceden por seres queridos alejados.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6B44"/>
          </a:solidFill>
          <a:ln w="12700">
            <a:solidFill>
              <a:srgbClr val="1A6B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3]  APLICA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E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Reflexión personal: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768096"/>
            <a:ext cx="8686800" cy="1325880"/>
          </a:xfrm>
          <a:prstGeom prst="rect">
            <a:avLst/>
          </a:prstGeom>
          <a:solidFill>
            <a:srgbClr val="EAF7EF"/>
          </a:solidFill>
          <a:ln w="12700">
            <a:solidFill>
              <a:srgbClr val="88C5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68096"/>
            <a:ext cx="128016" cy="1325880"/>
          </a:xfrm>
          <a:prstGeom prst="rect">
            <a:avLst/>
          </a:prstGeom>
          <a:solidFill>
            <a:srgbClr val="1A6B44"/>
          </a:solidFill>
          <a:ln w="12700">
            <a:solidFill>
              <a:srgbClr val="1A6B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822960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6B44"/>
                </a:solidFill>
              </a:rPr>
              <a:t>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795528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"Las personas que se ocupan más activamente en hacer con interés y fidelidad la obra que les corresponde en la tarea de ganar almas para Cristo son las que más se desarrollan en espiritualidad y devoción."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175564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1A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Elena de White, El evangelismo, p. 358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2148840"/>
            <a:ext cx="86868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88C5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148840"/>
            <a:ext cx="128016" cy="832104"/>
          </a:xfrm>
          <a:prstGeom prst="rect">
            <a:avLst/>
          </a:prstGeom>
          <a:solidFill>
            <a:srgbClr val="1A6B44"/>
          </a:solidFill>
          <a:ln w="12700">
            <a:solidFill>
              <a:srgbClr val="1A6B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222199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¿Con quién específico sientes que Dios te está llamando a compartir tu fe en este momento? ¿Qué primer paso podrías dar esta semana?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" y="3017520"/>
            <a:ext cx="8686800" cy="832104"/>
          </a:xfrm>
          <a:prstGeom prst="rect">
            <a:avLst/>
          </a:prstGeom>
          <a:solidFill>
            <a:srgbClr val="EAF7EF"/>
          </a:solidFill>
          <a:ln w="12700">
            <a:solidFill>
              <a:srgbClr val="88C5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017520"/>
            <a:ext cx="128016" cy="832104"/>
          </a:xfrm>
          <a:prstGeom prst="rect">
            <a:avLst/>
          </a:prstGeom>
          <a:solidFill>
            <a:srgbClr val="1A6B44"/>
          </a:solidFill>
          <a:ln w="12700">
            <a:solidFill>
              <a:srgbClr val="1A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309067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¿Tu testimonio es impulsado más por el amor a las personas o por la obligación religiosa? ¿Cómo podría el amor de Dios transformar tu motivación para testificar?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3886200"/>
            <a:ext cx="86868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88C5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886200"/>
            <a:ext cx="128016" cy="832104"/>
          </a:xfrm>
          <a:prstGeom prst="rect">
            <a:avLst/>
          </a:prstGeom>
          <a:solidFill>
            <a:srgbClr val="1A6B44"/>
          </a:solidFill>
          <a:ln w="12700">
            <a:solidFill>
              <a:srgbClr val="1A6B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395935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¿Tienes a alguien cercano que se ha alejado de Dios? ¿Qué actitud y acción concreta te invita Dios a tener hacia esa persona esta semana?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7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2194560" cy="2011680"/>
          </a:xfrm>
          <a:prstGeom prst="rect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" y="3291840"/>
            <a:ext cx="1645920" cy="1920240"/>
          </a:xfrm>
          <a:prstGeom prst="rect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56032"/>
            <a:ext cx="2743200" cy="43891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5603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4]  CREA  — MI DECISIÓN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7472" y="804672"/>
            <a:ext cx="118872" cy="3886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8229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tu respuesta honesta para esta semana: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1325880"/>
            <a:ext cx="8229600" cy="9966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D7377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453896"/>
            <a:ext cx="292608" cy="29260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453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78992" y="1399032"/>
            <a:ext cx="6647688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 oraré diariamente por una persona específica que no conoce a Cristo o que se ha alejado de él.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18120" y="1399032"/>
            <a:ext cx="9144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Sí  ☐ No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2377440"/>
            <a:ext cx="8229600" cy="996696"/>
          </a:xfrm>
          <a:prstGeom prst="rect">
            <a:avLst/>
          </a:prstGeom>
          <a:solidFill>
            <a:srgbClr val="E0F4F4">
              <a:alpha val="92000"/>
            </a:srgbClr>
          </a:solidFill>
          <a:ln w="12700">
            <a:solidFill>
              <a:srgbClr val="0D7377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2505456"/>
            <a:ext cx="292608" cy="29260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78992" y="2450592"/>
            <a:ext cx="6647688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Buscaré una oportunidad natural de compartir mi testimonio personal de cómo Dios ha transformado mi vida.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818120" y="2450592"/>
            <a:ext cx="9144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Sí  ☐ No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3429000"/>
            <a:ext cx="8229600" cy="9966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D7377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3557016"/>
            <a:ext cx="292608" cy="29260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78992" y="3502152"/>
            <a:ext cx="6647688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tengo un ser querido alejado de Dios, me acercaré a él con amor y sin juicio, confiando en el poder de la oración.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818120" y="3502152"/>
            <a:ext cx="9144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Sí  ☐ No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7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8040" y="0"/>
            <a:ext cx="2011680" cy="1828800"/>
          </a:xfrm>
          <a:prstGeom prst="rect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8120" y="1691640"/>
            <a:ext cx="1371600" cy="1371600"/>
          </a:xfrm>
          <a:prstGeom prst="rect">
            <a:avLst/>
          </a:prstGeom>
          <a:solidFill>
            <a:srgbClr val="0D7377">
              <a:alpha val="25000"/>
            </a:srgbClr>
          </a:solidFill>
          <a:ln w="12700">
            <a:solidFill>
              <a:srgbClr val="0D7377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" y="3520440"/>
            <a:ext cx="1920240" cy="1783080"/>
          </a:xfrm>
          <a:prstGeom prst="rect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005840"/>
            <a:ext cx="118872" cy="24231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8229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58368" y="24231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306324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- DSA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B1F3A"/>
          </a:solidFill>
          <a:ln w="12700">
            <a:solidFill>
              <a:srgbClr val="7B1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Bosquejo Lección Escuela Sabática II Trimestre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Lección 12 · COMPÁRTELO</dc:title>
  <dc:subject>PptxGenJS Presentation</dc:subject>
  <dc:creator>Dr. Tito Goicochea M.</dc:creator>
  <cp:lastModifiedBy>Dr. Tito Goicochea M.</cp:lastModifiedBy>
  <cp:revision>1</cp:revision>
  <dcterms:created xsi:type="dcterms:W3CDTF">2026-03-15T16:06:19Z</dcterms:created>
  <dcterms:modified xsi:type="dcterms:W3CDTF">2026-03-15T16:06:19Z</dcterms:modified>
</cp:coreProperties>
</file>