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6675120" y="-45720"/>
            <a:ext cx="2514600" cy="777240"/>
          </a:xfrm>
          <a:prstGeom prst="rect">
            <a:avLst/>
          </a:prstGeom>
          <a:solidFill>
            <a:srgbClr val="E87C1E">
              <a:alpha val="70000"/>
            </a:srgbClr>
          </a:solidFill>
          <a:ln w="12700">
            <a:solidFill>
              <a:srgbClr val="E87C1E">
                <a:alpha val="70000"/>
              </a:srgbClr>
            </a:solidFill>
            <a:prstDash val="solid"/>
          </a:ln>
        </p:spPr>
      </p:sp>
      <p:sp>
        <p:nvSpPr>
          <p:cNvPr id="3" name="Shape 1"/>
          <p:cNvSpPr/>
          <p:nvPr/>
        </p:nvSpPr>
        <p:spPr>
          <a:xfrm>
            <a:off x="7406640" y="713232"/>
            <a:ext cx="1783080" cy="502920"/>
          </a:xfrm>
          <a:prstGeom prst="rect">
            <a:avLst/>
          </a:prstGeom>
          <a:solidFill>
            <a:srgbClr val="E87C1E">
              <a:alpha val="45000"/>
            </a:srgbClr>
          </a:solidFill>
          <a:ln w="12700">
            <a:solidFill>
              <a:srgbClr val="E87C1E">
                <a:alpha val="45000"/>
              </a:srgbClr>
            </a:solidFill>
            <a:prstDash val="solid"/>
          </a:ln>
        </p:spPr>
      </p:sp>
      <p:sp>
        <p:nvSpPr>
          <p:cNvPr id="4" name="Shape 2"/>
          <p:cNvSpPr/>
          <p:nvPr/>
        </p:nvSpPr>
        <p:spPr>
          <a:xfrm>
            <a:off x="-45720" y="3566160"/>
            <a:ext cx="1554480" cy="1645920"/>
          </a:xfrm>
          <a:prstGeom prst="rect">
            <a:avLst/>
          </a:prstGeom>
          <a:solidFill>
            <a:srgbClr val="E87C1E">
              <a:alpha val="45000"/>
            </a:srgbClr>
          </a:solidFill>
          <a:ln w="12700">
            <a:solidFill>
              <a:srgbClr val="E87C1E">
                <a:alpha val="45000"/>
              </a:srgbClr>
            </a:solidFill>
            <a:prstDash val="solid"/>
          </a:ln>
        </p:spPr>
      </p:sp>
      <p:sp>
        <p:nvSpPr>
          <p:cNvPr id="5" name="Shape 3"/>
          <p:cNvSpPr/>
          <p:nvPr/>
        </p:nvSpPr>
        <p:spPr>
          <a:xfrm>
            <a:off x="475488" y="1051560"/>
            <a:ext cx="118872" cy="2468880"/>
          </a:xfrm>
          <a:prstGeom prst="rect">
            <a:avLst/>
          </a:prstGeom>
          <a:solidFill>
            <a:srgbClr val="E87C1E"/>
          </a:solidFill>
          <a:ln w="12700">
            <a:solidFill>
              <a:srgbClr val="E87C1E"/>
            </a:solidFill>
            <a:prstDash val="solid"/>
          </a:ln>
        </p:spPr>
      </p:sp>
      <p:sp>
        <p:nvSpPr>
          <p:cNvPr id="6" name="Text 4"/>
          <p:cNvSpPr/>
          <p:nvPr/>
        </p:nvSpPr>
        <p:spPr>
          <a:xfrm>
            <a:off x="713232" y="228600"/>
            <a:ext cx="7772400" cy="475488"/>
          </a:xfrm>
          <a:prstGeom prst="rect">
            <a:avLst/>
          </a:prstGeom>
          <a:noFill/>
          <a:ln/>
        </p:spPr>
        <p:txBody>
          <a:bodyPr wrap="square" rtlCol="0" anchor="ctr"/>
          <a:lstStyle/>
          <a:p>
            <a:pPr indent="0" marL="0">
              <a:buNone/>
            </a:pPr>
            <a:r>
              <a:rPr lang="en-US" sz="1250" b="1" spc="100" kern="0" dirty="0">
                <a:solidFill>
                  <a:srgbClr val="D0E4F5"/>
                </a:solidFill>
                <a:latin typeface="Calibri" pitchFamily="34" charset="0"/>
                <a:ea typeface="Calibri" pitchFamily="34" charset="-122"/>
                <a:cs typeface="Calibri" pitchFamily="34" charset="-120"/>
              </a:rPr>
              <a:t>PUNTOS PRINCIPALES DE LA LECCIÓN DE ESCUELA SABÁTICA</a:t>
            </a:r>
            <a:endParaRPr lang="en-US" sz="1250" dirty="0"/>
          </a:p>
        </p:txBody>
      </p:sp>
      <p:sp>
        <p:nvSpPr>
          <p:cNvPr id="7" name="Text 5"/>
          <p:cNvSpPr/>
          <p:nvPr/>
        </p:nvSpPr>
        <p:spPr>
          <a:xfrm>
            <a:off x="713232" y="685800"/>
            <a:ext cx="7772400" cy="384048"/>
          </a:xfrm>
          <a:prstGeom prst="rect">
            <a:avLst/>
          </a:prstGeom>
          <a:noFill/>
          <a:ln/>
        </p:spPr>
        <p:txBody>
          <a:bodyPr wrap="square" rtlCol="0" anchor="ctr"/>
          <a:lstStyle/>
          <a:p>
            <a:pPr indent="0" marL="0">
              <a:buNone/>
            </a:pPr>
            <a:r>
              <a:rPr lang="en-US" sz="1400" b="1" spc="200" kern="0" dirty="0">
                <a:solidFill>
                  <a:srgbClr val="E87C1E"/>
                </a:solidFill>
                <a:latin typeface="Calibri" pitchFamily="34" charset="0"/>
                <a:ea typeface="Calibri" pitchFamily="34" charset="-122"/>
                <a:cs typeface="Calibri" pitchFamily="34" charset="-120"/>
              </a:rPr>
              <a:t>Lección 5</a:t>
            </a:r>
            <a:endParaRPr lang="en-US" sz="1400" dirty="0"/>
          </a:p>
        </p:txBody>
      </p:sp>
      <p:sp>
        <p:nvSpPr>
          <p:cNvPr id="8" name="Text 6"/>
          <p:cNvSpPr/>
          <p:nvPr/>
        </p:nvSpPr>
        <p:spPr>
          <a:xfrm>
            <a:off x="713232" y="1051560"/>
            <a:ext cx="7498080" cy="1005840"/>
          </a:xfrm>
          <a:prstGeom prst="rect">
            <a:avLst/>
          </a:prstGeom>
          <a:noFill/>
          <a:ln/>
        </p:spPr>
        <p:txBody>
          <a:bodyPr wrap="square" rtlCol="0" anchor="ctr"/>
          <a:lstStyle/>
          <a:p>
            <a:pPr indent="0" marL="0">
              <a:buNone/>
            </a:pPr>
            <a:r>
              <a:rPr lang="en-US" sz="4000" b="1" spc="200" kern="0" dirty="0">
                <a:solidFill>
                  <a:srgbClr val="FFFFFF"/>
                </a:solidFill>
                <a:latin typeface="Calibri" pitchFamily="34" charset="0"/>
                <a:ea typeface="Calibri" pitchFamily="34" charset="-122"/>
                <a:cs typeface="Calibri" pitchFamily="34" charset="-120"/>
              </a:rPr>
              <a:t>CÓMO ESTUDIAR LA BIBLIA</a:t>
            </a:r>
            <a:endParaRPr lang="en-US" sz="4000" dirty="0"/>
          </a:p>
        </p:txBody>
      </p:sp>
      <p:sp>
        <p:nvSpPr>
          <p:cNvPr id="9" name="Text 7"/>
          <p:cNvSpPr/>
          <p:nvPr/>
        </p:nvSpPr>
        <p:spPr>
          <a:xfrm>
            <a:off x="713232" y="2148840"/>
            <a:ext cx="7772400" cy="347472"/>
          </a:xfrm>
          <a:prstGeom prst="rect">
            <a:avLst/>
          </a:prstGeom>
          <a:noFill/>
          <a:ln/>
        </p:spPr>
        <p:txBody>
          <a:bodyPr wrap="square" rtlCol="0" anchor="ctr"/>
          <a:lstStyle/>
          <a:p>
            <a:pPr indent="0" marL="0">
              <a:buNone/>
            </a:pPr>
            <a:r>
              <a:rPr lang="en-US" sz="1300" i="1" dirty="0">
                <a:solidFill>
                  <a:srgbClr val="D0E4F5"/>
                </a:solidFill>
                <a:latin typeface="Calibri" pitchFamily="34" charset="0"/>
                <a:ea typeface="Calibri" pitchFamily="34" charset="-122"/>
                <a:cs typeface="Calibri" pitchFamily="34" charset="-120"/>
              </a:rPr>
              <a:t>Para el Sábado 2 de mayo de 2026</a:t>
            </a:r>
            <a:endParaRPr lang="en-US" sz="1300" dirty="0"/>
          </a:p>
        </p:txBody>
      </p:sp>
      <p:sp>
        <p:nvSpPr>
          <p:cNvPr id="10" name="Shape 8"/>
          <p:cNvSpPr/>
          <p:nvPr/>
        </p:nvSpPr>
        <p:spPr>
          <a:xfrm>
            <a:off x="475488" y="2514600"/>
            <a:ext cx="8229600" cy="1024128"/>
          </a:xfrm>
          <a:prstGeom prst="rect">
            <a:avLst/>
          </a:prstGeom>
          <a:solidFill>
            <a:srgbClr val="FFFFFF">
              <a:alpha val="10000"/>
            </a:srgbClr>
          </a:solidFill>
          <a:ln w="12700">
            <a:solidFill>
              <a:srgbClr val="E87C1E">
                <a:alpha val="75000"/>
              </a:srgbClr>
            </a:solidFill>
            <a:prstDash val="solid"/>
          </a:ln>
        </p:spPr>
      </p:sp>
      <p:sp>
        <p:nvSpPr>
          <p:cNvPr id="11" name="Shape 9"/>
          <p:cNvSpPr/>
          <p:nvPr/>
        </p:nvSpPr>
        <p:spPr>
          <a:xfrm>
            <a:off x="475488" y="2514600"/>
            <a:ext cx="118872" cy="1024128"/>
          </a:xfrm>
          <a:prstGeom prst="rect">
            <a:avLst/>
          </a:prstGeom>
          <a:solidFill>
            <a:srgbClr val="E87C1E"/>
          </a:solidFill>
          <a:ln w="12700">
            <a:solidFill>
              <a:srgbClr val="E87C1E"/>
            </a:solidFill>
            <a:prstDash val="solid"/>
          </a:ln>
        </p:spPr>
      </p:sp>
      <p:sp>
        <p:nvSpPr>
          <p:cNvPr id="12" name="Text 10"/>
          <p:cNvSpPr/>
          <p:nvPr/>
        </p:nvSpPr>
        <p:spPr>
          <a:xfrm>
            <a:off x="658368" y="2532888"/>
            <a:ext cx="7909560" cy="987552"/>
          </a:xfrm>
          <a:prstGeom prst="rect">
            <a:avLst/>
          </a:prstGeom>
          <a:noFill/>
          <a:ln/>
        </p:spPr>
        <p:txBody>
          <a:bodyPr wrap="square" rtlCol="0" anchor="ctr"/>
          <a:lstStyle/>
          <a:p>
            <a:pPr indent="0" marL="0">
              <a:buNone/>
            </a:pPr>
            <a:r>
              <a:rPr lang="en-US" sz="900" b="1" dirty="0">
                <a:solidFill>
                  <a:srgbClr val="E87C1E"/>
                </a:solidFill>
                <a:latin typeface="Calibri" pitchFamily="34" charset="0"/>
                <a:ea typeface="Calibri" pitchFamily="34" charset="-122"/>
                <a:cs typeface="Calibri" pitchFamily="34" charset="-120"/>
              </a:rPr>
              <a:t>Para memorizar: </a:t>
            </a:r>
            <a:pPr indent="0" marL="0">
              <a:buNone/>
            </a:pPr>
            <a:r>
              <a:rPr lang="en-US" sz="1150" i="1" dirty="0">
                <a:solidFill>
                  <a:srgbClr val="FFFFFF"/>
                </a:solidFill>
                <a:latin typeface="Calibri" pitchFamily="34" charset="0"/>
                <a:ea typeface="Calibri" pitchFamily="34" charset="-122"/>
                <a:cs typeface="Calibri" pitchFamily="34" charset="-120"/>
              </a:rPr>
              <a:t>"Así será mi palabra que sale de mi boca: no volverá a mí vacía, antes hará lo que yo quiero."  —  Isaías 55:11</a:t>
            </a:r>
            <a:endParaRPr lang="en-US" sz="900" dirty="0"/>
          </a:p>
        </p:txBody>
      </p:sp>
      <p:sp>
        <p:nvSpPr>
          <p:cNvPr id="13" name="Shape 11"/>
          <p:cNvSpPr/>
          <p:nvPr/>
        </p:nvSpPr>
        <p:spPr>
          <a:xfrm>
            <a:off x="0" y="4800600"/>
            <a:ext cx="9144000" cy="342900"/>
          </a:xfrm>
          <a:prstGeom prst="rect">
            <a:avLst/>
          </a:prstGeom>
          <a:solidFill>
            <a:srgbClr val="003D7C"/>
          </a:solidFill>
          <a:ln w="12700">
            <a:solidFill>
              <a:srgbClr val="003D7C"/>
            </a:solidFill>
            <a:prstDash val="solid"/>
          </a:ln>
        </p:spPr>
      </p:sp>
      <p:sp>
        <p:nvSpPr>
          <p:cNvPr id="14" name="Text 1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1]  MOTIVA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Reflexiona antes de comenzar:</a:t>
            </a:r>
            <a:endParaRPr lang="en-US" sz="1100" dirty="0"/>
          </a:p>
        </p:txBody>
      </p:sp>
      <p:sp>
        <p:nvSpPr>
          <p:cNvPr id="5" name="Shape 3"/>
          <p:cNvSpPr/>
          <p:nvPr/>
        </p:nvSpPr>
        <p:spPr>
          <a:xfrm>
            <a:off x="256032" y="804672"/>
            <a:ext cx="8631936" cy="1600200"/>
          </a:xfrm>
          <a:prstGeom prst="rect">
            <a:avLst/>
          </a:prstGeom>
          <a:solidFill>
            <a:srgbClr val="FFF0E0"/>
          </a:solidFill>
          <a:ln w="12700">
            <a:solidFill>
              <a:srgbClr val="E87C1E"/>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56032" y="804672"/>
            <a:ext cx="128016" cy="1600200"/>
          </a:xfrm>
          <a:prstGeom prst="rect">
            <a:avLst/>
          </a:prstGeom>
          <a:solidFill>
            <a:srgbClr val="E87C1E"/>
          </a:solidFill>
          <a:ln w="12700">
            <a:solidFill>
              <a:srgbClr val="E87C1E"/>
            </a:solidFill>
            <a:prstDash val="solid"/>
          </a:ln>
        </p:spPr>
      </p:sp>
      <p:sp>
        <p:nvSpPr>
          <p:cNvPr id="7" name="Text 5"/>
          <p:cNvSpPr/>
          <p:nvPr/>
        </p:nvSpPr>
        <p:spPr>
          <a:xfrm>
            <a:off x="438912" y="832104"/>
            <a:ext cx="8321040" cy="1536192"/>
          </a:xfrm>
          <a:prstGeom prst="rect">
            <a:avLst/>
          </a:prstGeom>
          <a:noFill/>
          <a:ln/>
        </p:spPr>
        <p:txBody>
          <a:bodyPr wrap="square" rtlCol="0" anchor="ctr"/>
          <a:lstStyle/>
          <a:p>
            <a:pPr indent="0" marL="0">
              <a:buNone/>
            </a:pPr>
            <a:r>
              <a:rPr lang="en-US" sz="1600" b="1" dirty="0">
                <a:solidFill>
                  <a:srgbClr val="003D7C"/>
                </a:solidFill>
                <a:latin typeface="Calibri" pitchFamily="34" charset="0"/>
                <a:ea typeface="Calibri" pitchFamily="34" charset="-122"/>
                <a:cs typeface="Calibri" pitchFamily="34" charset="-120"/>
              </a:rPr>
              <a:t>GPS:  </a:t>
            </a:r>
            <a:pPr indent="0" marL="0">
              <a:buNone/>
            </a:pPr>
            <a:r>
              <a:rPr lang="en-US" sz="1450" b="1" i="1" dirty="0">
                <a:solidFill>
                  <a:srgbClr val="E87C1E"/>
                </a:solidFill>
                <a:latin typeface="Calibri" pitchFamily="34" charset="0"/>
                <a:ea typeface="Calibri" pitchFamily="34" charset="-122"/>
                <a:cs typeface="Calibri" pitchFamily="34" charset="-120"/>
              </a:rPr>
              <a:t>¿Qué hábitos prácticos de tiempo, lugar y método necesito cultivar para que el estudio de la Biblia sea una experiencia transformadora y no solo rutinaria?</a:t>
            </a:r>
            <a:endParaRPr lang="en-US" sz="1600" dirty="0"/>
          </a:p>
        </p:txBody>
      </p:sp>
      <p:sp>
        <p:nvSpPr>
          <p:cNvPr id="8" name="Shape 6"/>
          <p:cNvSpPr/>
          <p:nvPr/>
        </p:nvSpPr>
        <p:spPr>
          <a:xfrm>
            <a:off x="256032" y="2532888"/>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9" name="Shape 7"/>
          <p:cNvSpPr/>
          <p:nvPr/>
        </p:nvSpPr>
        <p:spPr>
          <a:xfrm>
            <a:off x="256032" y="2532888"/>
            <a:ext cx="128016" cy="749808"/>
          </a:xfrm>
          <a:prstGeom prst="rect">
            <a:avLst/>
          </a:prstGeom>
          <a:solidFill>
            <a:srgbClr val="003D7C"/>
          </a:solidFill>
          <a:ln w="12700">
            <a:solidFill>
              <a:srgbClr val="003D7C"/>
            </a:solidFill>
            <a:prstDash val="solid"/>
          </a:ln>
        </p:spPr>
      </p:sp>
      <p:sp>
        <p:nvSpPr>
          <p:cNvPr id="10" name="Text 8"/>
          <p:cNvSpPr/>
          <p:nvPr/>
        </p:nvSpPr>
        <p:spPr>
          <a:xfrm>
            <a:off x="457200" y="2578608"/>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¿Tienes un momento y lugar fijos para estudiar la Biblia? ¿Qué ha pasado en las épocas en que lo has tenido o cuando lo has perdido?</a:t>
            </a:r>
            <a:endParaRPr lang="en-US" sz="1250" dirty="0"/>
          </a:p>
        </p:txBody>
      </p:sp>
      <p:sp>
        <p:nvSpPr>
          <p:cNvPr id="11" name="Shape 9"/>
          <p:cNvSpPr/>
          <p:nvPr/>
        </p:nvSpPr>
        <p:spPr>
          <a:xfrm>
            <a:off x="256032" y="3419856"/>
            <a:ext cx="8631936" cy="749808"/>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56032" y="3419856"/>
            <a:ext cx="128016" cy="749808"/>
          </a:xfrm>
          <a:prstGeom prst="rect">
            <a:avLst/>
          </a:prstGeom>
          <a:solidFill>
            <a:srgbClr val="003D7C"/>
          </a:solidFill>
          <a:ln w="12700">
            <a:solidFill>
              <a:srgbClr val="003D7C"/>
            </a:solidFill>
            <a:prstDash val="solid"/>
          </a:ln>
        </p:spPr>
      </p:sp>
      <p:sp>
        <p:nvSpPr>
          <p:cNvPr id="13" name="Text 11"/>
          <p:cNvSpPr/>
          <p:nvPr/>
        </p:nvSpPr>
        <p:spPr>
          <a:xfrm>
            <a:off x="457200" y="3465576"/>
            <a:ext cx="8321040" cy="658368"/>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  ¿Qué método de estudio bíblico has encontrado más útil para conectarte personalmente con Dios a través de su Palabra?</a:t>
            </a:r>
            <a:endParaRPr lang="en-US" sz="1250" dirty="0"/>
          </a:p>
        </p:txBody>
      </p:sp>
      <p:sp>
        <p:nvSpPr>
          <p:cNvPr id="14" name="Shape 12"/>
          <p:cNvSpPr/>
          <p:nvPr/>
        </p:nvSpPr>
        <p:spPr>
          <a:xfrm>
            <a:off x="0" y="4800600"/>
            <a:ext cx="9144000" cy="342900"/>
          </a:xfrm>
          <a:prstGeom prst="rect">
            <a:avLst/>
          </a:prstGeom>
          <a:solidFill>
            <a:srgbClr val="003D7C"/>
          </a:solidFill>
          <a:ln w="12700">
            <a:solidFill>
              <a:srgbClr val="003D7C"/>
            </a:solidFill>
            <a:prstDash val="solid"/>
          </a:ln>
        </p:spPr>
      </p:sp>
      <p:sp>
        <p:nvSpPr>
          <p:cNvPr id="15" name="Text 13"/>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1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1</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Tiempo y lugar: prioridades para el encuentro con Dios</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Jesús mismo separaba tiempo y lugar para estar con su Padre antes de que comenzara el día. Este ejemplo nos enseña que el encuentro con Dios requiere intencionalidad y una decisión diaria.</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Marcos 1:35; 1 Crónicas 16:11</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Mar. 1:35  —  </a:t>
            </a:r>
            <a:pPr indent="0" marL="0">
              <a:buNone/>
            </a:pPr>
            <a:r>
              <a:rPr lang="en-US" sz="1150" b="1" dirty="0">
                <a:solidFill>
                  <a:srgbClr val="003D7C"/>
                </a:solidFill>
                <a:latin typeface="Calibri" pitchFamily="34" charset="0"/>
                <a:ea typeface="Calibri" pitchFamily="34" charset="-122"/>
                <a:cs typeface="Calibri" pitchFamily="34" charset="-120"/>
              </a:rPr>
              <a:t>Jesús: tiempo y lugar con el Padre: </a:t>
            </a:r>
            <a:pPr indent="0" marL="0">
              <a:buNone/>
            </a:pPr>
            <a:r>
              <a:rPr lang="en-US" sz="1150" dirty="0">
                <a:solidFill>
                  <a:srgbClr val="1A1A1A"/>
                </a:solidFill>
                <a:latin typeface="Calibri" pitchFamily="34" charset="0"/>
                <a:ea typeface="Calibri" pitchFamily="34" charset="-122"/>
                <a:cs typeface="Calibri" pitchFamily="34" charset="-120"/>
              </a:rPr>
              <a:t>Jesús se levantaba muy de madrugada y se iba a un lugar solitario para orar. Si el Hijo de Dios priorizaba ese tiempo, cuánto más necesitamos nosotros hacerlo cada día.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1 Crón. 16:11  —  </a:t>
            </a:r>
            <a:pPr indent="0" marL="0">
              <a:buNone/>
            </a:pPr>
            <a:r>
              <a:rPr lang="en-US" sz="1150" b="1" dirty="0">
                <a:solidFill>
                  <a:srgbClr val="003D7C"/>
                </a:solidFill>
                <a:latin typeface="Calibri" pitchFamily="34" charset="0"/>
                <a:ea typeface="Calibri" pitchFamily="34" charset="-122"/>
                <a:cs typeface="Calibri" pitchFamily="34" charset="-120"/>
              </a:rPr>
              <a:t>Busca su rostro continuamente: </a:t>
            </a:r>
            <a:pPr indent="0" marL="0">
              <a:buNone/>
            </a:pPr>
            <a:r>
              <a:rPr lang="en-US" sz="1150" dirty="0">
                <a:solidFill>
                  <a:srgbClr val="1A1A1A"/>
                </a:solidFill>
                <a:latin typeface="Calibri" pitchFamily="34" charset="0"/>
                <a:ea typeface="Calibri" pitchFamily="34" charset="-122"/>
                <a:cs typeface="Calibri" pitchFamily="34" charset="-120"/>
              </a:rPr>
              <a:t>El llamado es a buscar al Señor y su poder de manera continua, a buscar su rostro cada día. La constancia en el encuentro con Dios mantiene viva y creciente nuestra relación con él.</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Sal. 27:8  —  </a:t>
            </a:r>
            <a:pPr indent="0" marL="0">
              <a:buNone/>
            </a:pPr>
            <a:r>
              <a:rPr lang="en-US" sz="1150" b="1" dirty="0">
                <a:solidFill>
                  <a:srgbClr val="003D7C"/>
                </a:solidFill>
                <a:latin typeface="Calibri" pitchFamily="34" charset="0"/>
                <a:ea typeface="Calibri" pitchFamily="34" charset="-122"/>
                <a:cs typeface="Calibri" pitchFamily="34" charset="-120"/>
              </a:rPr>
              <a:t>La invitación y la respuesta: </a:t>
            </a:r>
            <a:pPr indent="0" marL="0">
              <a:buNone/>
            </a:pPr>
            <a:r>
              <a:rPr lang="en-US" sz="1150" dirty="0">
                <a:solidFill>
                  <a:srgbClr val="1A1A1A"/>
                </a:solidFill>
                <a:latin typeface="Calibri" pitchFamily="34" charset="0"/>
                <a:ea typeface="Calibri" pitchFamily="34" charset="-122"/>
                <a:cs typeface="Calibri" pitchFamily="34" charset="-120"/>
              </a:rPr>
              <a:t>Dios dice: 'Buscad mi rostro'. La respuesta del salmista es: 'Tu rostro buscaré'. El estudio de la Biblia es esencialmente la búsqueda del rostro de Dios en su Palabra.</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2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2</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Métodos para un estudio profundo de la Biblia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La Palabra de Dios es una lámpara que ilumina el camino. Orar, leer con atención, escribir y compartir son herramientas prácticas que transforman la lectura bíblica en estudio genuino.</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Salmo 119:105; Isaías 50:4</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Sal. 119:105  —  </a:t>
            </a:r>
            <a:pPr indent="0" marL="0">
              <a:buNone/>
            </a:pPr>
            <a:r>
              <a:rPr lang="en-US" sz="1150" b="1" dirty="0">
                <a:solidFill>
                  <a:srgbClr val="003D7C"/>
                </a:solidFill>
                <a:latin typeface="Calibri" pitchFamily="34" charset="0"/>
                <a:ea typeface="Calibri" pitchFamily="34" charset="-122"/>
                <a:cs typeface="Calibri" pitchFamily="34" charset="-120"/>
              </a:rPr>
              <a:t>La Palabra como lámpara: </a:t>
            </a:r>
            <a:pPr indent="0" marL="0">
              <a:buNone/>
            </a:pPr>
            <a:r>
              <a:rPr lang="en-US" sz="1150" dirty="0">
                <a:solidFill>
                  <a:srgbClr val="1A1A1A"/>
                </a:solidFill>
                <a:latin typeface="Calibri" pitchFamily="34" charset="0"/>
                <a:ea typeface="Calibri" pitchFamily="34" charset="-122"/>
                <a:cs typeface="Calibri" pitchFamily="34" charset="-120"/>
              </a:rPr>
              <a:t>La Palabra de Dios es lámpara a nuestros pies y lumbrera a nuestro camino. Necesitamos avanzar paso a paso, con cuidado y atención, para ver más allá del momento presente.</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Isa. 50:4  —  </a:t>
            </a:r>
            <a:pPr indent="0" marL="0">
              <a:buNone/>
            </a:pPr>
            <a:r>
              <a:rPr lang="en-US" sz="1150" b="1" dirty="0">
                <a:solidFill>
                  <a:srgbClr val="003D7C"/>
                </a:solidFill>
                <a:latin typeface="Calibri" pitchFamily="34" charset="0"/>
                <a:ea typeface="Calibri" pitchFamily="34" charset="-122"/>
                <a:cs typeface="Calibri" pitchFamily="34" charset="-120"/>
              </a:rPr>
              <a:t>Oídos para escuchar cada mañana: </a:t>
            </a:r>
            <a:pPr indent="0" marL="0">
              <a:buNone/>
            </a:pPr>
            <a:r>
              <a:rPr lang="en-US" sz="1150" dirty="0">
                <a:solidFill>
                  <a:srgbClr val="1A1A1A"/>
                </a:solidFill>
                <a:latin typeface="Calibri" pitchFamily="34" charset="0"/>
                <a:ea typeface="Calibri" pitchFamily="34" charset="-122"/>
                <a:cs typeface="Calibri" pitchFamily="34" charset="-120"/>
              </a:rPr>
              <a:t>El Señor despierta cada mañana nuestro oído para escuchar como los sabios. El estudio profundo requiere disposición de escucha activa: orar antes de leer para recibir su enseñanza.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Sal. 119:14  —  </a:t>
            </a:r>
            <a:pPr indent="0" marL="0">
              <a:buNone/>
            </a:pPr>
            <a:r>
              <a:rPr lang="en-US" sz="1150" b="1" dirty="0">
                <a:solidFill>
                  <a:srgbClr val="003D7C"/>
                </a:solidFill>
                <a:latin typeface="Calibri" pitchFamily="34" charset="0"/>
                <a:ea typeface="Calibri" pitchFamily="34" charset="-122"/>
                <a:cs typeface="Calibri" pitchFamily="34" charset="-120"/>
              </a:rPr>
              <a:t>Gozo en el camino de los testimonios: </a:t>
            </a:r>
            <a:pPr indent="0" marL="0">
              <a:buNone/>
            </a:pPr>
            <a:r>
              <a:rPr lang="en-US" sz="1150" dirty="0">
                <a:solidFill>
                  <a:srgbClr val="1A1A1A"/>
                </a:solidFill>
                <a:latin typeface="Calibri" pitchFamily="34" charset="0"/>
                <a:ea typeface="Calibri" pitchFamily="34" charset="-122"/>
                <a:cs typeface="Calibri" pitchFamily="34" charset="-120"/>
              </a:rPr>
              <a:t>El salmista se alegra en el camino de los testimonios de Dios como en todas las riquezas. Un estudio metódico y perseverante siempre revelará tesoros que llenan de gozo el corazón.</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D7C"/>
          </a:solidFill>
          <a:ln w="12700">
            <a:solidFill>
              <a:srgbClr val="003D7C"/>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2]  EXPLORA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D0E4F5"/>
                </a:solidFill>
                <a:latin typeface="Calibri" pitchFamily="34" charset="0"/>
                <a:ea typeface="Calibri" pitchFamily="34" charset="-122"/>
                <a:cs typeface="Calibri" pitchFamily="34" charset="-120"/>
              </a:rPr>
              <a:t>— ¿Qué dice la Biblia?</a:t>
            </a:r>
            <a:endParaRPr lang="en-US" sz="1100" dirty="0"/>
          </a:p>
        </p:txBody>
      </p:sp>
      <p:sp>
        <p:nvSpPr>
          <p:cNvPr id="5" name="Shape 3"/>
          <p:cNvSpPr/>
          <p:nvPr/>
        </p:nvSpPr>
        <p:spPr>
          <a:xfrm>
            <a:off x="6995160" y="118872"/>
            <a:ext cx="1828800" cy="420624"/>
          </a:xfrm>
          <a:prstGeom prst="rect">
            <a:avLst/>
          </a:prstGeom>
          <a:solidFill>
            <a:srgbClr val="E87C1E"/>
          </a:solidFill>
          <a:ln w="12700">
            <a:solidFill>
              <a:srgbClr val="E87C1E"/>
            </a:solidFill>
            <a:prstDash val="solid"/>
          </a:ln>
        </p:spPr>
      </p:sp>
      <p:sp>
        <p:nvSpPr>
          <p:cNvPr id="6" name="Text 4"/>
          <p:cNvSpPr/>
          <p:nvPr/>
        </p:nvSpPr>
        <p:spPr>
          <a:xfrm>
            <a:off x="6995160" y="118872"/>
            <a:ext cx="182880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Tópico 3 de 3</a:t>
            </a:r>
            <a:endParaRPr lang="en-US" sz="900" dirty="0"/>
          </a:p>
        </p:txBody>
      </p:sp>
      <p:sp>
        <p:nvSpPr>
          <p:cNvPr id="7" name="Shape 5"/>
          <p:cNvSpPr/>
          <p:nvPr/>
        </p:nvSpPr>
        <p:spPr>
          <a:xfrm>
            <a:off x="228600" y="749808"/>
            <a:ext cx="2286000" cy="3931920"/>
          </a:xfrm>
          <a:prstGeom prst="rect">
            <a:avLst/>
          </a:prstGeom>
          <a:solidFill>
            <a:srgbClr val="003D7C"/>
          </a:solidFill>
          <a:ln w="12700">
            <a:solidFill>
              <a:srgbClr val="003D7C"/>
            </a:solidFill>
            <a:prstDash val="solid"/>
          </a:ln>
          <a:effectLst>
            <a:outerShdw sx="100000" sy="100000" kx="0" ky="0" algn="bl" rotWithShape="0" blurRad="63500" dist="25400" dir="8100000">
              <a:srgbClr val="000000">
                <a:alpha val="12000"/>
              </a:srgbClr>
            </a:outerShdw>
          </a:effectLst>
        </p:spPr>
      </p:sp>
      <p:sp>
        <p:nvSpPr>
          <p:cNvPr id="8" name="Shape 6"/>
          <p:cNvSpPr/>
          <p:nvPr/>
        </p:nvSpPr>
        <p:spPr>
          <a:xfrm>
            <a:off x="228600" y="749808"/>
            <a:ext cx="2286000" cy="402336"/>
          </a:xfrm>
          <a:prstGeom prst="rect">
            <a:avLst/>
          </a:prstGeom>
          <a:solidFill>
            <a:srgbClr val="E87C1E"/>
          </a:solidFill>
          <a:ln w="12700">
            <a:solidFill>
              <a:srgbClr val="E87C1E"/>
            </a:solidFill>
            <a:prstDash val="solid"/>
          </a:ln>
        </p:spPr>
      </p:sp>
      <p:sp>
        <p:nvSpPr>
          <p:cNvPr id="9" name="Text 7"/>
          <p:cNvSpPr/>
          <p:nvPr/>
        </p:nvSpPr>
        <p:spPr>
          <a:xfrm>
            <a:off x="320040" y="749808"/>
            <a:ext cx="2194560" cy="40233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Tópico 3</a:t>
            </a:r>
            <a:endParaRPr lang="en-US" sz="1000" dirty="0"/>
          </a:p>
        </p:txBody>
      </p:sp>
      <p:sp>
        <p:nvSpPr>
          <p:cNvPr id="10" name="Text 8"/>
          <p:cNvSpPr/>
          <p:nvPr/>
        </p:nvSpPr>
        <p:spPr>
          <a:xfrm>
            <a:off x="338328" y="1207008"/>
            <a:ext cx="2084832" cy="347472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La Palabra que satisface y transforma</a:t>
            </a:r>
            <a:endParaRPr lang="en-US" sz="1250" dirty="0"/>
          </a:p>
          <a:p>
            <a:pPr algn="ctr" indent="0" marL="0">
              <a:buNone/>
            </a:pPr>
            <a:r>
              <a:rPr lang="en-US" sz="500" dirty="0">
                <a:solidFill>
                  <a:srgbClr val="000000"/>
                </a:solidFill>
              </a:rPr>
              <a:t>
</a:t>
            </a:r>
            <a:endParaRPr lang="en-US" sz="1250" dirty="0"/>
          </a:p>
          <a:p>
            <a:pPr algn="ctr" indent="0" marL="0">
              <a:buNone/>
            </a:pPr>
            <a:r>
              <a:rPr lang="en-US" sz="1000" i="1" dirty="0">
                <a:solidFill>
                  <a:srgbClr val="D0E4F5"/>
                </a:solidFill>
                <a:latin typeface="Calibri" pitchFamily="34" charset="0"/>
                <a:ea typeface="Calibri" pitchFamily="34" charset="-122"/>
                <a:cs typeface="Calibri" pitchFamily="34" charset="-120"/>
              </a:rPr>
              <a:t>Isaías describe la Palabra de Dios como agua que sacia la sed más profunda del alma. Esta Palabra no regresa vacía sino que cumple siempre su propósito en la vida del que la recibe.</a:t>
            </a:r>
            <a:endParaRPr lang="en-US" sz="1250" dirty="0"/>
          </a:p>
          <a:p>
            <a:pPr algn="ctr" indent="0" marL="0">
              <a:buNone/>
            </a:pPr>
            <a:r>
              <a:rPr lang="en-US" sz="500" dirty="0">
                <a:solidFill>
                  <a:srgbClr val="000000"/>
                </a:solidFill>
              </a:rPr>
              <a:t>
</a:t>
            </a:r>
            <a:endParaRPr lang="en-US" sz="1250" dirty="0"/>
          </a:p>
          <a:p>
            <a:pPr algn="ctr" indent="0" marL="0">
              <a:buNone/>
            </a:pPr>
            <a:r>
              <a:rPr lang="en-US" sz="1150" b="1" dirty="0">
                <a:solidFill>
                  <a:srgbClr val="E87C1E"/>
                </a:solidFill>
                <a:latin typeface="Calibri" pitchFamily="34" charset="0"/>
                <a:ea typeface="Calibri" pitchFamily="34" charset="-122"/>
                <a:cs typeface="Calibri" pitchFamily="34" charset="-120"/>
              </a:rPr>
              <a:t>Isaías 55:1-13</a:t>
            </a:r>
            <a:endParaRPr lang="en-US" sz="1250" dirty="0"/>
          </a:p>
        </p:txBody>
      </p:sp>
      <p:sp>
        <p:nvSpPr>
          <p:cNvPr id="11" name="Shape 9"/>
          <p:cNvSpPr/>
          <p:nvPr/>
        </p:nvSpPr>
        <p:spPr>
          <a:xfrm>
            <a:off x="2606040" y="749808"/>
            <a:ext cx="6309360" cy="3931920"/>
          </a:xfrm>
          <a:prstGeom prst="rect">
            <a:avLst/>
          </a:prstGeom>
          <a:solidFill>
            <a:srgbClr val="FFFFFF"/>
          </a:solidFill>
          <a:ln w="12700">
            <a:solidFill>
              <a:srgbClr val="CBD5E1"/>
            </a:solidFill>
            <a:prstDash val="solid"/>
          </a:ln>
          <a:effectLst>
            <a:outerShdw sx="100000" sy="100000" kx="0" ky="0" algn="bl" rotWithShape="0" blurRad="63500" dist="25400" dir="8100000">
              <a:srgbClr val="000000">
                <a:alpha val="12000"/>
              </a:srgbClr>
            </a:outerShdw>
          </a:effectLst>
        </p:spPr>
      </p:sp>
      <p:sp>
        <p:nvSpPr>
          <p:cNvPr id="12" name="Shape 10"/>
          <p:cNvSpPr/>
          <p:nvPr/>
        </p:nvSpPr>
        <p:spPr>
          <a:xfrm>
            <a:off x="2606040" y="749808"/>
            <a:ext cx="6309360" cy="1310640"/>
          </a:xfrm>
          <a:prstGeom prst="rect">
            <a:avLst/>
          </a:prstGeom>
          <a:solidFill>
            <a:srgbClr val="F4F6F9"/>
          </a:solidFill>
          <a:ln w="12700">
            <a:solidFill>
              <a:srgbClr val="CBD5E1"/>
            </a:solidFill>
            <a:prstDash val="solid"/>
          </a:ln>
        </p:spPr>
      </p:sp>
      <p:sp>
        <p:nvSpPr>
          <p:cNvPr id="13" name="Shape 11"/>
          <p:cNvSpPr/>
          <p:nvPr/>
        </p:nvSpPr>
        <p:spPr>
          <a:xfrm>
            <a:off x="2743200" y="1322832"/>
            <a:ext cx="164592" cy="164592"/>
          </a:xfrm>
          <a:prstGeom prst="ellipse">
            <a:avLst/>
          </a:prstGeom>
          <a:solidFill>
            <a:srgbClr val="E87C1E"/>
          </a:solidFill>
          <a:ln w="12700">
            <a:solidFill>
              <a:srgbClr val="E87C1E"/>
            </a:solidFill>
            <a:prstDash val="solid"/>
          </a:ln>
        </p:spPr>
      </p:sp>
      <p:sp>
        <p:nvSpPr>
          <p:cNvPr id="14" name="Text 12"/>
          <p:cNvSpPr/>
          <p:nvPr/>
        </p:nvSpPr>
        <p:spPr>
          <a:xfrm>
            <a:off x="2971800" y="84124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Isa. 55:1-3  —  </a:t>
            </a:r>
            <a:pPr indent="0" marL="0">
              <a:buNone/>
            </a:pPr>
            <a:r>
              <a:rPr lang="en-US" sz="1150" b="1" dirty="0">
                <a:solidFill>
                  <a:srgbClr val="003D7C"/>
                </a:solidFill>
                <a:latin typeface="Calibri" pitchFamily="34" charset="0"/>
                <a:ea typeface="Calibri" pitchFamily="34" charset="-122"/>
                <a:cs typeface="Calibri" pitchFamily="34" charset="-120"/>
              </a:rPr>
              <a:t>La invitación al agua que sacia: </a:t>
            </a:r>
            <a:pPr indent="0" marL="0">
              <a:buNone/>
            </a:pPr>
            <a:r>
              <a:rPr lang="en-US" sz="1150" dirty="0">
                <a:solidFill>
                  <a:srgbClr val="1A1A1A"/>
                </a:solidFill>
                <a:latin typeface="Calibri" pitchFamily="34" charset="0"/>
                <a:ea typeface="Calibri" pitchFamily="34" charset="-122"/>
                <a:cs typeface="Calibri" pitchFamily="34" charset="-120"/>
              </a:rPr>
              <a:t>Dios invita a todos los sedientos a venir y beber gratuitamente. La Palabra de Dios satisface lo que ningún otro alimento del mundo puede: el hambre y la sed del alma.</a:t>
            </a:r>
            <a:endParaRPr lang="en-US" sz="1150" dirty="0"/>
          </a:p>
        </p:txBody>
      </p:sp>
      <p:sp>
        <p:nvSpPr>
          <p:cNvPr id="15" name="Shape 13"/>
          <p:cNvSpPr/>
          <p:nvPr/>
        </p:nvSpPr>
        <p:spPr>
          <a:xfrm>
            <a:off x="2606040" y="2060448"/>
            <a:ext cx="6309360" cy="1310640"/>
          </a:xfrm>
          <a:prstGeom prst="rect">
            <a:avLst/>
          </a:prstGeom>
          <a:solidFill>
            <a:srgbClr val="EBF3FB"/>
          </a:solidFill>
          <a:ln w="12700">
            <a:solidFill>
              <a:srgbClr val="CBD5E1"/>
            </a:solidFill>
            <a:prstDash val="solid"/>
          </a:ln>
        </p:spPr>
      </p:sp>
      <p:sp>
        <p:nvSpPr>
          <p:cNvPr id="16" name="Shape 14"/>
          <p:cNvSpPr/>
          <p:nvPr/>
        </p:nvSpPr>
        <p:spPr>
          <a:xfrm>
            <a:off x="2743200" y="2633472"/>
            <a:ext cx="164592" cy="164592"/>
          </a:xfrm>
          <a:prstGeom prst="ellipse">
            <a:avLst/>
          </a:prstGeom>
          <a:solidFill>
            <a:srgbClr val="E87C1E"/>
          </a:solidFill>
          <a:ln w="12700">
            <a:solidFill>
              <a:srgbClr val="E87C1E"/>
            </a:solidFill>
            <a:prstDash val="solid"/>
          </a:ln>
        </p:spPr>
      </p:sp>
      <p:sp>
        <p:nvSpPr>
          <p:cNvPr id="17" name="Text 15"/>
          <p:cNvSpPr/>
          <p:nvPr/>
        </p:nvSpPr>
        <p:spPr>
          <a:xfrm>
            <a:off x="2971800" y="215188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Isa. 55:8-9  —  </a:t>
            </a:r>
            <a:pPr indent="0" marL="0">
              <a:buNone/>
            </a:pPr>
            <a:r>
              <a:rPr lang="en-US" sz="1150" b="1" dirty="0">
                <a:solidFill>
                  <a:srgbClr val="003D7C"/>
                </a:solidFill>
                <a:latin typeface="Calibri" pitchFamily="34" charset="0"/>
                <a:ea typeface="Calibri" pitchFamily="34" charset="-122"/>
                <a:cs typeface="Calibri" pitchFamily="34" charset="-120"/>
              </a:rPr>
              <a:t>Pensamientos y caminos más altos: </a:t>
            </a:r>
            <a:pPr indent="0" marL="0">
              <a:buNone/>
            </a:pPr>
            <a:r>
              <a:rPr lang="en-US" sz="1150" dirty="0">
                <a:solidFill>
                  <a:srgbClr val="1A1A1A"/>
                </a:solidFill>
                <a:latin typeface="Calibri" pitchFamily="34" charset="0"/>
                <a:ea typeface="Calibri" pitchFamily="34" charset="-122"/>
                <a:cs typeface="Calibri" pitchFamily="34" charset="-120"/>
              </a:rPr>
              <a:t>Los pensamientos de Dios son más altos que los nuestros como los cielos sobre la tierra. El estudio de la Biblia nos eleva más allá de nuestra perspectiva limitada hacia la visión divina.</a:t>
            </a:r>
            <a:endParaRPr lang="en-US" sz="1150" dirty="0"/>
          </a:p>
        </p:txBody>
      </p:sp>
      <p:sp>
        <p:nvSpPr>
          <p:cNvPr id="18" name="Shape 16"/>
          <p:cNvSpPr/>
          <p:nvPr/>
        </p:nvSpPr>
        <p:spPr>
          <a:xfrm>
            <a:off x="2606040" y="3371088"/>
            <a:ext cx="6309360" cy="1310640"/>
          </a:xfrm>
          <a:prstGeom prst="rect">
            <a:avLst/>
          </a:prstGeom>
          <a:solidFill>
            <a:srgbClr val="F4F6F9"/>
          </a:solidFill>
          <a:ln w="12700">
            <a:solidFill>
              <a:srgbClr val="CBD5E1"/>
            </a:solidFill>
            <a:prstDash val="solid"/>
          </a:ln>
        </p:spPr>
      </p:sp>
      <p:sp>
        <p:nvSpPr>
          <p:cNvPr id="19" name="Shape 17"/>
          <p:cNvSpPr/>
          <p:nvPr/>
        </p:nvSpPr>
        <p:spPr>
          <a:xfrm>
            <a:off x="2743200" y="3944112"/>
            <a:ext cx="164592" cy="164592"/>
          </a:xfrm>
          <a:prstGeom prst="ellipse">
            <a:avLst/>
          </a:prstGeom>
          <a:solidFill>
            <a:srgbClr val="E87C1E"/>
          </a:solidFill>
          <a:ln w="12700">
            <a:solidFill>
              <a:srgbClr val="E87C1E"/>
            </a:solidFill>
            <a:prstDash val="solid"/>
          </a:ln>
        </p:spPr>
      </p:sp>
      <p:sp>
        <p:nvSpPr>
          <p:cNvPr id="20" name="Text 18"/>
          <p:cNvSpPr/>
          <p:nvPr/>
        </p:nvSpPr>
        <p:spPr>
          <a:xfrm>
            <a:off x="2971800" y="3462528"/>
            <a:ext cx="5833872" cy="1146048"/>
          </a:xfrm>
          <a:prstGeom prst="rect">
            <a:avLst/>
          </a:prstGeom>
          <a:noFill/>
          <a:ln/>
        </p:spPr>
        <p:txBody>
          <a:bodyPr wrap="square" rtlCol="0" anchor="ctr"/>
          <a:lstStyle/>
          <a:p>
            <a:pPr indent="0" marL="0">
              <a:buNone/>
            </a:pPr>
            <a:r>
              <a:rPr lang="en-US" sz="1150" b="1" i="1" dirty="0">
                <a:solidFill>
                  <a:srgbClr val="E87C1E"/>
                </a:solidFill>
                <a:latin typeface="Calibri" pitchFamily="34" charset="0"/>
                <a:ea typeface="Calibri" pitchFamily="34" charset="-122"/>
                <a:cs typeface="Calibri" pitchFamily="34" charset="-120"/>
              </a:rPr>
              <a:t>Isa. 55:10-11  —  </a:t>
            </a:r>
            <a:pPr indent="0" marL="0">
              <a:buNone/>
            </a:pPr>
            <a:r>
              <a:rPr lang="en-US" sz="1150" b="1" dirty="0">
                <a:solidFill>
                  <a:srgbClr val="003D7C"/>
                </a:solidFill>
                <a:latin typeface="Calibri" pitchFamily="34" charset="0"/>
                <a:ea typeface="Calibri" pitchFamily="34" charset="-122"/>
                <a:cs typeface="Calibri" pitchFamily="34" charset="-120"/>
              </a:rPr>
              <a:t>La Palabra cumple su propósito: </a:t>
            </a:r>
            <a:pPr indent="0" marL="0">
              <a:buNone/>
            </a:pPr>
            <a:r>
              <a:rPr lang="en-US" sz="1150" dirty="0">
                <a:solidFill>
                  <a:srgbClr val="1A1A1A"/>
                </a:solidFill>
                <a:latin typeface="Calibri" pitchFamily="34" charset="0"/>
                <a:ea typeface="Calibri" pitchFamily="34" charset="-122"/>
                <a:cs typeface="Calibri" pitchFamily="34" charset="-120"/>
              </a:rPr>
              <a:t>La Palabra de Dios no regresará a él vacía: siempre hará lo que él quiere y prosperará en su misión. Podemos confiar plenamente en que su Palabra actuará en nosotros si la recibimos.</a:t>
            </a:r>
            <a:endParaRPr lang="en-US" sz="1150" dirty="0"/>
          </a:p>
        </p:txBody>
      </p:sp>
      <p:sp>
        <p:nvSpPr>
          <p:cNvPr id="21" name="Shape 19"/>
          <p:cNvSpPr/>
          <p:nvPr/>
        </p:nvSpPr>
        <p:spPr>
          <a:xfrm>
            <a:off x="0" y="4800600"/>
            <a:ext cx="9144000" cy="342900"/>
          </a:xfrm>
          <a:prstGeom prst="rect">
            <a:avLst/>
          </a:prstGeom>
          <a:solidFill>
            <a:srgbClr val="003D7C"/>
          </a:solidFill>
          <a:ln w="12700">
            <a:solidFill>
              <a:srgbClr val="003D7C"/>
            </a:solidFill>
            <a:prstDash val="solid"/>
          </a:ln>
        </p:spPr>
      </p:sp>
      <p:sp>
        <p:nvSpPr>
          <p:cNvPr id="22" name="Text 20"/>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46B44"/>
          </a:solidFill>
          <a:ln w="12700">
            <a:solidFill>
              <a:srgbClr val="146B44"/>
            </a:solidFill>
            <a:prstDash val="solid"/>
          </a:ln>
        </p:spPr>
      </p:sp>
      <p:sp>
        <p:nvSpPr>
          <p:cNvPr id="3" name="Text 1"/>
          <p:cNvSpPr/>
          <p:nvPr/>
        </p:nvSpPr>
        <p:spPr>
          <a:xfrm>
            <a:off x="320040" y="0"/>
            <a:ext cx="4389120" cy="658368"/>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[FASE 3]  APLICA</a:t>
            </a:r>
            <a:endParaRPr lang="en-US" sz="1500" dirty="0"/>
          </a:p>
        </p:txBody>
      </p:sp>
      <p:sp>
        <p:nvSpPr>
          <p:cNvPr id="4" name="Text 2"/>
          <p:cNvSpPr/>
          <p:nvPr/>
        </p:nvSpPr>
        <p:spPr>
          <a:xfrm>
            <a:off x="3291840" y="0"/>
            <a:ext cx="5029200" cy="658368"/>
          </a:xfrm>
          <a:prstGeom prst="rect">
            <a:avLst/>
          </a:prstGeom>
          <a:noFill/>
          <a:ln/>
        </p:spPr>
        <p:txBody>
          <a:bodyPr wrap="square" rtlCol="0" anchor="ctr"/>
          <a:lstStyle/>
          <a:p>
            <a:pPr indent="0" marL="0">
              <a:buNone/>
            </a:pPr>
            <a:r>
              <a:rPr lang="en-US" sz="1100" i="1" dirty="0">
                <a:solidFill>
                  <a:srgbClr val="C8ECD4"/>
                </a:solidFill>
                <a:latin typeface="Calibri" pitchFamily="34" charset="0"/>
                <a:ea typeface="Calibri" pitchFamily="34" charset="-122"/>
                <a:cs typeface="Calibri" pitchFamily="34" charset="-120"/>
              </a:rPr>
              <a:t>— Reflexión personal:</a:t>
            </a:r>
            <a:endParaRPr lang="en-US" sz="1100" dirty="0"/>
          </a:p>
        </p:txBody>
      </p:sp>
      <p:sp>
        <p:nvSpPr>
          <p:cNvPr id="5" name="Shape 3"/>
          <p:cNvSpPr/>
          <p:nvPr/>
        </p:nvSpPr>
        <p:spPr>
          <a:xfrm>
            <a:off x="228600" y="768096"/>
            <a:ext cx="8686800" cy="1325880"/>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6" name="Shape 4"/>
          <p:cNvSpPr/>
          <p:nvPr/>
        </p:nvSpPr>
        <p:spPr>
          <a:xfrm>
            <a:off x="228600" y="768096"/>
            <a:ext cx="128016" cy="1325880"/>
          </a:xfrm>
          <a:prstGeom prst="rect">
            <a:avLst/>
          </a:prstGeom>
          <a:solidFill>
            <a:srgbClr val="146B44"/>
          </a:solidFill>
          <a:ln w="12700">
            <a:solidFill>
              <a:srgbClr val="146B44"/>
            </a:solidFill>
            <a:prstDash val="solid"/>
          </a:ln>
        </p:spPr>
      </p:sp>
      <p:sp>
        <p:nvSpPr>
          <p:cNvPr id="7" name="Text 5"/>
          <p:cNvSpPr/>
          <p:nvPr/>
        </p:nvSpPr>
        <p:spPr>
          <a:xfrm>
            <a:off x="402336" y="822960"/>
            <a:ext cx="347472" cy="329184"/>
          </a:xfrm>
          <a:prstGeom prst="rect">
            <a:avLst/>
          </a:prstGeom>
          <a:noFill/>
          <a:ln/>
        </p:spPr>
        <p:txBody>
          <a:bodyPr wrap="square" rtlCol="0" anchor="ctr"/>
          <a:lstStyle/>
          <a:p>
            <a:pPr indent="0" marL="0">
              <a:buNone/>
            </a:pPr>
            <a:r>
              <a:rPr lang="en-US" sz="1400" dirty="0">
                <a:solidFill>
                  <a:srgbClr val="146B44"/>
                </a:solidFill>
              </a:rPr>
              <a:t>✶</a:t>
            </a:r>
            <a:endParaRPr lang="en-US" sz="1400" dirty="0"/>
          </a:p>
        </p:txBody>
      </p:sp>
      <p:sp>
        <p:nvSpPr>
          <p:cNvPr id="8" name="Text 6"/>
          <p:cNvSpPr/>
          <p:nvPr/>
        </p:nvSpPr>
        <p:spPr>
          <a:xfrm>
            <a:off x="749808" y="795528"/>
            <a:ext cx="8046720" cy="960120"/>
          </a:xfrm>
          <a:prstGeom prst="rect">
            <a:avLst/>
          </a:prstGeom>
          <a:noFill/>
          <a:ln/>
        </p:spPr>
        <p:txBody>
          <a:bodyPr wrap="square" rtlCol="0" anchor="ctr"/>
          <a:lstStyle/>
          <a:p>
            <a:pPr indent="0" marL="0">
              <a:buNone/>
            </a:pPr>
            <a:r>
              <a:rPr lang="en-US" sz="1200" i="1" dirty="0">
                <a:solidFill>
                  <a:srgbClr val="1A1A1A"/>
                </a:solidFill>
                <a:latin typeface="Calibri" pitchFamily="34" charset="0"/>
                <a:ea typeface="Calibri" pitchFamily="34" charset="-122"/>
                <a:cs typeface="Calibri" pitchFamily="34" charset="-120"/>
              </a:rPr>
              <a:t>"Obtendremos poquísimo beneficio de una lectura precipitada de las Escrituras. Uno puede leer toda la Biblia y, sin embargo, quedarse sin ver su belleza o comprender su sentido profundo y oculto."</a:t>
            </a:r>
            <a:endParaRPr lang="en-US" sz="1200" dirty="0"/>
          </a:p>
        </p:txBody>
      </p:sp>
      <p:sp>
        <p:nvSpPr>
          <p:cNvPr id="9" name="Text 7"/>
          <p:cNvSpPr/>
          <p:nvPr/>
        </p:nvSpPr>
        <p:spPr>
          <a:xfrm>
            <a:off x="749808" y="1755648"/>
            <a:ext cx="8046720" cy="256032"/>
          </a:xfrm>
          <a:prstGeom prst="rect">
            <a:avLst/>
          </a:prstGeom>
          <a:noFill/>
          <a:ln/>
        </p:spPr>
        <p:txBody>
          <a:bodyPr wrap="square" rtlCol="0" anchor="ctr"/>
          <a:lstStyle/>
          <a:p>
            <a:pPr algn="r" indent="0" marL="0">
              <a:buNone/>
            </a:pPr>
            <a:r>
              <a:rPr lang="en-US" sz="1000" i="1" dirty="0">
                <a:solidFill>
                  <a:srgbClr val="146B44"/>
                </a:solidFill>
                <a:latin typeface="Calibri" pitchFamily="34" charset="0"/>
                <a:ea typeface="Calibri" pitchFamily="34" charset="-122"/>
                <a:cs typeface="Calibri" pitchFamily="34" charset="-120"/>
              </a:rPr>
              <a:t>— Elena de White, El camino a Cristo, p. 77</a:t>
            </a:r>
            <a:endParaRPr lang="en-US" sz="1000" dirty="0"/>
          </a:p>
        </p:txBody>
      </p:sp>
      <p:sp>
        <p:nvSpPr>
          <p:cNvPr id="10" name="Shape 8"/>
          <p:cNvSpPr/>
          <p:nvPr/>
        </p:nvSpPr>
        <p:spPr>
          <a:xfrm>
            <a:off x="228600" y="214884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1" name="Shape 9"/>
          <p:cNvSpPr/>
          <p:nvPr/>
        </p:nvSpPr>
        <p:spPr>
          <a:xfrm>
            <a:off x="228600" y="2148840"/>
            <a:ext cx="128016" cy="832104"/>
          </a:xfrm>
          <a:prstGeom prst="rect">
            <a:avLst/>
          </a:prstGeom>
          <a:solidFill>
            <a:srgbClr val="146B44"/>
          </a:solidFill>
          <a:ln w="12700">
            <a:solidFill>
              <a:srgbClr val="146B44"/>
            </a:solidFill>
            <a:prstDash val="solid"/>
          </a:ln>
        </p:spPr>
      </p:sp>
      <p:sp>
        <p:nvSpPr>
          <p:cNvPr id="12" name="Text 10"/>
          <p:cNvSpPr/>
          <p:nvPr/>
        </p:nvSpPr>
        <p:spPr>
          <a:xfrm>
            <a:off x="420624" y="222199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1.  </a:t>
            </a:r>
            <a:pPr indent="0" marL="0">
              <a:buNone/>
            </a:pPr>
            <a:r>
              <a:rPr lang="en-US" sz="1250" b="1" dirty="0">
                <a:solidFill>
                  <a:srgbClr val="1A1A1A"/>
                </a:solidFill>
                <a:latin typeface="Calibri" pitchFamily="34" charset="0"/>
                <a:ea typeface="Calibri" pitchFamily="34" charset="-122"/>
                <a:cs typeface="Calibri" pitchFamily="34" charset="-120"/>
              </a:rPr>
              <a:t>¿Qué cambio concreto en tu rutina diaria te ayudaría a proteger un tiempo y lugar fijos para encontrarte con Dios en su Palabra?</a:t>
            </a:r>
            <a:endParaRPr lang="en-US" sz="1300" dirty="0"/>
          </a:p>
        </p:txBody>
      </p:sp>
      <p:sp>
        <p:nvSpPr>
          <p:cNvPr id="13" name="Shape 11"/>
          <p:cNvSpPr/>
          <p:nvPr/>
        </p:nvSpPr>
        <p:spPr>
          <a:xfrm>
            <a:off x="228600" y="3017520"/>
            <a:ext cx="8686800" cy="832104"/>
          </a:xfrm>
          <a:prstGeom prst="rect">
            <a:avLst/>
          </a:prstGeom>
          <a:solidFill>
            <a:srgbClr val="EAF7E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4" name="Shape 12"/>
          <p:cNvSpPr/>
          <p:nvPr/>
        </p:nvSpPr>
        <p:spPr>
          <a:xfrm>
            <a:off x="228600" y="3017520"/>
            <a:ext cx="128016" cy="832104"/>
          </a:xfrm>
          <a:prstGeom prst="rect">
            <a:avLst/>
          </a:prstGeom>
          <a:solidFill>
            <a:srgbClr val="146B44"/>
          </a:solidFill>
          <a:ln w="12700">
            <a:solidFill>
              <a:srgbClr val="146B44"/>
            </a:solidFill>
            <a:prstDash val="solid"/>
          </a:ln>
        </p:spPr>
      </p:sp>
      <p:sp>
        <p:nvSpPr>
          <p:cNvPr id="15" name="Text 13"/>
          <p:cNvSpPr/>
          <p:nvPr/>
        </p:nvSpPr>
        <p:spPr>
          <a:xfrm>
            <a:off x="420624" y="309067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2.  </a:t>
            </a:r>
            <a:pPr indent="0" marL="0">
              <a:buNone/>
            </a:pPr>
            <a:r>
              <a:rPr lang="en-US" sz="1250" b="1" dirty="0">
                <a:solidFill>
                  <a:srgbClr val="1A1A1A"/>
                </a:solidFill>
                <a:latin typeface="Calibri" pitchFamily="34" charset="0"/>
                <a:ea typeface="Calibri" pitchFamily="34" charset="-122"/>
                <a:cs typeface="Calibri" pitchFamily="34" charset="-120"/>
              </a:rPr>
              <a:t>¿Cuál de estos métodos —orar antes de leer, escribir lo que Dios te dice o compartirlo con alguien— necesitas incorporar con más constancia en tu estudio?</a:t>
            </a:r>
            <a:endParaRPr lang="en-US" sz="1300" dirty="0"/>
          </a:p>
        </p:txBody>
      </p:sp>
      <p:sp>
        <p:nvSpPr>
          <p:cNvPr id="16" name="Shape 14"/>
          <p:cNvSpPr/>
          <p:nvPr/>
        </p:nvSpPr>
        <p:spPr>
          <a:xfrm>
            <a:off x="228600" y="3886200"/>
            <a:ext cx="8686800" cy="832104"/>
          </a:xfrm>
          <a:prstGeom prst="rect">
            <a:avLst/>
          </a:prstGeom>
          <a:solidFill>
            <a:srgbClr val="FFFFFF"/>
          </a:solidFill>
          <a:ln w="12700">
            <a:solidFill>
              <a:srgbClr val="88C5A0"/>
            </a:solidFill>
            <a:prstDash val="solid"/>
          </a:ln>
          <a:effectLst>
            <a:outerShdw sx="100000" sy="100000" kx="0" ky="0" algn="bl" rotWithShape="0" blurRad="63500" dist="25400" dir="8100000">
              <a:srgbClr val="000000">
                <a:alpha val="12000"/>
              </a:srgbClr>
            </a:outerShdw>
          </a:effectLst>
        </p:spPr>
      </p:sp>
      <p:sp>
        <p:nvSpPr>
          <p:cNvPr id="17" name="Shape 15"/>
          <p:cNvSpPr/>
          <p:nvPr/>
        </p:nvSpPr>
        <p:spPr>
          <a:xfrm>
            <a:off x="228600" y="3886200"/>
            <a:ext cx="128016" cy="832104"/>
          </a:xfrm>
          <a:prstGeom prst="rect">
            <a:avLst/>
          </a:prstGeom>
          <a:solidFill>
            <a:srgbClr val="146B44"/>
          </a:solidFill>
          <a:ln w="12700">
            <a:solidFill>
              <a:srgbClr val="146B44"/>
            </a:solidFill>
            <a:prstDash val="solid"/>
          </a:ln>
        </p:spPr>
      </p:sp>
      <p:sp>
        <p:nvSpPr>
          <p:cNvPr id="18" name="Text 16"/>
          <p:cNvSpPr/>
          <p:nvPr/>
        </p:nvSpPr>
        <p:spPr>
          <a:xfrm>
            <a:off x="420624" y="3959352"/>
            <a:ext cx="8366760" cy="685800"/>
          </a:xfrm>
          <a:prstGeom prst="rect">
            <a:avLst/>
          </a:prstGeom>
          <a:noFill/>
          <a:ln/>
        </p:spPr>
        <p:txBody>
          <a:bodyPr wrap="square" rtlCol="0" anchor="ctr"/>
          <a:lstStyle/>
          <a:p>
            <a:pPr indent="0" marL="0">
              <a:buNone/>
            </a:pPr>
            <a:r>
              <a:rPr lang="en-US" sz="1300" b="1" dirty="0">
                <a:solidFill>
                  <a:srgbClr val="146B44"/>
                </a:solidFill>
                <a:latin typeface="Calibri" pitchFamily="34" charset="0"/>
                <a:ea typeface="Calibri" pitchFamily="34" charset="-122"/>
                <a:cs typeface="Calibri" pitchFamily="34" charset="-120"/>
              </a:rPr>
              <a:t>3.  </a:t>
            </a:r>
            <a:pPr indent="0" marL="0">
              <a:buNone/>
            </a:pPr>
            <a:r>
              <a:rPr lang="en-US" sz="1250" b="1" dirty="0">
                <a:solidFill>
                  <a:srgbClr val="1A1A1A"/>
                </a:solidFill>
                <a:latin typeface="Calibri" pitchFamily="34" charset="0"/>
                <a:ea typeface="Calibri" pitchFamily="34" charset="-122"/>
                <a:cs typeface="Calibri" pitchFamily="34" charset="-120"/>
              </a:rPr>
              <a:t>¿Hay un área de tu vida donde sientes que la Palabra de Dios necesita actuar con más fuerza? ¿Qué harás para exponer esa área a su influencia transformadora?</a:t>
            </a:r>
            <a:endParaRPr lang="en-US" sz="1300" dirty="0"/>
          </a:p>
        </p:txBody>
      </p:sp>
      <p:sp>
        <p:nvSpPr>
          <p:cNvPr id="19" name="Shape 17"/>
          <p:cNvSpPr/>
          <p:nvPr/>
        </p:nvSpPr>
        <p:spPr>
          <a:xfrm>
            <a:off x="0" y="4800600"/>
            <a:ext cx="9144000" cy="342900"/>
          </a:xfrm>
          <a:prstGeom prst="rect">
            <a:avLst/>
          </a:prstGeom>
          <a:solidFill>
            <a:srgbClr val="003D7C"/>
          </a:solidFill>
          <a:ln w="12700">
            <a:solidFill>
              <a:srgbClr val="003D7C"/>
            </a:solidFill>
            <a:prstDash val="solid"/>
          </a:ln>
        </p:spPr>
      </p:sp>
      <p:sp>
        <p:nvSpPr>
          <p:cNvPr id="20" name="Text 1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6949440" y="0"/>
            <a:ext cx="2194560" cy="2011680"/>
          </a:xfrm>
          <a:prstGeom prst="rect">
            <a:avLst/>
          </a:prstGeom>
          <a:solidFill>
            <a:srgbClr val="E87C1E">
              <a:alpha val="40000"/>
            </a:srgbClr>
          </a:solidFill>
          <a:ln w="12700">
            <a:solidFill>
              <a:srgbClr val="E87C1E">
                <a:alpha val="40000"/>
              </a:srgbClr>
            </a:solidFill>
            <a:prstDash val="solid"/>
          </a:ln>
        </p:spPr>
      </p:sp>
      <p:sp>
        <p:nvSpPr>
          <p:cNvPr id="3" name="Shape 1"/>
          <p:cNvSpPr/>
          <p:nvPr/>
        </p:nvSpPr>
        <p:spPr>
          <a:xfrm>
            <a:off x="-45720" y="3291840"/>
            <a:ext cx="1645920" cy="1920240"/>
          </a:xfrm>
          <a:prstGeom prst="rect">
            <a:avLst/>
          </a:prstGeom>
          <a:solidFill>
            <a:srgbClr val="E87C1E">
              <a:alpha val="30000"/>
            </a:srgbClr>
          </a:solidFill>
          <a:ln w="12700">
            <a:solidFill>
              <a:srgbClr val="E87C1E">
                <a:alpha val="30000"/>
              </a:srgbClr>
            </a:solidFill>
            <a:prstDash val="solid"/>
          </a:ln>
        </p:spPr>
      </p:sp>
      <p:sp>
        <p:nvSpPr>
          <p:cNvPr id="4" name="Shape 2"/>
          <p:cNvSpPr/>
          <p:nvPr/>
        </p:nvSpPr>
        <p:spPr>
          <a:xfrm>
            <a:off x="347472" y="256032"/>
            <a:ext cx="2743200" cy="438912"/>
          </a:xfrm>
          <a:prstGeom prst="rect">
            <a:avLst/>
          </a:prstGeom>
          <a:solidFill>
            <a:srgbClr val="E87C1E"/>
          </a:solidFill>
          <a:ln w="12700">
            <a:solidFill>
              <a:srgbClr val="E87C1E"/>
            </a:solidFill>
            <a:prstDash val="solid"/>
          </a:ln>
        </p:spPr>
      </p:sp>
      <p:sp>
        <p:nvSpPr>
          <p:cNvPr id="5" name="Text 3"/>
          <p:cNvSpPr/>
          <p:nvPr/>
        </p:nvSpPr>
        <p:spPr>
          <a:xfrm>
            <a:off x="347472" y="256032"/>
            <a:ext cx="27432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[FASE 4]  CREA  — MI DECISIÓN</a:t>
            </a:r>
            <a:endParaRPr lang="en-US" sz="1050" dirty="0"/>
          </a:p>
        </p:txBody>
      </p:sp>
      <p:sp>
        <p:nvSpPr>
          <p:cNvPr id="6" name="Shape 4"/>
          <p:cNvSpPr/>
          <p:nvPr/>
        </p:nvSpPr>
        <p:spPr>
          <a:xfrm>
            <a:off x="347472" y="804672"/>
            <a:ext cx="118872" cy="3886200"/>
          </a:xfrm>
          <a:prstGeom prst="rect">
            <a:avLst/>
          </a:prstGeom>
          <a:solidFill>
            <a:srgbClr val="E87C1E"/>
          </a:solidFill>
          <a:ln w="12700">
            <a:solidFill>
              <a:srgbClr val="E87C1E"/>
            </a:solidFill>
            <a:prstDash val="solid"/>
          </a:ln>
        </p:spPr>
      </p:sp>
      <p:sp>
        <p:nvSpPr>
          <p:cNvPr id="7" name="Text 5"/>
          <p:cNvSpPr/>
          <p:nvPr/>
        </p:nvSpPr>
        <p:spPr>
          <a:xfrm>
            <a:off x="566928" y="822960"/>
            <a:ext cx="8046720" cy="411480"/>
          </a:xfrm>
          <a:prstGeom prst="rect">
            <a:avLst/>
          </a:prstGeom>
          <a:noFill/>
          <a:ln/>
        </p:spPr>
        <p:txBody>
          <a:bodyPr wrap="square" rtlCol="0" anchor="ctr"/>
          <a:lstStyle/>
          <a:p>
            <a:pPr indent="0" marL="0">
              <a:buNone/>
            </a:pPr>
            <a:r>
              <a:rPr lang="en-US" sz="1400" i="1" dirty="0">
                <a:solidFill>
                  <a:srgbClr val="D0E4F5"/>
                </a:solidFill>
                <a:latin typeface="Calibri" pitchFamily="34" charset="0"/>
                <a:ea typeface="Calibri" pitchFamily="34" charset="-122"/>
                <a:cs typeface="Calibri" pitchFamily="34" charset="-120"/>
              </a:rPr>
              <a:t>Marca tu respuesta honesta para esta semana:</a:t>
            </a:r>
            <a:endParaRPr lang="en-US" sz="1400" dirty="0"/>
          </a:p>
        </p:txBody>
      </p:sp>
      <p:sp>
        <p:nvSpPr>
          <p:cNvPr id="8" name="Shape 6"/>
          <p:cNvSpPr/>
          <p:nvPr/>
        </p:nvSpPr>
        <p:spPr>
          <a:xfrm>
            <a:off x="566928" y="1325880"/>
            <a:ext cx="8229600" cy="996696"/>
          </a:xfrm>
          <a:prstGeom prst="rect">
            <a:avLst/>
          </a:prstGeom>
          <a:solidFill>
            <a:srgbClr val="FFFFFF">
              <a:alpha val="92000"/>
            </a:srgbClr>
          </a:solidFill>
          <a:ln w="12700">
            <a:solidFill>
              <a:srgbClr val="E87C1E">
                <a:alpha val="60000"/>
              </a:srgbClr>
            </a:solidFill>
            <a:prstDash val="solid"/>
          </a:ln>
        </p:spPr>
      </p:sp>
      <p:sp>
        <p:nvSpPr>
          <p:cNvPr id="9" name="Shape 7"/>
          <p:cNvSpPr/>
          <p:nvPr/>
        </p:nvSpPr>
        <p:spPr>
          <a:xfrm>
            <a:off x="713232" y="1453896"/>
            <a:ext cx="292608" cy="292608"/>
          </a:xfrm>
          <a:prstGeom prst="ellipse">
            <a:avLst/>
          </a:prstGeom>
          <a:solidFill>
            <a:srgbClr val="E87C1E"/>
          </a:solidFill>
          <a:ln w="12700">
            <a:solidFill>
              <a:srgbClr val="E87C1E"/>
            </a:solidFill>
            <a:prstDash val="solid"/>
          </a:ln>
        </p:spPr>
      </p:sp>
      <p:sp>
        <p:nvSpPr>
          <p:cNvPr id="10" name="Text 8"/>
          <p:cNvSpPr/>
          <p:nvPr/>
        </p:nvSpPr>
        <p:spPr>
          <a:xfrm>
            <a:off x="713232" y="14538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078992" y="139903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Esta semana estableceré un tiempo y lugar fijos para el estudio de la Biblia y lo protegeré como prioridad.</a:t>
            </a:r>
            <a:endParaRPr lang="en-US" sz="1250" dirty="0"/>
          </a:p>
        </p:txBody>
      </p:sp>
      <p:sp>
        <p:nvSpPr>
          <p:cNvPr id="12" name="Text 10"/>
          <p:cNvSpPr/>
          <p:nvPr/>
        </p:nvSpPr>
        <p:spPr>
          <a:xfrm>
            <a:off x="7818120" y="139903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3" name="Shape 11"/>
          <p:cNvSpPr/>
          <p:nvPr/>
        </p:nvSpPr>
        <p:spPr>
          <a:xfrm>
            <a:off x="566928" y="2377440"/>
            <a:ext cx="8229600" cy="996696"/>
          </a:xfrm>
          <a:prstGeom prst="rect">
            <a:avLst/>
          </a:prstGeom>
          <a:solidFill>
            <a:srgbClr val="FFF0E0">
              <a:alpha val="92000"/>
            </a:srgbClr>
          </a:solidFill>
          <a:ln w="12700">
            <a:solidFill>
              <a:srgbClr val="E87C1E">
                <a:alpha val="60000"/>
              </a:srgbClr>
            </a:solidFill>
            <a:prstDash val="solid"/>
          </a:ln>
        </p:spPr>
      </p:sp>
      <p:sp>
        <p:nvSpPr>
          <p:cNvPr id="14" name="Shape 12"/>
          <p:cNvSpPr/>
          <p:nvPr/>
        </p:nvSpPr>
        <p:spPr>
          <a:xfrm>
            <a:off x="713232" y="2505456"/>
            <a:ext cx="292608" cy="292608"/>
          </a:xfrm>
          <a:prstGeom prst="ellipse">
            <a:avLst/>
          </a:prstGeom>
          <a:solidFill>
            <a:srgbClr val="E87C1E"/>
          </a:solidFill>
          <a:ln w="12700">
            <a:solidFill>
              <a:srgbClr val="E87C1E"/>
            </a:solidFill>
            <a:prstDash val="solid"/>
          </a:ln>
        </p:spPr>
      </p:sp>
      <p:sp>
        <p:nvSpPr>
          <p:cNvPr id="15" name="Text 13"/>
          <p:cNvSpPr/>
          <p:nvPr/>
        </p:nvSpPr>
        <p:spPr>
          <a:xfrm>
            <a:off x="713232" y="250545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1078992" y="245059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Leeré un pasaje bíblico con calma, escribiré lo que Dios me diga y lo pondré en práctica ese mismo día.</a:t>
            </a:r>
            <a:endParaRPr lang="en-US" sz="1250" dirty="0"/>
          </a:p>
        </p:txBody>
      </p:sp>
      <p:sp>
        <p:nvSpPr>
          <p:cNvPr id="17" name="Text 15"/>
          <p:cNvSpPr/>
          <p:nvPr/>
        </p:nvSpPr>
        <p:spPr>
          <a:xfrm>
            <a:off x="7818120" y="245059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18" name="Shape 16"/>
          <p:cNvSpPr/>
          <p:nvPr/>
        </p:nvSpPr>
        <p:spPr>
          <a:xfrm>
            <a:off x="566928" y="3429000"/>
            <a:ext cx="8229600" cy="996696"/>
          </a:xfrm>
          <a:prstGeom prst="rect">
            <a:avLst/>
          </a:prstGeom>
          <a:solidFill>
            <a:srgbClr val="FFFFFF">
              <a:alpha val="92000"/>
            </a:srgbClr>
          </a:solidFill>
          <a:ln w="12700">
            <a:solidFill>
              <a:srgbClr val="E87C1E">
                <a:alpha val="60000"/>
              </a:srgbClr>
            </a:solidFill>
            <a:prstDash val="solid"/>
          </a:ln>
        </p:spPr>
      </p:sp>
      <p:sp>
        <p:nvSpPr>
          <p:cNvPr id="19" name="Shape 17"/>
          <p:cNvSpPr/>
          <p:nvPr/>
        </p:nvSpPr>
        <p:spPr>
          <a:xfrm>
            <a:off x="713232" y="3557016"/>
            <a:ext cx="292608" cy="292608"/>
          </a:xfrm>
          <a:prstGeom prst="ellipse">
            <a:avLst/>
          </a:prstGeom>
          <a:solidFill>
            <a:srgbClr val="E87C1E"/>
          </a:solidFill>
          <a:ln w="12700">
            <a:solidFill>
              <a:srgbClr val="E87C1E"/>
            </a:solidFill>
            <a:prstDash val="solid"/>
          </a:ln>
        </p:spPr>
      </p:sp>
      <p:sp>
        <p:nvSpPr>
          <p:cNvPr id="20" name="Text 18"/>
          <p:cNvSpPr/>
          <p:nvPr/>
        </p:nvSpPr>
        <p:spPr>
          <a:xfrm>
            <a:off x="713232" y="35570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078992" y="3502152"/>
            <a:ext cx="6647688" cy="850392"/>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Compartiré algo que Dios me haya enseñado esta semana en la Biblia con un familiar o amigo.</a:t>
            </a:r>
            <a:endParaRPr lang="en-US" sz="1250" dirty="0"/>
          </a:p>
        </p:txBody>
      </p:sp>
      <p:sp>
        <p:nvSpPr>
          <p:cNvPr id="22" name="Text 20"/>
          <p:cNvSpPr/>
          <p:nvPr/>
        </p:nvSpPr>
        <p:spPr>
          <a:xfrm>
            <a:off x="7818120" y="3502152"/>
            <a:ext cx="914400" cy="850392"/>
          </a:xfrm>
          <a:prstGeom prst="rect">
            <a:avLst/>
          </a:prstGeom>
          <a:noFill/>
          <a:ln/>
        </p:spPr>
        <p:txBody>
          <a:bodyPr wrap="square" rtlCol="0" anchor="ctr"/>
          <a:lstStyle/>
          <a:p>
            <a:pPr algn="r" indent="0" marL="0">
              <a:buNone/>
            </a:pPr>
            <a:r>
              <a:rPr lang="en-US" sz="1150" b="1" dirty="0">
                <a:solidFill>
                  <a:srgbClr val="E87C1E"/>
                </a:solidFill>
                <a:latin typeface="Calibri" pitchFamily="34" charset="0"/>
                <a:ea typeface="Calibri" pitchFamily="34" charset="-122"/>
                <a:cs typeface="Calibri" pitchFamily="34" charset="-120"/>
              </a:rPr>
              <a:t>☐ Sí  ☐ No</a:t>
            </a:r>
            <a:endParaRPr lang="en-US" sz="1150" dirty="0"/>
          </a:p>
        </p:txBody>
      </p:sp>
      <p:sp>
        <p:nvSpPr>
          <p:cNvPr id="23" name="Shape 21"/>
          <p:cNvSpPr/>
          <p:nvPr/>
        </p:nvSpPr>
        <p:spPr>
          <a:xfrm>
            <a:off x="0" y="4800600"/>
            <a:ext cx="9144000" cy="342900"/>
          </a:xfrm>
          <a:prstGeom prst="rect">
            <a:avLst/>
          </a:prstGeom>
          <a:solidFill>
            <a:srgbClr val="003D7C"/>
          </a:solidFill>
          <a:ln w="12700">
            <a:solidFill>
              <a:srgbClr val="003D7C"/>
            </a:solidFill>
            <a:prstDash val="solid"/>
          </a:ln>
        </p:spPr>
      </p:sp>
      <p:sp>
        <p:nvSpPr>
          <p:cNvPr id="24" name="Text 22"/>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D7C"/>
        </a:solidFill>
      </p:bgPr>
    </p:bg>
    <p:spTree>
      <p:nvGrpSpPr>
        <p:cNvPr id="1" name=""/>
        <p:cNvGrpSpPr/>
        <p:nvPr/>
      </p:nvGrpSpPr>
      <p:grpSpPr>
        <a:xfrm>
          <a:off x="0" y="0"/>
          <a:ext cx="0" cy="0"/>
          <a:chOff x="0" y="0"/>
          <a:chExt cx="0" cy="0"/>
        </a:xfrm>
      </p:grpSpPr>
      <p:sp>
        <p:nvSpPr>
          <p:cNvPr id="2" name="Shape 0"/>
          <p:cNvSpPr/>
          <p:nvPr/>
        </p:nvSpPr>
        <p:spPr>
          <a:xfrm>
            <a:off x="7178040" y="0"/>
            <a:ext cx="2011680" cy="1828800"/>
          </a:xfrm>
          <a:prstGeom prst="rect">
            <a:avLst/>
          </a:prstGeom>
          <a:solidFill>
            <a:srgbClr val="E87C1E">
              <a:alpha val="40000"/>
            </a:srgbClr>
          </a:solidFill>
          <a:ln w="12700">
            <a:solidFill>
              <a:srgbClr val="E87C1E">
                <a:alpha val="40000"/>
              </a:srgbClr>
            </a:solidFill>
            <a:prstDash val="solid"/>
          </a:ln>
        </p:spPr>
      </p:sp>
      <p:sp>
        <p:nvSpPr>
          <p:cNvPr id="3" name="Shape 1"/>
          <p:cNvSpPr/>
          <p:nvPr/>
        </p:nvSpPr>
        <p:spPr>
          <a:xfrm>
            <a:off x="7818120" y="1691640"/>
            <a:ext cx="1371600" cy="1371600"/>
          </a:xfrm>
          <a:prstGeom prst="rect">
            <a:avLst/>
          </a:prstGeom>
          <a:solidFill>
            <a:srgbClr val="E87C1E">
              <a:alpha val="25000"/>
            </a:srgbClr>
          </a:solidFill>
          <a:ln w="12700">
            <a:solidFill>
              <a:srgbClr val="E87C1E">
                <a:alpha val="25000"/>
              </a:srgbClr>
            </a:solidFill>
            <a:prstDash val="solid"/>
          </a:ln>
        </p:spPr>
      </p:sp>
      <p:sp>
        <p:nvSpPr>
          <p:cNvPr id="4" name="Shape 2"/>
          <p:cNvSpPr/>
          <p:nvPr/>
        </p:nvSpPr>
        <p:spPr>
          <a:xfrm>
            <a:off x="-45720" y="3520440"/>
            <a:ext cx="1920240" cy="1783080"/>
          </a:xfrm>
          <a:prstGeom prst="rect">
            <a:avLst/>
          </a:prstGeom>
          <a:solidFill>
            <a:srgbClr val="E87C1E">
              <a:alpha val="30000"/>
            </a:srgbClr>
          </a:solidFill>
          <a:ln w="12700">
            <a:solidFill>
              <a:srgbClr val="E87C1E">
                <a:alpha val="30000"/>
              </a:srgbClr>
            </a:solidFill>
            <a:prstDash val="solid"/>
          </a:ln>
        </p:spPr>
      </p:sp>
      <p:sp>
        <p:nvSpPr>
          <p:cNvPr id="5" name="Shape 3"/>
          <p:cNvSpPr/>
          <p:nvPr/>
        </p:nvSpPr>
        <p:spPr>
          <a:xfrm>
            <a:off x="438912" y="1005840"/>
            <a:ext cx="118872" cy="2423160"/>
          </a:xfrm>
          <a:prstGeom prst="rect">
            <a:avLst/>
          </a:prstGeom>
          <a:solidFill>
            <a:srgbClr val="E87C1E"/>
          </a:solidFill>
          <a:ln w="12700">
            <a:solidFill>
              <a:srgbClr val="E87C1E"/>
            </a:solidFill>
            <a:prstDash val="solid"/>
          </a:ln>
        </p:spPr>
      </p:sp>
      <p:sp>
        <p:nvSpPr>
          <p:cNvPr id="6" name="Text 4"/>
          <p:cNvSpPr/>
          <p:nvPr/>
        </p:nvSpPr>
        <p:spPr>
          <a:xfrm>
            <a:off x="658368" y="822960"/>
            <a:ext cx="7772400" cy="1463040"/>
          </a:xfrm>
          <a:prstGeom prst="rect">
            <a:avLst/>
          </a:prstGeom>
          <a:noFill/>
          <a:ln/>
        </p:spPr>
        <p:txBody>
          <a:bodyPr wrap="square" rtlCol="0" anchor="ctr"/>
          <a:lstStyle/>
          <a:p>
            <a:pPr indent="0" marL="0">
              <a:buNone/>
            </a:pPr>
            <a:r>
              <a:rPr lang="en-US" sz="7200" b="1" dirty="0">
                <a:solidFill>
                  <a:srgbClr val="FFFFFF"/>
                </a:solidFill>
                <a:latin typeface="Calibri" pitchFamily="34" charset="0"/>
                <a:ea typeface="Calibri" pitchFamily="34" charset="-122"/>
                <a:cs typeface="Calibri" pitchFamily="34" charset="-120"/>
              </a:rPr>
              <a:t>Gracias</a:t>
            </a:r>
            <a:endParaRPr lang="en-US" sz="7200" dirty="0"/>
          </a:p>
        </p:txBody>
      </p:sp>
      <p:sp>
        <p:nvSpPr>
          <p:cNvPr id="7" name="Text 5"/>
          <p:cNvSpPr/>
          <p:nvPr/>
        </p:nvSpPr>
        <p:spPr>
          <a:xfrm>
            <a:off x="658368" y="2423160"/>
            <a:ext cx="7772400" cy="594360"/>
          </a:xfrm>
          <a:prstGeom prst="rect">
            <a:avLst/>
          </a:prstGeom>
          <a:noFill/>
          <a:ln/>
        </p:spPr>
        <p:txBody>
          <a:bodyPr wrap="square" rtlCol="0" anchor="ctr"/>
          <a:lstStyle/>
          <a:p>
            <a:pPr indent="0" marL="0">
              <a:buNone/>
            </a:pPr>
            <a:r>
              <a:rPr lang="en-US" sz="2200" b="1" dirty="0">
                <a:solidFill>
                  <a:srgbClr val="E87C1E"/>
                </a:solidFill>
                <a:latin typeface="Calibri" pitchFamily="34" charset="0"/>
                <a:ea typeface="Calibri" pitchFamily="34" charset="-122"/>
                <a:cs typeface="Calibri" pitchFamily="34" charset="-120"/>
              </a:rPr>
              <a:t>Dr. Tito Goicochea M.</a:t>
            </a:r>
            <a:endParaRPr lang="en-US" sz="2200" dirty="0"/>
          </a:p>
        </p:txBody>
      </p:sp>
      <p:sp>
        <p:nvSpPr>
          <p:cNvPr id="8" name="Text 6"/>
          <p:cNvSpPr/>
          <p:nvPr/>
        </p:nvSpPr>
        <p:spPr>
          <a:xfrm>
            <a:off x="658368" y="3063240"/>
            <a:ext cx="7772400" cy="438912"/>
          </a:xfrm>
          <a:prstGeom prst="rect">
            <a:avLst/>
          </a:prstGeom>
          <a:noFill/>
          <a:ln/>
        </p:spPr>
        <p:txBody>
          <a:bodyPr wrap="square" rtlCol="0" anchor="ctr"/>
          <a:lstStyle/>
          <a:p>
            <a:pPr indent="0" marL="0">
              <a:buNone/>
            </a:pPr>
            <a:r>
              <a:rPr lang="en-US" sz="1600" i="1" dirty="0">
                <a:solidFill>
                  <a:srgbClr val="D0E4F5"/>
                </a:solidFill>
                <a:latin typeface="Calibri" pitchFamily="34" charset="0"/>
                <a:ea typeface="Calibri" pitchFamily="34" charset="-122"/>
                <a:cs typeface="Calibri" pitchFamily="34" charset="-120"/>
              </a:rPr>
              <a:t>NEED - DSA</a:t>
            </a:r>
            <a:endParaRPr lang="en-US" sz="1600" dirty="0"/>
          </a:p>
        </p:txBody>
      </p:sp>
      <p:sp>
        <p:nvSpPr>
          <p:cNvPr id="9" name="Shape 7"/>
          <p:cNvSpPr/>
          <p:nvPr/>
        </p:nvSpPr>
        <p:spPr>
          <a:xfrm>
            <a:off x="0" y="4800600"/>
            <a:ext cx="9144000" cy="342900"/>
          </a:xfrm>
          <a:prstGeom prst="rect">
            <a:avLst/>
          </a:prstGeom>
          <a:solidFill>
            <a:srgbClr val="003D7C"/>
          </a:solidFill>
          <a:ln w="12700">
            <a:solidFill>
              <a:srgbClr val="003D7C"/>
            </a:solidFill>
            <a:prstDash val="solid"/>
          </a:ln>
        </p:spPr>
      </p:sp>
      <p:sp>
        <p:nvSpPr>
          <p:cNvPr id="10" name="Text 8"/>
          <p:cNvSpPr/>
          <p:nvPr/>
        </p:nvSpPr>
        <p:spPr>
          <a:xfrm>
            <a:off x="274320" y="4809744"/>
            <a:ext cx="8595360" cy="320040"/>
          </a:xfrm>
          <a:prstGeom prst="rect">
            <a:avLst/>
          </a:prstGeom>
          <a:noFill/>
          <a:ln/>
        </p:spPr>
        <p:txBody>
          <a:bodyPr wrap="square" rtlCol="0" anchor="ctr"/>
          <a:lstStyle/>
          <a:p>
            <a:pPr indent="0" marL="0">
              <a:buNone/>
            </a:pPr>
            <a:r>
              <a:rPr lang="en-US" sz="750" i="1" dirty="0">
                <a:solidFill>
                  <a:srgbClr val="D0E4F5"/>
                </a:solidFill>
                <a:latin typeface="Calibri" pitchFamily="34" charset="0"/>
                <a:ea typeface="Calibri" pitchFamily="34" charset="-122"/>
                <a:cs typeface="Calibri" pitchFamily="34" charset="-120"/>
              </a:rPr>
              <a:t>Dr. Tito Goicochea M. · NEED - DSA · Bosquejo Lección Escuela Sabática II Trimestre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Lección 5 · CÓMO ESTUDIAR LA BIBLIA</dc:title>
  <dc:subject>PptxGenJS Presentation</dc:subject>
  <dc:creator>Dr. Tito Goicochea M.</dc:creator>
  <cp:lastModifiedBy>Dr. Tito Goicochea M.</cp:lastModifiedBy>
  <cp:revision>1</cp:revision>
  <dcterms:created xsi:type="dcterms:W3CDTF">2026-03-15T16:06:18Z</dcterms:created>
  <dcterms:modified xsi:type="dcterms:W3CDTF">2026-03-15T16:06:18Z</dcterms:modified>
</cp:coreProperties>
</file>