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6675120" y="-45720"/>
            <a:ext cx="2514600" cy="777240"/>
          </a:xfrm>
          <a:prstGeom prst="rect">
            <a:avLst/>
          </a:prstGeom>
          <a:solidFill>
            <a:srgbClr val="2D7A3A">
              <a:alpha val="70000"/>
            </a:srgbClr>
          </a:solidFill>
          <a:ln w="12700">
            <a:solidFill>
              <a:srgbClr val="2D7A3A">
                <a:alpha val="70000"/>
              </a:srgbClr>
            </a:solidFill>
            <a:prstDash val="solid"/>
          </a:ln>
        </p:spPr>
      </p:sp>
      <p:sp>
        <p:nvSpPr>
          <p:cNvPr id="3" name="Shape 1"/>
          <p:cNvSpPr/>
          <p:nvPr/>
        </p:nvSpPr>
        <p:spPr>
          <a:xfrm>
            <a:off x="7406640" y="713232"/>
            <a:ext cx="1783080" cy="502920"/>
          </a:xfrm>
          <a:prstGeom prst="rect">
            <a:avLst/>
          </a:prstGeom>
          <a:solidFill>
            <a:srgbClr val="2D7A3A">
              <a:alpha val="45000"/>
            </a:srgbClr>
          </a:solidFill>
          <a:ln w="12700">
            <a:solidFill>
              <a:srgbClr val="2D7A3A">
                <a:alpha val="45000"/>
              </a:srgbClr>
            </a:solidFill>
            <a:prstDash val="solid"/>
          </a:ln>
        </p:spPr>
      </p:sp>
      <p:sp>
        <p:nvSpPr>
          <p:cNvPr id="4" name="Shape 2"/>
          <p:cNvSpPr/>
          <p:nvPr/>
        </p:nvSpPr>
        <p:spPr>
          <a:xfrm>
            <a:off x="-45720" y="3566160"/>
            <a:ext cx="1554480" cy="1645920"/>
          </a:xfrm>
          <a:prstGeom prst="rect">
            <a:avLst/>
          </a:prstGeom>
          <a:solidFill>
            <a:srgbClr val="2D7A3A">
              <a:alpha val="45000"/>
            </a:srgbClr>
          </a:solidFill>
          <a:ln w="12700">
            <a:solidFill>
              <a:srgbClr val="2D7A3A">
                <a:alpha val="45000"/>
              </a:srgbClr>
            </a:solidFill>
            <a:prstDash val="solid"/>
          </a:ln>
        </p:spPr>
      </p:sp>
      <p:sp>
        <p:nvSpPr>
          <p:cNvPr id="5" name="Shape 3"/>
          <p:cNvSpPr/>
          <p:nvPr/>
        </p:nvSpPr>
        <p:spPr>
          <a:xfrm>
            <a:off x="475488" y="1051560"/>
            <a:ext cx="118872" cy="2468880"/>
          </a:xfrm>
          <a:prstGeom prst="rect">
            <a:avLst/>
          </a:prstGeom>
          <a:solidFill>
            <a:srgbClr val="2D7A3A"/>
          </a:solidFill>
          <a:ln w="12700">
            <a:solidFill>
              <a:srgbClr val="2D7A3A"/>
            </a:solidFill>
            <a:prstDash val="solid"/>
          </a:ln>
        </p:spPr>
      </p:sp>
      <p:sp>
        <p:nvSpPr>
          <p:cNvPr id="6" name="Text 4"/>
          <p:cNvSpPr/>
          <p:nvPr/>
        </p:nvSpPr>
        <p:spPr>
          <a:xfrm>
            <a:off x="713232" y="228600"/>
            <a:ext cx="7772400" cy="475488"/>
          </a:xfrm>
          <a:prstGeom prst="rect">
            <a:avLst/>
          </a:prstGeom>
          <a:noFill/>
          <a:ln/>
        </p:spPr>
        <p:txBody>
          <a:bodyPr wrap="square" rtlCol="0" anchor="ctr"/>
          <a:lstStyle/>
          <a:p>
            <a:pPr indent="0" marL="0">
              <a:buNone/>
            </a:pPr>
            <a:r>
              <a:rPr lang="en-US" sz="1250" b="1" spc="100" kern="0" dirty="0">
                <a:solidFill>
                  <a:srgbClr val="D0E4F5"/>
                </a:solidFill>
                <a:latin typeface="Calibri" pitchFamily="34" charset="0"/>
                <a:ea typeface="Calibri" pitchFamily="34" charset="-122"/>
                <a:cs typeface="Calibri" pitchFamily="34" charset="-120"/>
              </a:rPr>
              <a:t>PUNTOS PRINCIPALES DE LA LECCIÓN DE ESCUELA SABÁTICA</a:t>
            </a:r>
            <a:endParaRPr lang="en-US" sz="1250" dirty="0"/>
          </a:p>
        </p:txBody>
      </p:sp>
      <p:sp>
        <p:nvSpPr>
          <p:cNvPr id="7" name="Text 5"/>
          <p:cNvSpPr/>
          <p:nvPr/>
        </p:nvSpPr>
        <p:spPr>
          <a:xfrm>
            <a:off x="713232" y="685800"/>
            <a:ext cx="7772400" cy="384048"/>
          </a:xfrm>
          <a:prstGeom prst="rect">
            <a:avLst/>
          </a:prstGeom>
          <a:noFill/>
          <a:ln/>
        </p:spPr>
        <p:txBody>
          <a:bodyPr wrap="square" rtlCol="0" anchor="ctr"/>
          <a:lstStyle/>
          <a:p>
            <a:pPr indent="0" marL="0">
              <a:buNone/>
            </a:pPr>
            <a:r>
              <a:rPr lang="en-US" sz="1400" b="1" spc="200" kern="0" dirty="0">
                <a:solidFill>
                  <a:srgbClr val="2D7A3A"/>
                </a:solidFill>
                <a:latin typeface="Calibri" pitchFamily="34" charset="0"/>
                <a:ea typeface="Calibri" pitchFamily="34" charset="-122"/>
                <a:cs typeface="Calibri" pitchFamily="34" charset="-120"/>
              </a:rPr>
              <a:t>Lección 4</a:t>
            </a:r>
            <a:endParaRPr lang="en-US" sz="1400" dirty="0"/>
          </a:p>
        </p:txBody>
      </p:sp>
      <p:sp>
        <p:nvSpPr>
          <p:cNvPr id="8" name="Text 6"/>
          <p:cNvSpPr/>
          <p:nvPr/>
        </p:nvSpPr>
        <p:spPr>
          <a:xfrm>
            <a:off x="713232" y="1051560"/>
            <a:ext cx="7498080" cy="1005840"/>
          </a:xfrm>
          <a:prstGeom prst="rect">
            <a:avLst/>
          </a:prstGeom>
          <a:noFill/>
          <a:ln/>
        </p:spPr>
        <p:txBody>
          <a:bodyPr wrap="square" rtlCol="0" anchor="ctr"/>
          <a:lstStyle/>
          <a:p>
            <a:pPr indent="0" marL="0">
              <a:buNone/>
            </a:pPr>
            <a:r>
              <a:rPr lang="en-US" sz="5200" b="1" spc="200" kern="0" dirty="0">
                <a:solidFill>
                  <a:srgbClr val="FFFFFF"/>
                </a:solidFill>
                <a:latin typeface="Calibri" pitchFamily="34" charset="0"/>
                <a:ea typeface="Calibri" pitchFamily="34" charset="-122"/>
                <a:cs typeface="Calibri" pitchFamily="34" charset="-120"/>
              </a:rPr>
              <a:t>EL ROL DE LA BIBLIA</a:t>
            </a:r>
            <a:endParaRPr lang="en-US" sz="5200" dirty="0"/>
          </a:p>
        </p:txBody>
      </p:sp>
      <p:sp>
        <p:nvSpPr>
          <p:cNvPr id="9" name="Text 7"/>
          <p:cNvSpPr/>
          <p:nvPr/>
        </p:nvSpPr>
        <p:spPr>
          <a:xfrm>
            <a:off x="713232" y="2148840"/>
            <a:ext cx="7772400" cy="347472"/>
          </a:xfrm>
          <a:prstGeom prst="rect">
            <a:avLst/>
          </a:prstGeom>
          <a:noFill/>
          <a:ln/>
        </p:spPr>
        <p:txBody>
          <a:bodyPr wrap="square" rtlCol="0" anchor="ctr"/>
          <a:lstStyle/>
          <a:p>
            <a:pPr indent="0" marL="0">
              <a:buNone/>
            </a:pPr>
            <a:r>
              <a:rPr lang="en-US" sz="1300" i="1" dirty="0">
                <a:solidFill>
                  <a:srgbClr val="D0E4F5"/>
                </a:solidFill>
                <a:latin typeface="Calibri" pitchFamily="34" charset="0"/>
                <a:ea typeface="Calibri" pitchFamily="34" charset="-122"/>
                <a:cs typeface="Calibri" pitchFamily="34" charset="-120"/>
              </a:rPr>
              <a:t>Para el Sábado 25 de abril de 2026</a:t>
            </a:r>
            <a:endParaRPr lang="en-US" sz="1300" dirty="0"/>
          </a:p>
        </p:txBody>
      </p:sp>
      <p:sp>
        <p:nvSpPr>
          <p:cNvPr id="10" name="Shape 8"/>
          <p:cNvSpPr/>
          <p:nvPr/>
        </p:nvSpPr>
        <p:spPr>
          <a:xfrm>
            <a:off x="475488" y="2514600"/>
            <a:ext cx="8229600" cy="1024128"/>
          </a:xfrm>
          <a:prstGeom prst="rect">
            <a:avLst/>
          </a:prstGeom>
          <a:solidFill>
            <a:srgbClr val="FFFFFF">
              <a:alpha val="10000"/>
            </a:srgbClr>
          </a:solidFill>
          <a:ln w="12700">
            <a:solidFill>
              <a:srgbClr val="2D7A3A">
                <a:alpha val="75000"/>
              </a:srgbClr>
            </a:solidFill>
            <a:prstDash val="solid"/>
          </a:ln>
        </p:spPr>
      </p:sp>
      <p:sp>
        <p:nvSpPr>
          <p:cNvPr id="11" name="Shape 9"/>
          <p:cNvSpPr/>
          <p:nvPr/>
        </p:nvSpPr>
        <p:spPr>
          <a:xfrm>
            <a:off x="475488" y="2514600"/>
            <a:ext cx="118872" cy="1024128"/>
          </a:xfrm>
          <a:prstGeom prst="rect">
            <a:avLst/>
          </a:prstGeom>
          <a:solidFill>
            <a:srgbClr val="2D7A3A"/>
          </a:solidFill>
          <a:ln w="12700">
            <a:solidFill>
              <a:srgbClr val="2D7A3A"/>
            </a:solidFill>
            <a:prstDash val="solid"/>
          </a:ln>
        </p:spPr>
      </p:sp>
      <p:sp>
        <p:nvSpPr>
          <p:cNvPr id="12" name="Text 10"/>
          <p:cNvSpPr/>
          <p:nvPr/>
        </p:nvSpPr>
        <p:spPr>
          <a:xfrm>
            <a:off x="658368" y="2532888"/>
            <a:ext cx="7909560" cy="987552"/>
          </a:xfrm>
          <a:prstGeom prst="rect">
            <a:avLst/>
          </a:prstGeom>
          <a:noFill/>
          <a:ln/>
        </p:spPr>
        <p:txBody>
          <a:bodyPr wrap="square" rtlCol="0" anchor="ctr"/>
          <a:lstStyle/>
          <a:p>
            <a:pPr indent="0" marL="0">
              <a:buNone/>
            </a:pPr>
            <a:r>
              <a:rPr lang="en-US" sz="900" b="1" dirty="0">
                <a:solidFill>
                  <a:srgbClr val="2D7A3A"/>
                </a:solidFill>
                <a:latin typeface="Calibri" pitchFamily="34" charset="0"/>
                <a:ea typeface="Calibri" pitchFamily="34" charset="-122"/>
                <a:cs typeface="Calibri" pitchFamily="34" charset="-120"/>
              </a:rPr>
              <a:t>Para memorizar: </a:t>
            </a:r>
            <a:pPr indent="0" marL="0">
              <a:buNone/>
            </a:pPr>
            <a:r>
              <a:rPr lang="en-US" sz="1150" i="1" dirty="0">
                <a:solidFill>
                  <a:srgbClr val="FFFFFF"/>
                </a:solidFill>
                <a:latin typeface="Calibri" pitchFamily="34" charset="0"/>
                <a:ea typeface="Calibri" pitchFamily="34" charset="-122"/>
                <a:cs typeface="Calibri" pitchFamily="34" charset="-120"/>
              </a:rPr>
              <a:t>"La palabra de Dios es viva y eficaz, más cortante que cualquier espada de dos filos."  —  Hebreos 4:12</a:t>
            </a:r>
            <a:endParaRPr lang="en-US" sz="900" dirty="0"/>
          </a:p>
        </p:txBody>
      </p:sp>
      <p:sp>
        <p:nvSpPr>
          <p:cNvPr id="13" name="Shape 11"/>
          <p:cNvSpPr/>
          <p:nvPr/>
        </p:nvSpPr>
        <p:spPr>
          <a:xfrm>
            <a:off x="0" y="4800600"/>
            <a:ext cx="9144000" cy="342900"/>
          </a:xfrm>
          <a:prstGeom prst="rect">
            <a:avLst/>
          </a:prstGeom>
          <a:solidFill>
            <a:srgbClr val="1A5276"/>
          </a:solidFill>
          <a:ln w="12700">
            <a:solidFill>
              <a:srgbClr val="1A5276"/>
            </a:solidFill>
            <a:prstDash val="solid"/>
          </a:ln>
        </p:spPr>
      </p:sp>
      <p:sp>
        <p:nvSpPr>
          <p:cNvPr id="14" name="Text 1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5276"/>
          </a:solidFill>
          <a:ln w="12700">
            <a:solidFill>
              <a:srgbClr val="1A5276"/>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1]  MOTIVA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Reflexiona antes de comenzar:</a:t>
            </a:r>
            <a:endParaRPr lang="en-US" sz="1100" dirty="0"/>
          </a:p>
        </p:txBody>
      </p:sp>
      <p:sp>
        <p:nvSpPr>
          <p:cNvPr id="5" name="Shape 3"/>
          <p:cNvSpPr/>
          <p:nvPr/>
        </p:nvSpPr>
        <p:spPr>
          <a:xfrm>
            <a:off x="256032" y="804672"/>
            <a:ext cx="8631936" cy="1600200"/>
          </a:xfrm>
          <a:prstGeom prst="rect">
            <a:avLst/>
          </a:prstGeom>
          <a:solidFill>
            <a:srgbClr val="E8F5EA"/>
          </a:solidFill>
          <a:ln w="12700">
            <a:solidFill>
              <a:srgbClr val="2D7A3A"/>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56032" y="804672"/>
            <a:ext cx="128016" cy="1600200"/>
          </a:xfrm>
          <a:prstGeom prst="rect">
            <a:avLst/>
          </a:prstGeom>
          <a:solidFill>
            <a:srgbClr val="2D7A3A"/>
          </a:solidFill>
          <a:ln w="12700">
            <a:solidFill>
              <a:srgbClr val="2D7A3A"/>
            </a:solidFill>
            <a:prstDash val="solid"/>
          </a:ln>
        </p:spPr>
      </p:sp>
      <p:sp>
        <p:nvSpPr>
          <p:cNvPr id="7" name="Text 5"/>
          <p:cNvSpPr/>
          <p:nvPr/>
        </p:nvSpPr>
        <p:spPr>
          <a:xfrm>
            <a:off x="438912" y="832104"/>
            <a:ext cx="8321040" cy="1536192"/>
          </a:xfrm>
          <a:prstGeom prst="rect">
            <a:avLst/>
          </a:prstGeom>
          <a:noFill/>
          <a:ln/>
        </p:spPr>
        <p:txBody>
          <a:bodyPr wrap="square" rtlCol="0" anchor="ctr"/>
          <a:lstStyle/>
          <a:p>
            <a:pPr indent="0" marL="0">
              <a:buNone/>
            </a:pPr>
            <a:r>
              <a:rPr lang="en-US" sz="1600" b="1" dirty="0">
                <a:solidFill>
                  <a:srgbClr val="1A5276"/>
                </a:solidFill>
                <a:latin typeface="Calibri" pitchFamily="34" charset="0"/>
                <a:ea typeface="Calibri" pitchFamily="34" charset="-122"/>
                <a:cs typeface="Calibri" pitchFamily="34" charset="-120"/>
              </a:rPr>
              <a:t>GPS:  </a:t>
            </a:r>
            <a:pPr indent="0" marL="0">
              <a:buNone/>
            </a:pPr>
            <a:r>
              <a:rPr lang="en-US" sz="1450" b="1" i="1" dirty="0">
                <a:solidFill>
                  <a:srgbClr val="2D7A3A"/>
                </a:solidFill>
                <a:latin typeface="Calibri" pitchFamily="34" charset="0"/>
                <a:ea typeface="Calibri" pitchFamily="34" charset="-122"/>
                <a:cs typeface="Calibri" pitchFamily="34" charset="-120"/>
              </a:rPr>
              <a:t>¿Qué lugar ocupa realmente la Biblia en tu vida y cómo puede transformarte si la recibes como la Palabra viva de Dios?</a:t>
            </a:r>
            <a:endParaRPr lang="en-US" sz="1600" dirty="0"/>
          </a:p>
        </p:txBody>
      </p:sp>
      <p:sp>
        <p:nvSpPr>
          <p:cNvPr id="8" name="Shape 6"/>
          <p:cNvSpPr/>
          <p:nvPr/>
        </p:nvSpPr>
        <p:spPr>
          <a:xfrm>
            <a:off x="256032" y="2532888"/>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256032" y="2532888"/>
            <a:ext cx="128016" cy="749808"/>
          </a:xfrm>
          <a:prstGeom prst="rect">
            <a:avLst/>
          </a:prstGeom>
          <a:solidFill>
            <a:srgbClr val="1A5276"/>
          </a:solidFill>
          <a:ln w="12700">
            <a:solidFill>
              <a:srgbClr val="1A5276"/>
            </a:solidFill>
            <a:prstDash val="solid"/>
          </a:ln>
        </p:spPr>
      </p:sp>
      <p:sp>
        <p:nvSpPr>
          <p:cNvPr id="10" name="Text 8"/>
          <p:cNvSpPr/>
          <p:nvPr/>
        </p:nvSpPr>
        <p:spPr>
          <a:xfrm>
            <a:off x="457200" y="2578608"/>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¿Cuándo fue la última vez que la Biblia te habló de manera tan directa que cambió algo concreto en tu vida? ¿Qué pasó?</a:t>
            </a:r>
            <a:endParaRPr lang="en-US" sz="1250" dirty="0"/>
          </a:p>
        </p:txBody>
      </p:sp>
      <p:sp>
        <p:nvSpPr>
          <p:cNvPr id="11" name="Shape 9"/>
          <p:cNvSpPr/>
          <p:nvPr/>
        </p:nvSpPr>
        <p:spPr>
          <a:xfrm>
            <a:off x="256032" y="3419856"/>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56032" y="3419856"/>
            <a:ext cx="128016" cy="749808"/>
          </a:xfrm>
          <a:prstGeom prst="rect">
            <a:avLst/>
          </a:prstGeom>
          <a:solidFill>
            <a:srgbClr val="1A5276"/>
          </a:solidFill>
          <a:ln w="12700">
            <a:solidFill>
              <a:srgbClr val="1A5276"/>
            </a:solidFill>
            <a:prstDash val="solid"/>
          </a:ln>
        </p:spPr>
      </p:sp>
      <p:sp>
        <p:nvSpPr>
          <p:cNvPr id="13" name="Text 11"/>
          <p:cNvSpPr/>
          <p:nvPr/>
        </p:nvSpPr>
        <p:spPr>
          <a:xfrm>
            <a:off x="457200" y="3465576"/>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¿Qué obstáculos te impiden con mayor frecuencia leer y estudiar la Biblia con profundidad y regularidad?</a:t>
            </a:r>
            <a:endParaRPr lang="en-US" sz="1250" dirty="0"/>
          </a:p>
        </p:txBody>
      </p:sp>
      <p:sp>
        <p:nvSpPr>
          <p:cNvPr id="14" name="Shape 12"/>
          <p:cNvSpPr/>
          <p:nvPr/>
        </p:nvSpPr>
        <p:spPr>
          <a:xfrm>
            <a:off x="0" y="4800600"/>
            <a:ext cx="9144000" cy="342900"/>
          </a:xfrm>
          <a:prstGeom prst="rect">
            <a:avLst/>
          </a:prstGeom>
          <a:solidFill>
            <a:srgbClr val="1A5276"/>
          </a:solidFill>
          <a:ln w="12700">
            <a:solidFill>
              <a:srgbClr val="1A5276"/>
            </a:solidFill>
            <a:prstDash val="solid"/>
          </a:ln>
        </p:spPr>
      </p:sp>
      <p:sp>
        <p:nvSpPr>
          <p:cNvPr id="15" name="Text 13"/>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5276"/>
          </a:solidFill>
          <a:ln w="12700">
            <a:solidFill>
              <a:srgbClr val="1A5276"/>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2D7A3A"/>
          </a:solidFill>
          <a:ln w="12700">
            <a:solidFill>
              <a:srgbClr val="2D7A3A"/>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1 de 3</a:t>
            </a:r>
            <a:endParaRPr lang="en-US" sz="900" dirty="0"/>
          </a:p>
        </p:txBody>
      </p:sp>
      <p:sp>
        <p:nvSpPr>
          <p:cNvPr id="7" name="Shape 5"/>
          <p:cNvSpPr/>
          <p:nvPr/>
        </p:nvSpPr>
        <p:spPr>
          <a:xfrm>
            <a:off x="228600" y="749808"/>
            <a:ext cx="2286000" cy="3931920"/>
          </a:xfrm>
          <a:prstGeom prst="rect">
            <a:avLst/>
          </a:prstGeom>
          <a:solidFill>
            <a:srgbClr val="1A5276"/>
          </a:solidFill>
          <a:ln w="12700">
            <a:solidFill>
              <a:srgbClr val="1A5276"/>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2D7A3A"/>
          </a:solidFill>
          <a:ln w="12700">
            <a:solidFill>
              <a:srgbClr val="2D7A3A"/>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1</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 Biblia: autoridad viva y poderosa</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La Escritura es inspirada por Dios y útil para enseñar, reprender, corregir y adiestrar en justicia. No es un libro ordinario: es la Palabra viva que discierne los pensamientos del corazón.</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2D7A3A"/>
                </a:solidFill>
                <a:latin typeface="Calibri" pitchFamily="34" charset="0"/>
                <a:ea typeface="Calibri" pitchFamily="34" charset="-122"/>
                <a:cs typeface="Calibri" pitchFamily="34" charset="-120"/>
              </a:rPr>
              <a:t>2 Timoteo 3:15-17; Hebreos 4:12</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2D7A3A"/>
          </a:solidFill>
          <a:ln w="12700">
            <a:solidFill>
              <a:srgbClr val="2D7A3A"/>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2 Tim. 3:15  —  </a:t>
            </a:r>
            <a:pPr indent="0" marL="0">
              <a:buNone/>
            </a:pPr>
            <a:r>
              <a:rPr lang="en-US" sz="1150" b="1" dirty="0">
                <a:solidFill>
                  <a:srgbClr val="1A5276"/>
                </a:solidFill>
                <a:latin typeface="Calibri" pitchFamily="34" charset="0"/>
                <a:ea typeface="Calibri" pitchFamily="34" charset="-122"/>
                <a:cs typeface="Calibri" pitchFamily="34" charset="-120"/>
              </a:rPr>
              <a:t>Sabiduría que conduce a la salvación: </a:t>
            </a:r>
            <a:pPr indent="0" marL="0">
              <a:buNone/>
            </a:pPr>
            <a:r>
              <a:rPr lang="en-US" sz="1150" dirty="0">
                <a:solidFill>
                  <a:srgbClr val="1A1A1A"/>
                </a:solidFill>
                <a:latin typeface="Calibri" pitchFamily="34" charset="0"/>
                <a:ea typeface="Calibri" pitchFamily="34" charset="-122"/>
                <a:cs typeface="Calibri" pitchFamily="34" charset="-120"/>
              </a:rPr>
              <a:t>Las Sagradas Escrituras pueden hacernos sabios para la salvación mediante la fe en Cristo Jesús. La Biblia no solo informa la mente sino que transforma el corazón hacia Dios.</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2D7A3A"/>
          </a:solidFill>
          <a:ln w="12700">
            <a:solidFill>
              <a:srgbClr val="2D7A3A"/>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2 Tim. 3:16-17  —  </a:t>
            </a:r>
            <a:pPr indent="0" marL="0">
              <a:buNone/>
            </a:pPr>
            <a:r>
              <a:rPr lang="en-US" sz="1150" b="1" dirty="0">
                <a:solidFill>
                  <a:srgbClr val="1A5276"/>
                </a:solidFill>
                <a:latin typeface="Calibri" pitchFamily="34" charset="0"/>
                <a:ea typeface="Calibri" pitchFamily="34" charset="-122"/>
                <a:cs typeface="Calibri" pitchFamily="34" charset="-120"/>
              </a:rPr>
              <a:t>Inspirada por Dios y útil: </a:t>
            </a:r>
            <a:pPr indent="0" marL="0">
              <a:buNone/>
            </a:pPr>
            <a:r>
              <a:rPr lang="en-US" sz="1150" dirty="0">
                <a:solidFill>
                  <a:srgbClr val="1A1A1A"/>
                </a:solidFill>
                <a:latin typeface="Calibri" pitchFamily="34" charset="0"/>
                <a:ea typeface="Calibri" pitchFamily="34" charset="-122"/>
                <a:cs typeface="Calibri" pitchFamily="34" charset="-120"/>
              </a:rPr>
              <a:t>Toda Escritura es inspirada por Dios (theopneustos: soplada por Dios) y sirve para enseñar, reprender, corregir e instruir en justicia, equipando completamente al creyente.</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2D7A3A"/>
          </a:solidFill>
          <a:ln w="12700">
            <a:solidFill>
              <a:srgbClr val="2D7A3A"/>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Heb. 4:12  —  </a:t>
            </a:r>
            <a:pPr indent="0" marL="0">
              <a:buNone/>
            </a:pPr>
            <a:r>
              <a:rPr lang="en-US" sz="1150" b="1" dirty="0">
                <a:solidFill>
                  <a:srgbClr val="1A5276"/>
                </a:solidFill>
                <a:latin typeface="Calibri" pitchFamily="34" charset="0"/>
                <a:ea typeface="Calibri" pitchFamily="34" charset="-122"/>
                <a:cs typeface="Calibri" pitchFamily="34" charset="-120"/>
              </a:rPr>
              <a:t>La Palabra que penetra el corazón: </a:t>
            </a:r>
            <a:pPr indent="0" marL="0">
              <a:buNone/>
            </a:pPr>
            <a:r>
              <a:rPr lang="en-US" sz="1150" dirty="0">
                <a:solidFill>
                  <a:srgbClr val="1A1A1A"/>
                </a:solidFill>
                <a:latin typeface="Calibri" pitchFamily="34" charset="0"/>
                <a:ea typeface="Calibri" pitchFamily="34" charset="-122"/>
                <a:cs typeface="Calibri" pitchFamily="34" charset="-120"/>
              </a:rPr>
              <a:t>La Palabra de Dios es viva, eficaz y más cortante que cualquier espada. Penetra hasta lo más íntimo del ser y discierne los pensamientos e intenciones del corazón.</a:t>
            </a:r>
            <a:endParaRPr lang="en-US" sz="1150" dirty="0"/>
          </a:p>
        </p:txBody>
      </p:sp>
      <p:sp>
        <p:nvSpPr>
          <p:cNvPr id="21" name="Shape 19"/>
          <p:cNvSpPr/>
          <p:nvPr/>
        </p:nvSpPr>
        <p:spPr>
          <a:xfrm>
            <a:off x="0" y="4800600"/>
            <a:ext cx="9144000" cy="342900"/>
          </a:xfrm>
          <a:prstGeom prst="rect">
            <a:avLst/>
          </a:prstGeom>
          <a:solidFill>
            <a:srgbClr val="1A5276"/>
          </a:solidFill>
          <a:ln w="12700">
            <a:solidFill>
              <a:srgbClr val="1A5276"/>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5276"/>
          </a:solidFill>
          <a:ln w="12700">
            <a:solidFill>
              <a:srgbClr val="1A5276"/>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2D7A3A"/>
          </a:solidFill>
          <a:ln w="12700">
            <a:solidFill>
              <a:srgbClr val="2D7A3A"/>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2 de 3</a:t>
            </a:r>
            <a:endParaRPr lang="en-US" sz="900" dirty="0"/>
          </a:p>
        </p:txBody>
      </p:sp>
      <p:sp>
        <p:nvSpPr>
          <p:cNvPr id="7" name="Shape 5"/>
          <p:cNvSpPr/>
          <p:nvPr/>
        </p:nvSpPr>
        <p:spPr>
          <a:xfrm>
            <a:off x="228600" y="749808"/>
            <a:ext cx="2286000" cy="3931920"/>
          </a:xfrm>
          <a:prstGeom prst="rect">
            <a:avLst/>
          </a:prstGeom>
          <a:solidFill>
            <a:srgbClr val="1A5276"/>
          </a:solidFill>
          <a:ln w="12700">
            <a:solidFill>
              <a:srgbClr val="1A5276"/>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2D7A3A"/>
          </a:solidFill>
          <a:ln w="12700">
            <a:solidFill>
              <a:srgbClr val="2D7A3A"/>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2</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 Biblia como verdad que santifica</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La Palabra de Dios es verdad plena y su propósito es santificarnos: transformar nuestro carácter, orientar nuestras decisiones y guardar nuestro corazón de la contaminación del mundo.</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2D7A3A"/>
                </a:solidFill>
                <a:latin typeface="Calibri" pitchFamily="34" charset="0"/>
                <a:ea typeface="Calibri" pitchFamily="34" charset="-122"/>
                <a:cs typeface="Calibri" pitchFamily="34" charset="-120"/>
              </a:rPr>
              <a:t>Juan 17:17; Salmo 119:11</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2D7A3A"/>
          </a:solidFill>
          <a:ln w="12700">
            <a:solidFill>
              <a:srgbClr val="2D7A3A"/>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Juan 17:17  —  </a:t>
            </a:r>
            <a:pPr indent="0" marL="0">
              <a:buNone/>
            </a:pPr>
            <a:r>
              <a:rPr lang="en-US" sz="1150" b="1" dirty="0">
                <a:solidFill>
                  <a:srgbClr val="1A5276"/>
                </a:solidFill>
                <a:latin typeface="Calibri" pitchFamily="34" charset="0"/>
                <a:ea typeface="Calibri" pitchFamily="34" charset="-122"/>
                <a:cs typeface="Calibri" pitchFamily="34" charset="-120"/>
              </a:rPr>
              <a:t>Santificados en la verdad: </a:t>
            </a:r>
            <a:pPr indent="0" marL="0">
              <a:buNone/>
            </a:pPr>
            <a:r>
              <a:rPr lang="en-US" sz="1150" dirty="0">
                <a:solidFill>
                  <a:srgbClr val="1A1A1A"/>
                </a:solidFill>
                <a:latin typeface="Calibri" pitchFamily="34" charset="0"/>
                <a:ea typeface="Calibri" pitchFamily="34" charset="-122"/>
                <a:cs typeface="Calibri" pitchFamily="34" charset="-120"/>
              </a:rPr>
              <a:t>Jesús oró al Padre: 'Santifícalos en tu verdad; tu palabra es verdad'. La Escritura no solo informa sino que santifica: separa nuestra vida para Dios y nos hace semejantes a Cristo.</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2D7A3A"/>
          </a:solidFill>
          <a:ln w="12700">
            <a:solidFill>
              <a:srgbClr val="2D7A3A"/>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Sal. 119:11  —  </a:t>
            </a:r>
            <a:pPr indent="0" marL="0">
              <a:buNone/>
            </a:pPr>
            <a:r>
              <a:rPr lang="en-US" sz="1150" b="1" dirty="0">
                <a:solidFill>
                  <a:srgbClr val="1A5276"/>
                </a:solidFill>
                <a:latin typeface="Calibri" pitchFamily="34" charset="0"/>
                <a:ea typeface="Calibri" pitchFamily="34" charset="-122"/>
                <a:cs typeface="Calibri" pitchFamily="34" charset="-120"/>
              </a:rPr>
              <a:t>La Palabra guardada en el corazón: </a:t>
            </a:r>
            <a:pPr indent="0" marL="0">
              <a:buNone/>
            </a:pPr>
            <a:r>
              <a:rPr lang="en-US" sz="1150" dirty="0">
                <a:solidFill>
                  <a:srgbClr val="1A1A1A"/>
                </a:solidFill>
                <a:latin typeface="Calibri" pitchFamily="34" charset="0"/>
                <a:ea typeface="Calibri" pitchFamily="34" charset="-122"/>
                <a:cs typeface="Calibri" pitchFamily="34" charset="-120"/>
              </a:rPr>
              <a:t>El salmista atesora la Palabra de Dios en su corazón para no pecar contra él. Memorizar y meditar en la Escritura construye una defensa interna frente a la tentación.</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2D7A3A"/>
          </a:solidFill>
          <a:ln w="12700">
            <a:solidFill>
              <a:srgbClr val="2D7A3A"/>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Efe. 1:13  —  </a:t>
            </a:r>
            <a:pPr indent="0" marL="0">
              <a:buNone/>
            </a:pPr>
            <a:r>
              <a:rPr lang="en-US" sz="1150" b="1" dirty="0">
                <a:solidFill>
                  <a:srgbClr val="1A5276"/>
                </a:solidFill>
                <a:latin typeface="Calibri" pitchFamily="34" charset="0"/>
                <a:ea typeface="Calibri" pitchFamily="34" charset="-122"/>
                <a:cs typeface="Calibri" pitchFamily="34" charset="-120"/>
              </a:rPr>
              <a:t>El Espíritu que acompaña la Palabra: </a:t>
            </a:r>
            <a:pPr indent="0" marL="0">
              <a:buNone/>
            </a:pPr>
            <a:r>
              <a:rPr lang="en-US" sz="1150" dirty="0">
                <a:solidFill>
                  <a:srgbClr val="1A1A1A"/>
                </a:solidFill>
                <a:latin typeface="Calibri" pitchFamily="34" charset="0"/>
                <a:ea typeface="Calibri" pitchFamily="34" charset="-122"/>
                <a:cs typeface="Calibri" pitchFamily="34" charset="-120"/>
              </a:rPr>
              <a:t>Al escuchar y creer la Palabra de verdad, el Espíritu Santo actúa en el creyente. La Biblia y el Espíritu trabajan juntos para producir fe, transformación y certeza de salvación.</a:t>
            </a:r>
            <a:endParaRPr lang="en-US" sz="1150" dirty="0"/>
          </a:p>
        </p:txBody>
      </p:sp>
      <p:sp>
        <p:nvSpPr>
          <p:cNvPr id="21" name="Shape 19"/>
          <p:cNvSpPr/>
          <p:nvPr/>
        </p:nvSpPr>
        <p:spPr>
          <a:xfrm>
            <a:off x="0" y="4800600"/>
            <a:ext cx="9144000" cy="342900"/>
          </a:xfrm>
          <a:prstGeom prst="rect">
            <a:avLst/>
          </a:prstGeom>
          <a:solidFill>
            <a:srgbClr val="1A5276"/>
          </a:solidFill>
          <a:ln w="12700">
            <a:solidFill>
              <a:srgbClr val="1A5276"/>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5276"/>
          </a:solidFill>
          <a:ln w="12700">
            <a:solidFill>
              <a:srgbClr val="1A5276"/>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2D7A3A"/>
          </a:solidFill>
          <a:ln w="12700">
            <a:solidFill>
              <a:srgbClr val="2D7A3A"/>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3 de 3</a:t>
            </a:r>
            <a:endParaRPr lang="en-US" sz="900" dirty="0"/>
          </a:p>
        </p:txBody>
      </p:sp>
      <p:sp>
        <p:nvSpPr>
          <p:cNvPr id="7" name="Shape 5"/>
          <p:cNvSpPr/>
          <p:nvPr/>
        </p:nvSpPr>
        <p:spPr>
          <a:xfrm>
            <a:off x="228600" y="749808"/>
            <a:ext cx="2286000" cy="3931920"/>
          </a:xfrm>
          <a:prstGeom prst="rect">
            <a:avLst/>
          </a:prstGeom>
          <a:solidFill>
            <a:srgbClr val="1A5276"/>
          </a:solidFill>
          <a:ln w="12700">
            <a:solidFill>
              <a:srgbClr val="1A5276"/>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2D7A3A"/>
          </a:solidFill>
          <a:ln w="12700">
            <a:solidFill>
              <a:srgbClr val="2D7A3A"/>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3</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 condición del corazón para recibir la Biblia</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No basta con leer la Biblia; necesitamos recibirla con fe y corazón abierto. El discernimiento espiritual depende de nuestra disposición interior frente a la Palabra de Dios.</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2D7A3A"/>
                </a:solidFill>
                <a:latin typeface="Calibri" pitchFamily="34" charset="0"/>
                <a:ea typeface="Calibri" pitchFamily="34" charset="-122"/>
                <a:cs typeface="Calibri" pitchFamily="34" charset="-120"/>
              </a:rPr>
              <a:t>1 Corintios 2:14; 1 Tesalonicenses 2:13</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2D7A3A"/>
          </a:solidFill>
          <a:ln w="12700">
            <a:solidFill>
              <a:srgbClr val="2D7A3A"/>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1 Cor. 2:14  —  </a:t>
            </a:r>
            <a:pPr indent="0" marL="0">
              <a:buNone/>
            </a:pPr>
            <a:r>
              <a:rPr lang="en-US" sz="1150" b="1" dirty="0">
                <a:solidFill>
                  <a:srgbClr val="1A5276"/>
                </a:solidFill>
                <a:latin typeface="Calibri" pitchFamily="34" charset="0"/>
                <a:ea typeface="Calibri" pitchFamily="34" charset="-122"/>
                <a:cs typeface="Calibri" pitchFamily="34" charset="-120"/>
              </a:rPr>
              <a:t>El natural no percibe lo espiritual: </a:t>
            </a:r>
            <a:pPr indent="0" marL="0">
              <a:buNone/>
            </a:pPr>
            <a:r>
              <a:rPr lang="en-US" sz="1150" dirty="0">
                <a:solidFill>
                  <a:srgbClr val="1A1A1A"/>
                </a:solidFill>
                <a:latin typeface="Calibri" pitchFamily="34" charset="0"/>
                <a:ea typeface="Calibri" pitchFamily="34" charset="-122"/>
                <a:cs typeface="Calibri" pitchFamily="34" charset="-120"/>
              </a:rPr>
              <a:t>El hombre natural no puede comprender las cosas del Espíritu de Dios porque se disciernen espiritualmente. La actitud del corazón determina lo que recibimos de la Palabra.</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2D7A3A"/>
          </a:solidFill>
          <a:ln w="12700">
            <a:solidFill>
              <a:srgbClr val="2D7A3A"/>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1 Tes. 2:13  —  </a:t>
            </a:r>
            <a:pPr indent="0" marL="0">
              <a:buNone/>
            </a:pPr>
            <a:r>
              <a:rPr lang="en-US" sz="1150" b="1" dirty="0">
                <a:solidFill>
                  <a:srgbClr val="1A5276"/>
                </a:solidFill>
                <a:latin typeface="Calibri" pitchFamily="34" charset="0"/>
                <a:ea typeface="Calibri" pitchFamily="34" charset="-122"/>
                <a:cs typeface="Calibri" pitchFamily="34" charset="-120"/>
              </a:rPr>
              <a:t>Recibida como Palabra de Dios: </a:t>
            </a:r>
            <a:pPr indent="0" marL="0">
              <a:buNone/>
            </a:pPr>
            <a:r>
              <a:rPr lang="en-US" sz="1150" dirty="0">
                <a:solidFill>
                  <a:srgbClr val="1A1A1A"/>
                </a:solidFill>
                <a:latin typeface="Calibri" pitchFamily="34" charset="0"/>
                <a:ea typeface="Calibri" pitchFamily="34" charset="-122"/>
                <a:cs typeface="Calibri" pitchFamily="34" charset="-120"/>
              </a:rPr>
              <a:t>Pablo agradece que los tesalonicenses recibieron la Palabra no como palabra humana sino como lo que verdaderamente es: Palabra de Dios, que actúa eficazmente en los creyentes.</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2D7A3A"/>
          </a:solidFill>
          <a:ln w="12700">
            <a:solidFill>
              <a:srgbClr val="2D7A3A"/>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2D7A3A"/>
                </a:solidFill>
                <a:latin typeface="Calibri" pitchFamily="34" charset="0"/>
                <a:ea typeface="Calibri" pitchFamily="34" charset="-122"/>
                <a:cs typeface="Calibri" pitchFamily="34" charset="-120"/>
              </a:rPr>
              <a:t>Sant. 1:21-22  —  </a:t>
            </a:r>
            <a:pPr indent="0" marL="0">
              <a:buNone/>
            </a:pPr>
            <a:r>
              <a:rPr lang="en-US" sz="1150" b="1" dirty="0">
                <a:solidFill>
                  <a:srgbClr val="1A5276"/>
                </a:solidFill>
                <a:latin typeface="Calibri" pitchFamily="34" charset="0"/>
                <a:ea typeface="Calibri" pitchFamily="34" charset="-122"/>
                <a:cs typeface="Calibri" pitchFamily="34" charset="-120"/>
              </a:rPr>
              <a:t>Receptores y hacedores de la Palabra: </a:t>
            </a:r>
            <a:pPr indent="0" marL="0">
              <a:buNone/>
            </a:pPr>
            <a:r>
              <a:rPr lang="en-US" sz="1150" dirty="0">
                <a:solidFill>
                  <a:srgbClr val="1A1A1A"/>
                </a:solidFill>
                <a:latin typeface="Calibri" pitchFamily="34" charset="0"/>
                <a:ea typeface="Calibri" pitchFamily="34" charset="-122"/>
                <a:cs typeface="Calibri" pitchFamily="34" charset="-120"/>
              </a:rPr>
              <a:t>Debemos recibir con mansedumbre la Palabra implantada y ser hacedores de ella, no solo oidores. Leer sin obedecer nos lleva al autoengaño espiritual.</a:t>
            </a:r>
            <a:endParaRPr lang="en-US" sz="1150" dirty="0"/>
          </a:p>
        </p:txBody>
      </p:sp>
      <p:sp>
        <p:nvSpPr>
          <p:cNvPr id="21" name="Shape 19"/>
          <p:cNvSpPr/>
          <p:nvPr/>
        </p:nvSpPr>
        <p:spPr>
          <a:xfrm>
            <a:off x="0" y="4800600"/>
            <a:ext cx="9144000" cy="342900"/>
          </a:xfrm>
          <a:prstGeom prst="rect">
            <a:avLst/>
          </a:prstGeom>
          <a:solidFill>
            <a:srgbClr val="1A5276"/>
          </a:solidFill>
          <a:ln w="12700">
            <a:solidFill>
              <a:srgbClr val="1A5276"/>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8A3A00"/>
          </a:solidFill>
          <a:ln w="12700">
            <a:solidFill>
              <a:srgbClr val="8A3A00"/>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3]  APLICA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C8ECD4"/>
                </a:solidFill>
                <a:latin typeface="Calibri" pitchFamily="34" charset="0"/>
                <a:ea typeface="Calibri" pitchFamily="34" charset="-122"/>
                <a:cs typeface="Calibri" pitchFamily="34" charset="-120"/>
              </a:rPr>
              <a:t>— Reflexión personal:</a:t>
            </a:r>
            <a:endParaRPr lang="en-US" sz="1100" dirty="0"/>
          </a:p>
        </p:txBody>
      </p:sp>
      <p:sp>
        <p:nvSpPr>
          <p:cNvPr id="5" name="Shape 3"/>
          <p:cNvSpPr/>
          <p:nvPr/>
        </p:nvSpPr>
        <p:spPr>
          <a:xfrm>
            <a:off x="228600" y="768096"/>
            <a:ext cx="8686800" cy="1325880"/>
          </a:xfrm>
          <a:prstGeom prst="rect">
            <a:avLst/>
          </a:prstGeom>
          <a:solidFill>
            <a:srgbClr val="FFF0E5"/>
          </a:solidFill>
          <a:ln w="12700">
            <a:solidFill>
              <a:srgbClr val="D4A06A"/>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28600" y="768096"/>
            <a:ext cx="128016" cy="1325880"/>
          </a:xfrm>
          <a:prstGeom prst="rect">
            <a:avLst/>
          </a:prstGeom>
          <a:solidFill>
            <a:srgbClr val="8A3A00"/>
          </a:solidFill>
          <a:ln w="12700">
            <a:solidFill>
              <a:srgbClr val="8A3A00"/>
            </a:solidFill>
            <a:prstDash val="solid"/>
          </a:ln>
        </p:spPr>
      </p:sp>
      <p:sp>
        <p:nvSpPr>
          <p:cNvPr id="7" name="Text 5"/>
          <p:cNvSpPr/>
          <p:nvPr/>
        </p:nvSpPr>
        <p:spPr>
          <a:xfrm>
            <a:off x="402336" y="822960"/>
            <a:ext cx="347472" cy="329184"/>
          </a:xfrm>
          <a:prstGeom prst="rect">
            <a:avLst/>
          </a:prstGeom>
          <a:noFill/>
          <a:ln/>
        </p:spPr>
        <p:txBody>
          <a:bodyPr wrap="square" rtlCol="0" anchor="ctr"/>
          <a:lstStyle/>
          <a:p>
            <a:pPr indent="0" marL="0">
              <a:buNone/>
            </a:pPr>
            <a:r>
              <a:rPr lang="en-US" sz="1400" dirty="0">
                <a:solidFill>
                  <a:srgbClr val="8A3A00"/>
                </a:solidFill>
              </a:rPr>
              <a:t>✶</a:t>
            </a:r>
            <a:endParaRPr lang="en-US" sz="1400" dirty="0"/>
          </a:p>
        </p:txBody>
      </p:sp>
      <p:sp>
        <p:nvSpPr>
          <p:cNvPr id="8" name="Text 6"/>
          <p:cNvSpPr/>
          <p:nvPr/>
        </p:nvSpPr>
        <p:spPr>
          <a:xfrm>
            <a:off x="749808" y="795528"/>
            <a:ext cx="8046720" cy="960120"/>
          </a:xfrm>
          <a:prstGeom prst="rect">
            <a:avLst/>
          </a:prstGeom>
          <a:noFill/>
          <a:ln/>
        </p:spPr>
        <p:txBody>
          <a:bodyPr wrap="square"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"Satanás emplea todo artificio posible para impedir que los hombres obtengan un conocimiento de la Biblia, pues su claro lenguaje revela sus engaños. Sabe que la poderosa Palabra de Dios lo hace impotente."</a:t>
            </a:r>
            <a:endParaRPr lang="en-US" sz="1200" dirty="0"/>
          </a:p>
        </p:txBody>
      </p:sp>
      <p:sp>
        <p:nvSpPr>
          <p:cNvPr id="9" name="Text 7"/>
          <p:cNvSpPr/>
          <p:nvPr/>
        </p:nvSpPr>
        <p:spPr>
          <a:xfrm>
            <a:off x="749808" y="1755648"/>
            <a:ext cx="8046720" cy="256032"/>
          </a:xfrm>
          <a:prstGeom prst="rect">
            <a:avLst/>
          </a:prstGeom>
          <a:noFill/>
          <a:ln/>
        </p:spPr>
        <p:txBody>
          <a:bodyPr wrap="square" rtlCol="0" anchor="ctr"/>
          <a:lstStyle/>
          <a:p>
            <a:pPr algn="r" indent="0" marL="0">
              <a:buNone/>
            </a:pPr>
            <a:r>
              <a:rPr lang="en-US" sz="1000" i="1" dirty="0">
                <a:solidFill>
                  <a:srgbClr val="8A3A00"/>
                </a:solidFill>
                <a:latin typeface="Calibri" pitchFamily="34" charset="0"/>
                <a:ea typeface="Calibri" pitchFamily="34" charset="-122"/>
                <a:cs typeface="Calibri" pitchFamily="34" charset="-120"/>
              </a:rPr>
              <a:t>— Elena de White, El conflicto de los siglos, p. 651</a:t>
            </a:r>
            <a:endParaRPr lang="en-US" sz="1000" dirty="0"/>
          </a:p>
        </p:txBody>
      </p:sp>
      <p:sp>
        <p:nvSpPr>
          <p:cNvPr id="10" name="Shape 8"/>
          <p:cNvSpPr/>
          <p:nvPr/>
        </p:nvSpPr>
        <p:spPr>
          <a:xfrm>
            <a:off x="228600" y="2148840"/>
            <a:ext cx="8686800" cy="832104"/>
          </a:xfrm>
          <a:prstGeom prst="rect">
            <a:avLst/>
          </a:prstGeom>
          <a:solidFill>
            <a:srgbClr val="FFFFFF"/>
          </a:solidFill>
          <a:ln w="12700">
            <a:solidFill>
              <a:srgbClr val="D4A06A"/>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228600" y="2148840"/>
            <a:ext cx="128016" cy="832104"/>
          </a:xfrm>
          <a:prstGeom prst="rect">
            <a:avLst/>
          </a:prstGeom>
          <a:solidFill>
            <a:srgbClr val="8A3A00"/>
          </a:solidFill>
          <a:ln w="12700">
            <a:solidFill>
              <a:srgbClr val="8A3A00"/>
            </a:solidFill>
            <a:prstDash val="solid"/>
          </a:ln>
        </p:spPr>
      </p:sp>
      <p:sp>
        <p:nvSpPr>
          <p:cNvPr id="12" name="Text 10"/>
          <p:cNvSpPr/>
          <p:nvPr/>
        </p:nvSpPr>
        <p:spPr>
          <a:xfrm>
            <a:off x="420624" y="2221992"/>
            <a:ext cx="8366760" cy="685800"/>
          </a:xfrm>
          <a:prstGeom prst="rect">
            <a:avLst/>
          </a:prstGeom>
          <a:noFill/>
          <a:ln/>
        </p:spPr>
        <p:txBody>
          <a:bodyPr wrap="square" rtlCol="0" anchor="ctr"/>
          <a:lstStyle/>
          <a:p>
            <a:pPr indent="0" marL="0">
              <a:buNone/>
            </a:pPr>
            <a:r>
              <a:rPr lang="en-US" sz="1300" b="1" dirty="0">
                <a:solidFill>
                  <a:srgbClr val="8A3A00"/>
                </a:solidFill>
                <a:latin typeface="Calibri" pitchFamily="34" charset="0"/>
                <a:ea typeface="Calibri" pitchFamily="34" charset="-122"/>
                <a:cs typeface="Calibri" pitchFamily="34" charset="-120"/>
              </a:rPr>
              <a:t>1.  </a:t>
            </a:r>
            <a:pPr indent="0" marL="0">
              <a:buNone/>
            </a:pPr>
            <a:r>
              <a:rPr lang="en-US" sz="1250" b="1" dirty="0">
                <a:solidFill>
                  <a:srgbClr val="1A1A1A"/>
                </a:solidFill>
                <a:latin typeface="Calibri" pitchFamily="34" charset="0"/>
                <a:ea typeface="Calibri" pitchFamily="34" charset="-122"/>
                <a:cs typeface="Calibri" pitchFamily="34" charset="-120"/>
              </a:rPr>
              <a:t>¿Cuándo fue la última vez que la Biblia te reprendió o corrigió algo en tu vida? ¿Cómo respondiste a esa palabra?</a:t>
            </a:r>
            <a:endParaRPr lang="en-US" sz="1300" dirty="0"/>
          </a:p>
        </p:txBody>
      </p:sp>
      <p:sp>
        <p:nvSpPr>
          <p:cNvPr id="13" name="Shape 11"/>
          <p:cNvSpPr/>
          <p:nvPr/>
        </p:nvSpPr>
        <p:spPr>
          <a:xfrm>
            <a:off x="228600" y="3017520"/>
            <a:ext cx="8686800" cy="832104"/>
          </a:xfrm>
          <a:prstGeom prst="rect">
            <a:avLst/>
          </a:prstGeom>
          <a:solidFill>
            <a:srgbClr val="FFF0E5"/>
          </a:solidFill>
          <a:ln w="12700">
            <a:solidFill>
              <a:srgbClr val="D4A06A"/>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228600" y="3017520"/>
            <a:ext cx="128016" cy="832104"/>
          </a:xfrm>
          <a:prstGeom prst="rect">
            <a:avLst/>
          </a:prstGeom>
          <a:solidFill>
            <a:srgbClr val="8A3A00"/>
          </a:solidFill>
          <a:ln w="12700">
            <a:solidFill>
              <a:srgbClr val="8A3A00"/>
            </a:solidFill>
            <a:prstDash val="solid"/>
          </a:ln>
        </p:spPr>
      </p:sp>
      <p:sp>
        <p:nvSpPr>
          <p:cNvPr id="15" name="Text 13"/>
          <p:cNvSpPr/>
          <p:nvPr/>
        </p:nvSpPr>
        <p:spPr>
          <a:xfrm>
            <a:off x="420624" y="3090672"/>
            <a:ext cx="8366760" cy="685800"/>
          </a:xfrm>
          <a:prstGeom prst="rect">
            <a:avLst/>
          </a:prstGeom>
          <a:noFill/>
          <a:ln/>
        </p:spPr>
        <p:txBody>
          <a:bodyPr wrap="square" rtlCol="0" anchor="ctr"/>
          <a:lstStyle/>
          <a:p>
            <a:pPr indent="0" marL="0">
              <a:buNone/>
            </a:pPr>
            <a:r>
              <a:rPr lang="en-US" sz="1300" b="1" dirty="0">
                <a:solidFill>
                  <a:srgbClr val="8A3A00"/>
                </a:solidFill>
                <a:latin typeface="Calibri" pitchFamily="34" charset="0"/>
                <a:ea typeface="Calibri" pitchFamily="34" charset="-122"/>
                <a:cs typeface="Calibri" pitchFamily="34" charset="-120"/>
              </a:rPr>
              <a:t>2.  </a:t>
            </a:r>
            <a:pPr indent="0" marL="0">
              <a:buNone/>
            </a:pPr>
            <a:r>
              <a:rPr lang="en-US" sz="1250" b="1" dirty="0">
                <a:solidFill>
                  <a:srgbClr val="1A1A1A"/>
                </a:solidFill>
                <a:latin typeface="Calibri" pitchFamily="34" charset="0"/>
                <a:ea typeface="Calibri" pitchFamily="34" charset="-122"/>
                <a:cs typeface="Calibri" pitchFamily="34" charset="-120"/>
              </a:rPr>
              <a:t>¿Hay alguna promesa o enseñanza bíblica que hayas memorizado y que te haya sostenido en un momento de prueba? ¿Cuál fue?</a:t>
            </a:r>
            <a:endParaRPr lang="en-US" sz="1300" dirty="0"/>
          </a:p>
        </p:txBody>
      </p:sp>
      <p:sp>
        <p:nvSpPr>
          <p:cNvPr id="16" name="Shape 14"/>
          <p:cNvSpPr/>
          <p:nvPr/>
        </p:nvSpPr>
        <p:spPr>
          <a:xfrm>
            <a:off x="228600" y="3886200"/>
            <a:ext cx="8686800" cy="832104"/>
          </a:xfrm>
          <a:prstGeom prst="rect">
            <a:avLst/>
          </a:prstGeom>
          <a:solidFill>
            <a:srgbClr val="FFFFFF"/>
          </a:solidFill>
          <a:ln w="12700">
            <a:solidFill>
              <a:srgbClr val="D4A06A"/>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228600" y="3886200"/>
            <a:ext cx="128016" cy="832104"/>
          </a:xfrm>
          <a:prstGeom prst="rect">
            <a:avLst/>
          </a:prstGeom>
          <a:solidFill>
            <a:srgbClr val="8A3A00"/>
          </a:solidFill>
          <a:ln w="12700">
            <a:solidFill>
              <a:srgbClr val="8A3A00"/>
            </a:solidFill>
            <a:prstDash val="solid"/>
          </a:ln>
        </p:spPr>
      </p:sp>
      <p:sp>
        <p:nvSpPr>
          <p:cNvPr id="18" name="Text 16"/>
          <p:cNvSpPr/>
          <p:nvPr/>
        </p:nvSpPr>
        <p:spPr>
          <a:xfrm>
            <a:off x="420624" y="3959352"/>
            <a:ext cx="8366760" cy="685800"/>
          </a:xfrm>
          <a:prstGeom prst="rect">
            <a:avLst/>
          </a:prstGeom>
          <a:noFill/>
          <a:ln/>
        </p:spPr>
        <p:txBody>
          <a:bodyPr wrap="square" rtlCol="0" anchor="ctr"/>
          <a:lstStyle/>
          <a:p>
            <a:pPr indent="0" marL="0">
              <a:buNone/>
            </a:pPr>
            <a:r>
              <a:rPr lang="en-US" sz="1300" b="1" dirty="0">
                <a:solidFill>
                  <a:srgbClr val="8A3A00"/>
                </a:solidFill>
                <a:latin typeface="Calibri" pitchFamily="34" charset="0"/>
                <a:ea typeface="Calibri" pitchFamily="34" charset="-122"/>
                <a:cs typeface="Calibri" pitchFamily="34" charset="-120"/>
              </a:rPr>
              <a:t>3.  </a:t>
            </a:r>
            <a:pPr indent="0" marL="0">
              <a:buNone/>
            </a:pPr>
            <a:r>
              <a:rPr lang="en-US" sz="1250" b="1" dirty="0">
                <a:solidFill>
                  <a:srgbClr val="1A1A1A"/>
                </a:solidFill>
                <a:latin typeface="Calibri" pitchFamily="34" charset="0"/>
                <a:ea typeface="Calibri" pitchFamily="34" charset="-122"/>
                <a:cs typeface="Calibri" pitchFamily="34" charset="-120"/>
              </a:rPr>
              <a:t>¿Con qué actitud abres tu Biblia habitualmente: expectativa de que Dios te hable o simple cumplimiento de un hábito religioso?</a:t>
            </a:r>
            <a:endParaRPr lang="en-US" sz="1300" dirty="0"/>
          </a:p>
        </p:txBody>
      </p:sp>
      <p:sp>
        <p:nvSpPr>
          <p:cNvPr id="19" name="Shape 17"/>
          <p:cNvSpPr/>
          <p:nvPr/>
        </p:nvSpPr>
        <p:spPr>
          <a:xfrm>
            <a:off x="0" y="4800600"/>
            <a:ext cx="9144000" cy="342900"/>
          </a:xfrm>
          <a:prstGeom prst="rect">
            <a:avLst/>
          </a:prstGeom>
          <a:solidFill>
            <a:srgbClr val="1A5276"/>
          </a:solidFill>
          <a:ln w="12700">
            <a:solidFill>
              <a:srgbClr val="1A5276"/>
            </a:solidFill>
            <a:prstDash val="solid"/>
          </a:ln>
        </p:spPr>
      </p:sp>
      <p:sp>
        <p:nvSpPr>
          <p:cNvPr id="20" name="Text 1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6949440" y="0"/>
            <a:ext cx="2194560" cy="2011680"/>
          </a:xfrm>
          <a:prstGeom prst="rect">
            <a:avLst/>
          </a:prstGeom>
          <a:solidFill>
            <a:srgbClr val="2D7A3A">
              <a:alpha val="40000"/>
            </a:srgbClr>
          </a:solidFill>
          <a:ln w="12700">
            <a:solidFill>
              <a:srgbClr val="2D7A3A">
                <a:alpha val="40000"/>
              </a:srgbClr>
            </a:solidFill>
            <a:prstDash val="solid"/>
          </a:ln>
        </p:spPr>
      </p:sp>
      <p:sp>
        <p:nvSpPr>
          <p:cNvPr id="3" name="Shape 1"/>
          <p:cNvSpPr/>
          <p:nvPr/>
        </p:nvSpPr>
        <p:spPr>
          <a:xfrm>
            <a:off x="-45720" y="3291840"/>
            <a:ext cx="1645920" cy="1920240"/>
          </a:xfrm>
          <a:prstGeom prst="rect">
            <a:avLst/>
          </a:prstGeom>
          <a:solidFill>
            <a:srgbClr val="2D7A3A">
              <a:alpha val="30000"/>
            </a:srgbClr>
          </a:solidFill>
          <a:ln w="12700">
            <a:solidFill>
              <a:srgbClr val="2D7A3A">
                <a:alpha val="30000"/>
              </a:srgbClr>
            </a:solidFill>
            <a:prstDash val="solid"/>
          </a:ln>
        </p:spPr>
      </p:sp>
      <p:sp>
        <p:nvSpPr>
          <p:cNvPr id="4" name="Shape 2"/>
          <p:cNvSpPr/>
          <p:nvPr/>
        </p:nvSpPr>
        <p:spPr>
          <a:xfrm>
            <a:off x="347472" y="256032"/>
            <a:ext cx="2743200" cy="438912"/>
          </a:xfrm>
          <a:prstGeom prst="rect">
            <a:avLst/>
          </a:prstGeom>
          <a:solidFill>
            <a:srgbClr val="2D7A3A"/>
          </a:solidFill>
          <a:ln w="12700">
            <a:solidFill>
              <a:srgbClr val="2D7A3A"/>
            </a:solidFill>
            <a:prstDash val="solid"/>
          </a:ln>
        </p:spPr>
      </p:sp>
      <p:sp>
        <p:nvSpPr>
          <p:cNvPr id="5" name="Text 3"/>
          <p:cNvSpPr/>
          <p:nvPr/>
        </p:nvSpPr>
        <p:spPr>
          <a:xfrm>
            <a:off x="347472" y="256032"/>
            <a:ext cx="27432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[FASE 4]  CREA  — MI DECISIÓN</a:t>
            </a:r>
            <a:endParaRPr lang="en-US" sz="1050" dirty="0"/>
          </a:p>
        </p:txBody>
      </p:sp>
      <p:sp>
        <p:nvSpPr>
          <p:cNvPr id="6" name="Shape 4"/>
          <p:cNvSpPr/>
          <p:nvPr/>
        </p:nvSpPr>
        <p:spPr>
          <a:xfrm>
            <a:off x="347472" y="804672"/>
            <a:ext cx="118872" cy="3886200"/>
          </a:xfrm>
          <a:prstGeom prst="rect">
            <a:avLst/>
          </a:prstGeom>
          <a:solidFill>
            <a:srgbClr val="2D7A3A"/>
          </a:solidFill>
          <a:ln w="12700">
            <a:solidFill>
              <a:srgbClr val="2D7A3A"/>
            </a:solidFill>
            <a:prstDash val="solid"/>
          </a:ln>
        </p:spPr>
      </p:sp>
      <p:sp>
        <p:nvSpPr>
          <p:cNvPr id="7" name="Text 5"/>
          <p:cNvSpPr/>
          <p:nvPr/>
        </p:nvSpPr>
        <p:spPr>
          <a:xfrm>
            <a:off x="566928" y="822960"/>
            <a:ext cx="8046720" cy="411480"/>
          </a:xfrm>
          <a:prstGeom prst="rect">
            <a:avLst/>
          </a:prstGeom>
          <a:noFill/>
          <a:ln/>
        </p:spPr>
        <p:txBody>
          <a:bodyPr wrap="square" rtlCol="0" anchor="ctr"/>
          <a:lstStyle/>
          <a:p>
            <a:pPr indent="0" marL="0">
              <a:buNone/>
            </a:pPr>
            <a:r>
              <a:rPr lang="en-US" sz="1400" i="1" dirty="0">
                <a:solidFill>
                  <a:srgbClr val="D0E4F5"/>
                </a:solidFill>
                <a:latin typeface="Calibri" pitchFamily="34" charset="0"/>
                <a:ea typeface="Calibri" pitchFamily="34" charset="-122"/>
                <a:cs typeface="Calibri" pitchFamily="34" charset="-120"/>
              </a:rPr>
              <a:t>Marca tu respuesta honesta para esta semana:</a:t>
            </a:r>
            <a:endParaRPr lang="en-US" sz="1400" dirty="0"/>
          </a:p>
        </p:txBody>
      </p:sp>
      <p:sp>
        <p:nvSpPr>
          <p:cNvPr id="8" name="Shape 6"/>
          <p:cNvSpPr/>
          <p:nvPr/>
        </p:nvSpPr>
        <p:spPr>
          <a:xfrm>
            <a:off x="566928" y="1325880"/>
            <a:ext cx="8229600" cy="996696"/>
          </a:xfrm>
          <a:prstGeom prst="rect">
            <a:avLst/>
          </a:prstGeom>
          <a:solidFill>
            <a:srgbClr val="FFFFFF">
              <a:alpha val="92000"/>
            </a:srgbClr>
          </a:solidFill>
          <a:ln w="12700">
            <a:solidFill>
              <a:srgbClr val="2D7A3A">
                <a:alpha val="60000"/>
              </a:srgbClr>
            </a:solidFill>
            <a:prstDash val="solid"/>
          </a:ln>
        </p:spPr>
      </p:sp>
      <p:sp>
        <p:nvSpPr>
          <p:cNvPr id="9" name="Shape 7"/>
          <p:cNvSpPr/>
          <p:nvPr/>
        </p:nvSpPr>
        <p:spPr>
          <a:xfrm>
            <a:off x="713232" y="1453896"/>
            <a:ext cx="292608" cy="292608"/>
          </a:xfrm>
          <a:prstGeom prst="ellipse">
            <a:avLst/>
          </a:prstGeom>
          <a:solidFill>
            <a:srgbClr val="2D7A3A"/>
          </a:solidFill>
          <a:ln w="12700">
            <a:solidFill>
              <a:srgbClr val="2D7A3A"/>
            </a:solidFill>
            <a:prstDash val="solid"/>
          </a:ln>
        </p:spPr>
      </p:sp>
      <p:sp>
        <p:nvSpPr>
          <p:cNvPr id="10" name="Text 8"/>
          <p:cNvSpPr/>
          <p:nvPr/>
        </p:nvSpPr>
        <p:spPr>
          <a:xfrm>
            <a:off x="713232" y="14538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078992" y="139903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Esta semana leeré la Biblia al menos 15 minutos diarios con oración previa pidiendo discernimiento espiritual.</a:t>
            </a:r>
            <a:endParaRPr lang="en-US" sz="1250" dirty="0"/>
          </a:p>
        </p:txBody>
      </p:sp>
      <p:sp>
        <p:nvSpPr>
          <p:cNvPr id="12" name="Text 10"/>
          <p:cNvSpPr/>
          <p:nvPr/>
        </p:nvSpPr>
        <p:spPr>
          <a:xfrm>
            <a:off x="7818120" y="1399032"/>
            <a:ext cx="914400" cy="850392"/>
          </a:xfrm>
          <a:prstGeom prst="rect">
            <a:avLst/>
          </a:prstGeom>
          <a:noFill/>
          <a:ln/>
        </p:spPr>
        <p:txBody>
          <a:bodyPr wrap="square" rtlCol="0" anchor="ctr"/>
          <a:lstStyle/>
          <a:p>
            <a:pPr algn="r" indent="0" marL="0">
              <a:buNone/>
            </a:pPr>
            <a:r>
              <a:rPr lang="en-US" sz="1150" b="1" dirty="0">
                <a:solidFill>
                  <a:srgbClr val="2D7A3A"/>
                </a:solidFill>
                <a:latin typeface="Calibri" pitchFamily="34" charset="0"/>
                <a:ea typeface="Calibri" pitchFamily="34" charset="-122"/>
                <a:cs typeface="Calibri" pitchFamily="34" charset="-120"/>
              </a:rPr>
              <a:t>☐ Sí  ☐ No</a:t>
            </a:r>
            <a:endParaRPr lang="en-US" sz="1150" dirty="0"/>
          </a:p>
        </p:txBody>
      </p:sp>
      <p:sp>
        <p:nvSpPr>
          <p:cNvPr id="13" name="Shape 11"/>
          <p:cNvSpPr/>
          <p:nvPr/>
        </p:nvSpPr>
        <p:spPr>
          <a:xfrm>
            <a:off x="566928" y="2377440"/>
            <a:ext cx="8229600" cy="996696"/>
          </a:xfrm>
          <a:prstGeom prst="rect">
            <a:avLst/>
          </a:prstGeom>
          <a:solidFill>
            <a:srgbClr val="E8F5EA">
              <a:alpha val="92000"/>
            </a:srgbClr>
          </a:solidFill>
          <a:ln w="12700">
            <a:solidFill>
              <a:srgbClr val="2D7A3A">
                <a:alpha val="60000"/>
              </a:srgbClr>
            </a:solidFill>
            <a:prstDash val="solid"/>
          </a:ln>
        </p:spPr>
      </p:sp>
      <p:sp>
        <p:nvSpPr>
          <p:cNvPr id="14" name="Shape 12"/>
          <p:cNvSpPr/>
          <p:nvPr/>
        </p:nvSpPr>
        <p:spPr>
          <a:xfrm>
            <a:off x="713232" y="2505456"/>
            <a:ext cx="292608" cy="292608"/>
          </a:xfrm>
          <a:prstGeom prst="ellipse">
            <a:avLst/>
          </a:prstGeom>
          <a:solidFill>
            <a:srgbClr val="2D7A3A"/>
          </a:solidFill>
          <a:ln w="12700">
            <a:solidFill>
              <a:srgbClr val="2D7A3A"/>
            </a:solidFill>
            <a:prstDash val="solid"/>
          </a:ln>
        </p:spPr>
      </p:sp>
      <p:sp>
        <p:nvSpPr>
          <p:cNvPr id="15" name="Text 13"/>
          <p:cNvSpPr/>
          <p:nvPr/>
        </p:nvSpPr>
        <p:spPr>
          <a:xfrm>
            <a:off x="713232" y="25054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1078992" y="245059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Memorizaré un versículo que el Señor use para hablarme esta semana y lo compartiré con alguien.</a:t>
            </a:r>
            <a:endParaRPr lang="en-US" sz="1250" dirty="0"/>
          </a:p>
        </p:txBody>
      </p:sp>
      <p:sp>
        <p:nvSpPr>
          <p:cNvPr id="17" name="Text 15"/>
          <p:cNvSpPr/>
          <p:nvPr/>
        </p:nvSpPr>
        <p:spPr>
          <a:xfrm>
            <a:off x="7818120" y="2450592"/>
            <a:ext cx="914400" cy="850392"/>
          </a:xfrm>
          <a:prstGeom prst="rect">
            <a:avLst/>
          </a:prstGeom>
          <a:noFill/>
          <a:ln/>
        </p:spPr>
        <p:txBody>
          <a:bodyPr wrap="square" rtlCol="0" anchor="ctr"/>
          <a:lstStyle/>
          <a:p>
            <a:pPr algn="r" indent="0" marL="0">
              <a:buNone/>
            </a:pPr>
            <a:r>
              <a:rPr lang="en-US" sz="1150" b="1" dirty="0">
                <a:solidFill>
                  <a:srgbClr val="2D7A3A"/>
                </a:solidFill>
                <a:latin typeface="Calibri" pitchFamily="34" charset="0"/>
                <a:ea typeface="Calibri" pitchFamily="34" charset="-122"/>
                <a:cs typeface="Calibri" pitchFamily="34" charset="-120"/>
              </a:rPr>
              <a:t>☐ Sí  ☐ No</a:t>
            </a:r>
            <a:endParaRPr lang="en-US" sz="1150" dirty="0"/>
          </a:p>
        </p:txBody>
      </p:sp>
      <p:sp>
        <p:nvSpPr>
          <p:cNvPr id="18" name="Shape 16"/>
          <p:cNvSpPr/>
          <p:nvPr/>
        </p:nvSpPr>
        <p:spPr>
          <a:xfrm>
            <a:off x="566928" y="3429000"/>
            <a:ext cx="8229600" cy="996696"/>
          </a:xfrm>
          <a:prstGeom prst="rect">
            <a:avLst/>
          </a:prstGeom>
          <a:solidFill>
            <a:srgbClr val="FFFFFF">
              <a:alpha val="92000"/>
            </a:srgbClr>
          </a:solidFill>
          <a:ln w="12700">
            <a:solidFill>
              <a:srgbClr val="2D7A3A">
                <a:alpha val="60000"/>
              </a:srgbClr>
            </a:solidFill>
            <a:prstDash val="solid"/>
          </a:ln>
        </p:spPr>
      </p:sp>
      <p:sp>
        <p:nvSpPr>
          <p:cNvPr id="19" name="Shape 17"/>
          <p:cNvSpPr/>
          <p:nvPr/>
        </p:nvSpPr>
        <p:spPr>
          <a:xfrm>
            <a:off x="713232" y="3557016"/>
            <a:ext cx="292608" cy="292608"/>
          </a:xfrm>
          <a:prstGeom prst="ellipse">
            <a:avLst/>
          </a:prstGeom>
          <a:solidFill>
            <a:srgbClr val="2D7A3A"/>
          </a:solidFill>
          <a:ln w="12700">
            <a:solidFill>
              <a:srgbClr val="2D7A3A"/>
            </a:solidFill>
            <a:prstDash val="solid"/>
          </a:ln>
        </p:spPr>
      </p:sp>
      <p:sp>
        <p:nvSpPr>
          <p:cNvPr id="20" name="Text 18"/>
          <p:cNvSpPr/>
          <p:nvPr/>
        </p:nvSpPr>
        <p:spPr>
          <a:xfrm>
            <a:off x="713232" y="3557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1078992" y="350215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Identificaré un área de mi vida donde necesito obedecer lo que la Biblia ya me ha mostrado.</a:t>
            </a:r>
            <a:endParaRPr lang="en-US" sz="1250" dirty="0"/>
          </a:p>
        </p:txBody>
      </p:sp>
      <p:sp>
        <p:nvSpPr>
          <p:cNvPr id="22" name="Text 20"/>
          <p:cNvSpPr/>
          <p:nvPr/>
        </p:nvSpPr>
        <p:spPr>
          <a:xfrm>
            <a:off x="7818120" y="3502152"/>
            <a:ext cx="914400" cy="850392"/>
          </a:xfrm>
          <a:prstGeom prst="rect">
            <a:avLst/>
          </a:prstGeom>
          <a:noFill/>
          <a:ln/>
        </p:spPr>
        <p:txBody>
          <a:bodyPr wrap="square" rtlCol="0" anchor="ctr"/>
          <a:lstStyle/>
          <a:p>
            <a:pPr algn="r" indent="0" marL="0">
              <a:buNone/>
            </a:pPr>
            <a:r>
              <a:rPr lang="en-US" sz="1150" b="1" dirty="0">
                <a:solidFill>
                  <a:srgbClr val="2D7A3A"/>
                </a:solidFill>
                <a:latin typeface="Calibri" pitchFamily="34" charset="0"/>
                <a:ea typeface="Calibri" pitchFamily="34" charset="-122"/>
                <a:cs typeface="Calibri" pitchFamily="34" charset="-120"/>
              </a:rPr>
              <a:t>☐ Sí  ☐ No</a:t>
            </a:r>
            <a:endParaRPr lang="en-US" sz="1150" dirty="0"/>
          </a:p>
        </p:txBody>
      </p:sp>
      <p:sp>
        <p:nvSpPr>
          <p:cNvPr id="23" name="Shape 21"/>
          <p:cNvSpPr/>
          <p:nvPr/>
        </p:nvSpPr>
        <p:spPr>
          <a:xfrm>
            <a:off x="0" y="4800600"/>
            <a:ext cx="9144000" cy="342900"/>
          </a:xfrm>
          <a:prstGeom prst="rect">
            <a:avLst/>
          </a:prstGeom>
          <a:solidFill>
            <a:srgbClr val="1A5276"/>
          </a:solidFill>
          <a:ln w="12700">
            <a:solidFill>
              <a:srgbClr val="1A5276"/>
            </a:solidFill>
            <a:prstDash val="solid"/>
          </a:ln>
        </p:spPr>
      </p:sp>
      <p:sp>
        <p:nvSpPr>
          <p:cNvPr id="24" name="Text 2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5276"/>
        </a:solidFill>
      </p:bgPr>
    </p:bg>
    <p:spTree>
      <p:nvGrpSpPr>
        <p:cNvPr id="1" name=""/>
        <p:cNvGrpSpPr/>
        <p:nvPr/>
      </p:nvGrpSpPr>
      <p:grpSpPr>
        <a:xfrm>
          <a:off x="0" y="0"/>
          <a:ext cx="0" cy="0"/>
          <a:chOff x="0" y="0"/>
          <a:chExt cx="0" cy="0"/>
        </a:xfrm>
      </p:grpSpPr>
      <p:sp>
        <p:nvSpPr>
          <p:cNvPr id="2" name="Shape 0"/>
          <p:cNvSpPr/>
          <p:nvPr/>
        </p:nvSpPr>
        <p:spPr>
          <a:xfrm>
            <a:off x="7178040" y="0"/>
            <a:ext cx="2011680" cy="1828800"/>
          </a:xfrm>
          <a:prstGeom prst="rect">
            <a:avLst/>
          </a:prstGeom>
          <a:solidFill>
            <a:srgbClr val="2D7A3A">
              <a:alpha val="40000"/>
            </a:srgbClr>
          </a:solidFill>
          <a:ln w="12700">
            <a:solidFill>
              <a:srgbClr val="2D7A3A">
                <a:alpha val="40000"/>
              </a:srgbClr>
            </a:solidFill>
            <a:prstDash val="solid"/>
          </a:ln>
        </p:spPr>
      </p:sp>
      <p:sp>
        <p:nvSpPr>
          <p:cNvPr id="3" name="Shape 1"/>
          <p:cNvSpPr/>
          <p:nvPr/>
        </p:nvSpPr>
        <p:spPr>
          <a:xfrm>
            <a:off x="7818120" y="1691640"/>
            <a:ext cx="1371600" cy="1371600"/>
          </a:xfrm>
          <a:prstGeom prst="rect">
            <a:avLst/>
          </a:prstGeom>
          <a:solidFill>
            <a:srgbClr val="2D7A3A">
              <a:alpha val="25000"/>
            </a:srgbClr>
          </a:solidFill>
          <a:ln w="12700">
            <a:solidFill>
              <a:srgbClr val="2D7A3A">
                <a:alpha val="25000"/>
              </a:srgbClr>
            </a:solidFill>
            <a:prstDash val="solid"/>
          </a:ln>
        </p:spPr>
      </p:sp>
      <p:sp>
        <p:nvSpPr>
          <p:cNvPr id="4" name="Shape 2"/>
          <p:cNvSpPr/>
          <p:nvPr/>
        </p:nvSpPr>
        <p:spPr>
          <a:xfrm>
            <a:off x="-45720" y="3520440"/>
            <a:ext cx="1920240" cy="1783080"/>
          </a:xfrm>
          <a:prstGeom prst="rect">
            <a:avLst/>
          </a:prstGeom>
          <a:solidFill>
            <a:srgbClr val="2D7A3A">
              <a:alpha val="30000"/>
            </a:srgbClr>
          </a:solidFill>
          <a:ln w="12700">
            <a:solidFill>
              <a:srgbClr val="2D7A3A">
                <a:alpha val="30000"/>
              </a:srgbClr>
            </a:solidFill>
            <a:prstDash val="solid"/>
          </a:ln>
        </p:spPr>
      </p:sp>
      <p:sp>
        <p:nvSpPr>
          <p:cNvPr id="5" name="Shape 3"/>
          <p:cNvSpPr/>
          <p:nvPr/>
        </p:nvSpPr>
        <p:spPr>
          <a:xfrm>
            <a:off x="438912" y="1005840"/>
            <a:ext cx="118872" cy="2423160"/>
          </a:xfrm>
          <a:prstGeom prst="rect">
            <a:avLst/>
          </a:prstGeom>
          <a:solidFill>
            <a:srgbClr val="2D7A3A"/>
          </a:solidFill>
          <a:ln w="12700">
            <a:solidFill>
              <a:srgbClr val="2D7A3A"/>
            </a:solidFill>
            <a:prstDash val="solid"/>
          </a:ln>
        </p:spPr>
      </p:sp>
      <p:sp>
        <p:nvSpPr>
          <p:cNvPr id="6" name="Text 4"/>
          <p:cNvSpPr/>
          <p:nvPr/>
        </p:nvSpPr>
        <p:spPr>
          <a:xfrm>
            <a:off x="658368" y="822960"/>
            <a:ext cx="7772400" cy="146304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Gracias</a:t>
            </a:r>
            <a:endParaRPr lang="en-US" sz="7200" dirty="0"/>
          </a:p>
        </p:txBody>
      </p:sp>
      <p:sp>
        <p:nvSpPr>
          <p:cNvPr id="7" name="Text 5"/>
          <p:cNvSpPr/>
          <p:nvPr/>
        </p:nvSpPr>
        <p:spPr>
          <a:xfrm>
            <a:off x="658368" y="2423160"/>
            <a:ext cx="7772400" cy="594360"/>
          </a:xfrm>
          <a:prstGeom prst="rect">
            <a:avLst/>
          </a:prstGeom>
          <a:noFill/>
          <a:ln/>
        </p:spPr>
        <p:txBody>
          <a:bodyPr wrap="square" rtlCol="0" anchor="ctr"/>
          <a:lstStyle/>
          <a:p>
            <a:pPr indent="0" marL="0">
              <a:buNone/>
            </a:pPr>
            <a:r>
              <a:rPr lang="en-US" sz="2200" b="1" dirty="0">
                <a:solidFill>
                  <a:srgbClr val="2D7A3A"/>
                </a:solidFill>
                <a:latin typeface="Calibri" pitchFamily="34" charset="0"/>
                <a:ea typeface="Calibri" pitchFamily="34" charset="-122"/>
                <a:cs typeface="Calibri" pitchFamily="34" charset="-120"/>
              </a:rPr>
              <a:t>Dr. Tito Goicochea M.</a:t>
            </a:r>
            <a:endParaRPr lang="en-US" sz="2200" dirty="0"/>
          </a:p>
        </p:txBody>
      </p:sp>
      <p:sp>
        <p:nvSpPr>
          <p:cNvPr id="8" name="Text 6"/>
          <p:cNvSpPr/>
          <p:nvPr/>
        </p:nvSpPr>
        <p:spPr>
          <a:xfrm>
            <a:off x="658368" y="3063240"/>
            <a:ext cx="7772400" cy="438912"/>
          </a:xfrm>
          <a:prstGeom prst="rect">
            <a:avLst/>
          </a:prstGeom>
          <a:noFill/>
          <a:ln/>
        </p:spPr>
        <p:txBody>
          <a:bodyPr wrap="square" rtlCol="0" anchor="ctr"/>
          <a:lstStyle/>
          <a:p>
            <a:pPr indent="0" marL="0">
              <a:buNone/>
            </a:pPr>
            <a:r>
              <a:rPr lang="en-US" sz="1600" i="1" dirty="0">
                <a:solidFill>
                  <a:srgbClr val="D0E4F5"/>
                </a:solidFill>
                <a:latin typeface="Calibri" pitchFamily="34" charset="0"/>
                <a:ea typeface="Calibri" pitchFamily="34" charset="-122"/>
                <a:cs typeface="Calibri" pitchFamily="34" charset="-120"/>
              </a:rPr>
              <a:t>NEED - DSA</a:t>
            </a:r>
            <a:endParaRPr lang="en-US" sz="1600" dirty="0"/>
          </a:p>
        </p:txBody>
      </p:sp>
      <p:sp>
        <p:nvSpPr>
          <p:cNvPr id="9" name="Shape 7"/>
          <p:cNvSpPr/>
          <p:nvPr/>
        </p:nvSpPr>
        <p:spPr>
          <a:xfrm>
            <a:off x="0" y="4800600"/>
            <a:ext cx="9144000" cy="342900"/>
          </a:xfrm>
          <a:prstGeom prst="rect">
            <a:avLst/>
          </a:prstGeom>
          <a:solidFill>
            <a:srgbClr val="1A5276"/>
          </a:solidFill>
          <a:ln w="12700">
            <a:solidFill>
              <a:srgbClr val="1A5276"/>
            </a:solidFill>
            <a:prstDash val="solid"/>
          </a:ln>
        </p:spPr>
      </p:sp>
      <p:sp>
        <p:nvSpPr>
          <p:cNvPr id="10" name="Text 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Lección 4 · EL ROL DE LA BIBLIA</dc:title>
  <dc:subject>PptxGenJS Presentation</dc:subject>
  <dc:creator>Dr. Tito Goicochea M.</dc:creator>
  <cp:lastModifiedBy>Dr. Tito Goicochea M.</cp:lastModifiedBy>
  <cp:revision>1</cp:revision>
  <dcterms:created xsi:type="dcterms:W3CDTF">2026-03-15T16:06:18Z</dcterms:created>
  <dcterms:modified xsi:type="dcterms:W3CDTF">2026-03-15T16:06:18Z</dcterms:modified>
</cp:coreProperties>
</file>