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37" d="100"/>
          <a:sy n="137" d="100"/>
        </p:scale>
        <p:origin x="944" y="5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979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D7C"/>
        </a:solidFill>
        <a:effectLst/>
      </p:bgPr>
    </p:bg>
    <p:spTree>
      <p:nvGrpSpPr>
        <p:cNvPr id="1" name=""/>
        <p:cNvGrpSpPr/>
        <p:nvPr/>
      </p:nvGrpSpPr>
      <p:grpSpPr>
        <a:xfrm>
          <a:off x="0" y="0"/>
          <a:ext cx="0" cy="0"/>
          <a:chOff x="0" y="0"/>
          <a:chExt cx="0" cy="0"/>
        </a:xfrm>
      </p:grpSpPr>
      <p:sp>
        <p:nvSpPr>
          <p:cNvPr id="2" name="Shape 0"/>
          <p:cNvSpPr/>
          <p:nvPr/>
        </p:nvSpPr>
        <p:spPr>
          <a:xfrm>
            <a:off x="6675120" y="-45720"/>
            <a:ext cx="2514600" cy="777240"/>
          </a:xfrm>
          <a:prstGeom prst="rect">
            <a:avLst/>
          </a:prstGeom>
          <a:solidFill>
            <a:srgbClr val="E87C1E">
              <a:alpha val="70000"/>
            </a:srgbClr>
          </a:solidFill>
          <a:ln w="12700">
            <a:solidFill>
              <a:srgbClr val="E87C1E">
                <a:alpha val="70000"/>
              </a:srgbClr>
            </a:solidFill>
            <a:prstDash val="solid"/>
          </a:ln>
        </p:spPr>
        <p:txBody>
          <a:bodyPr/>
          <a:lstStyle/>
          <a:p>
            <a:endParaRPr lang="es-ES"/>
          </a:p>
        </p:txBody>
      </p:sp>
      <p:sp>
        <p:nvSpPr>
          <p:cNvPr id="3" name="Shape 1"/>
          <p:cNvSpPr/>
          <p:nvPr/>
        </p:nvSpPr>
        <p:spPr>
          <a:xfrm>
            <a:off x="7406640" y="713232"/>
            <a:ext cx="1783080" cy="502920"/>
          </a:xfrm>
          <a:prstGeom prst="rect">
            <a:avLst/>
          </a:prstGeom>
          <a:solidFill>
            <a:srgbClr val="E87C1E">
              <a:alpha val="45000"/>
            </a:srgbClr>
          </a:solidFill>
          <a:ln w="12700">
            <a:solidFill>
              <a:srgbClr val="E87C1E">
                <a:alpha val="45000"/>
              </a:srgbClr>
            </a:solidFill>
            <a:prstDash val="solid"/>
          </a:ln>
        </p:spPr>
        <p:txBody>
          <a:bodyPr/>
          <a:lstStyle/>
          <a:p>
            <a:endParaRPr lang="es-ES"/>
          </a:p>
        </p:txBody>
      </p:sp>
      <p:sp>
        <p:nvSpPr>
          <p:cNvPr id="4" name="Shape 2"/>
          <p:cNvSpPr/>
          <p:nvPr/>
        </p:nvSpPr>
        <p:spPr>
          <a:xfrm>
            <a:off x="-45720" y="3641598"/>
            <a:ext cx="1554480" cy="1570482"/>
          </a:xfrm>
          <a:prstGeom prst="rect">
            <a:avLst/>
          </a:prstGeom>
          <a:solidFill>
            <a:srgbClr val="E87C1E">
              <a:alpha val="45000"/>
            </a:srgbClr>
          </a:solidFill>
          <a:ln w="12700">
            <a:solidFill>
              <a:srgbClr val="E87C1E">
                <a:alpha val="45000"/>
              </a:srgbClr>
            </a:solidFill>
            <a:prstDash val="solid"/>
          </a:ln>
        </p:spPr>
        <p:txBody>
          <a:bodyPr/>
          <a:lstStyle/>
          <a:p>
            <a:endParaRPr lang="es-ES"/>
          </a:p>
        </p:txBody>
      </p:sp>
      <p:sp>
        <p:nvSpPr>
          <p:cNvPr id="5" name="Shape 3"/>
          <p:cNvSpPr/>
          <p:nvPr/>
        </p:nvSpPr>
        <p:spPr>
          <a:xfrm>
            <a:off x="475488" y="1051560"/>
            <a:ext cx="118872" cy="2468880"/>
          </a:xfrm>
          <a:prstGeom prst="rect">
            <a:avLst/>
          </a:prstGeom>
          <a:solidFill>
            <a:srgbClr val="E87C1E"/>
          </a:solidFill>
          <a:ln w="12700">
            <a:solidFill>
              <a:srgbClr val="E87C1E"/>
            </a:solidFill>
            <a:prstDash val="solid"/>
          </a:ln>
        </p:spPr>
        <p:txBody>
          <a:bodyPr/>
          <a:lstStyle/>
          <a:p>
            <a:endParaRPr lang="es-ES"/>
          </a:p>
        </p:txBody>
      </p:sp>
      <p:sp>
        <p:nvSpPr>
          <p:cNvPr id="6" name="Text 4"/>
          <p:cNvSpPr/>
          <p:nvPr/>
        </p:nvSpPr>
        <p:spPr>
          <a:xfrm>
            <a:off x="713232" y="228600"/>
            <a:ext cx="7772400" cy="475488"/>
          </a:xfrm>
          <a:prstGeom prst="rect">
            <a:avLst/>
          </a:prstGeom>
          <a:noFill/>
          <a:ln/>
        </p:spPr>
        <p:txBody>
          <a:bodyPr wrap="square" rtlCol="0" anchor="ctr"/>
          <a:lstStyle/>
          <a:p>
            <a:pPr marL="0" indent="0">
              <a:buNone/>
            </a:pPr>
            <a:r>
              <a:rPr lang="en-US" sz="1250" b="1" kern="0" spc="100" dirty="0">
                <a:solidFill>
                  <a:srgbClr val="D0E4F5"/>
                </a:solidFill>
                <a:latin typeface="Calibri" pitchFamily="34" charset="0"/>
                <a:ea typeface="Calibri" pitchFamily="34" charset="-122"/>
                <a:cs typeface="Calibri" pitchFamily="34" charset="-120"/>
              </a:rPr>
              <a:t>PUNTOS PRINCIPALES DE LA LECCIÓN DE ESCUELA SABÁTICA DE ADULTOS</a:t>
            </a:r>
            <a:endParaRPr lang="en-US" sz="1250" dirty="0"/>
          </a:p>
        </p:txBody>
      </p:sp>
      <p:sp>
        <p:nvSpPr>
          <p:cNvPr id="7" name="Text 5"/>
          <p:cNvSpPr/>
          <p:nvPr/>
        </p:nvSpPr>
        <p:spPr>
          <a:xfrm>
            <a:off x="713232" y="685800"/>
            <a:ext cx="7772400" cy="384048"/>
          </a:xfrm>
          <a:prstGeom prst="rect">
            <a:avLst/>
          </a:prstGeom>
          <a:noFill/>
          <a:ln/>
        </p:spPr>
        <p:txBody>
          <a:bodyPr wrap="square" rtlCol="0" anchor="ctr"/>
          <a:lstStyle/>
          <a:p>
            <a:pPr marL="0" indent="0">
              <a:buNone/>
            </a:pPr>
            <a:r>
              <a:rPr lang="en-US" sz="1400" b="1" kern="0" spc="200" dirty="0">
                <a:solidFill>
                  <a:srgbClr val="E87C1E"/>
                </a:solidFill>
                <a:latin typeface="Calibri" pitchFamily="34" charset="0"/>
                <a:ea typeface="Calibri" pitchFamily="34" charset="-122"/>
                <a:cs typeface="Calibri" pitchFamily="34" charset="-120"/>
              </a:rPr>
              <a:t>Lección 13</a:t>
            </a:r>
            <a:endParaRPr lang="en-US" sz="1400" dirty="0"/>
          </a:p>
        </p:txBody>
      </p:sp>
      <p:sp>
        <p:nvSpPr>
          <p:cNvPr id="8" name="Text 6"/>
          <p:cNvSpPr/>
          <p:nvPr/>
        </p:nvSpPr>
        <p:spPr>
          <a:xfrm>
            <a:off x="658368" y="1291962"/>
            <a:ext cx="7498080" cy="1005840"/>
          </a:xfrm>
          <a:prstGeom prst="rect">
            <a:avLst/>
          </a:prstGeom>
          <a:noFill/>
          <a:ln/>
        </p:spPr>
        <p:txBody>
          <a:bodyPr wrap="square" rtlCol="0" anchor="ctr"/>
          <a:lstStyle/>
          <a:p>
            <a:pPr marL="0" indent="0">
              <a:buNone/>
            </a:pPr>
            <a:r>
              <a:rPr lang="en-US" sz="4800" b="1" kern="0" spc="300" dirty="0">
                <a:solidFill>
                  <a:srgbClr val="FFFFFF"/>
                </a:solidFill>
                <a:latin typeface="Calibri" pitchFamily="34" charset="0"/>
                <a:ea typeface="Calibri" pitchFamily="34" charset="-122"/>
                <a:cs typeface="Calibri" pitchFamily="34" charset="-120"/>
              </a:rPr>
              <a:t>PERMANECER</a:t>
            </a:r>
            <a:r>
              <a:rPr lang="en-US" sz="5200" b="1" kern="0" spc="300" dirty="0">
                <a:solidFill>
                  <a:srgbClr val="FFFFFF"/>
                </a:solidFill>
                <a:latin typeface="Calibri" pitchFamily="34" charset="0"/>
                <a:ea typeface="Calibri" pitchFamily="34" charset="-122"/>
                <a:cs typeface="Calibri" pitchFamily="34" charset="-120"/>
              </a:rPr>
              <a:t> EN TODA LA VOLUNTAD DE DIOS</a:t>
            </a:r>
            <a:endParaRPr lang="en-US" sz="5200" dirty="0"/>
          </a:p>
        </p:txBody>
      </p:sp>
      <p:sp>
        <p:nvSpPr>
          <p:cNvPr id="9" name="Text 7"/>
          <p:cNvSpPr/>
          <p:nvPr/>
        </p:nvSpPr>
        <p:spPr>
          <a:xfrm>
            <a:off x="713232" y="2418960"/>
            <a:ext cx="7772400" cy="347472"/>
          </a:xfrm>
          <a:prstGeom prst="rect">
            <a:avLst/>
          </a:prstGeom>
          <a:noFill/>
          <a:ln/>
        </p:spPr>
        <p:txBody>
          <a:bodyPr wrap="square" rtlCol="0" anchor="ctr"/>
          <a:lstStyle/>
          <a:p>
            <a:pPr marL="0" indent="0">
              <a:buNone/>
            </a:pPr>
            <a:r>
              <a:rPr lang="en-US" sz="1300" i="1" dirty="0">
                <a:solidFill>
                  <a:srgbClr val="D0E4F5"/>
                </a:solidFill>
                <a:latin typeface="Calibri" pitchFamily="34" charset="0"/>
                <a:ea typeface="Calibri" pitchFamily="34" charset="-122"/>
                <a:cs typeface="Calibri" pitchFamily="34" charset="-120"/>
              </a:rPr>
              <a:t>Para el Sábado 28 de marzo de 2026</a:t>
            </a:r>
            <a:endParaRPr lang="en-US" sz="1300" dirty="0"/>
          </a:p>
        </p:txBody>
      </p:sp>
      <p:sp>
        <p:nvSpPr>
          <p:cNvPr id="10" name="Shape 8"/>
          <p:cNvSpPr/>
          <p:nvPr/>
        </p:nvSpPr>
        <p:spPr>
          <a:xfrm>
            <a:off x="475488" y="2789292"/>
            <a:ext cx="8229600" cy="749436"/>
          </a:xfrm>
          <a:prstGeom prst="rect">
            <a:avLst/>
          </a:prstGeom>
          <a:solidFill>
            <a:srgbClr val="FFFFFF">
              <a:alpha val="10000"/>
            </a:srgbClr>
          </a:solidFill>
          <a:ln w="12700">
            <a:solidFill>
              <a:srgbClr val="E87C1E">
                <a:alpha val="75000"/>
              </a:srgbClr>
            </a:solidFill>
            <a:prstDash val="solid"/>
          </a:ln>
        </p:spPr>
        <p:txBody>
          <a:bodyPr/>
          <a:lstStyle/>
          <a:p>
            <a:endParaRPr lang="es-ES"/>
          </a:p>
        </p:txBody>
      </p:sp>
      <p:sp>
        <p:nvSpPr>
          <p:cNvPr id="11" name="Shape 9"/>
          <p:cNvSpPr/>
          <p:nvPr/>
        </p:nvSpPr>
        <p:spPr>
          <a:xfrm>
            <a:off x="475488" y="2514600"/>
            <a:ext cx="118872" cy="1024128"/>
          </a:xfrm>
          <a:prstGeom prst="rect">
            <a:avLst/>
          </a:prstGeom>
          <a:solidFill>
            <a:srgbClr val="E87C1E"/>
          </a:solidFill>
          <a:ln w="12700">
            <a:solidFill>
              <a:srgbClr val="E87C1E"/>
            </a:solidFill>
            <a:prstDash val="solid"/>
          </a:ln>
        </p:spPr>
        <p:txBody>
          <a:bodyPr/>
          <a:lstStyle/>
          <a:p>
            <a:endParaRPr lang="es-ES"/>
          </a:p>
        </p:txBody>
      </p:sp>
      <p:sp>
        <p:nvSpPr>
          <p:cNvPr id="12" name="Text 10"/>
          <p:cNvSpPr/>
          <p:nvPr/>
        </p:nvSpPr>
        <p:spPr>
          <a:xfrm>
            <a:off x="658368" y="2761860"/>
            <a:ext cx="7909560" cy="758579"/>
          </a:xfrm>
          <a:prstGeom prst="rect">
            <a:avLst/>
          </a:prstGeom>
          <a:noFill/>
          <a:ln/>
        </p:spPr>
        <p:txBody>
          <a:bodyPr wrap="square" rtlCol="0" anchor="ctr"/>
          <a:lstStyle/>
          <a:p>
            <a:pPr marL="0" indent="0">
              <a:buNone/>
            </a:pPr>
            <a:r>
              <a:rPr lang="en-US" sz="900" b="1" dirty="0">
                <a:solidFill>
                  <a:srgbClr val="E87C1E"/>
                </a:solidFill>
                <a:latin typeface="Calibri" pitchFamily="34" charset="0"/>
                <a:ea typeface="Calibri" pitchFamily="34" charset="-122"/>
                <a:cs typeface="Calibri" pitchFamily="34" charset="-120"/>
              </a:rPr>
              <a:t>Para memorizar: </a:t>
            </a:r>
            <a:r>
              <a:rPr lang="en-US" sz="1300" i="1" dirty="0">
                <a:solidFill>
                  <a:srgbClr val="FFFFFF"/>
                </a:solidFill>
                <a:latin typeface="Calibri" pitchFamily="34" charset="0"/>
                <a:ea typeface="Calibri" pitchFamily="34" charset="-122"/>
                <a:cs typeface="Calibri" pitchFamily="34" charset="-120"/>
              </a:rPr>
              <a:t>"Den gracias por todo, porque esta es la voluntad de Dios para ustedes en Cristo Jesús."  —  1 Tesalonicenses 5:18</a:t>
            </a:r>
            <a:endParaRPr lang="en-US" sz="900" dirty="0"/>
          </a:p>
        </p:txBody>
      </p:sp>
      <p:sp>
        <p:nvSpPr>
          <p:cNvPr id="13" name="Shape 11"/>
          <p:cNvSpPr/>
          <p:nvPr/>
        </p:nvSpPr>
        <p:spPr>
          <a:xfrm>
            <a:off x="0" y="4800600"/>
            <a:ext cx="9144000" cy="342900"/>
          </a:xfrm>
          <a:prstGeom prst="rect">
            <a:avLst/>
          </a:prstGeom>
          <a:solidFill>
            <a:srgbClr val="003D7C"/>
          </a:solidFill>
          <a:ln w="12700">
            <a:solidFill>
              <a:srgbClr val="003D7C"/>
            </a:solidFill>
            <a:prstDash val="solid"/>
          </a:ln>
        </p:spPr>
        <p:txBody>
          <a:bodyPr/>
          <a:lstStyle/>
          <a:p>
            <a:endParaRPr lang="es-ES"/>
          </a:p>
        </p:txBody>
      </p:sp>
      <p:sp>
        <p:nvSpPr>
          <p:cNvPr id="14" name="Text 12"/>
          <p:cNvSpPr/>
          <p:nvPr/>
        </p:nvSpPr>
        <p:spPr>
          <a:xfrm>
            <a:off x="274320" y="4809744"/>
            <a:ext cx="8595360" cy="320040"/>
          </a:xfrm>
          <a:prstGeom prst="rect">
            <a:avLst/>
          </a:prstGeom>
          <a:noFill/>
          <a:ln/>
        </p:spPr>
        <p:txBody>
          <a:bodyPr wrap="square" rtlCol="0" anchor="ctr"/>
          <a:lstStyle/>
          <a:p>
            <a:pPr marL="0" indent="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 Trimestre 2026</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D7C"/>
          </a:solidFill>
          <a:ln w="12700">
            <a:solidFill>
              <a:srgbClr val="003D7C"/>
            </a:solidFill>
            <a:prstDash val="solid"/>
          </a:ln>
        </p:spPr>
        <p:txBody>
          <a:bodyPr/>
          <a:lstStyle/>
          <a:p>
            <a:endParaRPr lang="es-ES"/>
          </a:p>
        </p:txBody>
      </p:sp>
      <p:sp>
        <p:nvSpPr>
          <p:cNvPr id="3" name="Text 1"/>
          <p:cNvSpPr/>
          <p:nvPr/>
        </p:nvSpPr>
        <p:spPr>
          <a:xfrm>
            <a:off x="320040" y="0"/>
            <a:ext cx="4389120" cy="65836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[FASE 1]  MOTIVA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marL="0" indent="0">
              <a:buNone/>
            </a:pPr>
            <a:r>
              <a:rPr lang="en-US" sz="1100" i="1" dirty="0">
                <a:solidFill>
                  <a:srgbClr val="D0E4F5"/>
                </a:solidFill>
                <a:latin typeface="Calibri" pitchFamily="34" charset="0"/>
                <a:ea typeface="Calibri" pitchFamily="34" charset="-122"/>
                <a:cs typeface="Calibri" pitchFamily="34" charset="-120"/>
              </a:rPr>
              <a:t>— Reflexiona antes de comenzar:</a:t>
            </a:r>
            <a:endParaRPr lang="en-US" sz="1100" dirty="0"/>
          </a:p>
        </p:txBody>
      </p:sp>
      <p:sp>
        <p:nvSpPr>
          <p:cNvPr id="5" name="Shape 3"/>
          <p:cNvSpPr/>
          <p:nvPr/>
        </p:nvSpPr>
        <p:spPr>
          <a:xfrm>
            <a:off x="256032" y="804672"/>
            <a:ext cx="8631936" cy="1600200"/>
          </a:xfrm>
          <a:prstGeom prst="rect">
            <a:avLst/>
          </a:prstGeom>
          <a:solidFill>
            <a:srgbClr val="FFF3E6"/>
          </a:solidFill>
          <a:ln w="12700">
            <a:solidFill>
              <a:srgbClr val="E87C1E"/>
            </a:solidFill>
            <a:prstDash val="solid"/>
          </a:ln>
          <a:effectLst>
            <a:outerShdw blurRad="63500" dist="25400" dir="8100000" algn="bl" rotWithShape="0">
              <a:srgbClr val="000000">
                <a:alpha val="12000"/>
              </a:srgbClr>
            </a:outerShdw>
          </a:effectLst>
        </p:spPr>
        <p:txBody>
          <a:bodyPr/>
          <a:lstStyle/>
          <a:p>
            <a:endParaRPr lang="es-ES"/>
          </a:p>
        </p:txBody>
      </p:sp>
      <p:sp>
        <p:nvSpPr>
          <p:cNvPr id="6" name="Shape 4"/>
          <p:cNvSpPr/>
          <p:nvPr/>
        </p:nvSpPr>
        <p:spPr>
          <a:xfrm>
            <a:off x="256032" y="804672"/>
            <a:ext cx="128016" cy="1600200"/>
          </a:xfrm>
          <a:prstGeom prst="rect">
            <a:avLst/>
          </a:prstGeom>
          <a:solidFill>
            <a:srgbClr val="E87C1E"/>
          </a:solidFill>
          <a:ln w="12700">
            <a:solidFill>
              <a:srgbClr val="E87C1E"/>
            </a:solidFill>
            <a:prstDash val="solid"/>
          </a:ln>
        </p:spPr>
        <p:txBody>
          <a:bodyPr/>
          <a:lstStyle/>
          <a:p>
            <a:endParaRPr lang="es-ES"/>
          </a:p>
        </p:txBody>
      </p:sp>
      <p:sp>
        <p:nvSpPr>
          <p:cNvPr id="7" name="Text 5"/>
          <p:cNvSpPr/>
          <p:nvPr/>
        </p:nvSpPr>
        <p:spPr>
          <a:xfrm>
            <a:off x="438912" y="832104"/>
            <a:ext cx="8321040" cy="1536192"/>
          </a:xfrm>
          <a:prstGeom prst="rect">
            <a:avLst/>
          </a:prstGeom>
          <a:noFill/>
          <a:ln/>
        </p:spPr>
        <p:txBody>
          <a:bodyPr wrap="square" rtlCol="0" anchor="ctr"/>
          <a:lstStyle/>
          <a:p>
            <a:pPr marL="0" indent="0">
              <a:buNone/>
            </a:pPr>
            <a:r>
              <a:rPr lang="en-US" sz="1700" b="1" dirty="0">
                <a:solidFill>
                  <a:srgbClr val="003D7C"/>
                </a:solidFill>
                <a:latin typeface="Calibri" pitchFamily="34" charset="0"/>
                <a:ea typeface="Calibri" pitchFamily="34" charset="-122"/>
                <a:cs typeface="Calibri" pitchFamily="34" charset="-120"/>
              </a:rPr>
              <a:t>GPS:  </a:t>
            </a:r>
            <a:r>
              <a:rPr lang="en-US" sz="1600" b="1" i="1" dirty="0">
                <a:solidFill>
                  <a:srgbClr val="E87C1E"/>
                </a:solidFill>
                <a:latin typeface="Calibri" pitchFamily="34" charset="0"/>
                <a:ea typeface="Calibri" pitchFamily="34" charset="-122"/>
                <a:cs typeface="Calibri" pitchFamily="34" charset="-120"/>
              </a:rPr>
              <a:t>¿De qué manera el ejemplo de los colaboradores de Pablo —su red misionera, su oración ferviente y su fidelidad ante el mundo— desafía hoy tu propia manera de permanecer en la voluntad de Dios?</a:t>
            </a:r>
            <a:endParaRPr lang="en-US" sz="1700" dirty="0"/>
          </a:p>
        </p:txBody>
      </p:sp>
      <p:sp>
        <p:nvSpPr>
          <p:cNvPr id="8" name="Shape 6"/>
          <p:cNvSpPr/>
          <p:nvPr/>
        </p:nvSpPr>
        <p:spPr>
          <a:xfrm>
            <a:off x="256032" y="2532888"/>
            <a:ext cx="8631936" cy="749808"/>
          </a:xfrm>
          <a:prstGeom prst="rect">
            <a:avLst/>
          </a:prstGeom>
          <a:solidFill>
            <a:srgbClr val="FFFFFF"/>
          </a:solidFill>
          <a:ln w="12700">
            <a:solidFill>
              <a:srgbClr val="CBD5E1"/>
            </a:solidFill>
            <a:prstDash val="solid"/>
          </a:ln>
          <a:effectLst>
            <a:outerShdw blurRad="63500" dist="25400" dir="8100000" algn="bl" rotWithShape="0">
              <a:srgbClr val="000000">
                <a:alpha val="12000"/>
              </a:srgbClr>
            </a:outerShdw>
          </a:effectLst>
        </p:spPr>
        <p:txBody>
          <a:bodyPr/>
          <a:lstStyle/>
          <a:p>
            <a:endParaRPr lang="es-ES"/>
          </a:p>
        </p:txBody>
      </p:sp>
      <p:sp>
        <p:nvSpPr>
          <p:cNvPr id="9" name="Shape 7"/>
          <p:cNvSpPr/>
          <p:nvPr/>
        </p:nvSpPr>
        <p:spPr>
          <a:xfrm>
            <a:off x="256032" y="2532888"/>
            <a:ext cx="128016" cy="749808"/>
          </a:xfrm>
          <a:prstGeom prst="rect">
            <a:avLst/>
          </a:prstGeom>
          <a:solidFill>
            <a:srgbClr val="003D7C"/>
          </a:solidFill>
          <a:ln w="12700">
            <a:solidFill>
              <a:srgbClr val="003D7C"/>
            </a:solidFill>
            <a:prstDash val="solid"/>
          </a:ln>
        </p:spPr>
        <p:txBody>
          <a:bodyPr/>
          <a:lstStyle/>
          <a:p>
            <a:endParaRPr lang="es-ES"/>
          </a:p>
        </p:txBody>
      </p:sp>
      <p:sp>
        <p:nvSpPr>
          <p:cNvPr id="10" name="Text 8"/>
          <p:cNvSpPr/>
          <p:nvPr/>
        </p:nvSpPr>
        <p:spPr>
          <a:xfrm>
            <a:off x="457200" y="2578608"/>
            <a:ext cx="8321040" cy="65836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¿Recuerdas alguna vez en que alguien te envió una carta, un mensaje o un saludo en un momento difícil, y eso cambió algo en ti? ¿Qué poder tiene saber que alguien piensa en ti?</a:t>
            </a:r>
            <a:endParaRPr lang="en-US" sz="1300" dirty="0"/>
          </a:p>
        </p:txBody>
      </p:sp>
      <p:sp>
        <p:nvSpPr>
          <p:cNvPr id="11" name="Shape 9"/>
          <p:cNvSpPr/>
          <p:nvPr/>
        </p:nvSpPr>
        <p:spPr>
          <a:xfrm>
            <a:off x="256032" y="3419856"/>
            <a:ext cx="8631936" cy="749808"/>
          </a:xfrm>
          <a:prstGeom prst="rect">
            <a:avLst/>
          </a:prstGeom>
          <a:solidFill>
            <a:srgbClr val="FFFFFF"/>
          </a:solidFill>
          <a:ln w="12700">
            <a:solidFill>
              <a:srgbClr val="CBD5E1"/>
            </a:solidFill>
            <a:prstDash val="solid"/>
          </a:ln>
          <a:effectLst>
            <a:outerShdw blurRad="63500" dist="25400" dir="8100000" algn="bl" rotWithShape="0">
              <a:srgbClr val="000000">
                <a:alpha val="12000"/>
              </a:srgbClr>
            </a:outerShdw>
          </a:effectLst>
        </p:spPr>
        <p:txBody>
          <a:bodyPr/>
          <a:lstStyle/>
          <a:p>
            <a:endParaRPr lang="es-ES"/>
          </a:p>
        </p:txBody>
      </p:sp>
      <p:sp>
        <p:nvSpPr>
          <p:cNvPr id="12" name="Shape 10"/>
          <p:cNvSpPr/>
          <p:nvPr/>
        </p:nvSpPr>
        <p:spPr>
          <a:xfrm>
            <a:off x="256032" y="3419856"/>
            <a:ext cx="128016" cy="749808"/>
          </a:xfrm>
          <a:prstGeom prst="rect">
            <a:avLst/>
          </a:prstGeom>
          <a:solidFill>
            <a:srgbClr val="003D7C"/>
          </a:solidFill>
          <a:ln w="12700">
            <a:solidFill>
              <a:srgbClr val="003D7C"/>
            </a:solidFill>
            <a:prstDash val="solid"/>
          </a:ln>
        </p:spPr>
        <p:txBody>
          <a:bodyPr/>
          <a:lstStyle/>
          <a:p>
            <a:endParaRPr lang="es-ES"/>
          </a:p>
        </p:txBody>
      </p:sp>
      <p:sp>
        <p:nvSpPr>
          <p:cNvPr id="13" name="Text 11"/>
          <p:cNvSpPr/>
          <p:nvPr/>
        </p:nvSpPr>
        <p:spPr>
          <a:xfrm>
            <a:off x="457200" y="3465576"/>
            <a:ext cx="8321040" cy="65836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¿Crees que es posible vivir 'en el mundo' sin ser moldeado por él? ¿Qué cosas del mundo notas que van ganando terreno en tu vida sin que te des cuenta?</a:t>
            </a:r>
            <a:endParaRPr lang="en-US" sz="1300" dirty="0"/>
          </a:p>
        </p:txBody>
      </p:sp>
      <p:sp>
        <p:nvSpPr>
          <p:cNvPr id="14" name="Shape 12"/>
          <p:cNvSpPr/>
          <p:nvPr/>
        </p:nvSpPr>
        <p:spPr>
          <a:xfrm>
            <a:off x="0" y="4800600"/>
            <a:ext cx="9144000" cy="342900"/>
          </a:xfrm>
          <a:prstGeom prst="rect">
            <a:avLst/>
          </a:prstGeom>
          <a:solidFill>
            <a:srgbClr val="003D7C"/>
          </a:solidFill>
          <a:ln w="12700">
            <a:solidFill>
              <a:srgbClr val="003D7C"/>
            </a:solidFill>
            <a:prstDash val="solid"/>
          </a:ln>
        </p:spPr>
        <p:txBody>
          <a:bodyPr/>
          <a:lstStyle/>
          <a:p>
            <a:endParaRPr lang="es-ES"/>
          </a:p>
        </p:txBody>
      </p:sp>
      <p:sp>
        <p:nvSpPr>
          <p:cNvPr id="15" name="Text 13"/>
          <p:cNvSpPr/>
          <p:nvPr/>
        </p:nvSpPr>
        <p:spPr>
          <a:xfrm>
            <a:off x="274320" y="4809744"/>
            <a:ext cx="8595360" cy="320040"/>
          </a:xfrm>
          <a:prstGeom prst="rect">
            <a:avLst/>
          </a:prstGeom>
          <a:noFill/>
          <a:ln/>
        </p:spPr>
        <p:txBody>
          <a:bodyPr wrap="square" rtlCol="0" anchor="ctr"/>
          <a:lstStyle/>
          <a:p>
            <a:pPr marL="0" indent="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 Trimestre 2026</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D7C"/>
          </a:solidFill>
          <a:ln w="12700">
            <a:solidFill>
              <a:srgbClr val="003D7C"/>
            </a:solidFill>
            <a:prstDash val="solid"/>
          </a:ln>
        </p:spPr>
        <p:txBody>
          <a:bodyPr/>
          <a:lstStyle/>
          <a:p>
            <a:endParaRPr lang="es-ES"/>
          </a:p>
        </p:txBody>
      </p:sp>
      <p:sp>
        <p:nvSpPr>
          <p:cNvPr id="3" name="Text 1"/>
          <p:cNvSpPr/>
          <p:nvPr/>
        </p:nvSpPr>
        <p:spPr>
          <a:xfrm>
            <a:off x="320040" y="0"/>
            <a:ext cx="4389120" cy="65836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[FASE 2]  EXPLORA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marL="0" indent="0">
              <a:buNone/>
            </a:pPr>
            <a:r>
              <a:rPr lang="en-US" sz="1100" i="1" dirty="0">
                <a:solidFill>
                  <a:srgbClr val="D0E4F5"/>
                </a:solidFill>
                <a:latin typeface="Calibri" pitchFamily="34" charset="0"/>
                <a:ea typeface="Calibri" pitchFamily="34" charset="-122"/>
                <a:cs typeface="Calibri" pitchFamily="34" charset="-120"/>
              </a:rPr>
              <a:t>— ¿Qué dice la Biblia?</a:t>
            </a:r>
            <a:endParaRPr lang="en-US" sz="1100" dirty="0"/>
          </a:p>
        </p:txBody>
      </p:sp>
      <p:sp>
        <p:nvSpPr>
          <p:cNvPr id="5" name="Shape 3"/>
          <p:cNvSpPr/>
          <p:nvPr/>
        </p:nvSpPr>
        <p:spPr>
          <a:xfrm>
            <a:off x="6995160" y="118872"/>
            <a:ext cx="1828800" cy="420624"/>
          </a:xfrm>
          <a:prstGeom prst="rect">
            <a:avLst/>
          </a:prstGeom>
          <a:solidFill>
            <a:srgbClr val="E87C1E"/>
          </a:solidFill>
          <a:ln w="12700">
            <a:solidFill>
              <a:srgbClr val="E87C1E"/>
            </a:solidFill>
            <a:prstDash val="solid"/>
          </a:ln>
        </p:spPr>
        <p:txBody>
          <a:bodyPr/>
          <a:lstStyle/>
          <a:p>
            <a:endParaRPr lang="es-ES"/>
          </a:p>
        </p:txBody>
      </p:sp>
      <p:sp>
        <p:nvSpPr>
          <p:cNvPr id="6" name="Text 4"/>
          <p:cNvSpPr/>
          <p:nvPr/>
        </p:nvSpPr>
        <p:spPr>
          <a:xfrm>
            <a:off x="6995160" y="118872"/>
            <a:ext cx="1828800" cy="42062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Tópico 1 de 3</a:t>
            </a:r>
            <a:endParaRPr lang="en-US" sz="900" dirty="0"/>
          </a:p>
        </p:txBody>
      </p:sp>
      <p:sp>
        <p:nvSpPr>
          <p:cNvPr id="7" name="Shape 5"/>
          <p:cNvSpPr/>
          <p:nvPr/>
        </p:nvSpPr>
        <p:spPr>
          <a:xfrm>
            <a:off x="228600" y="749808"/>
            <a:ext cx="2286000" cy="3931920"/>
          </a:xfrm>
          <a:prstGeom prst="rect">
            <a:avLst/>
          </a:prstGeom>
          <a:solidFill>
            <a:srgbClr val="003D7C"/>
          </a:solidFill>
          <a:ln w="12700">
            <a:solidFill>
              <a:srgbClr val="003D7C"/>
            </a:solidFill>
            <a:prstDash val="solid"/>
          </a:ln>
          <a:effectLst>
            <a:outerShdw blurRad="63500" dist="25400" dir="8100000" algn="bl" rotWithShape="0">
              <a:srgbClr val="000000">
                <a:alpha val="12000"/>
              </a:srgbClr>
            </a:outerShdw>
          </a:effectLst>
        </p:spPr>
        <p:txBody>
          <a:bodyPr/>
          <a:lstStyle/>
          <a:p>
            <a:endParaRPr lang="es-ES"/>
          </a:p>
        </p:txBody>
      </p:sp>
      <p:sp>
        <p:nvSpPr>
          <p:cNvPr id="8" name="Shape 6"/>
          <p:cNvSpPr/>
          <p:nvPr/>
        </p:nvSpPr>
        <p:spPr>
          <a:xfrm>
            <a:off x="228600" y="749808"/>
            <a:ext cx="2286000" cy="402336"/>
          </a:xfrm>
          <a:prstGeom prst="rect">
            <a:avLst/>
          </a:prstGeom>
          <a:solidFill>
            <a:srgbClr val="E87C1E"/>
          </a:solidFill>
          <a:ln w="12700">
            <a:solidFill>
              <a:srgbClr val="E87C1E"/>
            </a:solidFill>
            <a:prstDash val="solid"/>
          </a:ln>
        </p:spPr>
        <p:txBody>
          <a:bodyPr/>
          <a:lstStyle/>
          <a:p>
            <a:endParaRPr lang="es-ES"/>
          </a:p>
        </p:txBody>
      </p:sp>
      <p:sp>
        <p:nvSpPr>
          <p:cNvPr id="9" name="Text 7"/>
          <p:cNvSpPr/>
          <p:nvPr/>
        </p:nvSpPr>
        <p:spPr>
          <a:xfrm>
            <a:off x="320040" y="749808"/>
            <a:ext cx="2194560"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Tópico 1</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Una Red Misionera Tejida por la Gracia</a:t>
            </a:r>
            <a:endParaRPr lang="en-US" sz="1300" dirty="0"/>
          </a:p>
          <a:p>
            <a:pPr marL="0" indent="0" algn="ctr">
              <a:buNone/>
            </a:pPr>
            <a:r>
              <a:rPr lang="en-US" sz="600" dirty="0">
                <a:solidFill>
                  <a:srgbClr val="000000"/>
                </a:solidFill>
              </a:rPr>
              <a:t>
</a:t>
            </a:r>
            <a:endParaRPr lang="en-US" sz="1300" dirty="0"/>
          </a:p>
          <a:p>
            <a:pPr marL="0" indent="0" algn="ctr">
              <a:buNone/>
            </a:pPr>
            <a:r>
              <a:rPr lang="en-US" sz="1100" i="1" dirty="0">
                <a:solidFill>
                  <a:srgbClr val="D0E4F5"/>
                </a:solidFill>
                <a:latin typeface="Calibri" pitchFamily="34" charset="0"/>
                <a:ea typeface="Calibri" pitchFamily="34" charset="-122"/>
                <a:cs typeface="Calibri" pitchFamily="34" charset="-120"/>
              </a:rPr>
              <a:t>Pablo cierra Colosenses con saludos que revelan una red de colaboradores fieles. Cada nombre es una lección sobre el ministerio compartido, la conectividad entre iglesias y el valor de cada creyente en la misión de Dios.</a:t>
            </a:r>
            <a:endParaRPr lang="en-US" sz="1300" dirty="0"/>
          </a:p>
          <a:p>
            <a:pPr marL="0" indent="0" algn="ctr">
              <a:buNone/>
            </a:pPr>
            <a:r>
              <a:rPr lang="en-US" sz="600" dirty="0">
                <a:solidFill>
                  <a:srgbClr val="000000"/>
                </a:solidFill>
              </a:rPr>
              <a:t>
</a:t>
            </a:r>
            <a:endParaRPr lang="en-US" sz="1300" dirty="0"/>
          </a:p>
          <a:p>
            <a:pPr marL="0" indent="0" algn="ctr">
              <a:buNone/>
            </a:pPr>
            <a:r>
              <a:rPr lang="en-US" sz="1200" b="1" dirty="0">
                <a:solidFill>
                  <a:srgbClr val="E87C1E"/>
                </a:solidFill>
                <a:latin typeface="Calibri" pitchFamily="34" charset="0"/>
                <a:ea typeface="Calibri" pitchFamily="34" charset="-122"/>
                <a:cs typeface="Calibri" pitchFamily="34" charset="-120"/>
              </a:rPr>
              <a:t>Colosenses 4:7–11</a:t>
            </a:r>
            <a:endParaRPr lang="en-US" sz="130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blurRad="63500" dist="25400" dir="8100000" algn="bl" rotWithShape="0">
              <a:srgbClr val="000000">
                <a:alpha val="12000"/>
              </a:srgbClr>
            </a:outerShdw>
          </a:effectLst>
        </p:spPr>
        <p:txBody>
          <a:bodyPr/>
          <a:lstStyle/>
          <a:p>
            <a:endParaRPr lang="es-ES"/>
          </a:p>
        </p:txBody>
      </p:sp>
      <p:sp>
        <p:nvSpPr>
          <p:cNvPr id="12" name="Shape 10"/>
          <p:cNvSpPr/>
          <p:nvPr/>
        </p:nvSpPr>
        <p:spPr>
          <a:xfrm>
            <a:off x="2606040" y="749808"/>
            <a:ext cx="6309360" cy="982980"/>
          </a:xfrm>
          <a:prstGeom prst="rect">
            <a:avLst/>
          </a:prstGeom>
          <a:solidFill>
            <a:srgbClr val="F4F6F9"/>
          </a:solidFill>
          <a:ln w="12700">
            <a:solidFill>
              <a:srgbClr val="CBD5E1"/>
            </a:solidFill>
            <a:prstDash val="solid"/>
          </a:ln>
        </p:spPr>
        <p:txBody>
          <a:bodyPr/>
          <a:lstStyle/>
          <a:p>
            <a:endParaRPr lang="es-ES"/>
          </a:p>
        </p:txBody>
      </p:sp>
      <p:sp>
        <p:nvSpPr>
          <p:cNvPr id="13" name="Shape 11"/>
          <p:cNvSpPr/>
          <p:nvPr/>
        </p:nvSpPr>
        <p:spPr>
          <a:xfrm>
            <a:off x="2743200" y="1159002"/>
            <a:ext cx="164592" cy="164592"/>
          </a:xfrm>
          <a:prstGeom prst="ellipse">
            <a:avLst/>
          </a:prstGeom>
          <a:solidFill>
            <a:srgbClr val="E87C1E"/>
          </a:solidFill>
          <a:ln w="12700">
            <a:solidFill>
              <a:srgbClr val="E87C1E"/>
            </a:solidFill>
            <a:prstDash val="solid"/>
          </a:ln>
        </p:spPr>
        <p:txBody>
          <a:bodyPr/>
          <a:lstStyle/>
          <a:p>
            <a:endParaRPr lang="es-ES"/>
          </a:p>
        </p:txBody>
      </p:sp>
      <p:sp>
        <p:nvSpPr>
          <p:cNvPr id="14" name="Text 12"/>
          <p:cNvSpPr/>
          <p:nvPr/>
        </p:nvSpPr>
        <p:spPr>
          <a:xfrm>
            <a:off x="2971800" y="841248"/>
            <a:ext cx="5833872" cy="818388"/>
          </a:xfrm>
          <a:prstGeom prst="rect">
            <a:avLst/>
          </a:prstGeom>
          <a:noFill/>
          <a:ln/>
        </p:spPr>
        <p:txBody>
          <a:bodyPr wrap="square" rtlCol="0" anchor="ctr"/>
          <a:lstStyle/>
          <a:p>
            <a:pPr marL="0" indent="0">
              <a:buNone/>
            </a:pPr>
            <a:r>
              <a:rPr lang="en-US" sz="1150" b="1" i="1" dirty="0">
                <a:solidFill>
                  <a:srgbClr val="E87C1E"/>
                </a:solidFill>
                <a:latin typeface="Calibri" pitchFamily="34" charset="0"/>
                <a:ea typeface="Calibri" pitchFamily="34" charset="-122"/>
                <a:cs typeface="Calibri" pitchFamily="34" charset="-120"/>
              </a:rPr>
              <a:t>Col. 4:7–8  —  </a:t>
            </a:r>
            <a:r>
              <a:rPr lang="en-US" sz="1150" b="1" dirty="0">
                <a:solidFill>
                  <a:srgbClr val="003D7C"/>
                </a:solidFill>
                <a:latin typeface="Calibri" pitchFamily="34" charset="0"/>
                <a:ea typeface="Calibri" pitchFamily="34" charset="-122"/>
                <a:cs typeface="Calibri" pitchFamily="34" charset="-120"/>
              </a:rPr>
              <a:t>Tíquico: el mensajero que conforta: </a:t>
            </a:r>
            <a:r>
              <a:rPr lang="en-US" sz="1150" dirty="0">
                <a:solidFill>
                  <a:srgbClr val="1A1A1A"/>
                </a:solidFill>
                <a:latin typeface="Calibri" pitchFamily="34" charset="0"/>
                <a:ea typeface="Calibri" pitchFamily="34" charset="-122"/>
                <a:cs typeface="Calibri" pitchFamily="34" charset="-120"/>
              </a:rPr>
              <a:t>Enviado con doble propósito: informar sobre el estado de Pablo y consolar los corazones. Su título —'amado hermano, fiel ministro y consiervo'— revela que el ministerio verdadero nace de una relación personal.</a:t>
            </a:r>
            <a:endParaRPr lang="en-US" sz="1150" dirty="0"/>
          </a:p>
        </p:txBody>
      </p:sp>
      <p:sp>
        <p:nvSpPr>
          <p:cNvPr id="15" name="Shape 13"/>
          <p:cNvSpPr/>
          <p:nvPr/>
        </p:nvSpPr>
        <p:spPr>
          <a:xfrm>
            <a:off x="2606040" y="1732788"/>
            <a:ext cx="6309360" cy="982980"/>
          </a:xfrm>
          <a:prstGeom prst="rect">
            <a:avLst/>
          </a:prstGeom>
          <a:solidFill>
            <a:srgbClr val="EBF3FB"/>
          </a:solidFill>
          <a:ln w="12700">
            <a:solidFill>
              <a:srgbClr val="CBD5E1"/>
            </a:solidFill>
            <a:prstDash val="solid"/>
          </a:ln>
        </p:spPr>
        <p:txBody>
          <a:bodyPr/>
          <a:lstStyle/>
          <a:p>
            <a:endParaRPr lang="es-ES"/>
          </a:p>
        </p:txBody>
      </p:sp>
      <p:sp>
        <p:nvSpPr>
          <p:cNvPr id="16" name="Shape 14"/>
          <p:cNvSpPr/>
          <p:nvPr/>
        </p:nvSpPr>
        <p:spPr>
          <a:xfrm>
            <a:off x="2743200" y="2141982"/>
            <a:ext cx="164592" cy="164592"/>
          </a:xfrm>
          <a:prstGeom prst="ellipse">
            <a:avLst/>
          </a:prstGeom>
          <a:solidFill>
            <a:srgbClr val="E87C1E"/>
          </a:solidFill>
          <a:ln w="12700">
            <a:solidFill>
              <a:srgbClr val="E87C1E"/>
            </a:solidFill>
            <a:prstDash val="solid"/>
          </a:ln>
        </p:spPr>
        <p:txBody>
          <a:bodyPr/>
          <a:lstStyle/>
          <a:p>
            <a:endParaRPr lang="es-ES"/>
          </a:p>
        </p:txBody>
      </p:sp>
      <p:sp>
        <p:nvSpPr>
          <p:cNvPr id="17" name="Text 15"/>
          <p:cNvSpPr/>
          <p:nvPr/>
        </p:nvSpPr>
        <p:spPr>
          <a:xfrm>
            <a:off x="2971800" y="1824228"/>
            <a:ext cx="5833872" cy="818388"/>
          </a:xfrm>
          <a:prstGeom prst="rect">
            <a:avLst/>
          </a:prstGeom>
          <a:noFill/>
          <a:ln/>
        </p:spPr>
        <p:txBody>
          <a:bodyPr wrap="square" rtlCol="0" anchor="ctr"/>
          <a:lstStyle/>
          <a:p>
            <a:pPr marL="0" indent="0">
              <a:buNone/>
            </a:pPr>
            <a:r>
              <a:rPr lang="en-US" sz="1150" b="1" i="1" dirty="0">
                <a:solidFill>
                  <a:srgbClr val="E87C1E"/>
                </a:solidFill>
                <a:latin typeface="Calibri" pitchFamily="34" charset="0"/>
                <a:ea typeface="Calibri" pitchFamily="34" charset="-122"/>
                <a:cs typeface="Calibri" pitchFamily="34" charset="-120"/>
              </a:rPr>
              <a:t>Col. 4:9  —  </a:t>
            </a:r>
            <a:r>
              <a:rPr lang="en-US" sz="1150" b="1" dirty="0">
                <a:solidFill>
                  <a:srgbClr val="003D7C"/>
                </a:solidFill>
                <a:latin typeface="Calibri" pitchFamily="34" charset="0"/>
                <a:ea typeface="Calibri" pitchFamily="34" charset="-122"/>
                <a:cs typeface="Calibri" pitchFamily="34" charset="-120"/>
              </a:rPr>
              <a:t>Onésimo: el convertido que regresa: </a:t>
            </a:r>
            <a:r>
              <a:rPr lang="en-US" sz="1150" dirty="0">
                <a:solidFill>
                  <a:srgbClr val="1A1A1A"/>
                </a:solidFill>
                <a:latin typeface="Calibri" pitchFamily="34" charset="0"/>
                <a:ea typeface="Calibri" pitchFamily="34" charset="-122"/>
                <a:cs typeface="Calibri" pitchFamily="34" charset="-120"/>
              </a:rPr>
              <a:t>El esclavo fugitivo convertido en Roma regresa a Colosas como 'fiel y amado hermano'. La gracia transforma radicalmente la identidad y el destino de las personas.</a:t>
            </a:r>
            <a:endParaRPr lang="en-US" sz="1150" dirty="0"/>
          </a:p>
        </p:txBody>
      </p:sp>
      <p:sp>
        <p:nvSpPr>
          <p:cNvPr id="18" name="Shape 16"/>
          <p:cNvSpPr/>
          <p:nvPr/>
        </p:nvSpPr>
        <p:spPr>
          <a:xfrm>
            <a:off x="2606040" y="2715768"/>
            <a:ext cx="6309360" cy="982980"/>
          </a:xfrm>
          <a:prstGeom prst="rect">
            <a:avLst/>
          </a:prstGeom>
          <a:solidFill>
            <a:srgbClr val="F4F6F9"/>
          </a:solidFill>
          <a:ln w="12700">
            <a:solidFill>
              <a:srgbClr val="CBD5E1"/>
            </a:solidFill>
            <a:prstDash val="solid"/>
          </a:ln>
        </p:spPr>
        <p:txBody>
          <a:bodyPr/>
          <a:lstStyle/>
          <a:p>
            <a:endParaRPr lang="es-ES"/>
          </a:p>
        </p:txBody>
      </p:sp>
      <p:sp>
        <p:nvSpPr>
          <p:cNvPr id="19" name="Shape 17"/>
          <p:cNvSpPr/>
          <p:nvPr/>
        </p:nvSpPr>
        <p:spPr>
          <a:xfrm>
            <a:off x="2743200" y="3124962"/>
            <a:ext cx="164592" cy="164592"/>
          </a:xfrm>
          <a:prstGeom prst="ellipse">
            <a:avLst/>
          </a:prstGeom>
          <a:solidFill>
            <a:srgbClr val="E87C1E"/>
          </a:solidFill>
          <a:ln w="12700">
            <a:solidFill>
              <a:srgbClr val="E87C1E"/>
            </a:solidFill>
            <a:prstDash val="solid"/>
          </a:ln>
        </p:spPr>
        <p:txBody>
          <a:bodyPr/>
          <a:lstStyle/>
          <a:p>
            <a:endParaRPr lang="es-ES"/>
          </a:p>
        </p:txBody>
      </p:sp>
      <p:sp>
        <p:nvSpPr>
          <p:cNvPr id="20" name="Text 18"/>
          <p:cNvSpPr/>
          <p:nvPr/>
        </p:nvSpPr>
        <p:spPr>
          <a:xfrm>
            <a:off x="2971800" y="2807208"/>
            <a:ext cx="5833872" cy="818388"/>
          </a:xfrm>
          <a:prstGeom prst="rect">
            <a:avLst/>
          </a:prstGeom>
          <a:noFill/>
          <a:ln/>
        </p:spPr>
        <p:txBody>
          <a:bodyPr wrap="square" rtlCol="0" anchor="ctr"/>
          <a:lstStyle/>
          <a:p>
            <a:pPr marL="0" indent="0">
              <a:buNone/>
            </a:pPr>
            <a:r>
              <a:rPr lang="en-US" sz="1150" b="1" i="1" dirty="0">
                <a:solidFill>
                  <a:srgbClr val="E87C1E"/>
                </a:solidFill>
                <a:latin typeface="Calibri" pitchFamily="34" charset="0"/>
                <a:ea typeface="Calibri" pitchFamily="34" charset="-122"/>
                <a:cs typeface="Calibri" pitchFamily="34" charset="-120"/>
              </a:rPr>
              <a:t>Col. 4:10  —  </a:t>
            </a:r>
            <a:r>
              <a:rPr lang="en-US" sz="1150" b="1" dirty="0">
                <a:solidFill>
                  <a:srgbClr val="003D7C"/>
                </a:solidFill>
                <a:latin typeface="Calibri" pitchFamily="34" charset="0"/>
                <a:ea typeface="Calibri" pitchFamily="34" charset="-122"/>
                <a:cs typeface="Calibri" pitchFamily="34" charset="-120"/>
              </a:rPr>
              <a:t>Aristarco y Marcos: en el sufrimiento: </a:t>
            </a:r>
            <a:r>
              <a:rPr lang="en-US" sz="1150" dirty="0">
                <a:solidFill>
                  <a:srgbClr val="1A1A1A"/>
                </a:solidFill>
                <a:latin typeface="Calibri" pitchFamily="34" charset="0"/>
                <a:ea typeface="Calibri" pitchFamily="34" charset="-122"/>
                <a:cs typeface="Calibri" pitchFamily="34" charset="-120"/>
              </a:rPr>
              <a:t>Aristarco comparte literalmente la prisión de Pablo. Marcos —quien abandonó el primer viaje misionero— ahora es restaurado. Dios siempre da segundas oportunidades.</a:t>
            </a:r>
            <a:endParaRPr lang="en-US" sz="1150" dirty="0"/>
          </a:p>
        </p:txBody>
      </p:sp>
      <p:sp>
        <p:nvSpPr>
          <p:cNvPr id="21" name="Shape 19"/>
          <p:cNvSpPr/>
          <p:nvPr/>
        </p:nvSpPr>
        <p:spPr>
          <a:xfrm>
            <a:off x="2606040" y="3698748"/>
            <a:ext cx="6309360" cy="982980"/>
          </a:xfrm>
          <a:prstGeom prst="rect">
            <a:avLst/>
          </a:prstGeom>
          <a:solidFill>
            <a:srgbClr val="EBF3FB"/>
          </a:solidFill>
          <a:ln w="12700">
            <a:solidFill>
              <a:srgbClr val="CBD5E1"/>
            </a:solidFill>
            <a:prstDash val="solid"/>
          </a:ln>
        </p:spPr>
        <p:txBody>
          <a:bodyPr/>
          <a:lstStyle/>
          <a:p>
            <a:endParaRPr lang="es-ES"/>
          </a:p>
        </p:txBody>
      </p:sp>
      <p:sp>
        <p:nvSpPr>
          <p:cNvPr id="22" name="Shape 20"/>
          <p:cNvSpPr/>
          <p:nvPr/>
        </p:nvSpPr>
        <p:spPr>
          <a:xfrm>
            <a:off x="2743200" y="4107942"/>
            <a:ext cx="164592" cy="164592"/>
          </a:xfrm>
          <a:prstGeom prst="ellipse">
            <a:avLst/>
          </a:prstGeom>
          <a:solidFill>
            <a:srgbClr val="E87C1E"/>
          </a:solidFill>
          <a:ln w="12700">
            <a:solidFill>
              <a:srgbClr val="E87C1E"/>
            </a:solidFill>
            <a:prstDash val="solid"/>
          </a:ln>
        </p:spPr>
        <p:txBody>
          <a:bodyPr/>
          <a:lstStyle/>
          <a:p>
            <a:endParaRPr lang="es-ES"/>
          </a:p>
        </p:txBody>
      </p:sp>
      <p:sp>
        <p:nvSpPr>
          <p:cNvPr id="23" name="Text 21"/>
          <p:cNvSpPr/>
          <p:nvPr/>
        </p:nvSpPr>
        <p:spPr>
          <a:xfrm>
            <a:off x="2971800" y="3790188"/>
            <a:ext cx="5833872" cy="818388"/>
          </a:xfrm>
          <a:prstGeom prst="rect">
            <a:avLst/>
          </a:prstGeom>
          <a:noFill/>
          <a:ln/>
        </p:spPr>
        <p:txBody>
          <a:bodyPr wrap="square" rtlCol="0" anchor="ctr"/>
          <a:lstStyle/>
          <a:p>
            <a:pPr marL="0" indent="0">
              <a:buNone/>
            </a:pPr>
            <a:r>
              <a:rPr lang="en-US" sz="1150" b="1" i="1" dirty="0">
                <a:solidFill>
                  <a:srgbClr val="E87C1E"/>
                </a:solidFill>
                <a:latin typeface="Calibri" pitchFamily="34" charset="0"/>
                <a:ea typeface="Calibri" pitchFamily="34" charset="-122"/>
                <a:cs typeface="Calibri" pitchFamily="34" charset="-120"/>
              </a:rPr>
              <a:t>Col. 4:11  —  </a:t>
            </a:r>
            <a:r>
              <a:rPr lang="en-US" sz="1150" b="1" dirty="0">
                <a:solidFill>
                  <a:srgbClr val="003D7C"/>
                </a:solidFill>
                <a:latin typeface="Calibri" pitchFamily="34" charset="0"/>
                <a:ea typeface="Calibri" pitchFamily="34" charset="-122"/>
                <a:cs typeface="Calibri" pitchFamily="34" charset="-120"/>
              </a:rPr>
              <a:t>Judíos y gentiles: unidos en el ministerio: </a:t>
            </a:r>
            <a:r>
              <a:rPr lang="en-US" sz="1150" dirty="0">
                <a:solidFill>
                  <a:srgbClr val="1A1A1A"/>
                </a:solidFill>
                <a:latin typeface="Calibri" pitchFamily="34" charset="0"/>
                <a:ea typeface="Calibri" pitchFamily="34" charset="-122"/>
                <a:cs typeface="Calibri" pitchFamily="34" charset="-120"/>
              </a:rPr>
              <a:t>A pesar de las tensiones étnicas del mundo antiguo, el evangelio crea una unidad que trasciende toda barrera cultural y de origen.</a:t>
            </a:r>
            <a:endParaRPr lang="en-US" sz="1150" dirty="0"/>
          </a:p>
        </p:txBody>
      </p:sp>
      <p:sp>
        <p:nvSpPr>
          <p:cNvPr id="24" name="Shape 22"/>
          <p:cNvSpPr/>
          <p:nvPr/>
        </p:nvSpPr>
        <p:spPr>
          <a:xfrm>
            <a:off x="0" y="4800600"/>
            <a:ext cx="9144000" cy="342900"/>
          </a:xfrm>
          <a:prstGeom prst="rect">
            <a:avLst/>
          </a:prstGeom>
          <a:solidFill>
            <a:srgbClr val="003D7C"/>
          </a:solidFill>
          <a:ln w="12700">
            <a:solidFill>
              <a:srgbClr val="003D7C"/>
            </a:solidFill>
            <a:prstDash val="solid"/>
          </a:ln>
        </p:spPr>
        <p:txBody>
          <a:bodyPr/>
          <a:lstStyle/>
          <a:p>
            <a:endParaRPr lang="es-ES"/>
          </a:p>
        </p:txBody>
      </p:sp>
      <p:sp>
        <p:nvSpPr>
          <p:cNvPr id="25" name="Text 23"/>
          <p:cNvSpPr/>
          <p:nvPr/>
        </p:nvSpPr>
        <p:spPr>
          <a:xfrm>
            <a:off x="274320" y="4809744"/>
            <a:ext cx="8595360" cy="320040"/>
          </a:xfrm>
          <a:prstGeom prst="rect">
            <a:avLst/>
          </a:prstGeom>
          <a:noFill/>
          <a:ln/>
        </p:spPr>
        <p:txBody>
          <a:bodyPr wrap="square" rtlCol="0" anchor="ctr"/>
          <a:lstStyle/>
          <a:p>
            <a:pPr marL="0" indent="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 Trimestre 2026</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D7C"/>
          </a:solidFill>
          <a:ln w="12700">
            <a:solidFill>
              <a:srgbClr val="003D7C"/>
            </a:solidFill>
            <a:prstDash val="solid"/>
          </a:ln>
        </p:spPr>
        <p:txBody>
          <a:bodyPr/>
          <a:lstStyle/>
          <a:p>
            <a:endParaRPr lang="es-ES"/>
          </a:p>
        </p:txBody>
      </p:sp>
      <p:sp>
        <p:nvSpPr>
          <p:cNvPr id="3" name="Text 1"/>
          <p:cNvSpPr/>
          <p:nvPr/>
        </p:nvSpPr>
        <p:spPr>
          <a:xfrm>
            <a:off x="320040" y="0"/>
            <a:ext cx="4389120" cy="65836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[FASE 2]  EXPLORA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marL="0" indent="0">
              <a:buNone/>
            </a:pPr>
            <a:r>
              <a:rPr lang="en-US" sz="1100" i="1" dirty="0">
                <a:solidFill>
                  <a:srgbClr val="D0E4F5"/>
                </a:solidFill>
                <a:latin typeface="Calibri" pitchFamily="34" charset="0"/>
                <a:ea typeface="Calibri" pitchFamily="34" charset="-122"/>
                <a:cs typeface="Calibri" pitchFamily="34" charset="-120"/>
              </a:rPr>
              <a:t>— ¿Qué dice la Biblia?</a:t>
            </a:r>
            <a:endParaRPr lang="en-US" sz="1100" dirty="0"/>
          </a:p>
        </p:txBody>
      </p:sp>
      <p:sp>
        <p:nvSpPr>
          <p:cNvPr id="5" name="Shape 3"/>
          <p:cNvSpPr/>
          <p:nvPr/>
        </p:nvSpPr>
        <p:spPr>
          <a:xfrm>
            <a:off x="6995160" y="118872"/>
            <a:ext cx="1828800" cy="420624"/>
          </a:xfrm>
          <a:prstGeom prst="rect">
            <a:avLst/>
          </a:prstGeom>
          <a:solidFill>
            <a:srgbClr val="E87C1E"/>
          </a:solidFill>
          <a:ln w="12700">
            <a:solidFill>
              <a:srgbClr val="E87C1E"/>
            </a:solidFill>
            <a:prstDash val="solid"/>
          </a:ln>
        </p:spPr>
        <p:txBody>
          <a:bodyPr/>
          <a:lstStyle/>
          <a:p>
            <a:endParaRPr lang="es-ES"/>
          </a:p>
        </p:txBody>
      </p:sp>
      <p:sp>
        <p:nvSpPr>
          <p:cNvPr id="6" name="Text 4"/>
          <p:cNvSpPr/>
          <p:nvPr/>
        </p:nvSpPr>
        <p:spPr>
          <a:xfrm>
            <a:off x="6995160" y="118872"/>
            <a:ext cx="1828800" cy="42062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Tópico 2 de 3</a:t>
            </a:r>
            <a:endParaRPr lang="en-US" sz="900" dirty="0"/>
          </a:p>
        </p:txBody>
      </p:sp>
      <p:sp>
        <p:nvSpPr>
          <p:cNvPr id="7" name="Shape 5"/>
          <p:cNvSpPr/>
          <p:nvPr/>
        </p:nvSpPr>
        <p:spPr>
          <a:xfrm>
            <a:off x="228600" y="749808"/>
            <a:ext cx="2286000" cy="3931920"/>
          </a:xfrm>
          <a:prstGeom prst="rect">
            <a:avLst/>
          </a:prstGeom>
          <a:solidFill>
            <a:srgbClr val="003D7C"/>
          </a:solidFill>
          <a:ln w="12700">
            <a:solidFill>
              <a:srgbClr val="003D7C"/>
            </a:solidFill>
            <a:prstDash val="solid"/>
          </a:ln>
          <a:effectLst>
            <a:outerShdw blurRad="63500" dist="25400" dir="8100000" algn="bl" rotWithShape="0">
              <a:srgbClr val="000000">
                <a:alpha val="12000"/>
              </a:srgbClr>
            </a:outerShdw>
          </a:effectLst>
        </p:spPr>
        <p:txBody>
          <a:bodyPr/>
          <a:lstStyle/>
          <a:p>
            <a:endParaRPr lang="es-ES"/>
          </a:p>
        </p:txBody>
      </p:sp>
      <p:sp>
        <p:nvSpPr>
          <p:cNvPr id="8" name="Shape 6"/>
          <p:cNvSpPr/>
          <p:nvPr/>
        </p:nvSpPr>
        <p:spPr>
          <a:xfrm>
            <a:off x="228600" y="749808"/>
            <a:ext cx="2286000" cy="402336"/>
          </a:xfrm>
          <a:prstGeom prst="rect">
            <a:avLst/>
          </a:prstGeom>
          <a:solidFill>
            <a:srgbClr val="E87C1E"/>
          </a:solidFill>
          <a:ln w="12700">
            <a:solidFill>
              <a:srgbClr val="E87C1E"/>
            </a:solidFill>
            <a:prstDash val="solid"/>
          </a:ln>
        </p:spPr>
        <p:txBody>
          <a:bodyPr/>
          <a:lstStyle/>
          <a:p>
            <a:endParaRPr lang="es-ES"/>
          </a:p>
        </p:txBody>
      </p:sp>
      <p:sp>
        <p:nvSpPr>
          <p:cNvPr id="9" name="Text 7"/>
          <p:cNvSpPr/>
          <p:nvPr/>
        </p:nvSpPr>
        <p:spPr>
          <a:xfrm>
            <a:off x="320040" y="749808"/>
            <a:ext cx="2194560"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Tópico 2</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La Oración que Pide lo Mejor de Dios</a:t>
            </a:r>
            <a:endParaRPr lang="en-US" sz="1300" dirty="0"/>
          </a:p>
          <a:p>
            <a:pPr marL="0" indent="0" algn="ctr">
              <a:buNone/>
            </a:pPr>
            <a:r>
              <a:rPr lang="en-US" sz="600" dirty="0">
                <a:solidFill>
                  <a:srgbClr val="000000"/>
                </a:solidFill>
              </a:rPr>
              <a:t>
</a:t>
            </a:r>
            <a:endParaRPr lang="en-US" sz="1300" dirty="0"/>
          </a:p>
          <a:p>
            <a:pPr marL="0" indent="0" algn="ctr">
              <a:buNone/>
            </a:pPr>
            <a:r>
              <a:rPr lang="en-US" sz="1100" i="1" dirty="0">
                <a:solidFill>
                  <a:srgbClr val="D0E4F5"/>
                </a:solidFill>
                <a:latin typeface="Calibri" pitchFamily="34" charset="0"/>
                <a:ea typeface="Calibri" pitchFamily="34" charset="-122"/>
                <a:cs typeface="Calibri" pitchFamily="34" charset="-120"/>
              </a:rPr>
              <a:t>Epafras intercede apasionadamente para que los colosenses permanezcan 'firmes, perfectos y completos en todo lo que Dios quiere'. Su ejemplo revela qué significa orar con visión espiritual y profunda para quienes amamos.</a:t>
            </a:r>
            <a:endParaRPr lang="en-US" sz="1300" dirty="0"/>
          </a:p>
          <a:p>
            <a:pPr marL="0" indent="0" algn="ctr">
              <a:buNone/>
            </a:pPr>
            <a:r>
              <a:rPr lang="en-US" sz="600" dirty="0">
                <a:solidFill>
                  <a:srgbClr val="000000"/>
                </a:solidFill>
              </a:rPr>
              <a:t>
</a:t>
            </a:r>
            <a:endParaRPr lang="en-US" sz="1300" dirty="0"/>
          </a:p>
          <a:p>
            <a:pPr marL="0" indent="0" algn="ctr">
              <a:buNone/>
            </a:pPr>
            <a:r>
              <a:rPr lang="en-US" sz="1200" b="1" dirty="0">
                <a:solidFill>
                  <a:srgbClr val="E87C1E"/>
                </a:solidFill>
                <a:latin typeface="Calibri" pitchFamily="34" charset="0"/>
                <a:ea typeface="Calibri" pitchFamily="34" charset="-122"/>
                <a:cs typeface="Calibri" pitchFamily="34" charset="-120"/>
              </a:rPr>
              <a:t>Colosenses 4:12–15</a:t>
            </a:r>
            <a:endParaRPr lang="en-US" sz="130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blurRad="63500" dist="25400" dir="8100000" algn="bl" rotWithShape="0">
              <a:srgbClr val="000000">
                <a:alpha val="12000"/>
              </a:srgbClr>
            </a:outerShdw>
          </a:effectLst>
        </p:spPr>
        <p:txBody>
          <a:bodyPr/>
          <a:lstStyle/>
          <a:p>
            <a:endParaRPr lang="es-ES"/>
          </a:p>
        </p:txBody>
      </p:sp>
      <p:sp>
        <p:nvSpPr>
          <p:cNvPr id="12" name="Shape 10"/>
          <p:cNvSpPr/>
          <p:nvPr/>
        </p:nvSpPr>
        <p:spPr>
          <a:xfrm>
            <a:off x="2606040" y="749808"/>
            <a:ext cx="6309360" cy="982980"/>
          </a:xfrm>
          <a:prstGeom prst="rect">
            <a:avLst/>
          </a:prstGeom>
          <a:solidFill>
            <a:srgbClr val="F4F6F9"/>
          </a:solidFill>
          <a:ln w="12700">
            <a:solidFill>
              <a:srgbClr val="CBD5E1"/>
            </a:solidFill>
            <a:prstDash val="solid"/>
          </a:ln>
        </p:spPr>
        <p:txBody>
          <a:bodyPr/>
          <a:lstStyle/>
          <a:p>
            <a:endParaRPr lang="es-ES"/>
          </a:p>
        </p:txBody>
      </p:sp>
      <p:sp>
        <p:nvSpPr>
          <p:cNvPr id="13" name="Shape 11"/>
          <p:cNvSpPr/>
          <p:nvPr/>
        </p:nvSpPr>
        <p:spPr>
          <a:xfrm>
            <a:off x="2743200" y="1159002"/>
            <a:ext cx="164592" cy="164592"/>
          </a:xfrm>
          <a:prstGeom prst="ellipse">
            <a:avLst/>
          </a:prstGeom>
          <a:solidFill>
            <a:srgbClr val="E87C1E"/>
          </a:solidFill>
          <a:ln w="12700">
            <a:solidFill>
              <a:srgbClr val="E87C1E"/>
            </a:solidFill>
            <a:prstDash val="solid"/>
          </a:ln>
        </p:spPr>
        <p:txBody>
          <a:bodyPr/>
          <a:lstStyle/>
          <a:p>
            <a:endParaRPr lang="es-ES"/>
          </a:p>
        </p:txBody>
      </p:sp>
      <p:sp>
        <p:nvSpPr>
          <p:cNvPr id="14" name="Text 12"/>
          <p:cNvSpPr/>
          <p:nvPr/>
        </p:nvSpPr>
        <p:spPr>
          <a:xfrm>
            <a:off x="2971800" y="841248"/>
            <a:ext cx="5833872" cy="818388"/>
          </a:xfrm>
          <a:prstGeom prst="rect">
            <a:avLst/>
          </a:prstGeom>
          <a:noFill/>
          <a:ln/>
        </p:spPr>
        <p:txBody>
          <a:bodyPr wrap="square" rtlCol="0" anchor="ctr"/>
          <a:lstStyle/>
          <a:p>
            <a:pPr marL="0" indent="0">
              <a:buNone/>
            </a:pPr>
            <a:r>
              <a:rPr lang="en-US" sz="1150" b="1" i="1" dirty="0">
                <a:solidFill>
                  <a:srgbClr val="E87C1E"/>
                </a:solidFill>
                <a:latin typeface="Calibri" pitchFamily="34" charset="0"/>
                <a:ea typeface="Calibri" pitchFamily="34" charset="-122"/>
                <a:cs typeface="Calibri" pitchFamily="34" charset="-120"/>
              </a:rPr>
              <a:t>Col. 4:12a  —  </a:t>
            </a:r>
            <a:r>
              <a:rPr lang="en-US" sz="1150" b="1" dirty="0">
                <a:solidFill>
                  <a:srgbClr val="003D7C"/>
                </a:solidFill>
                <a:latin typeface="Calibri" pitchFamily="34" charset="0"/>
                <a:ea typeface="Calibri" pitchFamily="34" charset="-122"/>
                <a:cs typeface="Calibri" pitchFamily="34" charset="-120"/>
              </a:rPr>
              <a:t>Orar para que permanezcan firmes: </a:t>
            </a:r>
            <a:r>
              <a:rPr lang="en-US" sz="1150" dirty="0">
                <a:solidFill>
                  <a:srgbClr val="1A1A1A"/>
                </a:solidFill>
                <a:latin typeface="Calibri" pitchFamily="34" charset="0"/>
                <a:ea typeface="Calibri" pitchFamily="34" charset="-122"/>
                <a:cs typeface="Calibri" pitchFamily="34" charset="-120"/>
              </a:rPr>
              <a:t>Epafras lucha fervientemente en oración. 'Firmes' significa inconmovibles, fundados en el evangelio. La firmeza no es terquedad humana: es fruto de estar anclado en Cristo.</a:t>
            </a:r>
            <a:endParaRPr lang="en-US" sz="1150" dirty="0"/>
          </a:p>
        </p:txBody>
      </p:sp>
      <p:sp>
        <p:nvSpPr>
          <p:cNvPr id="15" name="Shape 13"/>
          <p:cNvSpPr/>
          <p:nvPr/>
        </p:nvSpPr>
        <p:spPr>
          <a:xfrm>
            <a:off x="2606040" y="1732788"/>
            <a:ext cx="6309360" cy="982980"/>
          </a:xfrm>
          <a:prstGeom prst="rect">
            <a:avLst/>
          </a:prstGeom>
          <a:solidFill>
            <a:srgbClr val="EBF3FB"/>
          </a:solidFill>
          <a:ln w="12700">
            <a:solidFill>
              <a:srgbClr val="CBD5E1"/>
            </a:solidFill>
            <a:prstDash val="solid"/>
          </a:ln>
        </p:spPr>
        <p:txBody>
          <a:bodyPr/>
          <a:lstStyle/>
          <a:p>
            <a:endParaRPr lang="es-ES"/>
          </a:p>
        </p:txBody>
      </p:sp>
      <p:sp>
        <p:nvSpPr>
          <p:cNvPr id="16" name="Shape 14"/>
          <p:cNvSpPr/>
          <p:nvPr/>
        </p:nvSpPr>
        <p:spPr>
          <a:xfrm>
            <a:off x="2743200" y="2141982"/>
            <a:ext cx="164592" cy="164592"/>
          </a:xfrm>
          <a:prstGeom prst="ellipse">
            <a:avLst/>
          </a:prstGeom>
          <a:solidFill>
            <a:srgbClr val="E87C1E"/>
          </a:solidFill>
          <a:ln w="12700">
            <a:solidFill>
              <a:srgbClr val="E87C1E"/>
            </a:solidFill>
            <a:prstDash val="solid"/>
          </a:ln>
        </p:spPr>
        <p:txBody>
          <a:bodyPr/>
          <a:lstStyle/>
          <a:p>
            <a:endParaRPr lang="es-ES"/>
          </a:p>
        </p:txBody>
      </p:sp>
      <p:sp>
        <p:nvSpPr>
          <p:cNvPr id="17" name="Text 15"/>
          <p:cNvSpPr/>
          <p:nvPr/>
        </p:nvSpPr>
        <p:spPr>
          <a:xfrm>
            <a:off x="2971800" y="1824228"/>
            <a:ext cx="5833872" cy="818388"/>
          </a:xfrm>
          <a:prstGeom prst="rect">
            <a:avLst/>
          </a:prstGeom>
          <a:noFill/>
          <a:ln/>
        </p:spPr>
        <p:txBody>
          <a:bodyPr wrap="square" rtlCol="0" anchor="ctr"/>
          <a:lstStyle/>
          <a:p>
            <a:pPr marL="0" indent="0">
              <a:buNone/>
            </a:pPr>
            <a:r>
              <a:rPr lang="en-US" sz="1150" b="1" i="1" dirty="0">
                <a:solidFill>
                  <a:srgbClr val="E87C1E"/>
                </a:solidFill>
                <a:latin typeface="Calibri" pitchFamily="34" charset="0"/>
                <a:ea typeface="Calibri" pitchFamily="34" charset="-122"/>
                <a:cs typeface="Calibri" pitchFamily="34" charset="-120"/>
              </a:rPr>
              <a:t>Col. 4:12b  —  </a:t>
            </a:r>
            <a:r>
              <a:rPr lang="en-US" sz="1150" b="1" dirty="0">
                <a:solidFill>
                  <a:srgbClr val="003D7C"/>
                </a:solidFill>
                <a:latin typeface="Calibri" pitchFamily="34" charset="0"/>
                <a:ea typeface="Calibri" pitchFamily="34" charset="-122"/>
                <a:cs typeface="Calibri" pitchFamily="34" charset="-120"/>
              </a:rPr>
              <a:t>Orar para que sean perfectos y completos: </a:t>
            </a:r>
            <a:r>
              <a:rPr lang="en-US" sz="1150" dirty="0">
                <a:solidFill>
                  <a:srgbClr val="1A1A1A"/>
                </a:solidFill>
                <a:latin typeface="Calibri" pitchFamily="34" charset="0"/>
                <a:ea typeface="Calibri" pitchFamily="34" charset="-122"/>
                <a:cs typeface="Calibri" pitchFamily="34" charset="-120"/>
              </a:rPr>
              <a:t>'Perfectos' apunta a la madurez de carácter; 'completos' indica alcanzar plenamente la medida que Dios tiene para cada uno. Es vida orientada completamente hacia Dios.</a:t>
            </a:r>
            <a:endParaRPr lang="en-US" sz="1150" dirty="0"/>
          </a:p>
        </p:txBody>
      </p:sp>
      <p:sp>
        <p:nvSpPr>
          <p:cNvPr id="18" name="Shape 16"/>
          <p:cNvSpPr/>
          <p:nvPr/>
        </p:nvSpPr>
        <p:spPr>
          <a:xfrm>
            <a:off x="2606040" y="2715768"/>
            <a:ext cx="6309360" cy="982980"/>
          </a:xfrm>
          <a:prstGeom prst="rect">
            <a:avLst/>
          </a:prstGeom>
          <a:solidFill>
            <a:srgbClr val="F4F6F9"/>
          </a:solidFill>
          <a:ln w="12700">
            <a:solidFill>
              <a:srgbClr val="CBD5E1"/>
            </a:solidFill>
            <a:prstDash val="solid"/>
          </a:ln>
        </p:spPr>
        <p:txBody>
          <a:bodyPr/>
          <a:lstStyle/>
          <a:p>
            <a:endParaRPr lang="es-ES"/>
          </a:p>
        </p:txBody>
      </p:sp>
      <p:sp>
        <p:nvSpPr>
          <p:cNvPr id="19" name="Shape 17"/>
          <p:cNvSpPr/>
          <p:nvPr/>
        </p:nvSpPr>
        <p:spPr>
          <a:xfrm>
            <a:off x="2743200" y="3124962"/>
            <a:ext cx="164592" cy="164592"/>
          </a:xfrm>
          <a:prstGeom prst="ellipse">
            <a:avLst/>
          </a:prstGeom>
          <a:solidFill>
            <a:srgbClr val="E87C1E"/>
          </a:solidFill>
          <a:ln w="12700">
            <a:solidFill>
              <a:srgbClr val="E87C1E"/>
            </a:solidFill>
            <a:prstDash val="solid"/>
          </a:ln>
        </p:spPr>
        <p:txBody>
          <a:bodyPr/>
          <a:lstStyle/>
          <a:p>
            <a:endParaRPr lang="es-ES"/>
          </a:p>
        </p:txBody>
      </p:sp>
      <p:sp>
        <p:nvSpPr>
          <p:cNvPr id="20" name="Text 18"/>
          <p:cNvSpPr/>
          <p:nvPr/>
        </p:nvSpPr>
        <p:spPr>
          <a:xfrm>
            <a:off x="2971800" y="2807208"/>
            <a:ext cx="5833872" cy="818388"/>
          </a:xfrm>
          <a:prstGeom prst="rect">
            <a:avLst/>
          </a:prstGeom>
          <a:noFill/>
          <a:ln/>
        </p:spPr>
        <p:txBody>
          <a:bodyPr wrap="square" rtlCol="0" anchor="ctr"/>
          <a:lstStyle/>
          <a:p>
            <a:pPr marL="0" indent="0">
              <a:buNone/>
            </a:pPr>
            <a:r>
              <a:rPr lang="en-US" sz="1150" b="1" i="1" dirty="0">
                <a:solidFill>
                  <a:srgbClr val="E87C1E"/>
                </a:solidFill>
                <a:latin typeface="Calibri" pitchFamily="34" charset="0"/>
                <a:ea typeface="Calibri" pitchFamily="34" charset="-122"/>
                <a:cs typeface="Calibri" pitchFamily="34" charset="-120"/>
              </a:rPr>
              <a:t>Col. 4:13  —  </a:t>
            </a:r>
            <a:r>
              <a:rPr lang="en-US" sz="1150" b="1" dirty="0">
                <a:solidFill>
                  <a:srgbClr val="003D7C"/>
                </a:solidFill>
                <a:latin typeface="Calibri" pitchFamily="34" charset="0"/>
                <a:ea typeface="Calibri" pitchFamily="34" charset="-122"/>
                <a:cs typeface="Calibri" pitchFamily="34" charset="-120"/>
              </a:rPr>
              <a:t>El celo que alcanza más allá de lo cercano: </a:t>
            </a:r>
            <a:r>
              <a:rPr lang="en-US" sz="1150" dirty="0">
                <a:solidFill>
                  <a:srgbClr val="1A1A1A"/>
                </a:solidFill>
                <a:latin typeface="Calibri" pitchFamily="34" charset="0"/>
                <a:ea typeface="Calibri" pitchFamily="34" charset="-122"/>
                <a:cs typeface="Calibri" pitchFamily="34" charset="-120"/>
              </a:rPr>
              <a:t>El trabajo de Epafras abarca Colosas, Laodicea e Hierápolis. La oración intercesora ensancha los límites del ministerio más allá del círculo inmediato.</a:t>
            </a:r>
            <a:endParaRPr lang="en-US" sz="1150" dirty="0"/>
          </a:p>
        </p:txBody>
      </p:sp>
      <p:sp>
        <p:nvSpPr>
          <p:cNvPr id="21" name="Shape 19"/>
          <p:cNvSpPr/>
          <p:nvPr/>
        </p:nvSpPr>
        <p:spPr>
          <a:xfrm>
            <a:off x="2606040" y="3698748"/>
            <a:ext cx="6309360" cy="982980"/>
          </a:xfrm>
          <a:prstGeom prst="rect">
            <a:avLst/>
          </a:prstGeom>
          <a:solidFill>
            <a:srgbClr val="EBF3FB"/>
          </a:solidFill>
          <a:ln w="12700">
            <a:solidFill>
              <a:srgbClr val="CBD5E1"/>
            </a:solidFill>
            <a:prstDash val="solid"/>
          </a:ln>
        </p:spPr>
        <p:txBody>
          <a:bodyPr/>
          <a:lstStyle/>
          <a:p>
            <a:endParaRPr lang="es-ES"/>
          </a:p>
        </p:txBody>
      </p:sp>
      <p:sp>
        <p:nvSpPr>
          <p:cNvPr id="22" name="Shape 20"/>
          <p:cNvSpPr/>
          <p:nvPr/>
        </p:nvSpPr>
        <p:spPr>
          <a:xfrm>
            <a:off x="2743200" y="4107942"/>
            <a:ext cx="164592" cy="164592"/>
          </a:xfrm>
          <a:prstGeom prst="ellipse">
            <a:avLst/>
          </a:prstGeom>
          <a:solidFill>
            <a:srgbClr val="E87C1E"/>
          </a:solidFill>
          <a:ln w="12700">
            <a:solidFill>
              <a:srgbClr val="E87C1E"/>
            </a:solidFill>
            <a:prstDash val="solid"/>
          </a:ln>
        </p:spPr>
        <p:txBody>
          <a:bodyPr/>
          <a:lstStyle/>
          <a:p>
            <a:endParaRPr lang="es-ES"/>
          </a:p>
        </p:txBody>
      </p:sp>
      <p:sp>
        <p:nvSpPr>
          <p:cNvPr id="23" name="Text 21"/>
          <p:cNvSpPr/>
          <p:nvPr/>
        </p:nvSpPr>
        <p:spPr>
          <a:xfrm>
            <a:off x="2971800" y="3790188"/>
            <a:ext cx="5833872" cy="818388"/>
          </a:xfrm>
          <a:prstGeom prst="rect">
            <a:avLst/>
          </a:prstGeom>
          <a:noFill/>
          <a:ln/>
        </p:spPr>
        <p:txBody>
          <a:bodyPr wrap="square" rtlCol="0" anchor="ctr"/>
          <a:lstStyle/>
          <a:p>
            <a:pPr marL="0" indent="0">
              <a:buNone/>
            </a:pPr>
            <a:r>
              <a:rPr lang="en-US" sz="1150" b="1" i="1" dirty="0">
                <a:solidFill>
                  <a:srgbClr val="E87C1E"/>
                </a:solidFill>
                <a:latin typeface="Calibri" pitchFamily="34" charset="0"/>
                <a:ea typeface="Calibri" pitchFamily="34" charset="-122"/>
                <a:cs typeface="Calibri" pitchFamily="34" charset="-120"/>
              </a:rPr>
              <a:t>Col. 4:14–15  —  </a:t>
            </a:r>
            <a:r>
              <a:rPr lang="en-US" sz="1150" b="1" dirty="0">
                <a:solidFill>
                  <a:srgbClr val="003D7C"/>
                </a:solidFill>
                <a:latin typeface="Calibri" pitchFamily="34" charset="0"/>
                <a:ea typeface="Calibri" pitchFamily="34" charset="-122"/>
                <a:cs typeface="Calibri" pitchFamily="34" charset="-120"/>
              </a:rPr>
              <a:t>Lucas y Ninfas: fieles hasta los detalles: </a:t>
            </a:r>
            <a:r>
              <a:rPr lang="en-US" sz="1150" dirty="0">
                <a:solidFill>
                  <a:srgbClr val="1A1A1A"/>
                </a:solidFill>
                <a:latin typeface="Calibri" pitchFamily="34" charset="0"/>
                <a:ea typeface="Calibri" pitchFamily="34" charset="-122"/>
                <a:cs typeface="Calibri" pitchFamily="34" charset="-120"/>
              </a:rPr>
              <a:t>Lucas permanece junto a Pablo cuando otros se han ido. Ninfas abre su casa como iglesia. La fidelidad se expresa en permanecer, en abrir la puerta, en seguir presente.</a:t>
            </a:r>
            <a:endParaRPr lang="en-US" sz="1150" dirty="0"/>
          </a:p>
        </p:txBody>
      </p:sp>
      <p:sp>
        <p:nvSpPr>
          <p:cNvPr id="24" name="Shape 22"/>
          <p:cNvSpPr/>
          <p:nvPr/>
        </p:nvSpPr>
        <p:spPr>
          <a:xfrm>
            <a:off x="0" y="4800600"/>
            <a:ext cx="9144000" cy="342900"/>
          </a:xfrm>
          <a:prstGeom prst="rect">
            <a:avLst/>
          </a:prstGeom>
          <a:solidFill>
            <a:srgbClr val="003D7C"/>
          </a:solidFill>
          <a:ln w="12700">
            <a:solidFill>
              <a:srgbClr val="003D7C"/>
            </a:solidFill>
            <a:prstDash val="solid"/>
          </a:ln>
        </p:spPr>
        <p:txBody>
          <a:bodyPr/>
          <a:lstStyle/>
          <a:p>
            <a:endParaRPr lang="es-ES"/>
          </a:p>
        </p:txBody>
      </p:sp>
      <p:sp>
        <p:nvSpPr>
          <p:cNvPr id="25" name="Text 23"/>
          <p:cNvSpPr/>
          <p:nvPr/>
        </p:nvSpPr>
        <p:spPr>
          <a:xfrm>
            <a:off x="274320" y="4809744"/>
            <a:ext cx="8595360" cy="320040"/>
          </a:xfrm>
          <a:prstGeom prst="rect">
            <a:avLst/>
          </a:prstGeom>
          <a:noFill/>
          <a:ln/>
        </p:spPr>
        <p:txBody>
          <a:bodyPr wrap="square" rtlCol="0" anchor="ctr"/>
          <a:lstStyle/>
          <a:p>
            <a:pPr marL="0" indent="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 Trimestre 2026</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D7C"/>
          </a:solidFill>
          <a:ln w="12700">
            <a:solidFill>
              <a:srgbClr val="003D7C"/>
            </a:solidFill>
            <a:prstDash val="solid"/>
          </a:ln>
        </p:spPr>
        <p:txBody>
          <a:bodyPr/>
          <a:lstStyle/>
          <a:p>
            <a:endParaRPr lang="es-ES"/>
          </a:p>
        </p:txBody>
      </p:sp>
      <p:sp>
        <p:nvSpPr>
          <p:cNvPr id="3" name="Text 1"/>
          <p:cNvSpPr/>
          <p:nvPr/>
        </p:nvSpPr>
        <p:spPr>
          <a:xfrm>
            <a:off x="320040" y="0"/>
            <a:ext cx="4389120" cy="65836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[FASE 2]  EXPLORA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marL="0" indent="0">
              <a:buNone/>
            </a:pPr>
            <a:r>
              <a:rPr lang="en-US" sz="1100" i="1" dirty="0">
                <a:solidFill>
                  <a:srgbClr val="D0E4F5"/>
                </a:solidFill>
                <a:latin typeface="Calibri" pitchFamily="34" charset="0"/>
                <a:ea typeface="Calibri" pitchFamily="34" charset="-122"/>
                <a:cs typeface="Calibri" pitchFamily="34" charset="-120"/>
              </a:rPr>
              <a:t>— ¿Qué dice la Biblia?</a:t>
            </a:r>
            <a:endParaRPr lang="en-US" sz="1100" dirty="0"/>
          </a:p>
        </p:txBody>
      </p:sp>
      <p:sp>
        <p:nvSpPr>
          <p:cNvPr id="5" name="Shape 3"/>
          <p:cNvSpPr/>
          <p:nvPr/>
        </p:nvSpPr>
        <p:spPr>
          <a:xfrm>
            <a:off x="6995160" y="118872"/>
            <a:ext cx="1828800" cy="420624"/>
          </a:xfrm>
          <a:prstGeom prst="rect">
            <a:avLst/>
          </a:prstGeom>
          <a:solidFill>
            <a:srgbClr val="E87C1E"/>
          </a:solidFill>
          <a:ln w="12700">
            <a:solidFill>
              <a:srgbClr val="E87C1E"/>
            </a:solidFill>
            <a:prstDash val="solid"/>
          </a:ln>
        </p:spPr>
        <p:txBody>
          <a:bodyPr/>
          <a:lstStyle/>
          <a:p>
            <a:endParaRPr lang="es-ES"/>
          </a:p>
        </p:txBody>
      </p:sp>
      <p:sp>
        <p:nvSpPr>
          <p:cNvPr id="6" name="Text 4"/>
          <p:cNvSpPr/>
          <p:nvPr/>
        </p:nvSpPr>
        <p:spPr>
          <a:xfrm>
            <a:off x="6995160" y="118872"/>
            <a:ext cx="1828800" cy="42062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Tópico 3 de 3</a:t>
            </a:r>
            <a:endParaRPr lang="en-US" sz="900" dirty="0"/>
          </a:p>
        </p:txBody>
      </p:sp>
      <p:sp>
        <p:nvSpPr>
          <p:cNvPr id="7" name="Shape 5"/>
          <p:cNvSpPr/>
          <p:nvPr/>
        </p:nvSpPr>
        <p:spPr>
          <a:xfrm>
            <a:off x="228600" y="749808"/>
            <a:ext cx="2286000" cy="3931920"/>
          </a:xfrm>
          <a:prstGeom prst="rect">
            <a:avLst/>
          </a:prstGeom>
          <a:solidFill>
            <a:srgbClr val="003D7C"/>
          </a:solidFill>
          <a:ln w="12700">
            <a:solidFill>
              <a:srgbClr val="003D7C"/>
            </a:solidFill>
            <a:prstDash val="solid"/>
          </a:ln>
          <a:effectLst>
            <a:outerShdw blurRad="63500" dist="25400" dir="8100000" algn="bl" rotWithShape="0">
              <a:srgbClr val="000000">
                <a:alpha val="12000"/>
              </a:srgbClr>
            </a:outerShdw>
          </a:effectLst>
        </p:spPr>
        <p:txBody>
          <a:bodyPr/>
          <a:lstStyle/>
          <a:p>
            <a:endParaRPr lang="es-ES"/>
          </a:p>
        </p:txBody>
      </p:sp>
      <p:sp>
        <p:nvSpPr>
          <p:cNvPr id="8" name="Shape 6"/>
          <p:cNvSpPr/>
          <p:nvPr/>
        </p:nvSpPr>
        <p:spPr>
          <a:xfrm>
            <a:off x="228600" y="749808"/>
            <a:ext cx="2286000" cy="402336"/>
          </a:xfrm>
          <a:prstGeom prst="rect">
            <a:avLst/>
          </a:prstGeom>
          <a:solidFill>
            <a:srgbClr val="E87C1E"/>
          </a:solidFill>
          <a:ln w="12700">
            <a:solidFill>
              <a:srgbClr val="E87C1E"/>
            </a:solidFill>
            <a:prstDash val="solid"/>
          </a:ln>
        </p:spPr>
        <p:txBody>
          <a:bodyPr/>
          <a:lstStyle/>
          <a:p>
            <a:endParaRPr lang="es-ES"/>
          </a:p>
        </p:txBody>
      </p:sp>
      <p:sp>
        <p:nvSpPr>
          <p:cNvPr id="9" name="Text 7"/>
          <p:cNvSpPr/>
          <p:nvPr/>
        </p:nvSpPr>
        <p:spPr>
          <a:xfrm>
            <a:off x="320040" y="749808"/>
            <a:ext cx="2194560"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Tópico 3</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Permanecer Fieles: El Encargo Final</a:t>
            </a:r>
            <a:endParaRPr lang="en-US" sz="1300" dirty="0"/>
          </a:p>
          <a:p>
            <a:pPr marL="0" indent="0" algn="ctr">
              <a:buNone/>
            </a:pPr>
            <a:r>
              <a:rPr lang="en-US" sz="600" dirty="0">
                <a:solidFill>
                  <a:srgbClr val="000000"/>
                </a:solidFill>
              </a:rPr>
              <a:t>
</a:t>
            </a:r>
            <a:endParaRPr lang="en-US" sz="1300" dirty="0"/>
          </a:p>
          <a:p>
            <a:pPr marL="0" indent="0" algn="ctr">
              <a:buNone/>
            </a:pPr>
            <a:r>
              <a:rPr lang="en-US" sz="1100" i="1" dirty="0">
                <a:solidFill>
                  <a:srgbClr val="D0E4F5"/>
                </a:solidFill>
                <a:latin typeface="Calibri" pitchFamily="34" charset="0"/>
                <a:ea typeface="Calibri" pitchFamily="34" charset="-122"/>
                <a:cs typeface="Calibri" pitchFamily="34" charset="-120"/>
              </a:rPr>
              <a:t>Pablo cierra Colosenses con instrucciones sobre el intercambio de cartas, el encargo a Arquipo y su firma personal desde prisión. Es un llamado urgente a cumplir el ministerio recibido y a elegir conscientemente el reino de Dios sobre el mundo.</a:t>
            </a:r>
            <a:endParaRPr lang="en-US" sz="1300" dirty="0"/>
          </a:p>
          <a:p>
            <a:pPr marL="0" indent="0" algn="ctr">
              <a:buNone/>
            </a:pPr>
            <a:r>
              <a:rPr lang="en-US" sz="600" dirty="0">
                <a:solidFill>
                  <a:srgbClr val="000000"/>
                </a:solidFill>
              </a:rPr>
              <a:t>
</a:t>
            </a:r>
            <a:endParaRPr lang="en-US" sz="1300" dirty="0"/>
          </a:p>
          <a:p>
            <a:pPr marL="0" indent="0" algn="ctr">
              <a:buNone/>
            </a:pPr>
            <a:r>
              <a:rPr lang="en-US" sz="1200" b="1" dirty="0">
                <a:solidFill>
                  <a:srgbClr val="E87C1E"/>
                </a:solidFill>
                <a:latin typeface="Calibri" pitchFamily="34" charset="0"/>
                <a:ea typeface="Calibri" pitchFamily="34" charset="-122"/>
                <a:cs typeface="Calibri" pitchFamily="34" charset="-120"/>
              </a:rPr>
              <a:t>Colosenses 4:16–18</a:t>
            </a:r>
            <a:endParaRPr lang="en-US" sz="130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blurRad="63500" dist="25400" dir="8100000" algn="bl" rotWithShape="0">
              <a:srgbClr val="000000">
                <a:alpha val="12000"/>
              </a:srgbClr>
            </a:outerShdw>
          </a:effectLst>
        </p:spPr>
        <p:txBody>
          <a:bodyPr/>
          <a:lstStyle/>
          <a:p>
            <a:endParaRPr lang="es-ES"/>
          </a:p>
        </p:txBody>
      </p:sp>
      <p:sp>
        <p:nvSpPr>
          <p:cNvPr id="12" name="Shape 10"/>
          <p:cNvSpPr/>
          <p:nvPr/>
        </p:nvSpPr>
        <p:spPr>
          <a:xfrm>
            <a:off x="2606040" y="749808"/>
            <a:ext cx="6309360" cy="1310640"/>
          </a:xfrm>
          <a:prstGeom prst="rect">
            <a:avLst/>
          </a:prstGeom>
          <a:solidFill>
            <a:srgbClr val="F4F6F9"/>
          </a:solidFill>
          <a:ln w="12700">
            <a:solidFill>
              <a:srgbClr val="CBD5E1"/>
            </a:solidFill>
            <a:prstDash val="solid"/>
          </a:ln>
        </p:spPr>
        <p:txBody>
          <a:bodyPr/>
          <a:lstStyle/>
          <a:p>
            <a:endParaRPr lang="es-ES"/>
          </a:p>
        </p:txBody>
      </p:sp>
      <p:sp>
        <p:nvSpPr>
          <p:cNvPr id="13" name="Shape 11"/>
          <p:cNvSpPr/>
          <p:nvPr/>
        </p:nvSpPr>
        <p:spPr>
          <a:xfrm>
            <a:off x="2743200" y="1322832"/>
            <a:ext cx="164592" cy="164592"/>
          </a:xfrm>
          <a:prstGeom prst="ellipse">
            <a:avLst/>
          </a:prstGeom>
          <a:solidFill>
            <a:srgbClr val="E87C1E"/>
          </a:solidFill>
          <a:ln w="12700">
            <a:solidFill>
              <a:srgbClr val="E87C1E"/>
            </a:solidFill>
            <a:prstDash val="solid"/>
          </a:ln>
        </p:spPr>
        <p:txBody>
          <a:bodyPr/>
          <a:lstStyle/>
          <a:p>
            <a:endParaRPr lang="es-ES"/>
          </a:p>
        </p:txBody>
      </p:sp>
      <p:sp>
        <p:nvSpPr>
          <p:cNvPr id="14" name="Text 12"/>
          <p:cNvSpPr/>
          <p:nvPr/>
        </p:nvSpPr>
        <p:spPr>
          <a:xfrm>
            <a:off x="2971800" y="841248"/>
            <a:ext cx="5833872" cy="1146048"/>
          </a:xfrm>
          <a:prstGeom prst="rect">
            <a:avLst/>
          </a:prstGeom>
          <a:noFill/>
          <a:ln/>
        </p:spPr>
        <p:txBody>
          <a:bodyPr wrap="square" rtlCol="0" anchor="ctr"/>
          <a:lstStyle/>
          <a:p>
            <a:pPr marL="0" indent="0">
              <a:buNone/>
            </a:pPr>
            <a:r>
              <a:rPr lang="en-US" sz="1150" b="1" i="1" dirty="0">
                <a:solidFill>
                  <a:srgbClr val="E87C1E"/>
                </a:solidFill>
                <a:latin typeface="Calibri" pitchFamily="34" charset="0"/>
                <a:ea typeface="Calibri" pitchFamily="34" charset="-122"/>
                <a:cs typeface="Calibri" pitchFamily="34" charset="-120"/>
              </a:rPr>
              <a:t>Col. 4:16  —  </a:t>
            </a:r>
            <a:r>
              <a:rPr lang="en-US" sz="1150" b="1" dirty="0">
                <a:solidFill>
                  <a:srgbClr val="003D7C"/>
                </a:solidFill>
                <a:latin typeface="Calibri" pitchFamily="34" charset="0"/>
                <a:ea typeface="Calibri" pitchFamily="34" charset="-122"/>
                <a:cs typeface="Calibri" pitchFamily="34" charset="-120"/>
              </a:rPr>
              <a:t>Compartir la Palabra entre las iglesias: </a:t>
            </a:r>
            <a:r>
              <a:rPr lang="en-US" sz="1150" dirty="0">
                <a:solidFill>
                  <a:srgbClr val="1A1A1A"/>
                </a:solidFill>
                <a:latin typeface="Calibri" pitchFamily="34" charset="0"/>
                <a:ea typeface="Calibri" pitchFamily="34" charset="-122"/>
                <a:cs typeface="Calibri" pitchFamily="34" charset="-120"/>
              </a:rPr>
              <a:t>La Palabra de Dios no es propiedad privada de una congregación: fue dada para alimentar a toda la iglesia y mantenerla unida en la verdad.</a:t>
            </a:r>
            <a:endParaRPr lang="en-US" sz="1150" dirty="0"/>
          </a:p>
        </p:txBody>
      </p:sp>
      <p:sp>
        <p:nvSpPr>
          <p:cNvPr id="15" name="Shape 13"/>
          <p:cNvSpPr/>
          <p:nvPr/>
        </p:nvSpPr>
        <p:spPr>
          <a:xfrm>
            <a:off x="2606040" y="2060448"/>
            <a:ext cx="6309360" cy="1310640"/>
          </a:xfrm>
          <a:prstGeom prst="rect">
            <a:avLst/>
          </a:prstGeom>
          <a:solidFill>
            <a:srgbClr val="EBF3FB"/>
          </a:solidFill>
          <a:ln w="12700">
            <a:solidFill>
              <a:srgbClr val="CBD5E1"/>
            </a:solidFill>
            <a:prstDash val="solid"/>
          </a:ln>
        </p:spPr>
        <p:txBody>
          <a:bodyPr/>
          <a:lstStyle/>
          <a:p>
            <a:endParaRPr lang="es-ES"/>
          </a:p>
        </p:txBody>
      </p:sp>
      <p:sp>
        <p:nvSpPr>
          <p:cNvPr id="16" name="Shape 14"/>
          <p:cNvSpPr/>
          <p:nvPr/>
        </p:nvSpPr>
        <p:spPr>
          <a:xfrm>
            <a:off x="2743200" y="2633472"/>
            <a:ext cx="164592" cy="164592"/>
          </a:xfrm>
          <a:prstGeom prst="ellipse">
            <a:avLst/>
          </a:prstGeom>
          <a:solidFill>
            <a:srgbClr val="E87C1E"/>
          </a:solidFill>
          <a:ln w="12700">
            <a:solidFill>
              <a:srgbClr val="E87C1E"/>
            </a:solidFill>
            <a:prstDash val="solid"/>
          </a:ln>
        </p:spPr>
        <p:txBody>
          <a:bodyPr/>
          <a:lstStyle/>
          <a:p>
            <a:endParaRPr lang="es-ES"/>
          </a:p>
        </p:txBody>
      </p:sp>
      <p:sp>
        <p:nvSpPr>
          <p:cNvPr id="17" name="Text 15"/>
          <p:cNvSpPr/>
          <p:nvPr/>
        </p:nvSpPr>
        <p:spPr>
          <a:xfrm>
            <a:off x="2971800" y="2151888"/>
            <a:ext cx="5833872" cy="1146048"/>
          </a:xfrm>
          <a:prstGeom prst="rect">
            <a:avLst/>
          </a:prstGeom>
          <a:noFill/>
          <a:ln/>
        </p:spPr>
        <p:txBody>
          <a:bodyPr wrap="square" rtlCol="0" anchor="ctr"/>
          <a:lstStyle/>
          <a:p>
            <a:pPr marL="0" indent="0">
              <a:buNone/>
            </a:pPr>
            <a:r>
              <a:rPr lang="en-US" sz="1150" b="1" i="1" dirty="0">
                <a:solidFill>
                  <a:srgbClr val="E87C1E"/>
                </a:solidFill>
                <a:latin typeface="Calibri" pitchFamily="34" charset="0"/>
                <a:ea typeface="Calibri" pitchFamily="34" charset="-122"/>
                <a:cs typeface="Calibri" pitchFamily="34" charset="-120"/>
              </a:rPr>
              <a:t>Col. 4:17  —  </a:t>
            </a:r>
            <a:r>
              <a:rPr lang="en-US" sz="1150" b="1" dirty="0">
                <a:solidFill>
                  <a:srgbClr val="003D7C"/>
                </a:solidFill>
                <a:latin typeface="Calibri" pitchFamily="34" charset="0"/>
                <a:ea typeface="Calibri" pitchFamily="34" charset="-122"/>
                <a:cs typeface="Calibri" pitchFamily="34" charset="-120"/>
              </a:rPr>
              <a:t>Arquipo: cumple el ministerio que recibiste: </a:t>
            </a:r>
            <a:r>
              <a:rPr lang="en-US" sz="1150" dirty="0">
                <a:solidFill>
                  <a:srgbClr val="1A1A1A"/>
                </a:solidFill>
                <a:latin typeface="Calibri" pitchFamily="34" charset="0"/>
                <a:ea typeface="Calibri" pitchFamily="34" charset="-122"/>
                <a:cs typeface="Calibri" pitchFamily="34" charset="-120"/>
              </a:rPr>
              <a:t>No hay ministerio pequeño ante Dios. Cada llamado es sagrado, y el encargo divino no caduca por las circunstancias ni por la presión del entorno.</a:t>
            </a:r>
            <a:endParaRPr lang="en-US" sz="1150" dirty="0"/>
          </a:p>
        </p:txBody>
      </p:sp>
      <p:sp>
        <p:nvSpPr>
          <p:cNvPr id="18" name="Shape 16"/>
          <p:cNvSpPr/>
          <p:nvPr/>
        </p:nvSpPr>
        <p:spPr>
          <a:xfrm>
            <a:off x="2606040" y="3371088"/>
            <a:ext cx="6309360" cy="1310640"/>
          </a:xfrm>
          <a:prstGeom prst="rect">
            <a:avLst/>
          </a:prstGeom>
          <a:solidFill>
            <a:srgbClr val="F4F6F9"/>
          </a:solidFill>
          <a:ln w="12700">
            <a:solidFill>
              <a:srgbClr val="CBD5E1"/>
            </a:solidFill>
            <a:prstDash val="solid"/>
          </a:ln>
        </p:spPr>
        <p:txBody>
          <a:bodyPr/>
          <a:lstStyle/>
          <a:p>
            <a:endParaRPr lang="es-ES"/>
          </a:p>
        </p:txBody>
      </p:sp>
      <p:sp>
        <p:nvSpPr>
          <p:cNvPr id="19" name="Shape 17"/>
          <p:cNvSpPr/>
          <p:nvPr/>
        </p:nvSpPr>
        <p:spPr>
          <a:xfrm>
            <a:off x="2743200" y="3944112"/>
            <a:ext cx="164592" cy="164592"/>
          </a:xfrm>
          <a:prstGeom prst="ellipse">
            <a:avLst/>
          </a:prstGeom>
          <a:solidFill>
            <a:srgbClr val="E87C1E"/>
          </a:solidFill>
          <a:ln w="12700">
            <a:solidFill>
              <a:srgbClr val="E87C1E"/>
            </a:solidFill>
            <a:prstDash val="solid"/>
          </a:ln>
        </p:spPr>
        <p:txBody>
          <a:bodyPr/>
          <a:lstStyle/>
          <a:p>
            <a:endParaRPr lang="es-ES"/>
          </a:p>
        </p:txBody>
      </p:sp>
      <p:sp>
        <p:nvSpPr>
          <p:cNvPr id="20" name="Text 18"/>
          <p:cNvSpPr/>
          <p:nvPr/>
        </p:nvSpPr>
        <p:spPr>
          <a:xfrm>
            <a:off x="2971800" y="3462528"/>
            <a:ext cx="5833872" cy="1146048"/>
          </a:xfrm>
          <a:prstGeom prst="rect">
            <a:avLst/>
          </a:prstGeom>
          <a:noFill/>
          <a:ln/>
        </p:spPr>
        <p:txBody>
          <a:bodyPr wrap="square" rtlCol="0" anchor="ctr"/>
          <a:lstStyle/>
          <a:p>
            <a:pPr marL="0" indent="0">
              <a:buNone/>
            </a:pPr>
            <a:r>
              <a:rPr lang="en-US" sz="1150" b="1" i="1" dirty="0">
                <a:solidFill>
                  <a:srgbClr val="E87C1E"/>
                </a:solidFill>
                <a:latin typeface="Calibri" pitchFamily="34" charset="0"/>
                <a:ea typeface="Calibri" pitchFamily="34" charset="-122"/>
                <a:cs typeface="Calibri" pitchFamily="34" charset="-120"/>
              </a:rPr>
              <a:t>Col. 4:18  —  </a:t>
            </a:r>
            <a:r>
              <a:rPr lang="en-US" sz="1150" b="1" dirty="0">
                <a:solidFill>
                  <a:srgbClr val="003D7C"/>
                </a:solidFill>
                <a:latin typeface="Calibri" pitchFamily="34" charset="0"/>
                <a:ea typeface="Calibri" pitchFamily="34" charset="-122"/>
                <a:cs typeface="Calibri" pitchFamily="34" charset="-120"/>
              </a:rPr>
              <a:t>La firma desde la prisión: la gracia vence las cadenas: </a:t>
            </a:r>
            <a:r>
              <a:rPr lang="en-US" sz="1150" dirty="0">
                <a:solidFill>
                  <a:srgbClr val="1A1A1A"/>
                </a:solidFill>
                <a:latin typeface="Calibri" pitchFamily="34" charset="0"/>
                <a:ea typeface="Calibri" pitchFamily="34" charset="-122"/>
                <a:cs typeface="Calibri" pitchFamily="34" charset="-120"/>
              </a:rPr>
              <a:t>Pablo escribe desde la cárcel. Pide que recuerden sus prisiones para que sus palabras tengan el peso de quien las vive. Su último deseo es que la gracia de Dios esté con ellos.</a:t>
            </a:r>
            <a:endParaRPr lang="en-US" sz="1150" dirty="0"/>
          </a:p>
        </p:txBody>
      </p:sp>
      <p:sp>
        <p:nvSpPr>
          <p:cNvPr id="21" name="Shape 19"/>
          <p:cNvSpPr/>
          <p:nvPr/>
        </p:nvSpPr>
        <p:spPr>
          <a:xfrm>
            <a:off x="0" y="4800600"/>
            <a:ext cx="9144000" cy="342900"/>
          </a:xfrm>
          <a:prstGeom prst="rect">
            <a:avLst/>
          </a:prstGeom>
          <a:solidFill>
            <a:srgbClr val="003D7C"/>
          </a:solidFill>
          <a:ln w="12700">
            <a:solidFill>
              <a:srgbClr val="003D7C"/>
            </a:solidFill>
            <a:prstDash val="solid"/>
          </a:ln>
        </p:spPr>
        <p:txBody>
          <a:bodyPr/>
          <a:lstStyle/>
          <a:p>
            <a:endParaRPr lang="es-ES"/>
          </a:p>
        </p:txBody>
      </p:sp>
      <p:sp>
        <p:nvSpPr>
          <p:cNvPr id="22" name="Text 20"/>
          <p:cNvSpPr/>
          <p:nvPr/>
        </p:nvSpPr>
        <p:spPr>
          <a:xfrm>
            <a:off x="274320" y="4809744"/>
            <a:ext cx="8595360" cy="320040"/>
          </a:xfrm>
          <a:prstGeom prst="rect">
            <a:avLst/>
          </a:prstGeom>
          <a:noFill/>
          <a:ln/>
        </p:spPr>
        <p:txBody>
          <a:bodyPr wrap="square" rtlCol="0" anchor="ctr"/>
          <a:lstStyle/>
          <a:p>
            <a:pPr marL="0" indent="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 Trimestre 2026</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46B44"/>
          </a:solidFill>
          <a:ln w="12700">
            <a:solidFill>
              <a:srgbClr val="146B44"/>
            </a:solidFill>
            <a:prstDash val="solid"/>
          </a:ln>
        </p:spPr>
        <p:txBody>
          <a:bodyPr/>
          <a:lstStyle/>
          <a:p>
            <a:endParaRPr lang="es-ES"/>
          </a:p>
        </p:txBody>
      </p:sp>
      <p:sp>
        <p:nvSpPr>
          <p:cNvPr id="3" name="Text 1"/>
          <p:cNvSpPr/>
          <p:nvPr/>
        </p:nvSpPr>
        <p:spPr>
          <a:xfrm>
            <a:off x="320040" y="0"/>
            <a:ext cx="4389120" cy="65836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[FASE 3]  APLICA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marL="0" indent="0">
              <a:buNone/>
            </a:pPr>
            <a:r>
              <a:rPr lang="en-US" sz="1100" i="1" dirty="0">
                <a:solidFill>
                  <a:srgbClr val="C8ECD4"/>
                </a:solidFill>
                <a:latin typeface="Calibri" pitchFamily="34" charset="0"/>
                <a:ea typeface="Calibri" pitchFamily="34" charset="-122"/>
                <a:cs typeface="Calibri" pitchFamily="34" charset="-120"/>
              </a:rPr>
              <a:t>— Reflexión personal:</a:t>
            </a:r>
            <a:endParaRPr lang="en-US" sz="1100" dirty="0"/>
          </a:p>
        </p:txBody>
      </p:sp>
      <p:sp>
        <p:nvSpPr>
          <p:cNvPr id="5" name="Shape 3"/>
          <p:cNvSpPr/>
          <p:nvPr/>
        </p:nvSpPr>
        <p:spPr>
          <a:xfrm>
            <a:off x="228600" y="768096"/>
            <a:ext cx="8686800" cy="1325880"/>
          </a:xfrm>
          <a:prstGeom prst="rect">
            <a:avLst/>
          </a:prstGeom>
          <a:solidFill>
            <a:srgbClr val="EAF7EF"/>
          </a:solidFill>
          <a:ln w="12700">
            <a:solidFill>
              <a:srgbClr val="88C5A0"/>
            </a:solidFill>
            <a:prstDash val="solid"/>
          </a:ln>
          <a:effectLst>
            <a:outerShdw blurRad="63500" dist="25400" dir="8100000" algn="bl" rotWithShape="0">
              <a:srgbClr val="000000">
                <a:alpha val="12000"/>
              </a:srgbClr>
            </a:outerShdw>
          </a:effectLst>
        </p:spPr>
        <p:txBody>
          <a:bodyPr/>
          <a:lstStyle/>
          <a:p>
            <a:endParaRPr lang="es-ES"/>
          </a:p>
        </p:txBody>
      </p:sp>
      <p:sp>
        <p:nvSpPr>
          <p:cNvPr id="6" name="Shape 4"/>
          <p:cNvSpPr/>
          <p:nvPr/>
        </p:nvSpPr>
        <p:spPr>
          <a:xfrm>
            <a:off x="228600" y="768096"/>
            <a:ext cx="128016" cy="1325880"/>
          </a:xfrm>
          <a:prstGeom prst="rect">
            <a:avLst/>
          </a:prstGeom>
          <a:solidFill>
            <a:srgbClr val="146B44"/>
          </a:solidFill>
          <a:ln w="12700">
            <a:solidFill>
              <a:srgbClr val="146B44"/>
            </a:solidFill>
            <a:prstDash val="solid"/>
          </a:ln>
        </p:spPr>
        <p:txBody>
          <a:bodyPr/>
          <a:lstStyle/>
          <a:p>
            <a:endParaRPr lang="es-ES"/>
          </a:p>
        </p:txBody>
      </p:sp>
      <p:sp>
        <p:nvSpPr>
          <p:cNvPr id="7" name="Text 5"/>
          <p:cNvSpPr/>
          <p:nvPr/>
        </p:nvSpPr>
        <p:spPr>
          <a:xfrm>
            <a:off x="402336" y="822960"/>
            <a:ext cx="347472" cy="329184"/>
          </a:xfrm>
          <a:prstGeom prst="rect">
            <a:avLst/>
          </a:prstGeom>
          <a:noFill/>
          <a:ln/>
        </p:spPr>
        <p:txBody>
          <a:bodyPr wrap="square" rtlCol="0" anchor="ctr"/>
          <a:lstStyle/>
          <a:p>
            <a:pPr marL="0" indent="0">
              <a:buNone/>
            </a:pPr>
            <a:r>
              <a:rPr lang="en-US" sz="1400" dirty="0">
                <a:solidFill>
                  <a:srgbClr val="146B44"/>
                </a:solidFill>
              </a:rPr>
              <a:t>✶</a:t>
            </a:r>
            <a:endParaRPr lang="en-US" sz="1400" dirty="0"/>
          </a:p>
        </p:txBody>
      </p:sp>
      <p:sp>
        <p:nvSpPr>
          <p:cNvPr id="8" name="Text 6"/>
          <p:cNvSpPr/>
          <p:nvPr/>
        </p:nvSpPr>
        <p:spPr>
          <a:xfrm>
            <a:off x="749808" y="795528"/>
            <a:ext cx="8046720" cy="960120"/>
          </a:xfrm>
          <a:prstGeom prst="rect">
            <a:avLst/>
          </a:prstGeom>
          <a:noFill/>
          <a:ln/>
        </p:spPr>
        <p:txBody>
          <a:bodyPr wrap="square" rtlCol="0" anchor="ctr"/>
          <a:lstStyle/>
          <a:p>
            <a:pPr marL="0" indent="0">
              <a:buNone/>
            </a:pPr>
            <a:r>
              <a:rPr lang="en-US" sz="1350" i="1" dirty="0">
                <a:solidFill>
                  <a:srgbClr val="1A1A1A"/>
                </a:solidFill>
                <a:latin typeface="Calibri" pitchFamily="34" charset="0"/>
                <a:ea typeface="Calibri" pitchFamily="34" charset="-122"/>
                <a:cs typeface="Calibri" pitchFamily="34" charset="-120"/>
              </a:rPr>
              <a:t>"El alma que se entrega a Cristo llega a ser una fortaleza suya, que él sostiene en un mundo en rebelión. Sin una conexión vital con Dios a través de nuestra entrega a él momento tras momento, seremos vencidos."</a:t>
            </a:r>
            <a:endParaRPr lang="en-US" sz="1350" dirty="0"/>
          </a:p>
        </p:txBody>
      </p:sp>
      <p:sp>
        <p:nvSpPr>
          <p:cNvPr id="9" name="Text 7"/>
          <p:cNvSpPr/>
          <p:nvPr/>
        </p:nvSpPr>
        <p:spPr>
          <a:xfrm>
            <a:off x="749808" y="1755648"/>
            <a:ext cx="8046720" cy="256032"/>
          </a:xfrm>
          <a:prstGeom prst="rect">
            <a:avLst/>
          </a:prstGeom>
          <a:noFill/>
          <a:ln/>
        </p:spPr>
        <p:txBody>
          <a:bodyPr wrap="square" rtlCol="0" anchor="ctr"/>
          <a:lstStyle/>
          <a:p>
            <a:pPr marL="0" indent="0" algn="r">
              <a:buNone/>
            </a:pPr>
            <a:r>
              <a:rPr lang="en-US" sz="1050" i="1" dirty="0">
                <a:solidFill>
                  <a:srgbClr val="146B44"/>
                </a:solidFill>
                <a:latin typeface="Calibri" pitchFamily="34" charset="0"/>
                <a:ea typeface="Calibri" pitchFamily="34" charset="-122"/>
                <a:cs typeface="Calibri" pitchFamily="34" charset="-120"/>
              </a:rPr>
              <a:t>— Elena de White, El Deseado de todas las gentes, p. 291</a:t>
            </a:r>
            <a:endParaRPr lang="en-US" sz="1050" dirty="0"/>
          </a:p>
        </p:txBody>
      </p:sp>
      <p:sp>
        <p:nvSpPr>
          <p:cNvPr id="10" name="Shape 8"/>
          <p:cNvSpPr/>
          <p:nvPr/>
        </p:nvSpPr>
        <p:spPr>
          <a:xfrm>
            <a:off x="228600" y="2148840"/>
            <a:ext cx="8686800" cy="832104"/>
          </a:xfrm>
          <a:prstGeom prst="rect">
            <a:avLst/>
          </a:prstGeom>
          <a:solidFill>
            <a:srgbClr val="FFFFFF"/>
          </a:solidFill>
          <a:ln w="12700">
            <a:solidFill>
              <a:srgbClr val="88C5A0"/>
            </a:solidFill>
            <a:prstDash val="solid"/>
          </a:ln>
          <a:effectLst>
            <a:outerShdw blurRad="63500" dist="25400" dir="8100000" algn="bl" rotWithShape="0">
              <a:srgbClr val="000000">
                <a:alpha val="12000"/>
              </a:srgbClr>
            </a:outerShdw>
          </a:effectLst>
        </p:spPr>
        <p:txBody>
          <a:bodyPr/>
          <a:lstStyle/>
          <a:p>
            <a:endParaRPr lang="es-ES"/>
          </a:p>
        </p:txBody>
      </p:sp>
      <p:sp>
        <p:nvSpPr>
          <p:cNvPr id="11" name="Shape 9"/>
          <p:cNvSpPr/>
          <p:nvPr/>
        </p:nvSpPr>
        <p:spPr>
          <a:xfrm>
            <a:off x="228600" y="2148840"/>
            <a:ext cx="128016" cy="832104"/>
          </a:xfrm>
          <a:prstGeom prst="rect">
            <a:avLst/>
          </a:prstGeom>
          <a:solidFill>
            <a:srgbClr val="146B44"/>
          </a:solidFill>
          <a:ln w="12700">
            <a:solidFill>
              <a:srgbClr val="146B44"/>
            </a:solidFill>
            <a:prstDash val="solid"/>
          </a:ln>
        </p:spPr>
        <p:txBody>
          <a:bodyPr/>
          <a:lstStyle/>
          <a:p>
            <a:endParaRPr lang="es-ES"/>
          </a:p>
        </p:txBody>
      </p:sp>
      <p:sp>
        <p:nvSpPr>
          <p:cNvPr id="12" name="Text 10"/>
          <p:cNvSpPr/>
          <p:nvPr/>
        </p:nvSpPr>
        <p:spPr>
          <a:xfrm>
            <a:off x="420624" y="2221992"/>
            <a:ext cx="8366760" cy="722376"/>
          </a:xfrm>
          <a:prstGeom prst="rect">
            <a:avLst/>
          </a:prstGeom>
          <a:noFill/>
          <a:ln/>
        </p:spPr>
        <p:txBody>
          <a:bodyPr wrap="square" rtlCol="0" anchor="ctr"/>
          <a:lstStyle/>
          <a:p>
            <a:pPr marL="0" indent="0">
              <a:buNone/>
            </a:pPr>
            <a:r>
              <a:rPr lang="en-US" sz="1400" b="1" dirty="0">
                <a:solidFill>
                  <a:srgbClr val="146B44"/>
                </a:solidFill>
                <a:latin typeface="Calibri" pitchFamily="34" charset="0"/>
                <a:ea typeface="Calibri" pitchFamily="34" charset="-122"/>
                <a:cs typeface="Calibri" pitchFamily="34" charset="-120"/>
              </a:rPr>
              <a:t>1.  </a:t>
            </a:r>
            <a:r>
              <a:rPr lang="en-US" sz="1300" b="1" dirty="0">
                <a:solidFill>
                  <a:srgbClr val="1A1A1A"/>
                </a:solidFill>
                <a:latin typeface="Calibri" pitchFamily="34" charset="0"/>
                <a:ea typeface="Calibri" pitchFamily="34" charset="-122"/>
                <a:cs typeface="Calibri" pitchFamily="34" charset="-120"/>
              </a:rPr>
              <a:t>¿Qué persona o grupo de personas en tu iglesia o comunidad podrías comenzar a sostener como colaborador en la misión, aunque aún no lo hayas considerado así?</a:t>
            </a:r>
            <a:endParaRPr lang="en-US" sz="1400" dirty="0"/>
          </a:p>
        </p:txBody>
      </p:sp>
      <p:sp>
        <p:nvSpPr>
          <p:cNvPr id="13" name="Shape 11"/>
          <p:cNvSpPr/>
          <p:nvPr/>
        </p:nvSpPr>
        <p:spPr>
          <a:xfrm>
            <a:off x="228600" y="3017520"/>
            <a:ext cx="8686800" cy="832104"/>
          </a:xfrm>
          <a:prstGeom prst="rect">
            <a:avLst/>
          </a:prstGeom>
          <a:solidFill>
            <a:srgbClr val="EAF7EF"/>
          </a:solidFill>
          <a:ln w="12700">
            <a:solidFill>
              <a:srgbClr val="88C5A0"/>
            </a:solidFill>
            <a:prstDash val="solid"/>
          </a:ln>
          <a:effectLst>
            <a:outerShdw blurRad="63500" dist="25400" dir="8100000" algn="bl" rotWithShape="0">
              <a:srgbClr val="000000">
                <a:alpha val="12000"/>
              </a:srgbClr>
            </a:outerShdw>
          </a:effectLst>
        </p:spPr>
        <p:txBody>
          <a:bodyPr/>
          <a:lstStyle/>
          <a:p>
            <a:endParaRPr lang="es-ES"/>
          </a:p>
        </p:txBody>
      </p:sp>
      <p:sp>
        <p:nvSpPr>
          <p:cNvPr id="14" name="Shape 12"/>
          <p:cNvSpPr/>
          <p:nvPr/>
        </p:nvSpPr>
        <p:spPr>
          <a:xfrm>
            <a:off x="228600" y="3017520"/>
            <a:ext cx="128016" cy="832104"/>
          </a:xfrm>
          <a:prstGeom prst="rect">
            <a:avLst/>
          </a:prstGeom>
          <a:solidFill>
            <a:srgbClr val="146B44"/>
          </a:solidFill>
          <a:ln w="12700">
            <a:solidFill>
              <a:srgbClr val="146B44"/>
            </a:solidFill>
            <a:prstDash val="solid"/>
          </a:ln>
        </p:spPr>
        <p:txBody>
          <a:bodyPr/>
          <a:lstStyle/>
          <a:p>
            <a:endParaRPr lang="es-ES"/>
          </a:p>
        </p:txBody>
      </p:sp>
      <p:sp>
        <p:nvSpPr>
          <p:cNvPr id="15" name="Text 13"/>
          <p:cNvSpPr/>
          <p:nvPr/>
        </p:nvSpPr>
        <p:spPr>
          <a:xfrm>
            <a:off x="420624" y="3090672"/>
            <a:ext cx="8366760" cy="722376"/>
          </a:xfrm>
          <a:prstGeom prst="rect">
            <a:avLst/>
          </a:prstGeom>
          <a:noFill/>
          <a:ln/>
        </p:spPr>
        <p:txBody>
          <a:bodyPr wrap="square" rtlCol="0" anchor="ctr"/>
          <a:lstStyle/>
          <a:p>
            <a:pPr marL="0" indent="0">
              <a:buNone/>
            </a:pPr>
            <a:r>
              <a:rPr lang="en-US" sz="1400" b="1" dirty="0">
                <a:solidFill>
                  <a:srgbClr val="146B44"/>
                </a:solidFill>
                <a:latin typeface="Calibri" pitchFamily="34" charset="0"/>
                <a:ea typeface="Calibri" pitchFamily="34" charset="-122"/>
                <a:cs typeface="Calibri" pitchFamily="34" charset="-120"/>
              </a:rPr>
              <a:t>2.  </a:t>
            </a:r>
            <a:r>
              <a:rPr lang="en-US" sz="1300" b="1" dirty="0">
                <a:solidFill>
                  <a:srgbClr val="1A1A1A"/>
                </a:solidFill>
                <a:latin typeface="Calibri" pitchFamily="34" charset="0"/>
                <a:ea typeface="Calibri" pitchFamily="34" charset="-122"/>
                <a:cs typeface="Calibri" pitchFamily="34" charset="-120"/>
              </a:rPr>
              <a:t>¿Por quiénes estás orando actualmente con la misma intensidad y visión espiritual con que Epafras oraba —pidiendo firmeza, madurez y plenitud en la voluntad de Dios?</a:t>
            </a:r>
            <a:endParaRPr lang="en-US" sz="1400" dirty="0"/>
          </a:p>
        </p:txBody>
      </p:sp>
      <p:sp>
        <p:nvSpPr>
          <p:cNvPr id="16" name="Shape 14"/>
          <p:cNvSpPr/>
          <p:nvPr/>
        </p:nvSpPr>
        <p:spPr>
          <a:xfrm>
            <a:off x="228600" y="3886200"/>
            <a:ext cx="8686800" cy="832104"/>
          </a:xfrm>
          <a:prstGeom prst="rect">
            <a:avLst/>
          </a:prstGeom>
          <a:solidFill>
            <a:srgbClr val="FFFFFF"/>
          </a:solidFill>
          <a:ln w="12700">
            <a:solidFill>
              <a:srgbClr val="88C5A0"/>
            </a:solidFill>
            <a:prstDash val="solid"/>
          </a:ln>
          <a:effectLst>
            <a:outerShdw blurRad="63500" dist="25400" dir="8100000" algn="bl" rotWithShape="0">
              <a:srgbClr val="000000">
                <a:alpha val="12000"/>
              </a:srgbClr>
            </a:outerShdw>
          </a:effectLst>
        </p:spPr>
        <p:txBody>
          <a:bodyPr/>
          <a:lstStyle/>
          <a:p>
            <a:endParaRPr lang="es-ES"/>
          </a:p>
        </p:txBody>
      </p:sp>
      <p:sp>
        <p:nvSpPr>
          <p:cNvPr id="17" name="Shape 15"/>
          <p:cNvSpPr/>
          <p:nvPr/>
        </p:nvSpPr>
        <p:spPr>
          <a:xfrm>
            <a:off x="228600" y="3886200"/>
            <a:ext cx="128016" cy="832104"/>
          </a:xfrm>
          <a:prstGeom prst="rect">
            <a:avLst/>
          </a:prstGeom>
          <a:solidFill>
            <a:srgbClr val="146B44"/>
          </a:solidFill>
          <a:ln w="12700">
            <a:solidFill>
              <a:srgbClr val="146B44"/>
            </a:solidFill>
            <a:prstDash val="solid"/>
          </a:ln>
        </p:spPr>
        <p:txBody>
          <a:bodyPr/>
          <a:lstStyle/>
          <a:p>
            <a:endParaRPr lang="es-ES"/>
          </a:p>
        </p:txBody>
      </p:sp>
      <p:sp>
        <p:nvSpPr>
          <p:cNvPr id="18" name="Text 16"/>
          <p:cNvSpPr/>
          <p:nvPr/>
        </p:nvSpPr>
        <p:spPr>
          <a:xfrm>
            <a:off x="420624" y="3959352"/>
            <a:ext cx="8366760" cy="722376"/>
          </a:xfrm>
          <a:prstGeom prst="rect">
            <a:avLst/>
          </a:prstGeom>
          <a:noFill/>
          <a:ln/>
        </p:spPr>
        <p:txBody>
          <a:bodyPr wrap="square" rtlCol="0" anchor="ctr"/>
          <a:lstStyle/>
          <a:p>
            <a:pPr marL="0" indent="0">
              <a:buNone/>
            </a:pPr>
            <a:r>
              <a:rPr lang="en-US" sz="1400" b="1" dirty="0">
                <a:solidFill>
                  <a:srgbClr val="146B44"/>
                </a:solidFill>
                <a:latin typeface="Calibri" pitchFamily="34" charset="0"/>
                <a:ea typeface="Calibri" pitchFamily="34" charset="-122"/>
                <a:cs typeface="Calibri" pitchFamily="34" charset="-120"/>
              </a:rPr>
              <a:t>3.  </a:t>
            </a:r>
            <a:r>
              <a:rPr lang="en-US" sz="1300" b="1" dirty="0">
                <a:solidFill>
                  <a:srgbClr val="1A1A1A"/>
                </a:solidFill>
                <a:latin typeface="Calibri" pitchFamily="34" charset="0"/>
                <a:ea typeface="Calibri" pitchFamily="34" charset="-122"/>
                <a:cs typeface="Calibri" pitchFamily="34" charset="-120"/>
              </a:rPr>
              <a:t>¿Qué ministerio o encargo de Dios has recibido y aún no estás cumpliendo plenamente? ¿Qué te está impidiendo avanzar en él esta semana?</a:t>
            </a:r>
            <a:endParaRPr lang="en-US" sz="1400" dirty="0"/>
          </a:p>
        </p:txBody>
      </p:sp>
      <p:sp>
        <p:nvSpPr>
          <p:cNvPr id="19" name="Shape 17"/>
          <p:cNvSpPr/>
          <p:nvPr/>
        </p:nvSpPr>
        <p:spPr>
          <a:xfrm>
            <a:off x="0" y="4800600"/>
            <a:ext cx="9144000" cy="342900"/>
          </a:xfrm>
          <a:prstGeom prst="rect">
            <a:avLst/>
          </a:prstGeom>
          <a:solidFill>
            <a:srgbClr val="003D7C"/>
          </a:solidFill>
          <a:ln w="12700">
            <a:solidFill>
              <a:srgbClr val="003D7C"/>
            </a:solidFill>
            <a:prstDash val="solid"/>
          </a:ln>
        </p:spPr>
        <p:txBody>
          <a:bodyPr/>
          <a:lstStyle/>
          <a:p>
            <a:endParaRPr lang="es-ES"/>
          </a:p>
        </p:txBody>
      </p:sp>
      <p:sp>
        <p:nvSpPr>
          <p:cNvPr id="20" name="Text 18"/>
          <p:cNvSpPr/>
          <p:nvPr/>
        </p:nvSpPr>
        <p:spPr>
          <a:xfrm>
            <a:off x="274320" y="4809744"/>
            <a:ext cx="8595360" cy="320040"/>
          </a:xfrm>
          <a:prstGeom prst="rect">
            <a:avLst/>
          </a:prstGeom>
          <a:noFill/>
          <a:ln/>
        </p:spPr>
        <p:txBody>
          <a:bodyPr wrap="square" rtlCol="0" anchor="ctr"/>
          <a:lstStyle/>
          <a:p>
            <a:pPr marL="0" indent="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 Trimestre 2026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3D7C"/>
        </a:solidFill>
        <a:effectLst/>
      </p:bgPr>
    </p:bg>
    <p:spTree>
      <p:nvGrpSpPr>
        <p:cNvPr id="1" name=""/>
        <p:cNvGrpSpPr/>
        <p:nvPr/>
      </p:nvGrpSpPr>
      <p:grpSpPr>
        <a:xfrm>
          <a:off x="0" y="0"/>
          <a:ext cx="0" cy="0"/>
          <a:chOff x="0" y="0"/>
          <a:chExt cx="0" cy="0"/>
        </a:xfrm>
      </p:grpSpPr>
      <p:sp>
        <p:nvSpPr>
          <p:cNvPr id="2" name="Shape 0"/>
          <p:cNvSpPr/>
          <p:nvPr/>
        </p:nvSpPr>
        <p:spPr>
          <a:xfrm>
            <a:off x="6949440" y="0"/>
            <a:ext cx="2194560" cy="2011680"/>
          </a:xfrm>
          <a:prstGeom prst="rect">
            <a:avLst/>
          </a:prstGeom>
          <a:solidFill>
            <a:srgbClr val="E87C1E">
              <a:alpha val="40000"/>
            </a:srgbClr>
          </a:solidFill>
          <a:ln w="12700">
            <a:solidFill>
              <a:srgbClr val="E87C1E">
                <a:alpha val="40000"/>
              </a:srgbClr>
            </a:solidFill>
            <a:prstDash val="solid"/>
          </a:ln>
        </p:spPr>
        <p:txBody>
          <a:bodyPr/>
          <a:lstStyle/>
          <a:p>
            <a:endParaRPr lang="es-ES"/>
          </a:p>
        </p:txBody>
      </p:sp>
      <p:sp>
        <p:nvSpPr>
          <p:cNvPr id="3" name="Shape 1"/>
          <p:cNvSpPr/>
          <p:nvPr/>
        </p:nvSpPr>
        <p:spPr>
          <a:xfrm>
            <a:off x="-45720" y="3291840"/>
            <a:ext cx="1645920" cy="1920240"/>
          </a:xfrm>
          <a:prstGeom prst="rect">
            <a:avLst/>
          </a:prstGeom>
          <a:solidFill>
            <a:srgbClr val="E87C1E">
              <a:alpha val="30000"/>
            </a:srgbClr>
          </a:solidFill>
          <a:ln w="12700">
            <a:solidFill>
              <a:srgbClr val="E87C1E">
                <a:alpha val="30000"/>
              </a:srgbClr>
            </a:solidFill>
            <a:prstDash val="solid"/>
          </a:ln>
        </p:spPr>
        <p:txBody>
          <a:bodyPr/>
          <a:lstStyle/>
          <a:p>
            <a:endParaRPr lang="es-ES"/>
          </a:p>
        </p:txBody>
      </p:sp>
      <p:sp>
        <p:nvSpPr>
          <p:cNvPr id="4" name="Shape 2"/>
          <p:cNvSpPr/>
          <p:nvPr/>
        </p:nvSpPr>
        <p:spPr>
          <a:xfrm>
            <a:off x="347472" y="256032"/>
            <a:ext cx="2743200" cy="438912"/>
          </a:xfrm>
          <a:prstGeom prst="rect">
            <a:avLst/>
          </a:prstGeom>
          <a:solidFill>
            <a:srgbClr val="E87C1E"/>
          </a:solidFill>
          <a:ln w="12700">
            <a:solidFill>
              <a:srgbClr val="E87C1E"/>
            </a:solidFill>
            <a:prstDash val="solid"/>
          </a:ln>
        </p:spPr>
        <p:txBody>
          <a:bodyPr/>
          <a:lstStyle/>
          <a:p>
            <a:endParaRPr lang="es-ES"/>
          </a:p>
        </p:txBody>
      </p:sp>
      <p:sp>
        <p:nvSpPr>
          <p:cNvPr id="5" name="Text 3"/>
          <p:cNvSpPr/>
          <p:nvPr/>
        </p:nvSpPr>
        <p:spPr>
          <a:xfrm>
            <a:off x="347472" y="256032"/>
            <a:ext cx="2743200" cy="43891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[FASE 4]  CREA  — MI DECISIÓN</a:t>
            </a:r>
            <a:endParaRPr lang="en-US" sz="1050" dirty="0"/>
          </a:p>
        </p:txBody>
      </p:sp>
      <p:sp>
        <p:nvSpPr>
          <p:cNvPr id="6" name="Shape 4"/>
          <p:cNvSpPr/>
          <p:nvPr/>
        </p:nvSpPr>
        <p:spPr>
          <a:xfrm>
            <a:off x="347472" y="804672"/>
            <a:ext cx="118872" cy="3886200"/>
          </a:xfrm>
          <a:prstGeom prst="rect">
            <a:avLst/>
          </a:prstGeom>
          <a:solidFill>
            <a:srgbClr val="E87C1E"/>
          </a:solidFill>
          <a:ln w="12700">
            <a:solidFill>
              <a:srgbClr val="E87C1E"/>
            </a:solidFill>
            <a:prstDash val="solid"/>
          </a:ln>
        </p:spPr>
        <p:txBody>
          <a:bodyPr/>
          <a:lstStyle/>
          <a:p>
            <a:endParaRPr lang="es-ES"/>
          </a:p>
        </p:txBody>
      </p:sp>
      <p:sp>
        <p:nvSpPr>
          <p:cNvPr id="7" name="Text 5"/>
          <p:cNvSpPr/>
          <p:nvPr/>
        </p:nvSpPr>
        <p:spPr>
          <a:xfrm>
            <a:off x="566928" y="822960"/>
            <a:ext cx="8046720" cy="411480"/>
          </a:xfrm>
          <a:prstGeom prst="rect">
            <a:avLst/>
          </a:prstGeom>
          <a:noFill/>
          <a:ln/>
        </p:spPr>
        <p:txBody>
          <a:bodyPr wrap="square" rtlCol="0" anchor="ctr"/>
          <a:lstStyle/>
          <a:p>
            <a:pPr marL="0" indent="0">
              <a:buNone/>
            </a:pPr>
            <a:r>
              <a:rPr lang="en-US" sz="1400" i="1" dirty="0">
                <a:solidFill>
                  <a:srgbClr val="D0E4F5"/>
                </a:solidFill>
                <a:latin typeface="Calibri" pitchFamily="34" charset="0"/>
                <a:ea typeface="Calibri" pitchFamily="34" charset="-122"/>
                <a:cs typeface="Calibri" pitchFamily="34" charset="-120"/>
              </a:rPr>
              <a:t>Marca tu respuesta honesta para esta semana:</a:t>
            </a:r>
            <a:endParaRPr lang="en-US" sz="1400" dirty="0"/>
          </a:p>
        </p:txBody>
      </p:sp>
      <p:sp>
        <p:nvSpPr>
          <p:cNvPr id="8" name="Shape 6"/>
          <p:cNvSpPr/>
          <p:nvPr/>
        </p:nvSpPr>
        <p:spPr>
          <a:xfrm>
            <a:off x="566928" y="1325880"/>
            <a:ext cx="8229600" cy="996696"/>
          </a:xfrm>
          <a:prstGeom prst="rect">
            <a:avLst/>
          </a:prstGeom>
          <a:solidFill>
            <a:srgbClr val="FFFFFF">
              <a:alpha val="92000"/>
            </a:srgbClr>
          </a:solidFill>
          <a:ln w="12700">
            <a:solidFill>
              <a:srgbClr val="E87C1E">
                <a:alpha val="60000"/>
              </a:srgbClr>
            </a:solidFill>
            <a:prstDash val="solid"/>
          </a:ln>
        </p:spPr>
        <p:txBody>
          <a:bodyPr/>
          <a:lstStyle/>
          <a:p>
            <a:endParaRPr lang="es-ES"/>
          </a:p>
        </p:txBody>
      </p:sp>
      <p:sp>
        <p:nvSpPr>
          <p:cNvPr id="9" name="Shape 7"/>
          <p:cNvSpPr/>
          <p:nvPr/>
        </p:nvSpPr>
        <p:spPr>
          <a:xfrm>
            <a:off x="713232" y="1453896"/>
            <a:ext cx="292608" cy="292608"/>
          </a:xfrm>
          <a:prstGeom prst="ellipse">
            <a:avLst/>
          </a:prstGeom>
          <a:solidFill>
            <a:srgbClr val="E87C1E"/>
          </a:solidFill>
          <a:ln w="12700">
            <a:solidFill>
              <a:srgbClr val="E87C1E"/>
            </a:solidFill>
            <a:prstDash val="solid"/>
          </a:ln>
        </p:spPr>
        <p:txBody>
          <a:bodyPr/>
          <a:lstStyle/>
          <a:p>
            <a:endParaRPr lang="es-ES"/>
          </a:p>
        </p:txBody>
      </p:sp>
      <p:sp>
        <p:nvSpPr>
          <p:cNvPr id="10" name="Text 8"/>
          <p:cNvSpPr/>
          <p:nvPr/>
        </p:nvSpPr>
        <p:spPr>
          <a:xfrm>
            <a:off x="713232" y="145389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9"/>
          <p:cNvSpPr/>
          <p:nvPr/>
        </p:nvSpPr>
        <p:spPr>
          <a:xfrm>
            <a:off x="1078992" y="1399032"/>
            <a:ext cx="6647688" cy="905256"/>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Esta semana intercederé en oración por nombre por tres personas de mi iglesia.</a:t>
            </a:r>
            <a:endParaRPr lang="en-US" sz="1300" dirty="0"/>
          </a:p>
        </p:txBody>
      </p:sp>
      <p:sp>
        <p:nvSpPr>
          <p:cNvPr id="12" name="Text 10"/>
          <p:cNvSpPr/>
          <p:nvPr/>
        </p:nvSpPr>
        <p:spPr>
          <a:xfrm>
            <a:off x="7818120" y="1399032"/>
            <a:ext cx="914400" cy="905256"/>
          </a:xfrm>
          <a:prstGeom prst="rect">
            <a:avLst/>
          </a:prstGeom>
          <a:noFill/>
          <a:ln/>
        </p:spPr>
        <p:txBody>
          <a:bodyPr wrap="square" rtlCol="0" anchor="ctr"/>
          <a:lstStyle/>
          <a:p>
            <a:pPr marL="0" indent="0" algn="r">
              <a:buNone/>
            </a:pPr>
            <a:r>
              <a:rPr lang="en-US" sz="1150" b="1" dirty="0">
                <a:solidFill>
                  <a:srgbClr val="E87C1E"/>
                </a:solidFill>
                <a:latin typeface="Calibri" pitchFamily="34" charset="0"/>
                <a:ea typeface="Calibri" pitchFamily="34" charset="-122"/>
                <a:cs typeface="Calibri" pitchFamily="34" charset="-120"/>
              </a:rPr>
              <a:t>☐ Sí  ☐ No</a:t>
            </a:r>
            <a:endParaRPr lang="en-US" sz="1150" dirty="0"/>
          </a:p>
        </p:txBody>
      </p:sp>
      <p:sp>
        <p:nvSpPr>
          <p:cNvPr id="13" name="Shape 11"/>
          <p:cNvSpPr/>
          <p:nvPr/>
        </p:nvSpPr>
        <p:spPr>
          <a:xfrm>
            <a:off x="566928" y="2377440"/>
            <a:ext cx="8229600" cy="996696"/>
          </a:xfrm>
          <a:prstGeom prst="rect">
            <a:avLst/>
          </a:prstGeom>
          <a:solidFill>
            <a:srgbClr val="FFF3E6">
              <a:alpha val="92000"/>
            </a:srgbClr>
          </a:solidFill>
          <a:ln w="12700">
            <a:solidFill>
              <a:srgbClr val="E87C1E">
                <a:alpha val="60000"/>
              </a:srgbClr>
            </a:solidFill>
            <a:prstDash val="solid"/>
          </a:ln>
        </p:spPr>
        <p:txBody>
          <a:bodyPr/>
          <a:lstStyle/>
          <a:p>
            <a:endParaRPr lang="es-ES"/>
          </a:p>
        </p:txBody>
      </p:sp>
      <p:sp>
        <p:nvSpPr>
          <p:cNvPr id="14" name="Shape 12"/>
          <p:cNvSpPr/>
          <p:nvPr/>
        </p:nvSpPr>
        <p:spPr>
          <a:xfrm>
            <a:off x="713232" y="2505456"/>
            <a:ext cx="292608" cy="292608"/>
          </a:xfrm>
          <a:prstGeom prst="ellipse">
            <a:avLst/>
          </a:prstGeom>
          <a:solidFill>
            <a:srgbClr val="E87C1E"/>
          </a:solidFill>
          <a:ln w="12700">
            <a:solidFill>
              <a:srgbClr val="E87C1E"/>
            </a:solidFill>
            <a:prstDash val="solid"/>
          </a:ln>
        </p:spPr>
        <p:txBody>
          <a:bodyPr/>
          <a:lstStyle/>
          <a:p>
            <a:endParaRPr lang="es-ES"/>
          </a:p>
        </p:txBody>
      </p:sp>
      <p:sp>
        <p:nvSpPr>
          <p:cNvPr id="15" name="Text 13"/>
          <p:cNvSpPr/>
          <p:nvPr/>
        </p:nvSpPr>
        <p:spPr>
          <a:xfrm>
            <a:off x="713232" y="250545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4"/>
          <p:cNvSpPr/>
          <p:nvPr/>
        </p:nvSpPr>
        <p:spPr>
          <a:xfrm>
            <a:off x="1078992" y="2450592"/>
            <a:ext cx="6647688" cy="905256"/>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Identificaré el ministerio que Dios me ha dado y daré un paso concreto para cumplirlo.</a:t>
            </a:r>
            <a:endParaRPr lang="en-US" sz="1300" dirty="0"/>
          </a:p>
        </p:txBody>
      </p:sp>
      <p:sp>
        <p:nvSpPr>
          <p:cNvPr id="17" name="Text 15"/>
          <p:cNvSpPr/>
          <p:nvPr/>
        </p:nvSpPr>
        <p:spPr>
          <a:xfrm>
            <a:off x="7818120" y="2450592"/>
            <a:ext cx="914400" cy="905256"/>
          </a:xfrm>
          <a:prstGeom prst="rect">
            <a:avLst/>
          </a:prstGeom>
          <a:noFill/>
          <a:ln/>
        </p:spPr>
        <p:txBody>
          <a:bodyPr wrap="square" rtlCol="0" anchor="ctr"/>
          <a:lstStyle/>
          <a:p>
            <a:pPr marL="0" indent="0" algn="r">
              <a:buNone/>
            </a:pPr>
            <a:r>
              <a:rPr lang="en-US" sz="1150" b="1" dirty="0">
                <a:solidFill>
                  <a:srgbClr val="E87C1E"/>
                </a:solidFill>
                <a:latin typeface="Calibri" pitchFamily="34" charset="0"/>
                <a:ea typeface="Calibri" pitchFamily="34" charset="-122"/>
                <a:cs typeface="Calibri" pitchFamily="34" charset="-120"/>
              </a:rPr>
              <a:t>☐ Sí  ☐ No</a:t>
            </a:r>
            <a:endParaRPr lang="en-US" sz="1150" dirty="0"/>
          </a:p>
        </p:txBody>
      </p:sp>
      <p:sp>
        <p:nvSpPr>
          <p:cNvPr id="18" name="Shape 16"/>
          <p:cNvSpPr/>
          <p:nvPr/>
        </p:nvSpPr>
        <p:spPr>
          <a:xfrm>
            <a:off x="566928" y="3429000"/>
            <a:ext cx="8229600" cy="996696"/>
          </a:xfrm>
          <a:prstGeom prst="rect">
            <a:avLst/>
          </a:prstGeom>
          <a:solidFill>
            <a:srgbClr val="FFFFFF">
              <a:alpha val="92000"/>
            </a:srgbClr>
          </a:solidFill>
          <a:ln w="12700">
            <a:solidFill>
              <a:srgbClr val="E87C1E">
                <a:alpha val="60000"/>
              </a:srgbClr>
            </a:solidFill>
            <a:prstDash val="solid"/>
          </a:ln>
        </p:spPr>
        <p:txBody>
          <a:bodyPr/>
          <a:lstStyle/>
          <a:p>
            <a:endParaRPr lang="es-ES"/>
          </a:p>
        </p:txBody>
      </p:sp>
      <p:sp>
        <p:nvSpPr>
          <p:cNvPr id="19" name="Shape 17"/>
          <p:cNvSpPr/>
          <p:nvPr/>
        </p:nvSpPr>
        <p:spPr>
          <a:xfrm>
            <a:off x="713232" y="3557016"/>
            <a:ext cx="292608" cy="292608"/>
          </a:xfrm>
          <a:prstGeom prst="ellipse">
            <a:avLst/>
          </a:prstGeom>
          <a:solidFill>
            <a:srgbClr val="E87C1E"/>
          </a:solidFill>
          <a:ln w="12700">
            <a:solidFill>
              <a:srgbClr val="E87C1E"/>
            </a:solidFill>
            <a:prstDash val="solid"/>
          </a:ln>
        </p:spPr>
        <p:txBody>
          <a:bodyPr/>
          <a:lstStyle/>
          <a:p>
            <a:endParaRPr lang="es-ES"/>
          </a:p>
        </p:txBody>
      </p:sp>
      <p:sp>
        <p:nvSpPr>
          <p:cNvPr id="20" name="Text 18"/>
          <p:cNvSpPr/>
          <p:nvPr/>
        </p:nvSpPr>
        <p:spPr>
          <a:xfrm>
            <a:off x="713232" y="355701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1" name="Text 19"/>
          <p:cNvSpPr/>
          <p:nvPr/>
        </p:nvSpPr>
        <p:spPr>
          <a:xfrm>
            <a:off x="1078992" y="3502152"/>
            <a:ext cx="6647688" cy="905256"/>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Compartiré con alguien cercano algo de lo que Dios me ha enseñado este trimestre.</a:t>
            </a:r>
            <a:endParaRPr lang="en-US" sz="1300" dirty="0"/>
          </a:p>
        </p:txBody>
      </p:sp>
      <p:sp>
        <p:nvSpPr>
          <p:cNvPr id="22" name="Text 20"/>
          <p:cNvSpPr/>
          <p:nvPr/>
        </p:nvSpPr>
        <p:spPr>
          <a:xfrm>
            <a:off x="7818120" y="3502152"/>
            <a:ext cx="914400" cy="905256"/>
          </a:xfrm>
          <a:prstGeom prst="rect">
            <a:avLst/>
          </a:prstGeom>
          <a:noFill/>
          <a:ln/>
        </p:spPr>
        <p:txBody>
          <a:bodyPr wrap="square" rtlCol="0" anchor="ctr"/>
          <a:lstStyle/>
          <a:p>
            <a:pPr marL="0" indent="0" algn="r">
              <a:buNone/>
            </a:pPr>
            <a:r>
              <a:rPr lang="en-US" sz="1150" b="1" dirty="0">
                <a:solidFill>
                  <a:srgbClr val="E87C1E"/>
                </a:solidFill>
                <a:latin typeface="Calibri" pitchFamily="34" charset="0"/>
                <a:ea typeface="Calibri" pitchFamily="34" charset="-122"/>
                <a:cs typeface="Calibri" pitchFamily="34" charset="-120"/>
              </a:rPr>
              <a:t>☐ Sí  ☐ No</a:t>
            </a:r>
            <a:endParaRPr lang="en-US" sz="1150" dirty="0"/>
          </a:p>
        </p:txBody>
      </p:sp>
      <p:sp>
        <p:nvSpPr>
          <p:cNvPr id="23" name="Shape 21"/>
          <p:cNvSpPr/>
          <p:nvPr/>
        </p:nvSpPr>
        <p:spPr>
          <a:xfrm>
            <a:off x="0" y="4800600"/>
            <a:ext cx="9144000" cy="342900"/>
          </a:xfrm>
          <a:prstGeom prst="rect">
            <a:avLst/>
          </a:prstGeom>
          <a:solidFill>
            <a:srgbClr val="003D7C"/>
          </a:solidFill>
          <a:ln w="12700">
            <a:solidFill>
              <a:srgbClr val="003D7C"/>
            </a:solidFill>
            <a:prstDash val="solid"/>
          </a:ln>
        </p:spPr>
        <p:txBody>
          <a:bodyPr/>
          <a:lstStyle/>
          <a:p>
            <a:endParaRPr lang="es-ES"/>
          </a:p>
        </p:txBody>
      </p:sp>
      <p:sp>
        <p:nvSpPr>
          <p:cNvPr id="24" name="Text 22"/>
          <p:cNvSpPr/>
          <p:nvPr/>
        </p:nvSpPr>
        <p:spPr>
          <a:xfrm>
            <a:off x="274320" y="4809744"/>
            <a:ext cx="8595360" cy="320040"/>
          </a:xfrm>
          <a:prstGeom prst="rect">
            <a:avLst/>
          </a:prstGeom>
          <a:noFill/>
          <a:ln/>
        </p:spPr>
        <p:txBody>
          <a:bodyPr wrap="square" rtlCol="0" anchor="ctr"/>
          <a:lstStyle/>
          <a:p>
            <a:pPr marL="0" indent="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 Trimestre 2026</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3D7C"/>
        </a:solidFill>
        <a:effectLst/>
      </p:bgPr>
    </p:bg>
    <p:spTree>
      <p:nvGrpSpPr>
        <p:cNvPr id="1" name=""/>
        <p:cNvGrpSpPr/>
        <p:nvPr/>
      </p:nvGrpSpPr>
      <p:grpSpPr>
        <a:xfrm>
          <a:off x="0" y="0"/>
          <a:ext cx="0" cy="0"/>
          <a:chOff x="0" y="0"/>
          <a:chExt cx="0" cy="0"/>
        </a:xfrm>
      </p:grpSpPr>
      <p:sp>
        <p:nvSpPr>
          <p:cNvPr id="2" name="Shape 0"/>
          <p:cNvSpPr/>
          <p:nvPr/>
        </p:nvSpPr>
        <p:spPr>
          <a:xfrm>
            <a:off x="7178040" y="0"/>
            <a:ext cx="2011680" cy="1828800"/>
          </a:xfrm>
          <a:prstGeom prst="rect">
            <a:avLst/>
          </a:prstGeom>
          <a:solidFill>
            <a:srgbClr val="E87C1E">
              <a:alpha val="40000"/>
            </a:srgbClr>
          </a:solidFill>
          <a:ln w="12700">
            <a:solidFill>
              <a:srgbClr val="E87C1E">
                <a:alpha val="40000"/>
              </a:srgbClr>
            </a:solidFill>
            <a:prstDash val="solid"/>
          </a:ln>
        </p:spPr>
        <p:txBody>
          <a:bodyPr/>
          <a:lstStyle/>
          <a:p>
            <a:endParaRPr lang="es-ES"/>
          </a:p>
        </p:txBody>
      </p:sp>
      <p:sp>
        <p:nvSpPr>
          <p:cNvPr id="3" name="Shape 1"/>
          <p:cNvSpPr/>
          <p:nvPr/>
        </p:nvSpPr>
        <p:spPr>
          <a:xfrm>
            <a:off x="7818120" y="1691640"/>
            <a:ext cx="1371600" cy="1371600"/>
          </a:xfrm>
          <a:prstGeom prst="rect">
            <a:avLst/>
          </a:prstGeom>
          <a:solidFill>
            <a:srgbClr val="E87C1E">
              <a:alpha val="25000"/>
            </a:srgbClr>
          </a:solidFill>
          <a:ln w="12700">
            <a:solidFill>
              <a:srgbClr val="E87C1E">
                <a:alpha val="25000"/>
              </a:srgbClr>
            </a:solidFill>
            <a:prstDash val="solid"/>
          </a:ln>
        </p:spPr>
        <p:txBody>
          <a:bodyPr/>
          <a:lstStyle/>
          <a:p>
            <a:endParaRPr lang="es-ES"/>
          </a:p>
        </p:txBody>
      </p:sp>
      <p:sp>
        <p:nvSpPr>
          <p:cNvPr id="4" name="Shape 2"/>
          <p:cNvSpPr/>
          <p:nvPr/>
        </p:nvSpPr>
        <p:spPr>
          <a:xfrm>
            <a:off x="-45720" y="3520440"/>
            <a:ext cx="1920240" cy="1783080"/>
          </a:xfrm>
          <a:prstGeom prst="rect">
            <a:avLst/>
          </a:prstGeom>
          <a:solidFill>
            <a:srgbClr val="E87C1E">
              <a:alpha val="30000"/>
            </a:srgbClr>
          </a:solidFill>
          <a:ln w="12700">
            <a:solidFill>
              <a:srgbClr val="E87C1E">
                <a:alpha val="30000"/>
              </a:srgbClr>
            </a:solidFill>
            <a:prstDash val="solid"/>
          </a:ln>
        </p:spPr>
        <p:txBody>
          <a:bodyPr/>
          <a:lstStyle/>
          <a:p>
            <a:endParaRPr lang="es-ES"/>
          </a:p>
        </p:txBody>
      </p:sp>
      <p:sp>
        <p:nvSpPr>
          <p:cNvPr id="5" name="Shape 3"/>
          <p:cNvSpPr/>
          <p:nvPr/>
        </p:nvSpPr>
        <p:spPr>
          <a:xfrm>
            <a:off x="438912" y="1005840"/>
            <a:ext cx="118872" cy="2423160"/>
          </a:xfrm>
          <a:prstGeom prst="rect">
            <a:avLst/>
          </a:prstGeom>
          <a:solidFill>
            <a:srgbClr val="E87C1E"/>
          </a:solidFill>
          <a:ln w="12700">
            <a:solidFill>
              <a:srgbClr val="E87C1E"/>
            </a:solidFill>
            <a:prstDash val="solid"/>
          </a:ln>
        </p:spPr>
        <p:txBody>
          <a:bodyPr/>
          <a:lstStyle/>
          <a:p>
            <a:endParaRPr lang="es-ES"/>
          </a:p>
        </p:txBody>
      </p:sp>
      <p:sp>
        <p:nvSpPr>
          <p:cNvPr id="6" name="Text 4"/>
          <p:cNvSpPr/>
          <p:nvPr/>
        </p:nvSpPr>
        <p:spPr>
          <a:xfrm>
            <a:off x="658368" y="822960"/>
            <a:ext cx="7772400" cy="1463040"/>
          </a:xfrm>
          <a:prstGeom prst="rect">
            <a:avLst/>
          </a:prstGeom>
          <a:noFill/>
          <a:ln/>
        </p:spPr>
        <p:txBody>
          <a:bodyPr wrap="square" rtlCol="0" anchor="ctr"/>
          <a:lstStyle/>
          <a:p>
            <a:pPr marL="0" indent="0">
              <a:buNone/>
            </a:pPr>
            <a:r>
              <a:rPr lang="en-US" sz="7200" b="1" dirty="0">
                <a:solidFill>
                  <a:srgbClr val="FFFFFF"/>
                </a:solidFill>
                <a:latin typeface="Calibri" pitchFamily="34" charset="0"/>
                <a:ea typeface="Calibri" pitchFamily="34" charset="-122"/>
                <a:cs typeface="Calibri" pitchFamily="34" charset="-120"/>
              </a:rPr>
              <a:t>Gracias</a:t>
            </a:r>
            <a:endParaRPr lang="en-US" sz="7200" dirty="0"/>
          </a:p>
        </p:txBody>
      </p:sp>
      <p:sp>
        <p:nvSpPr>
          <p:cNvPr id="7" name="Text 5"/>
          <p:cNvSpPr/>
          <p:nvPr/>
        </p:nvSpPr>
        <p:spPr>
          <a:xfrm>
            <a:off x="658368" y="2423160"/>
            <a:ext cx="7772400" cy="594360"/>
          </a:xfrm>
          <a:prstGeom prst="rect">
            <a:avLst/>
          </a:prstGeom>
          <a:noFill/>
          <a:ln/>
        </p:spPr>
        <p:txBody>
          <a:bodyPr wrap="square" rtlCol="0" anchor="ctr"/>
          <a:lstStyle/>
          <a:p>
            <a:pPr marL="0" indent="0">
              <a:buNone/>
            </a:pPr>
            <a:r>
              <a:rPr lang="en-US" sz="2200" b="1" dirty="0">
                <a:solidFill>
                  <a:srgbClr val="E87C1E"/>
                </a:solidFill>
                <a:latin typeface="Calibri" pitchFamily="34" charset="0"/>
                <a:ea typeface="Calibri" pitchFamily="34" charset="-122"/>
                <a:cs typeface="Calibri" pitchFamily="34" charset="-120"/>
              </a:rPr>
              <a:t>Dr. Tito Goicochea M.</a:t>
            </a:r>
            <a:endParaRPr lang="en-US" sz="2200" dirty="0"/>
          </a:p>
        </p:txBody>
      </p:sp>
      <p:sp>
        <p:nvSpPr>
          <p:cNvPr id="8" name="Text 6"/>
          <p:cNvSpPr/>
          <p:nvPr/>
        </p:nvSpPr>
        <p:spPr>
          <a:xfrm>
            <a:off x="658368" y="3063240"/>
            <a:ext cx="7772400" cy="438912"/>
          </a:xfrm>
          <a:prstGeom prst="rect">
            <a:avLst/>
          </a:prstGeom>
          <a:noFill/>
          <a:ln/>
        </p:spPr>
        <p:txBody>
          <a:bodyPr wrap="square" rtlCol="0" anchor="ctr"/>
          <a:lstStyle/>
          <a:p>
            <a:pPr marL="0" indent="0">
              <a:buNone/>
            </a:pPr>
            <a:r>
              <a:rPr lang="en-US" sz="1600" i="1" dirty="0">
                <a:solidFill>
                  <a:srgbClr val="D0E4F5"/>
                </a:solidFill>
                <a:latin typeface="Calibri" pitchFamily="34" charset="0"/>
                <a:ea typeface="Calibri" pitchFamily="34" charset="-122"/>
                <a:cs typeface="Calibri" pitchFamily="34" charset="-120"/>
              </a:rPr>
              <a:t>NEED - DSA</a:t>
            </a:r>
            <a:endParaRPr lang="en-US" sz="1600" dirty="0"/>
          </a:p>
        </p:txBody>
      </p:sp>
      <p:sp>
        <p:nvSpPr>
          <p:cNvPr id="9" name="Shape 7"/>
          <p:cNvSpPr/>
          <p:nvPr/>
        </p:nvSpPr>
        <p:spPr>
          <a:xfrm>
            <a:off x="0" y="4800600"/>
            <a:ext cx="9144000" cy="342900"/>
          </a:xfrm>
          <a:prstGeom prst="rect">
            <a:avLst/>
          </a:prstGeom>
          <a:solidFill>
            <a:srgbClr val="003D7C"/>
          </a:solidFill>
          <a:ln w="12700">
            <a:solidFill>
              <a:srgbClr val="003D7C"/>
            </a:solidFill>
            <a:prstDash val="solid"/>
          </a:ln>
        </p:spPr>
        <p:txBody>
          <a:bodyPr/>
          <a:lstStyle/>
          <a:p>
            <a:endParaRPr lang="es-ES"/>
          </a:p>
        </p:txBody>
      </p:sp>
      <p:sp>
        <p:nvSpPr>
          <p:cNvPr id="10" name="Text 8"/>
          <p:cNvSpPr/>
          <p:nvPr/>
        </p:nvSpPr>
        <p:spPr>
          <a:xfrm>
            <a:off x="274320" y="4809744"/>
            <a:ext cx="8595360" cy="320040"/>
          </a:xfrm>
          <a:prstGeom prst="rect">
            <a:avLst/>
          </a:prstGeom>
          <a:noFill/>
          <a:ln/>
        </p:spPr>
        <p:txBody>
          <a:bodyPr wrap="square" rtlCol="0" anchor="ctr"/>
          <a:lstStyle/>
          <a:p>
            <a:pPr marL="0" indent="0">
              <a:buNone/>
            </a:pPr>
            <a:r>
              <a:rPr lang="en-US" sz="750" i="1" dirty="0" err="1">
                <a:solidFill>
                  <a:srgbClr val="D0E4F5"/>
                </a:solidFill>
                <a:latin typeface="Calibri" pitchFamily="34" charset="0"/>
                <a:ea typeface="Calibri" pitchFamily="34" charset="-122"/>
                <a:cs typeface="Calibri" pitchFamily="34" charset="-120"/>
              </a:rPr>
              <a:t>Bosquejo</a:t>
            </a:r>
            <a:r>
              <a:rPr lang="en-US" sz="750" i="1" dirty="0">
                <a:solidFill>
                  <a:srgbClr val="D0E4F5"/>
                </a:solidFill>
                <a:latin typeface="Calibri" pitchFamily="34" charset="0"/>
                <a:ea typeface="Calibri" pitchFamily="34" charset="-122"/>
                <a:cs typeface="Calibri" pitchFamily="34" charset="-120"/>
              </a:rPr>
              <a:t> Lección Escuela Sabática I Trimestre 2026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1238</Words>
  <Application>Microsoft Macintosh PowerPoint</Application>
  <PresentationFormat>Presentación en pantalla (16:9)</PresentationFormat>
  <Paragraphs>86</Paragraphs>
  <Slides>8</Slides>
  <Notes>8</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8</vt:i4>
      </vt:variant>
    </vt:vector>
  </HeadingPairs>
  <TitlesOfParts>
    <vt:vector size="11"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Lección 13 · PERMANECER EN TODA LA VOLUNTAD DE DIOS</dc:title>
  <dc:subject>PptxGenJS Presentation</dc:subject>
  <dc:creator>Dr. Tito Goicochea M.</dc:creator>
  <cp:lastModifiedBy>Tito Goicochea Malaver</cp:lastModifiedBy>
  <cp:revision>2</cp:revision>
  <dcterms:created xsi:type="dcterms:W3CDTF">2026-03-26T10:51:44Z</dcterms:created>
  <dcterms:modified xsi:type="dcterms:W3CDTF">2026-03-26T11:51:06Z</dcterms:modified>
</cp:coreProperties>
</file>