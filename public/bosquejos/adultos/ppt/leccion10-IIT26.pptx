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7C"/>
        </a:solidFill>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E87C1E">
              <a:alpha val="70000"/>
            </a:srgbClr>
          </a:solidFill>
          <a:ln w="12700">
            <a:solidFill>
              <a:srgbClr val="E87C1E">
                <a:alpha val="70000"/>
              </a:srgbClr>
            </a:solidFill>
            <a:prstDash val="solid"/>
          </a:ln>
        </p:spPr>
      </p:sp>
      <p:sp>
        <p:nvSpPr>
          <p:cNvPr id="3" name="Shape 1"/>
          <p:cNvSpPr/>
          <p:nvPr/>
        </p:nvSpPr>
        <p:spPr>
          <a:xfrm>
            <a:off x="7406640" y="713232"/>
            <a:ext cx="1783080" cy="502920"/>
          </a:xfrm>
          <a:prstGeom prst="rect">
            <a:avLst/>
          </a:prstGeom>
          <a:solidFill>
            <a:srgbClr val="E87C1E">
              <a:alpha val="45000"/>
            </a:srgbClr>
          </a:solidFill>
          <a:ln w="12700">
            <a:solidFill>
              <a:srgbClr val="E87C1E">
                <a:alpha val="45000"/>
              </a:srgbClr>
            </a:solidFill>
            <a:prstDash val="solid"/>
          </a:ln>
        </p:spPr>
      </p:sp>
      <p:sp>
        <p:nvSpPr>
          <p:cNvPr id="4" name="Shape 2"/>
          <p:cNvSpPr/>
          <p:nvPr/>
        </p:nvSpPr>
        <p:spPr>
          <a:xfrm>
            <a:off x="-45720" y="3566160"/>
            <a:ext cx="1554480" cy="1645920"/>
          </a:xfrm>
          <a:prstGeom prst="rect">
            <a:avLst/>
          </a:prstGeom>
          <a:solidFill>
            <a:srgbClr val="E87C1E">
              <a:alpha val="45000"/>
            </a:srgbClr>
          </a:solidFill>
          <a:ln w="12700">
            <a:solidFill>
              <a:srgbClr val="E87C1E">
                <a:alpha val="45000"/>
              </a:srgbClr>
            </a:solidFill>
            <a:prstDash val="solid"/>
          </a:ln>
        </p:spPr>
      </p:sp>
      <p:sp>
        <p:nvSpPr>
          <p:cNvPr id="5" name="Shape 3"/>
          <p:cNvSpPr/>
          <p:nvPr/>
        </p:nvSpPr>
        <p:spPr>
          <a:xfrm>
            <a:off x="475488" y="1051560"/>
            <a:ext cx="118872" cy="2468880"/>
          </a:xfrm>
          <a:prstGeom prst="rect">
            <a:avLst/>
          </a:prstGeom>
          <a:solidFill>
            <a:srgbClr val="E87C1E"/>
          </a:solidFill>
          <a:ln w="12700">
            <a:solidFill>
              <a:srgbClr val="E87C1E"/>
            </a:solidFill>
            <a:prstDash val="solid"/>
          </a:ln>
        </p:spPr>
      </p:sp>
      <p:sp>
        <p:nvSpPr>
          <p:cNvPr id="6" name="Text 4"/>
          <p:cNvSpPr/>
          <p:nvPr/>
        </p:nvSpPr>
        <p:spPr>
          <a:xfrm>
            <a:off x="713232" y="228600"/>
            <a:ext cx="7772400" cy="475488"/>
          </a:xfrm>
          <a:prstGeom prst="rect">
            <a:avLst/>
          </a:prstGeom>
          <a:noFill/>
          <a:ln/>
        </p:spPr>
        <p:txBody>
          <a:bodyPr wrap="square" rtlCol="0" anchor="ctr"/>
          <a:lstStyle/>
          <a:p>
            <a:pPr indent="0" marL="0">
              <a:buNone/>
            </a:pPr>
            <a:r>
              <a:rPr lang="en-US" sz="1250" b="1" spc="100" kern="0" dirty="0">
                <a:solidFill>
                  <a:srgbClr val="D0E4F5"/>
                </a:solidFill>
                <a:latin typeface="Calibri" pitchFamily="34" charset="0"/>
                <a:ea typeface="Calibri" pitchFamily="34" charset="-122"/>
                <a:cs typeface="Calibri" pitchFamily="34" charset="-120"/>
              </a:rPr>
              <a:t>PUNTOS PRINCIPALES DE LA LECCIÓN DE ESCUELA SABÁTICA</a:t>
            </a:r>
            <a:endParaRPr lang="en-US" sz="1250" dirty="0"/>
          </a:p>
        </p:txBody>
      </p:sp>
      <p:sp>
        <p:nvSpPr>
          <p:cNvPr id="7" name="Text 5"/>
          <p:cNvSpPr/>
          <p:nvPr/>
        </p:nvSpPr>
        <p:spPr>
          <a:xfrm>
            <a:off x="713232" y="685800"/>
            <a:ext cx="7772400" cy="384048"/>
          </a:xfrm>
          <a:prstGeom prst="rect">
            <a:avLst/>
          </a:prstGeom>
          <a:noFill/>
          <a:ln/>
        </p:spPr>
        <p:txBody>
          <a:bodyPr wrap="square" rtlCol="0" anchor="ctr"/>
          <a:lstStyle/>
          <a:p>
            <a:pPr indent="0" marL="0">
              <a:buNone/>
            </a:pPr>
            <a:r>
              <a:rPr lang="en-US" sz="1400" b="1" spc="200" kern="0" dirty="0">
                <a:solidFill>
                  <a:srgbClr val="E87C1E"/>
                </a:solidFill>
                <a:latin typeface="Calibri" pitchFamily="34" charset="0"/>
                <a:ea typeface="Calibri" pitchFamily="34" charset="-122"/>
                <a:cs typeface="Calibri" pitchFamily="34" charset="-120"/>
              </a:rPr>
              <a:t>Lección 10</a:t>
            </a:r>
            <a:endParaRPr lang="en-US" sz="1400" dirty="0"/>
          </a:p>
        </p:txBody>
      </p:sp>
      <p:sp>
        <p:nvSpPr>
          <p:cNvPr id="8" name="Text 6"/>
          <p:cNvSpPr/>
          <p:nvPr/>
        </p:nvSpPr>
        <p:spPr>
          <a:xfrm>
            <a:off x="713232" y="1051560"/>
            <a:ext cx="7498080" cy="1005840"/>
          </a:xfrm>
          <a:prstGeom prst="rect">
            <a:avLst/>
          </a:prstGeom>
          <a:noFill/>
          <a:ln/>
        </p:spPr>
        <p:txBody>
          <a:bodyPr wrap="square" rtlCol="0" anchor="ctr"/>
          <a:lstStyle/>
          <a:p>
            <a:pPr indent="0" marL="0">
              <a:buNone/>
            </a:pPr>
            <a:r>
              <a:rPr lang="en-US" sz="4000" b="1" spc="200" kern="0" dirty="0">
                <a:solidFill>
                  <a:srgbClr val="FFFFFF"/>
                </a:solidFill>
                <a:latin typeface="Calibri" pitchFamily="34" charset="0"/>
                <a:ea typeface="Calibri" pitchFamily="34" charset="-122"/>
                <a:cs typeface="Calibri" pitchFamily="34" charset="-120"/>
              </a:rPr>
              <a:t>ARREPENTIMIENTO Y PERDÓN</a:t>
            </a:r>
            <a:endParaRPr lang="en-US" sz="4000" dirty="0"/>
          </a:p>
        </p:txBody>
      </p:sp>
      <p:sp>
        <p:nvSpPr>
          <p:cNvPr id="9" name="Text 7"/>
          <p:cNvSpPr/>
          <p:nvPr/>
        </p:nvSpPr>
        <p:spPr>
          <a:xfrm>
            <a:off x="713232" y="2148840"/>
            <a:ext cx="7772400" cy="347472"/>
          </a:xfrm>
          <a:prstGeom prst="rect">
            <a:avLst/>
          </a:prstGeom>
          <a:noFill/>
          <a:ln/>
        </p:spPr>
        <p:txBody>
          <a:bodyPr wrap="square" rtlCol="0" anchor="ctr"/>
          <a:lstStyle/>
          <a:p>
            <a:pPr indent="0" marL="0">
              <a:buNone/>
            </a:pPr>
            <a:r>
              <a:rPr lang="en-US" sz="1300" i="1" dirty="0">
                <a:solidFill>
                  <a:srgbClr val="D0E4F5"/>
                </a:solidFill>
                <a:latin typeface="Calibri" pitchFamily="34" charset="0"/>
                <a:ea typeface="Calibri" pitchFamily="34" charset="-122"/>
                <a:cs typeface="Calibri" pitchFamily="34" charset="-120"/>
              </a:rPr>
              <a:t>Para el Sábado 6 de junio de 2026</a:t>
            </a:r>
            <a:endParaRPr lang="en-US" sz="1300" dirty="0"/>
          </a:p>
        </p:txBody>
      </p:sp>
      <p:sp>
        <p:nvSpPr>
          <p:cNvPr id="10" name="Shape 8"/>
          <p:cNvSpPr/>
          <p:nvPr/>
        </p:nvSpPr>
        <p:spPr>
          <a:xfrm>
            <a:off x="475488" y="2514600"/>
            <a:ext cx="8229600" cy="1024128"/>
          </a:xfrm>
          <a:prstGeom prst="rect">
            <a:avLst/>
          </a:prstGeom>
          <a:solidFill>
            <a:srgbClr val="FFFFFF">
              <a:alpha val="10000"/>
            </a:srgbClr>
          </a:solidFill>
          <a:ln w="12700">
            <a:solidFill>
              <a:srgbClr val="E87C1E">
                <a:alpha val="75000"/>
              </a:srgbClr>
            </a:solidFill>
            <a:prstDash val="solid"/>
          </a:ln>
        </p:spPr>
      </p:sp>
      <p:sp>
        <p:nvSpPr>
          <p:cNvPr id="11" name="Shape 9"/>
          <p:cNvSpPr/>
          <p:nvPr/>
        </p:nvSpPr>
        <p:spPr>
          <a:xfrm>
            <a:off x="475488" y="2514600"/>
            <a:ext cx="118872" cy="1024128"/>
          </a:xfrm>
          <a:prstGeom prst="rect">
            <a:avLst/>
          </a:prstGeom>
          <a:solidFill>
            <a:srgbClr val="E87C1E"/>
          </a:solidFill>
          <a:ln w="12700">
            <a:solidFill>
              <a:srgbClr val="E87C1E"/>
            </a:solidFill>
            <a:prstDash val="solid"/>
          </a:ln>
        </p:spPr>
      </p:sp>
      <p:sp>
        <p:nvSpPr>
          <p:cNvPr id="12" name="Text 10"/>
          <p:cNvSpPr/>
          <p:nvPr/>
        </p:nvSpPr>
        <p:spPr>
          <a:xfrm>
            <a:off x="658368" y="2532888"/>
            <a:ext cx="7909560" cy="987552"/>
          </a:xfrm>
          <a:prstGeom prst="rect">
            <a:avLst/>
          </a:prstGeom>
          <a:noFill/>
          <a:ln/>
        </p:spPr>
        <p:txBody>
          <a:bodyPr wrap="square" rtlCol="0" anchor="ctr"/>
          <a:lstStyle/>
          <a:p>
            <a:pPr indent="0" marL="0">
              <a:buNone/>
            </a:pPr>
            <a:r>
              <a:rPr lang="en-US" sz="900" b="1" dirty="0">
                <a:solidFill>
                  <a:srgbClr val="E87C1E"/>
                </a:solidFill>
                <a:latin typeface="Calibri" pitchFamily="34" charset="0"/>
                <a:ea typeface="Calibri" pitchFamily="34" charset="-122"/>
                <a:cs typeface="Calibri" pitchFamily="34" charset="-120"/>
              </a:rPr>
              <a:t>Para memorizar: </a:t>
            </a:r>
            <a:pPr indent="0" marL="0">
              <a:buNone/>
            </a:pPr>
            <a:r>
              <a:rPr lang="en-US" sz="1150" i="1" dirty="0">
                <a:solidFill>
                  <a:srgbClr val="FFFFFF"/>
                </a:solidFill>
                <a:latin typeface="Calibri" pitchFamily="34" charset="0"/>
                <a:ea typeface="Calibri" pitchFamily="34" charset="-122"/>
                <a:cs typeface="Calibri" pitchFamily="34" charset="-120"/>
              </a:rPr>
              <a:t>"Si confesamos nuestros pecados, Dios es fiel y justo para perdonar nuestros pecados y limpiarnos de todo mal."  —  1 Juan 1:9</a:t>
            </a:r>
            <a:endParaRPr lang="en-US" sz="900" dirty="0"/>
          </a:p>
        </p:txBody>
      </p:sp>
      <p:sp>
        <p:nvSpPr>
          <p:cNvPr id="13" name="Shape 11"/>
          <p:cNvSpPr/>
          <p:nvPr/>
        </p:nvSpPr>
        <p:spPr>
          <a:xfrm>
            <a:off x="0" y="4800600"/>
            <a:ext cx="9144000" cy="342900"/>
          </a:xfrm>
          <a:prstGeom prst="rect">
            <a:avLst/>
          </a:prstGeom>
          <a:solidFill>
            <a:srgbClr val="003D7C"/>
          </a:solidFill>
          <a:ln w="12700">
            <a:solidFill>
              <a:srgbClr val="003D7C"/>
            </a:solidFill>
            <a:prstDash val="solid"/>
          </a:ln>
        </p:spPr>
      </p:sp>
      <p:sp>
        <p:nvSpPr>
          <p:cNvPr id="14" name="Text 1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Reflexiona antes de comenzar:</a:t>
            </a:r>
            <a:endParaRPr lang="en-US" sz="1100" dirty="0"/>
          </a:p>
        </p:txBody>
      </p:sp>
      <p:sp>
        <p:nvSpPr>
          <p:cNvPr id="5" name="Shape 3"/>
          <p:cNvSpPr/>
          <p:nvPr/>
        </p:nvSpPr>
        <p:spPr>
          <a:xfrm>
            <a:off x="256032" y="804672"/>
            <a:ext cx="8631936" cy="1600200"/>
          </a:xfrm>
          <a:prstGeom prst="rect">
            <a:avLst/>
          </a:prstGeom>
          <a:solidFill>
            <a:srgbClr val="FFF0E0"/>
          </a:solidFill>
          <a:ln w="12700">
            <a:solidFill>
              <a:srgbClr val="E87C1E"/>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56032" y="804672"/>
            <a:ext cx="128016" cy="1600200"/>
          </a:xfrm>
          <a:prstGeom prst="rect">
            <a:avLst/>
          </a:prstGeom>
          <a:solidFill>
            <a:srgbClr val="E87C1E"/>
          </a:solidFill>
          <a:ln w="12700">
            <a:solidFill>
              <a:srgbClr val="E87C1E"/>
            </a:solidFill>
            <a:prstDash val="solid"/>
          </a:ln>
        </p:spPr>
      </p:sp>
      <p:sp>
        <p:nvSpPr>
          <p:cNvPr id="7" name="Text 5"/>
          <p:cNvSpPr/>
          <p:nvPr/>
        </p:nvSpPr>
        <p:spPr>
          <a:xfrm>
            <a:off x="438912" y="832104"/>
            <a:ext cx="8321040" cy="1536192"/>
          </a:xfrm>
          <a:prstGeom prst="rect">
            <a:avLst/>
          </a:prstGeom>
          <a:noFill/>
          <a:ln/>
        </p:spPr>
        <p:txBody>
          <a:bodyPr wrap="square" rtlCol="0" anchor="ctr"/>
          <a:lstStyle/>
          <a:p>
            <a:pPr indent="0" marL="0">
              <a:buNone/>
            </a:pPr>
            <a:r>
              <a:rPr lang="en-US" sz="1600" b="1" dirty="0">
                <a:solidFill>
                  <a:srgbClr val="003D7C"/>
                </a:solidFill>
                <a:latin typeface="Calibri" pitchFamily="34" charset="0"/>
                <a:ea typeface="Calibri" pitchFamily="34" charset="-122"/>
                <a:cs typeface="Calibri" pitchFamily="34" charset="-120"/>
              </a:rPr>
              <a:t>GPS:  </a:t>
            </a:r>
            <a:pPr indent="0" marL="0">
              <a:buNone/>
            </a:pPr>
            <a:r>
              <a:rPr lang="en-US" sz="1450" b="1" i="1" dirty="0">
                <a:solidFill>
                  <a:srgbClr val="E87C1E"/>
                </a:solidFill>
                <a:latin typeface="Calibri" pitchFamily="34" charset="0"/>
                <a:ea typeface="Calibri" pitchFamily="34" charset="-122"/>
                <a:cs typeface="Calibri" pitchFamily="34" charset="-120"/>
              </a:rPr>
              <a:t>¿Qué hace Dios cuando nos alejamos de él, y cómo el arrepentimiento genuino y su perdón restauran nuestra relación rota?</a:t>
            </a:r>
            <a:endParaRPr lang="en-US" sz="16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256032" y="2532888"/>
            <a:ext cx="128016" cy="749808"/>
          </a:xfrm>
          <a:prstGeom prst="rect">
            <a:avLst/>
          </a:prstGeom>
          <a:solidFill>
            <a:srgbClr val="003D7C"/>
          </a:solidFill>
          <a:ln w="12700">
            <a:solidFill>
              <a:srgbClr val="003D7C"/>
            </a:solidFill>
            <a:prstDash val="solid"/>
          </a:ln>
        </p:spPr>
      </p:sp>
      <p:sp>
        <p:nvSpPr>
          <p:cNvPr id="10" name="Text 8"/>
          <p:cNvSpPr/>
          <p:nvPr/>
        </p:nvSpPr>
        <p:spPr>
          <a:xfrm>
            <a:off x="457200" y="2578608"/>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¿Cuánto tiempo tardas normalmente en volver a Dios cuando sientes que te has alejado de él? ¿Qué es lo que te facilita o dificulta ese regreso?</a:t>
            </a:r>
            <a:endParaRPr lang="en-US" sz="125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56032" y="3419856"/>
            <a:ext cx="128016" cy="749808"/>
          </a:xfrm>
          <a:prstGeom prst="rect">
            <a:avLst/>
          </a:prstGeom>
          <a:solidFill>
            <a:srgbClr val="003D7C"/>
          </a:solidFill>
          <a:ln w="12700">
            <a:solidFill>
              <a:srgbClr val="003D7C"/>
            </a:solidFill>
            <a:prstDash val="solid"/>
          </a:ln>
        </p:spPr>
      </p:sp>
      <p:sp>
        <p:nvSpPr>
          <p:cNvPr id="13" name="Text 11"/>
          <p:cNvSpPr/>
          <p:nvPr/>
        </p:nvSpPr>
        <p:spPr>
          <a:xfrm>
            <a:off x="457200" y="3465576"/>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¿Has experimentado el perdón de Dios de manera tan real que transformó tu vida? ¿Qué cambió en ti después de esa experiencia?</a:t>
            </a:r>
            <a:endParaRPr lang="en-US" sz="1250" dirty="0"/>
          </a:p>
        </p:txBody>
      </p:sp>
      <p:sp>
        <p:nvSpPr>
          <p:cNvPr id="14" name="Shape 12"/>
          <p:cNvSpPr/>
          <p:nvPr/>
        </p:nvSpPr>
        <p:spPr>
          <a:xfrm>
            <a:off x="0" y="4800600"/>
            <a:ext cx="9144000" cy="342900"/>
          </a:xfrm>
          <a:prstGeom prst="rect">
            <a:avLst/>
          </a:prstGeom>
          <a:solidFill>
            <a:srgbClr val="003D7C"/>
          </a:solidFill>
          <a:ln w="12700">
            <a:solidFill>
              <a:srgbClr val="003D7C"/>
            </a:solidFill>
            <a:prstDash val="solid"/>
          </a:ln>
        </p:spPr>
      </p:sp>
      <p:sp>
        <p:nvSpPr>
          <p:cNvPr id="15" name="Text 13"/>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El Espíritu Santo nos convence de pecado</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Antes del arrepentimiento obra el Espíritu Santo, convenciendo al corazón. Cuando sentimos que algo no está bien en nuestra relación con Dios, esa incomodidad es una señal de su amor que nos llama a volver.</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E87C1E"/>
                </a:solidFill>
                <a:latin typeface="Calibri" pitchFamily="34" charset="0"/>
                <a:ea typeface="Calibri" pitchFamily="34" charset="-122"/>
                <a:cs typeface="Calibri" pitchFamily="34" charset="-120"/>
              </a:rPr>
              <a:t>Juan 16:7-8; Oseas 6:1-3</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E87C1E"/>
          </a:solidFill>
          <a:ln w="12700">
            <a:solidFill>
              <a:srgbClr val="E87C1E"/>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Juan 16:7-8  —  </a:t>
            </a:r>
            <a:pPr indent="0" marL="0">
              <a:buNone/>
            </a:pPr>
            <a:r>
              <a:rPr lang="en-US" sz="1150" b="1" dirty="0">
                <a:solidFill>
                  <a:srgbClr val="003D7C"/>
                </a:solidFill>
                <a:latin typeface="Calibri" pitchFamily="34" charset="0"/>
                <a:ea typeface="Calibri" pitchFamily="34" charset="-122"/>
                <a:cs typeface="Calibri" pitchFamily="34" charset="-120"/>
              </a:rPr>
              <a:t>El Espíritu convence de pecado: </a:t>
            </a:r>
            <a:pPr indent="0" marL="0">
              <a:buNone/>
            </a:pPr>
            <a:r>
              <a:rPr lang="en-US" sz="1150" dirty="0">
                <a:solidFill>
                  <a:srgbClr val="1A1A1A"/>
                </a:solidFill>
                <a:latin typeface="Calibri" pitchFamily="34" charset="0"/>
                <a:ea typeface="Calibri" pitchFamily="34" charset="-122"/>
                <a:cs typeface="Calibri" pitchFamily="34" charset="-120"/>
              </a:rPr>
              <a:t>El Espíritu Santo convence al mundo de pecado, de justicia y de juicio. Esta convicción no es condenación sino el amor de Dios que actúa en nosotros para restaurar la relación rota.</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E87C1E"/>
          </a:solidFill>
          <a:ln w="12700">
            <a:solidFill>
              <a:srgbClr val="E87C1E"/>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Ose. 6:1  —  </a:t>
            </a:r>
            <a:pPr indent="0" marL="0">
              <a:buNone/>
            </a:pPr>
            <a:r>
              <a:rPr lang="en-US" sz="1150" b="1" dirty="0">
                <a:solidFill>
                  <a:srgbClr val="003D7C"/>
                </a:solidFill>
                <a:latin typeface="Calibri" pitchFamily="34" charset="0"/>
                <a:ea typeface="Calibri" pitchFamily="34" charset="-122"/>
                <a:cs typeface="Calibri" pitchFamily="34" charset="-120"/>
              </a:rPr>
              <a:t>Él nos ha herido y nos sanará: </a:t>
            </a:r>
            <a:pPr indent="0" marL="0">
              <a:buNone/>
            </a:pPr>
            <a:r>
              <a:rPr lang="en-US" sz="1150" dirty="0">
                <a:solidFill>
                  <a:srgbClr val="1A1A1A"/>
                </a:solidFill>
                <a:latin typeface="Calibri" pitchFamily="34" charset="0"/>
                <a:ea typeface="Calibri" pitchFamily="34" charset="-122"/>
                <a:cs typeface="Calibri" pitchFamily="34" charset="-120"/>
              </a:rPr>
              <a:t>El profeta llama al pueblo: 'Venid, volvamos al Señor, porque él nos despedazó y nos sanará'. El mismo Dios que permite el dolor del alejamiento es quien tiene el poder de restaurarnos.</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E87C1E"/>
          </a:solidFill>
          <a:ln w="12700">
            <a:solidFill>
              <a:srgbClr val="E87C1E"/>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Ose. 6:2-3  —  </a:t>
            </a:r>
            <a:pPr indent="0" marL="0">
              <a:buNone/>
            </a:pPr>
            <a:r>
              <a:rPr lang="en-US" sz="1150" b="1" dirty="0">
                <a:solidFill>
                  <a:srgbClr val="003D7C"/>
                </a:solidFill>
                <a:latin typeface="Calibri" pitchFamily="34" charset="0"/>
                <a:ea typeface="Calibri" pitchFamily="34" charset="-122"/>
                <a:cs typeface="Calibri" pitchFamily="34" charset="-120"/>
              </a:rPr>
              <a:t>La certeza del regreso y la sanidad: </a:t>
            </a:r>
            <a:pPr indent="0" marL="0">
              <a:buNone/>
            </a:pPr>
            <a:r>
              <a:rPr lang="en-US" sz="1150" dirty="0">
                <a:solidFill>
                  <a:srgbClr val="1A1A1A"/>
                </a:solidFill>
                <a:latin typeface="Calibri" pitchFamily="34" charset="0"/>
                <a:ea typeface="Calibri" pitchFamily="34" charset="-122"/>
                <a:cs typeface="Calibri" pitchFamily="34" charset="-120"/>
              </a:rPr>
              <a:t>Después de dos días nos dará vida, al tercer día nos resucitará. El regreso a Dios no es una posibilidad vaga sino una promesa segura para quien se vuelve a él con todo el corazón.</a:t>
            </a:r>
            <a:endParaRPr lang="en-US" sz="1150" dirty="0"/>
          </a:p>
        </p:txBody>
      </p:sp>
      <p:sp>
        <p:nvSpPr>
          <p:cNvPr id="21" name="Shape 19"/>
          <p:cNvSpPr/>
          <p:nvPr/>
        </p:nvSpPr>
        <p:spPr>
          <a:xfrm>
            <a:off x="0" y="4800600"/>
            <a:ext cx="9144000" cy="342900"/>
          </a:xfrm>
          <a:prstGeom prst="rect">
            <a:avLst/>
          </a:prstGeom>
          <a:solidFill>
            <a:srgbClr val="003D7C"/>
          </a:solidFill>
          <a:ln w="12700">
            <a:solidFill>
              <a:srgbClr val="003D7C"/>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El arrepentimiento genuino y la gracia abundante</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El arrepentimiento bíblico involucra dolor sincero por el pecado y decisión honesta de abandonarlo. La respuesta de Dios siempre es la misma: gracia abundante, misericordia sin límite y perdón completo.</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E87C1E"/>
                </a:solidFill>
                <a:latin typeface="Calibri" pitchFamily="34" charset="0"/>
                <a:ea typeface="Calibri" pitchFamily="34" charset="-122"/>
                <a:cs typeface="Calibri" pitchFamily="34" charset="-120"/>
              </a:rPr>
              <a:t>Hechos 3:19; Éxodo 34:1-10</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E87C1E"/>
          </a:solidFill>
          <a:ln w="12700">
            <a:solidFill>
              <a:srgbClr val="E87C1E"/>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Hech. 3:19  —  </a:t>
            </a:r>
            <a:pPr indent="0" marL="0">
              <a:buNone/>
            </a:pPr>
            <a:r>
              <a:rPr lang="en-US" sz="1150" b="1" dirty="0">
                <a:solidFill>
                  <a:srgbClr val="003D7C"/>
                </a:solidFill>
                <a:latin typeface="Calibri" pitchFamily="34" charset="0"/>
                <a:ea typeface="Calibri" pitchFamily="34" charset="-122"/>
                <a:cs typeface="Calibri" pitchFamily="34" charset="-120"/>
              </a:rPr>
              <a:t>Arrepentíos para ser refrescados: </a:t>
            </a:r>
            <a:pPr indent="0" marL="0">
              <a:buNone/>
            </a:pPr>
            <a:r>
              <a:rPr lang="en-US" sz="1150" dirty="0">
                <a:solidFill>
                  <a:srgbClr val="1A1A1A"/>
                </a:solidFill>
                <a:latin typeface="Calibri" pitchFamily="34" charset="0"/>
                <a:ea typeface="Calibri" pitchFamily="34" charset="-122"/>
                <a:cs typeface="Calibri" pitchFamily="34" charset="-120"/>
              </a:rPr>
              <a:t>Pedro llama al arrepentimiento para que vengan tiempos de refrigerio de la presencia del Señor. El arrepentimiento no es solo dejar el pecado sino volver a Dios y recibir su restauración.</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E87C1E"/>
          </a:solidFill>
          <a:ln w="12700">
            <a:solidFill>
              <a:srgbClr val="E87C1E"/>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Éxo. 34:6-7  —  </a:t>
            </a:r>
            <a:pPr indent="0" marL="0">
              <a:buNone/>
            </a:pPr>
            <a:r>
              <a:rPr lang="en-US" sz="1150" b="1" dirty="0">
                <a:solidFill>
                  <a:srgbClr val="003D7C"/>
                </a:solidFill>
                <a:latin typeface="Calibri" pitchFamily="34" charset="0"/>
                <a:ea typeface="Calibri" pitchFamily="34" charset="-122"/>
                <a:cs typeface="Calibri" pitchFamily="34" charset="-120"/>
              </a:rPr>
              <a:t>Dios: compasivo, clemente y perdonador: </a:t>
            </a:r>
            <a:pPr indent="0" marL="0">
              <a:buNone/>
            </a:pPr>
            <a:r>
              <a:rPr lang="en-US" sz="1150" dirty="0">
                <a:solidFill>
                  <a:srgbClr val="1A1A1A"/>
                </a:solidFill>
                <a:latin typeface="Calibri" pitchFamily="34" charset="0"/>
                <a:ea typeface="Calibri" pitchFamily="34" charset="-122"/>
                <a:cs typeface="Calibri" pitchFamily="34" charset="-120"/>
              </a:rPr>
              <a:t>Dios se revela a Moisés como misericordioso, clemente, lento para la ira y abundante en amor. Esta autoproclamación de Dios sigue siendo la base de toda confianza en su perdón.</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E87C1E"/>
          </a:solidFill>
          <a:ln w="12700">
            <a:solidFill>
              <a:srgbClr val="E87C1E"/>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Éxo. 34:9-10  —  </a:t>
            </a:r>
            <a:pPr indent="0" marL="0">
              <a:buNone/>
            </a:pPr>
            <a:r>
              <a:rPr lang="en-US" sz="1150" b="1" dirty="0">
                <a:solidFill>
                  <a:srgbClr val="003D7C"/>
                </a:solidFill>
                <a:latin typeface="Calibri" pitchFamily="34" charset="0"/>
                <a:ea typeface="Calibri" pitchFamily="34" charset="-122"/>
                <a:cs typeface="Calibri" pitchFamily="34" charset="-120"/>
              </a:rPr>
              <a:t>El pacto restaurado: </a:t>
            </a:r>
            <a:pPr indent="0" marL="0">
              <a:buNone/>
            </a:pPr>
            <a:r>
              <a:rPr lang="en-US" sz="1150" dirty="0">
                <a:solidFill>
                  <a:srgbClr val="1A1A1A"/>
                </a:solidFill>
                <a:latin typeface="Calibri" pitchFamily="34" charset="0"/>
                <a:ea typeface="Calibri" pitchFamily="34" charset="-122"/>
                <a:cs typeface="Calibri" pitchFamily="34" charset="-120"/>
              </a:rPr>
              <a:t>Dios restaura el pacto roto por el pecado del becerro de oro. Lo que Israel rompió por desobediencia, Dios lo renueva por gracia. Este es el patrón de toda restauración espiritual.</a:t>
            </a:r>
            <a:endParaRPr lang="en-US" sz="1150" dirty="0"/>
          </a:p>
        </p:txBody>
      </p:sp>
      <p:sp>
        <p:nvSpPr>
          <p:cNvPr id="21" name="Shape 19"/>
          <p:cNvSpPr/>
          <p:nvPr/>
        </p:nvSpPr>
        <p:spPr>
          <a:xfrm>
            <a:off x="0" y="4800600"/>
            <a:ext cx="9144000" cy="342900"/>
          </a:xfrm>
          <a:prstGeom prst="rect">
            <a:avLst/>
          </a:prstGeom>
          <a:solidFill>
            <a:srgbClr val="003D7C"/>
          </a:solidFill>
          <a:ln w="12700">
            <a:solidFill>
              <a:srgbClr val="003D7C"/>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 vestidura de justicia de Cristo</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El perdón de Dios no solo quita el pecado sino que nos viste con la justicia de Cristo. La parábola de las bodas muestra que Dios prepara una vestidura perfecta para quienes aceptan su invitación.</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E87C1E"/>
                </a:solidFill>
                <a:latin typeface="Calibri" pitchFamily="34" charset="0"/>
                <a:ea typeface="Calibri" pitchFamily="34" charset="-122"/>
                <a:cs typeface="Calibri" pitchFamily="34" charset="-120"/>
              </a:rPr>
              <a:t>Mateo 22:1-14; Isaías 61:10</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E87C1E"/>
          </a:solidFill>
          <a:ln w="12700">
            <a:solidFill>
              <a:srgbClr val="E87C1E"/>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Mat. 22:1-3  —  </a:t>
            </a:r>
            <a:pPr indent="0" marL="0">
              <a:buNone/>
            </a:pPr>
            <a:r>
              <a:rPr lang="en-US" sz="1150" b="1" dirty="0">
                <a:solidFill>
                  <a:srgbClr val="003D7C"/>
                </a:solidFill>
                <a:latin typeface="Calibri" pitchFamily="34" charset="0"/>
                <a:ea typeface="Calibri" pitchFamily="34" charset="-122"/>
                <a:cs typeface="Calibri" pitchFamily="34" charset="-120"/>
              </a:rPr>
              <a:t>La invitación que no espera mérito: </a:t>
            </a:r>
            <a:pPr indent="0" marL="0">
              <a:buNone/>
            </a:pPr>
            <a:r>
              <a:rPr lang="en-US" sz="1150" dirty="0">
                <a:solidFill>
                  <a:srgbClr val="1A1A1A"/>
                </a:solidFill>
                <a:latin typeface="Calibri" pitchFamily="34" charset="0"/>
                <a:ea typeface="Calibri" pitchFamily="34" charset="-122"/>
                <a:cs typeface="Calibri" pitchFamily="34" charset="-120"/>
              </a:rPr>
              <a:t>El rey invita a todos a las bodas sin condición de mérito. La gracia de Dios nos llama cuando no teníamos nada para ofrecer. Nadie puede decir que no fue invitado por no ser suficiente.</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E87C1E"/>
          </a:solidFill>
          <a:ln w="12700">
            <a:solidFill>
              <a:srgbClr val="E87C1E"/>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Mat. 22:11-12  —  </a:t>
            </a:r>
            <a:pPr indent="0" marL="0">
              <a:buNone/>
            </a:pPr>
            <a:r>
              <a:rPr lang="en-US" sz="1150" b="1" dirty="0">
                <a:solidFill>
                  <a:srgbClr val="003D7C"/>
                </a:solidFill>
                <a:latin typeface="Calibri" pitchFamily="34" charset="0"/>
                <a:ea typeface="Calibri" pitchFamily="34" charset="-122"/>
                <a:cs typeface="Calibri" pitchFamily="34" charset="-120"/>
              </a:rPr>
              <a:t>La vestidura de bodas: </a:t>
            </a:r>
            <a:pPr indent="0" marL="0">
              <a:buNone/>
            </a:pPr>
            <a:r>
              <a:rPr lang="en-US" sz="1150" dirty="0">
                <a:solidFill>
                  <a:srgbClr val="1A1A1A"/>
                </a:solidFill>
                <a:latin typeface="Calibri" pitchFamily="34" charset="0"/>
                <a:ea typeface="Calibri" pitchFamily="34" charset="-122"/>
                <a:cs typeface="Calibri" pitchFamily="34" charset="-120"/>
              </a:rPr>
              <a:t>El hombre sin vestidura de bodas quedó sin palabras. La vestidura representa la justicia de Cristo que debemos aceptar. No podemos presentarnos ante Dios con nuestros propios méritos.</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E87C1E"/>
          </a:solidFill>
          <a:ln w="12700">
            <a:solidFill>
              <a:srgbClr val="E87C1E"/>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Isa. 61:10  —  </a:t>
            </a:r>
            <a:pPr indent="0" marL="0">
              <a:buNone/>
            </a:pPr>
            <a:r>
              <a:rPr lang="en-US" sz="1150" b="1" dirty="0">
                <a:solidFill>
                  <a:srgbClr val="003D7C"/>
                </a:solidFill>
                <a:latin typeface="Calibri" pitchFamily="34" charset="0"/>
                <a:ea typeface="Calibri" pitchFamily="34" charset="-122"/>
                <a:cs typeface="Calibri" pitchFamily="34" charset="-120"/>
              </a:rPr>
              <a:t>Me vistió con vestiduras de salvación: </a:t>
            </a:r>
            <a:pPr indent="0" marL="0">
              <a:buNone/>
            </a:pPr>
            <a:r>
              <a:rPr lang="en-US" sz="1150" dirty="0">
                <a:solidFill>
                  <a:srgbClr val="1A1A1A"/>
                </a:solidFill>
                <a:latin typeface="Calibri" pitchFamily="34" charset="0"/>
                <a:ea typeface="Calibri" pitchFamily="34" charset="-122"/>
                <a:cs typeface="Calibri" pitchFamily="34" charset="-120"/>
              </a:rPr>
              <a:t>Me revistió con manto de justicia como a un novio o una novia adornados. El perdón de Dios no solo nos limpia sino que nos adorna con la perfección de Cristo delante del Padre.</a:t>
            </a:r>
            <a:endParaRPr lang="en-US" sz="1150" dirty="0"/>
          </a:p>
        </p:txBody>
      </p:sp>
      <p:sp>
        <p:nvSpPr>
          <p:cNvPr id="21" name="Shape 19"/>
          <p:cNvSpPr/>
          <p:nvPr/>
        </p:nvSpPr>
        <p:spPr>
          <a:xfrm>
            <a:off x="0" y="4800600"/>
            <a:ext cx="9144000" cy="342900"/>
          </a:xfrm>
          <a:prstGeom prst="rect">
            <a:avLst/>
          </a:prstGeom>
          <a:solidFill>
            <a:srgbClr val="003D7C"/>
          </a:solidFill>
          <a:ln w="12700">
            <a:solidFill>
              <a:srgbClr val="003D7C"/>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6B44"/>
          </a:solidFill>
          <a:ln w="12700">
            <a:solidFill>
              <a:srgbClr val="146B44"/>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3]  APLICA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C8ECD4"/>
                </a:solidFill>
                <a:latin typeface="Calibri" pitchFamily="34" charset="0"/>
                <a:ea typeface="Calibri" pitchFamily="34" charset="-122"/>
                <a:cs typeface="Calibri" pitchFamily="34" charset="-120"/>
              </a:rPr>
              <a:t>— Reflexión personal:</a:t>
            </a:r>
            <a:endParaRPr lang="en-US" sz="1100" dirty="0"/>
          </a:p>
        </p:txBody>
      </p:sp>
      <p:sp>
        <p:nvSpPr>
          <p:cNvPr id="5" name="Shape 3"/>
          <p:cNvSpPr/>
          <p:nvPr/>
        </p:nvSpPr>
        <p:spPr>
          <a:xfrm>
            <a:off x="228600" y="768096"/>
            <a:ext cx="8686800" cy="1325880"/>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28600" y="768096"/>
            <a:ext cx="128016" cy="1325880"/>
          </a:xfrm>
          <a:prstGeom prst="rect">
            <a:avLst/>
          </a:prstGeom>
          <a:solidFill>
            <a:srgbClr val="146B44"/>
          </a:solidFill>
          <a:ln w="12700">
            <a:solidFill>
              <a:srgbClr val="146B44"/>
            </a:solidFill>
            <a:prstDash val="solid"/>
          </a:ln>
        </p:spPr>
      </p:sp>
      <p:sp>
        <p:nvSpPr>
          <p:cNvPr id="7" name="Text 5"/>
          <p:cNvSpPr/>
          <p:nvPr/>
        </p:nvSpPr>
        <p:spPr>
          <a:xfrm>
            <a:off x="402336" y="822960"/>
            <a:ext cx="347472" cy="329184"/>
          </a:xfrm>
          <a:prstGeom prst="rect">
            <a:avLst/>
          </a:prstGeom>
          <a:noFill/>
          <a:ln/>
        </p:spPr>
        <p:txBody>
          <a:bodyPr wrap="square" rtlCol="0" anchor="ctr"/>
          <a:lstStyle/>
          <a:p>
            <a:pPr indent="0" marL="0">
              <a:buNone/>
            </a:pPr>
            <a:r>
              <a:rPr lang="en-US" sz="1400" dirty="0">
                <a:solidFill>
                  <a:srgbClr val="146B44"/>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"El lino blanco es la justicia de Cristo, su propio carácter sin mancha, la que por medio de la fe se imparte a todos los que lo reciben como Salvador personal."</a:t>
            </a:r>
            <a:endParaRPr lang="en-US" sz="1200" dirty="0"/>
          </a:p>
        </p:txBody>
      </p:sp>
      <p:sp>
        <p:nvSpPr>
          <p:cNvPr id="9" name="Text 7"/>
          <p:cNvSpPr/>
          <p:nvPr/>
        </p:nvSpPr>
        <p:spPr>
          <a:xfrm>
            <a:off x="749808" y="1755648"/>
            <a:ext cx="8046720" cy="256032"/>
          </a:xfrm>
          <a:prstGeom prst="rect">
            <a:avLst/>
          </a:prstGeom>
          <a:noFill/>
          <a:ln/>
        </p:spPr>
        <p:txBody>
          <a:bodyPr wrap="square" rtlCol="0" anchor="ctr"/>
          <a:lstStyle/>
          <a:p>
            <a:pPr algn="r" indent="0" marL="0">
              <a:buNone/>
            </a:pPr>
            <a:r>
              <a:rPr lang="en-US" sz="1000" i="1" dirty="0">
                <a:solidFill>
                  <a:srgbClr val="146B44"/>
                </a:solidFill>
                <a:latin typeface="Calibri" pitchFamily="34" charset="0"/>
                <a:ea typeface="Calibri" pitchFamily="34" charset="-122"/>
                <a:cs typeface="Calibri" pitchFamily="34" charset="-120"/>
              </a:rPr>
              <a:t>— Elena de White, Palabras de vida del gran Maestro, p. 252</a:t>
            </a:r>
            <a:endParaRPr lang="en-US" sz="1000" dirty="0"/>
          </a:p>
        </p:txBody>
      </p:sp>
      <p:sp>
        <p:nvSpPr>
          <p:cNvPr id="10" name="Shape 8"/>
          <p:cNvSpPr/>
          <p:nvPr/>
        </p:nvSpPr>
        <p:spPr>
          <a:xfrm>
            <a:off x="228600" y="214884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2148840"/>
            <a:ext cx="128016" cy="832104"/>
          </a:xfrm>
          <a:prstGeom prst="rect">
            <a:avLst/>
          </a:prstGeom>
          <a:solidFill>
            <a:srgbClr val="146B44"/>
          </a:solidFill>
          <a:ln w="12700">
            <a:solidFill>
              <a:srgbClr val="146B44"/>
            </a:solidFill>
            <a:prstDash val="solid"/>
          </a:ln>
        </p:spPr>
      </p:sp>
      <p:sp>
        <p:nvSpPr>
          <p:cNvPr id="12" name="Text 10"/>
          <p:cNvSpPr/>
          <p:nvPr/>
        </p:nvSpPr>
        <p:spPr>
          <a:xfrm>
            <a:off x="420624" y="2221992"/>
            <a:ext cx="8366760" cy="685800"/>
          </a:xfrm>
          <a:prstGeom prst="rect">
            <a:avLst/>
          </a:prstGeom>
          <a:noFill/>
          <a:ln/>
        </p:spPr>
        <p:txBody>
          <a:bodyPr wrap="square" rtlCol="0" anchor="ctr"/>
          <a:lstStyle/>
          <a:p>
            <a:pPr indent="0" marL="0">
              <a:buNone/>
            </a:pPr>
            <a:r>
              <a:rPr lang="en-US" sz="1300" b="1" dirty="0">
                <a:solidFill>
                  <a:srgbClr val="146B44"/>
                </a:solidFill>
                <a:latin typeface="Calibri" pitchFamily="34" charset="0"/>
                <a:ea typeface="Calibri" pitchFamily="34" charset="-122"/>
                <a:cs typeface="Calibri" pitchFamily="34" charset="-120"/>
              </a:rPr>
              <a:t>1.  </a:t>
            </a:r>
            <a:pPr indent="0" marL="0">
              <a:buNone/>
            </a:pPr>
            <a:r>
              <a:rPr lang="en-US" sz="1250" b="1" dirty="0">
                <a:solidFill>
                  <a:srgbClr val="1A1A1A"/>
                </a:solidFill>
                <a:latin typeface="Calibri" pitchFamily="34" charset="0"/>
                <a:ea typeface="Calibri" pitchFamily="34" charset="-122"/>
                <a:cs typeface="Calibri" pitchFamily="34" charset="-120"/>
              </a:rPr>
              <a:t>¿Cuándo sientes la convicción del Espíritu Santo sobre algún pecado, cuál es tu primera reacción: justificación o arrepentimiento?</a:t>
            </a:r>
            <a:endParaRPr lang="en-US" sz="1300" dirty="0"/>
          </a:p>
        </p:txBody>
      </p:sp>
      <p:sp>
        <p:nvSpPr>
          <p:cNvPr id="13" name="Shape 11"/>
          <p:cNvSpPr/>
          <p:nvPr/>
        </p:nvSpPr>
        <p:spPr>
          <a:xfrm>
            <a:off x="228600" y="3017520"/>
            <a:ext cx="8686800" cy="832104"/>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228600" y="3017520"/>
            <a:ext cx="128016" cy="832104"/>
          </a:xfrm>
          <a:prstGeom prst="rect">
            <a:avLst/>
          </a:prstGeom>
          <a:solidFill>
            <a:srgbClr val="146B44"/>
          </a:solidFill>
          <a:ln w="12700">
            <a:solidFill>
              <a:srgbClr val="146B44"/>
            </a:solidFill>
            <a:prstDash val="solid"/>
          </a:ln>
        </p:spPr>
      </p:sp>
      <p:sp>
        <p:nvSpPr>
          <p:cNvPr id="15" name="Text 13"/>
          <p:cNvSpPr/>
          <p:nvPr/>
        </p:nvSpPr>
        <p:spPr>
          <a:xfrm>
            <a:off x="420624" y="3090672"/>
            <a:ext cx="8366760" cy="685800"/>
          </a:xfrm>
          <a:prstGeom prst="rect">
            <a:avLst/>
          </a:prstGeom>
          <a:noFill/>
          <a:ln/>
        </p:spPr>
        <p:txBody>
          <a:bodyPr wrap="square" rtlCol="0" anchor="ctr"/>
          <a:lstStyle/>
          <a:p>
            <a:pPr indent="0" marL="0">
              <a:buNone/>
            </a:pPr>
            <a:r>
              <a:rPr lang="en-US" sz="1300" b="1" dirty="0">
                <a:solidFill>
                  <a:srgbClr val="146B44"/>
                </a:solidFill>
                <a:latin typeface="Calibri" pitchFamily="34" charset="0"/>
                <a:ea typeface="Calibri" pitchFamily="34" charset="-122"/>
                <a:cs typeface="Calibri" pitchFamily="34" charset="-120"/>
              </a:rPr>
              <a:t>2.  </a:t>
            </a:r>
            <a:pPr indent="0" marL="0">
              <a:buNone/>
            </a:pPr>
            <a:r>
              <a:rPr lang="en-US" sz="1250" b="1" dirty="0">
                <a:solidFill>
                  <a:srgbClr val="1A1A1A"/>
                </a:solidFill>
                <a:latin typeface="Calibri" pitchFamily="34" charset="0"/>
                <a:ea typeface="Calibri" pitchFamily="34" charset="-122"/>
                <a:cs typeface="Calibri" pitchFamily="34" charset="-120"/>
              </a:rPr>
              <a:t>¿Hay algo que te impide acercarte a Dios en arrepentimiento: vergüenza, duda de su perdón o el sentido de no merecer restauración?</a:t>
            </a:r>
            <a:endParaRPr lang="en-US" sz="1300" dirty="0"/>
          </a:p>
        </p:txBody>
      </p:sp>
      <p:sp>
        <p:nvSpPr>
          <p:cNvPr id="16" name="Shape 14"/>
          <p:cNvSpPr/>
          <p:nvPr/>
        </p:nvSpPr>
        <p:spPr>
          <a:xfrm>
            <a:off x="228600" y="388620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228600" y="3886200"/>
            <a:ext cx="128016" cy="832104"/>
          </a:xfrm>
          <a:prstGeom prst="rect">
            <a:avLst/>
          </a:prstGeom>
          <a:solidFill>
            <a:srgbClr val="146B44"/>
          </a:solidFill>
          <a:ln w="12700">
            <a:solidFill>
              <a:srgbClr val="146B44"/>
            </a:solidFill>
            <a:prstDash val="solid"/>
          </a:ln>
        </p:spPr>
      </p:sp>
      <p:sp>
        <p:nvSpPr>
          <p:cNvPr id="18" name="Text 16"/>
          <p:cNvSpPr/>
          <p:nvPr/>
        </p:nvSpPr>
        <p:spPr>
          <a:xfrm>
            <a:off x="420624" y="3959352"/>
            <a:ext cx="8366760" cy="685800"/>
          </a:xfrm>
          <a:prstGeom prst="rect">
            <a:avLst/>
          </a:prstGeom>
          <a:noFill/>
          <a:ln/>
        </p:spPr>
        <p:txBody>
          <a:bodyPr wrap="square" rtlCol="0" anchor="ctr"/>
          <a:lstStyle/>
          <a:p>
            <a:pPr indent="0" marL="0">
              <a:buNone/>
            </a:pPr>
            <a:r>
              <a:rPr lang="en-US" sz="1300" b="1" dirty="0">
                <a:solidFill>
                  <a:srgbClr val="146B44"/>
                </a:solidFill>
                <a:latin typeface="Calibri" pitchFamily="34" charset="0"/>
                <a:ea typeface="Calibri" pitchFamily="34" charset="-122"/>
                <a:cs typeface="Calibri" pitchFamily="34" charset="-120"/>
              </a:rPr>
              <a:t>3.  </a:t>
            </a:r>
            <a:pPr indent="0" marL="0">
              <a:buNone/>
            </a:pPr>
            <a:r>
              <a:rPr lang="en-US" sz="1250" b="1" dirty="0">
                <a:solidFill>
                  <a:srgbClr val="1A1A1A"/>
                </a:solidFill>
                <a:latin typeface="Calibri" pitchFamily="34" charset="0"/>
                <a:ea typeface="Calibri" pitchFamily="34" charset="-122"/>
                <a:cs typeface="Calibri" pitchFamily="34" charset="-120"/>
              </a:rPr>
              <a:t>¿Estás viviendo con la conciencia del perdón y la vestidura de justicia de Cristo, o todavía llevas el peso de culpas ya perdonadas?</a:t>
            </a:r>
            <a:endParaRPr lang="en-US" sz="1300" dirty="0"/>
          </a:p>
        </p:txBody>
      </p:sp>
      <p:sp>
        <p:nvSpPr>
          <p:cNvPr id="19" name="Shape 17"/>
          <p:cNvSpPr/>
          <p:nvPr/>
        </p:nvSpPr>
        <p:spPr>
          <a:xfrm>
            <a:off x="0" y="4800600"/>
            <a:ext cx="9144000" cy="342900"/>
          </a:xfrm>
          <a:prstGeom prst="rect">
            <a:avLst/>
          </a:prstGeom>
          <a:solidFill>
            <a:srgbClr val="003D7C"/>
          </a:solidFill>
          <a:ln w="12700">
            <a:solidFill>
              <a:srgbClr val="003D7C"/>
            </a:solidFill>
            <a:prstDash val="solid"/>
          </a:ln>
        </p:spPr>
      </p:sp>
      <p:sp>
        <p:nvSpPr>
          <p:cNvPr id="20" name="Text 1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D7C"/>
        </a:solidFill>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E87C1E">
              <a:alpha val="40000"/>
            </a:srgbClr>
          </a:solidFill>
          <a:ln w="12700">
            <a:solidFill>
              <a:srgbClr val="E87C1E">
                <a:alpha val="40000"/>
              </a:srgbClr>
            </a:solidFill>
            <a:prstDash val="solid"/>
          </a:ln>
        </p:spPr>
      </p:sp>
      <p:sp>
        <p:nvSpPr>
          <p:cNvPr id="3" name="Shape 1"/>
          <p:cNvSpPr/>
          <p:nvPr/>
        </p:nvSpPr>
        <p:spPr>
          <a:xfrm>
            <a:off x="-45720" y="3291840"/>
            <a:ext cx="1645920" cy="1920240"/>
          </a:xfrm>
          <a:prstGeom prst="rect">
            <a:avLst/>
          </a:prstGeom>
          <a:solidFill>
            <a:srgbClr val="E87C1E">
              <a:alpha val="30000"/>
            </a:srgbClr>
          </a:solidFill>
          <a:ln w="12700">
            <a:solidFill>
              <a:srgbClr val="E87C1E">
                <a:alpha val="30000"/>
              </a:srgbClr>
            </a:solidFill>
            <a:prstDash val="solid"/>
          </a:ln>
        </p:spPr>
      </p:sp>
      <p:sp>
        <p:nvSpPr>
          <p:cNvPr id="4" name="Shape 2"/>
          <p:cNvSpPr/>
          <p:nvPr/>
        </p:nvSpPr>
        <p:spPr>
          <a:xfrm>
            <a:off x="347472" y="256032"/>
            <a:ext cx="2743200" cy="438912"/>
          </a:xfrm>
          <a:prstGeom prst="rect">
            <a:avLst/>
          </a:prstGeom>
          <a:solidFill>
            <a:srgbClr val="E87C1E"/>
          </a:solidFill>
          <a:ln w="12700">
            <a:solidFill>
              <a:srgbClr val="E87C1E"/>
            </a:solidFill>
            <a:prstDash val="solid"/>
          </a:ln>
        </p:spPr>
      </p:sp>
      <p:sp>
        <p:nvSpPr>
          <p:cNvPr id="5" name="Text 3"/>
          <p:cNvSpPr/>
          <p:nvPr/>
        </p:nvSpPr>
        <p:spPr>
          <a:xfrm>
            <a:off x="347472" y="256032"/>
            <a:ext cx="27432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[FASE 4]  CREA  — MI DECISIÓN</a:t>
            </a:r>
            <a:endParaRPr lang="en-US" sz="1050" dirty="0"/>
          </a:p>
        </p:txBody>
      </p:sp>
      <p:sp>
        <p:nvSpPr>
          <p:cNvPr id="6" name="Shape 4"/>
          <p:cNvSpPr/>
          <p:nvPr/>
        </p:nvSpPr>
        <p:spPr>
          <a:xfrm>
            <a:off x="347472" y="804672"/>
            <a:ext cx="118872" cy="3886200"/>
          </a:xfrm>
          <a:prstGeom prst="rect">
            <a:avLst/>
          </a:prstGeom>
          <a:solidFill>
            <a:srgbClr val="E87C1E"/>
          </a:solidFill>
          <a:ln w="12700">
            <a:solidFill>
              <a:srgbClr val="E87C1E"/>
            </a:solidFill>
            <a:prstDash val="solid"/>
          </a:ln>
        </p:spPr>
      </p:sp>
      <p:sp>
        <p:nvSpPr>
          <p:cNvPr id="7" name="Text 5"/>
          <p:cNvSpPr/>
          <p:nvPr/>
        </p:nvSpPr>
        <p:spPr>
          <a:xfrm>
            <a:off x="566928" y="822960"/>
            <a:ext cx="8046720" cy="411480"/>
          </a:xfrm>
          <a:prstGeom prst="rect">
            <a:avLst/>
          </a:prstGeom>
          <a:noFill/>
          <a:ln/>
        </p:spPr>
        <p:txBody>
          <a:bodyPr wrap="square" rtlCol="0" anchor="ctr"/>
          <a:lstStyle/>
          <a:p>
            <a:pPr indent="0" marL="0">
              <a:buNone/>
            </a:pPr>
            <a:r>
              <a:rPr lang="en-US" sz="1400" i="1" dirty="0">
                <a:solidFill>
                  <a:srgbClr val="D0E4F5"/>
                </a:solidFill>
                <a:latin typeface="Calibri" pitchFamily="34" charset="0"/>
                <a:ea typeface="Calibri" pitchFamily="34" charset="-122"/>
                <a:cs typeface="Calibri" pitchFamily="34" charset="-120"/>
              </a:rPr>
              <a:t>Marca tu respuesta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E87C1E">
                <a:alpha val="60000"/>
              </a:srgbClr>
            </a:solidFill>
            <a:prstDash val="solid"/>
          </a:ln>
        </p:spPr>
      </p:sp>
      <p:sp>
        <p:nvSpPr>
          <p:cNvPr id="9" name="Shape 7"/>
          <p:cNvSpPr/>
          <p:nvPr/>
        </p:nvSpPr>
        <p:spPr>
          <a:xfrm>
            <a:off x="713232" y="1453896"/>
            <a:ext cx="292608" cy="292608"/>
          </a:xfrm>
          <a:prstGeom prst="ellipse">
            <a:avLst/>
          </a:prstGeom>
          <a:solidFill>
            <a:srgbClr val="E87C1E"/>
          </a:solidFill>
          <a:ln w="12700">
            <a:solidFill>
              <a:srgbClr val="E87C1E"/>
            </a:solidFill>
            <a:prstDash val="solid"/>
          </a:ln>
        </p:spPr>
      </p:sp>
      <p:sp>
        <p:nvSpPr>
          <p:cNvPr id="10" name="Text 8"/>
          <p:cNvSpPr/>
          <p:nvPr/>
        </p:nvSpPr>
        <p:spPr>
          <a:xfrm>
            <a:off x="713232" y="1453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Esta semana me acercaré a Dios con un arrepentimiento honesto por algo que he estado posponiendo confesar.</a:t>
            </a:r>
            <a:endParaRPr lang="en-US" sz="1250" dirty="0"/>
          </a:p>
        </p:txBody>
      </p:sp>
      <p:sp>
        <p:nvSpPr>
          <p:cNvPr id="12" name="Text 10"/>
          <p:cNvSpPr/>
          <p:nvPr/>
        </p:nvSpPr>
        <p:spPr>
          <a:xfrm>
            <a:off x="7818120" y="1399032"/>
            <a:ext cx="914400" cy="850392"/>
          </a:xfrm>
          <a:prstGeom prst="rect">
            <a:avLst/>
          </a:prstGeom>
          <a:noFill/>
          <a:ln/>
        </p:spPr>
        <p:txBody>
          <a:bodyPr wrap="square" rtlCol="0" anchor="ctr"/>
          <a:lstStyle/>
          <a:p>
            <a:pPr algn="r" indent="0" marL="0">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13" name="Shape 11"/>
          <p:cNvSpPr/>
          <p:nvPr/>
        </p:nvSpPr>
        <p:spPr>
          <a:xfrm>
            <a:off x="566928" y="2377440"/>
            <a:ext cx="8229600" cy="996696"/>
          </a:xfrm>
          <a:prstGeom prst="rect">
            <a:avLst/>
          </a:prstGeom>
          <a:solidFill>
            <a:srgbClr val="FFF0E0">
              <a:alpha val="92000"/>
            </a:srgbClr>
          </a:solidFill>
          <a:ln w="12700">
            <a:solidFill>
              <a:srgbClr val="E87C1E">
                <a:alpha val="60000"/>
              </a:srgbClr>
            </a:solidFill>
            <a:prstDash val="solid"/>
          </a:ln>
        </p:spPr>
      </p:sp>
      <p:sp>
        <p:nvSpPr>
          <p:cNvPr id="14" name="Shape 12"/>
          <p:cNvSpPr/>
          <p:nvPr/>
        </p:nvSpPr>
        <p:spPr>
          <a:xfrm>
            <a:off x="713232" y="2505456"/>
            <a:ext cx="292608" cy="292608"/>
          </a:xfrm>
          <a:prstGeom prst="ellipse">
            <a:avLst/>
          </a:prstGeom>
          <a:solidFill>
            <a:srgbClr val="E87C1E"/>
          </a:solidFill>
          <a:ln w="12700">
            <a:solidFill>
              <a:srgbClr val="E87C1E"/>
            </a:solidFill>
            <a:prstDash val="solid"/>
          </a:ln>
        </p:spPr>
      </p:sp>
      <p:sp>
        <p:nvSpPr>
          <p:cNvPr id="15" name="Text 13"/>
          <p:cNvSpPr/>
          <p:nvPr/>
        </p:nvSpPr>
        <p:spPr>
          <a:xfrm>
            <a:off x="713232" y="25054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Recibiré el perdón de Dios como definitivo y dejaré de cargar la culpa de pecados que ya le he confesado.</a:t>
            </a:r>
            <a:endParaRPr lang="en-US" sz="1250" dirty="0"/>
          </a:p>
        </p:txBody>
      </p:sp>
      <p:sp>
        <p:nvSpPr>
          <p:cNvPr id="17" name="Text 15"/>
          <p:cNvSpPr/>
          <p:nvPr/>
        </p:nvSpPr>
        <p:spPr>
          <a:xfrm>
            <a:off x="7818120" y="2450592"/>
            <a:ext cx="914400" cy="850392"/>
          </a:xfrm>
          <a:prstGeom prst="rect">
            <a:avLst/>
          </a:prstGeom>
          <a:noFill/>
          <a:ln/>
        </p:spPr>
        <p:txBody>
          <a:bodyPr wrap="square" rtlCol="0" anchor="ctr"/>
          <a:lstStyle/>
          <a:p>
            <a:pPr algn="r" indent="0" marL="0">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E87C1E">
                <a:alpha val="60000"/>
              </a:srgbClr>
            </a:solidFill>
            <a:prstDash val="solid"/>
          </a:ln>
        </p:spPr>
      </p:sp>
      <p:sp>
        <p:nvSpPr>
          <p:cNvPr id="19" name="Shape 17"/>
          <p:cNvSpPr/>
          <p:nvPr/>
        </p:nvSpPr>
        <p:spPr>
          <a:xfrm>
            <a:off x="713232" y="3557016"/>
            <a:ext cx="292608" cy="292608"/>
          </a:xfrm>
          <a:prstGeom prst="ellipse">
            <a:avLst/>
          </a:prstGeom>
          <a:solidFill>
            <a:srgbClr val="E87C1E"/>
          </a:solidFill>
          <a:ln w="12700">
            <a:solidFill>
              <a:srgbClr val="E87C1E"/>
            </a:solidFill>
            <a:prstDash val="solid"/>
          </a:ln>
        </p:spPr>
      </p:sp>
      <p:sp>
        <p:nvSpPr>
          <p:cNvPr id="20" name="Text 18"/>
          <p:cNvSpPr/>
          <p:nvPr/>
        </p:nvSpPr>
        <p:spPr>
          <a:xfrm>
            <a:off x="713232" y="3557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Si he lastimado a alguien, buscaré la reconciliación con esa persona esta semana como expresión de mi relación restaurada con Dios.</a:t>
            </a:r>
            <a:endParaRPr lang="en-US" sz="1250" dirty="0"/>
          </a:p>
        </p:txBody>
      </p:sp>
      <p:sp>
        <p:nvSpPr>
          <p:cNvPr id="22" name="Text 20"/>
          <p:cNvSpPr/>
          <p:nvPr/>
        </p:nvSpPr>
        <p:spPr>
          <a:xfrm>
            <a:off x="7818120" y="3502152"/>
            <a:ext cx="914400" cy="850392"/>
          </a:xfrm>
          <a:prstGeom prst="rect">
            <a:avLst/>
          </a:prstGeom>
          <a:noFill/>
          <a:ln/>
        </p:spPr>
        <p:txBody>
          <a:bodyPr wrap="square" rtlCol="0" anchor="ctr"/>
          <a:lstStyle/>
          <a:p>
            <a:pPr algn="r" indent="0" marL="0">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23" name="Shape 21"/>
          <p:cNvSpPr/>
          <p:nvPr/>
        </p:nvSpPr>
        <p:spPr>
          <a:xfrm>
            <a:off x="0" y="4800600"/>
            <a:ext cx="9144000" cy="342900"/>
          </a:xfrm>
          <a:prstGeom prst="rect">
            <a:avLst/>
          </a:prstGeom>
          <a:solidFill>
            <a:srgbClr val="003D7C"/>
          </a:solidFill>
          <a:ln w="12700">
            <a:solidFill>
              <a:srgbClr val="003D7C"/>
            </a:solidFill>
            <a:prstDash val="solid"/>
          </a:ln>
        </p:spPr>
      </p:sp>
      <p:sp>
        <p:nvSpPr>
          <p:cNvPr id="24" name="Text 2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D7C"/>
        </a:solidFill>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E87C1E">
              <a:alpha val="40000"/>
            </a:srgbClr>
          </a:solidFill>
          <a:ln w="12700">
            <a:solidFill>
              <a:srgbClr val="E87C1E">
                <a:alpha val="40000"/>
              </a:srgbClr>
            </a:solidFill>
            <a:prstDash val="solid"/>
          </a:ln>
        </p:spPr>
      </p:sp>
      <p:sp>
        <p:nvSpPr>
          <p:cNvPr id="3" name="Shape 1"/>
          <p:cNvSpPr/>
          <p:nvPr/>
        </p:nvSpPr>
        <p:spPr>
          <a:xfrm>
            <a:off x="7818120" y="1691640"/>
            <a:ext cx="1371600" cy="1371600"/>
          </a:xfrm>
          <a:prstGeom prst="rect">
            <a:avLst/>
          </a:prstGeom>
          <a:solidFill>
            <a:srgbClr val="E87C1E">
              <a:alpha val="25000"/>
            </a:srgbClr>
          </a:solidFill>
          <a:ln w="12700">
            <a:solidFill>
              <a:srgbClr val="E87C1E">
                <a:alpha val="25000"/>
              </a:srgbClr>
            </a:solidFill>
            <a:prstDash val="solid"/>
          </a:ln>
        </p:spPr>
      </p:sp>
      <p:sp>
        <p:nvSpPr>
          <p:cNvPr id="4" name="Shape 2"/>
          <p:cNvSpPr/>
          <p:nvPr/>
        </p:nvSpPr>
        <p:spPr>
          <a:xfrm>
            <a:off x="-45720" y="3520440"/>
            <a:ext cx="1920240" cy="1783080"/>
          </a:xfrm>
          <a:prstGeom prst="rect">
            <a:avLst/>
          </a:prstGeom>
          <a:solidFill>
            <a:srgbClr val="E87C1E">
              <a:alpha val="30000"/>
            </a:srgbClr>
          </a:solidFill>
          <a:ln w="12700">
            <a:solidFill>
              <a:srgbClr val="E87C1E">
                <a:alpha val="30000"/>
              </a:srgbClr>
            </a:solidFill>
            <a:prstDash val="solid"/>
          </a:ln>
        </p:spPr>
      </p:sp>
      <p:sp>
        <p:nvSpPr>
          <p:cNvPr id="5" name="Shape 3"/>
          <p:cNvSpPr/>
          <p:nvPr/>
        </p:nvSpPr>
        <p:spPr>
          <a:xfrm>
            <a:off x="438912" y="1005840"/>
            <a:ext cx="118872" cy="2423160"/>
          </a:xfrm>
          <a:prstGeom prst="rect">
            <a:avLst/>
          </a:prstGeom>
          <a:solidFill>
            <a:srgbClr val="E87C1E"/>
          </a:solidFill>
          <a:ln w="12700">
            <a:solidFill>
              <a:srgbClr val="E87C1E"/>
            </a:solidFill>
            <a:prstDash val="solid"/>
          </a:ln>
        </p:spPr>
      </p:sp>
      <p:sp>
        <p:nvSpPr>
          <p:cNvPr id="6" name="Text 4"/>
          <p:cNvSpPr/>
          <p:nvPr/>
        </p:nvSpPr>
        <p:spPr>
          <a:xfrm>
            <a:off x="658368" y="822960"/>
            <a:ext cx="7772400" cy="146304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7" name="Text 5"/>
          <p:cNvSpPr/>
          <p:nvPr/>
        </p:nvSpPr>
        <p:spPr>
          <a:xfrm>
            <a:off x="658368" y="2423160"/>
            <a:ext cx="7772400" cy="594360"/>
          </a:xfrm>
          <a:prstGeom prst="rect">
            <a:avLst/>
          </a:prstGeom>
          <a:noFill/>
          <a:ln/>
        </p:spPr>
        <p:txBody>
          <a:bodyPr wrap="square" rtlCol="0" anchor="ctr"/>
          <a:lstStyle/>
          <a:p>
            <a:pPr indent="0" marL="0">
              <a:buNone/>
            </a:pPr>
            <a:r>
              <a:rPr lang="en-US" sz="2200" b="1" dirty="0">
                <a:solidFill>
                  <a:srgbClr val="E87C1E"/>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indent="0" marL="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003D7C"/>
          </a:solidFill>
          <a:ln w="12700">
            <a:solidFill>
              <a:srgbClr val="003D7C"/>
            </a:solidFill>
            <a:prstDash val="solid"/>
          </a:ln>
        </p:spPr>
      </p:sp>
      <p:sp>
        <p:nvSpPr>
          <p:cNvPr id="10" name="Text 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Lección 10 · ARREPENTIMIENTO Y PERDÓN</dc:title>
  <dc:subject>PptxGenJS Presentation</dc:subject>
  <dc:creator>Dr. Tito Goicochea M.</dc:creator>
  <cp:lastModifiedBy>Dr. Tito Goicochea M.</cp:lastModifiedBy>
  <cp:revision>1</cp:revision>
  <dcterms:created xsi:type="dcterms:W3CDTF">2026-03-15T16:06:19Z</dcterms:created>
  <dcterms:modified xsi:type="dcterms:W3CDTF">2026-03-15T16:06:19Z</dcterms:modified>
</cp:coreProperties>
</file>