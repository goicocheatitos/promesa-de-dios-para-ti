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2D7A3A">
              <a:alpha val="70000"/>
            </a:srgbClr>
          </a:solidFill>
          <a:ln w="12700">
            <a:solidFill>
              <a:srgbClr val="2D7A3A">
                <a:alpha val="70000"/>
              </a:srgbClr>
            </a:solidFill>
            <a:prstDash val="solid"/>
          </a:ln>
        </p:spPr>
      </p:sp>
      <p:sp>
        <p:nvSpPr>
          <p:cNvPr id="3" name="Shape 1"/>
          <p:cNvSpPr/>
          <p:nvPr/>
        </p:nvSpPr>
        <p:spPr>
          <a:xfrm>
            <a:off x="7406640" y="713232"/>
            <a:ext cx="1783080" cy="502920"/>
          </a:xfrm>
          <a:prstGeom prst="rect">
            <a:avLst/>
          </a:prstGeom>
          <a:solidFill>
            <a:srgbClr val="2D7A3A">
              <a:alpha val="45000"/>
            </a:srgbClr>
          </a:solidFill>
          <a:ln w="12700">
            <a:solidFill>
              <a:srgbClr val="2D7A3A">
                <a:alpha val="45000"/>
              </a:srgbClr>
            </a:solidFill>
            <a:prstDash val="solid"/>
          </a:ln>
        </p:spPr>
      </p:sp>
      <p:sp>
        <p:nvSpPr>
          <p:cNvPr id="4" name="Shape 2"/>
          <p:cNvSpPr/>
          <p:nvPr/>
        </p:nvSpPr>
        <p:spPr>
          <a:xfrm>
            <a:off x="-45720" y="3566160"/>
            <a:ext cx="1554480" cy="1645920"/>
          </a:xfrm>
          <a:prstGeom prst="rect">
            <a:avLst/>
          </a:prstGeom>
          <a:solidFill>
            <a:srgbClr val="2D7A3A">
              <a:alpha val="45000"/>
            </a:srgbClr>
          </a:solidFill>
          <a:ln w="12700">
            <a:solidFill>
              <a:srgbClr val="2D7A3A">
                <a:alpha val="45000"/>
              </a:srgbClr>
            </a:solidFill>
            <a:prstDash val="solid"/>
          </a:ln>
        </p:spPr>
      </p:sp>
      <p:sp>
        <p:nvSpPr>
          <p:cNvPr id="5" name="Shape 3"/>
          <p:cNvSpPr/>
          <p:nvPr/>
        </p:nvSpPr>
        <p:spPr>
          <a:xfrm>
            <a:off x="475488" y="1051560"/>
            <a:ext cx="118872" cy="2468880"/>
          </a:xfrm>
          <a:prstGeom prst="rect">
            <a:avLst/>
          </a:prstGeom>
          <a:solidFill>
            <a:srgbClr val="2D7A3A"/>
          </a:solidFill>
          <a:ln w="12700">
            <a:solidFill>
              <a:srgbClr val="2D7A3A"/>
            </a:solidFill>
            <a:prstDash val="solid"/>
          </a:ln>
        </p:spPr>
      </p:sp>
      <p:sp>
        <p:nvSpPr>
          <p:cNvPr id="6" name="Text 4"/>
          <p:cNvSpPr/>
          <p:nvPr/>
        </p:nvSpPr>
        <p:spPr>
          <a:xfrm>
            <a:off x="713232" y="228600"/>
            <a:ext cx="7772400" cy="475488"/>
          </a:xfrm>
          <a:prstGeom prst="rect">
            <a:avLst/>
          </a:prstGeom>
          <a:noFill/>
          <a:ln/>
        </p:spPr>
        <p:txBody>
          <a:bodyPr wrap="square" rtlCol="0" anchor="ctr"/>
          <a:lstStyle/>
          <a:p>
            <a:pPr indent="0" marL="0">
              <a:buNone/>
            </a:pPr>
            <a:r>
              <a:rPr lang="en-US" sz="1250" b="1" spc="100" kern="0" dirty="0">
                <a:solidFill>
                  <a:srgbClr val="D0E4F5"/>
                </a:solidFill>
                <a:latin typeface="Calibri" pitchFamily="34" charset="0"/>
                <a:ea typeface="Calibri" pitchFamily="34" charset="-122"/>
                <a:cs typeface="Calibri" pitchFamily="34" charset="-120"/>
              </a:rPr>
              <a:t>PUNTOS PRINCIPALES DE LA LECCIÓN DE ESCUELA SABÁTICA</a:t>
            </a:r>
            <a:endParaRPr lang="en-US" sz="1250" dirty="0"/>
          </a:p>
        </p:txBody>
      </p:sp>
      <p:sp>
        <p:nvSpPr>
          <p:cNvPr id="7" name="Text 5"/>
          <p:cNvSpPr/>
          <p:nvPr/>
        </p:nvSpPr>
        <p:spPr>
          <a:xfrm>
            <a:off x="713232" y="685800"/>
            <a:ext cx="7772400" cy="384048"/>
          </a:xfrm>
          <a:prstGeom prst="rect">
            <a:avLst/>
          </a:prstGeom>
          <a:noFill/>
          <a:ln/>
        </p:spPr>
        <p:txBody>
          <a:bodyPr wrap="square" rtlCol="0" anchor="ctr"/>
          <a:lstStyle/>
          <a:p>
            <a:pPr indent="0" marL="0">
              <a:buNone/>
            </a:pPr>
            <a:r>
              <a:rPr lang="en-US" sz="1400" b="1" spc="200" kern="0" dirty="0">
                <a:solidFill>
                  <a:srgbClr val="2D7A3A"/>
                </a:solidFill>
                <a:latin typeface="Calibri" pitchFamily="34" charset="0"/>
                <a:ea typeface="Calibri" pitchFamily="34" charset="-122"/>
                <a:cs typeface="Calibri" pitchFamily="34" charset="-120"/>
              </a:rPr>
              <a:t>Lección 9</a:t>
            </a:r>
            <a:endParaRPr lang="en-US" sz="1400" dirty="0"/>
          </a:p>
        </p:txBody>
      </p:sp>
      <p:sp>
        <p:nvSpPr>
          <p:cNvPr id="8" name="Text 6"/>
          <p:cNvSpPr/>
          <p:nvPr/>
        </p:nvSpPr>
        <p:spPr>
          <a:xfrm>
            <a:off x="713232" y="1051560"/>
            <a:ext cx="7498080" cy="1005840"/>
          </a:xfrm>
          <a:prstGeom prst="rect">
            <a:avLst/>
          </a:prstGeom>
          <a:noFill/>
          <a:ln/>
        </p:spPr>
        <p:txBody>
          <a:bodyPr wrap="square" rtlCol="0" anchor="ctr"/>
          <a:lstStyle/>
          <a:p>
            <a:pPr indent="0" marL="0">
              <a:buNone/>
            </a:pPr>
            <a:r>
              <a:rPr lang="en-US" sz="4000" b="1" spc="200" kern="0" dirty="0">
                <a:solidFill>
                  <a:srgbClr val="FFFFFF"/>
                </a:solidFill>
                <a:latin typeface="Calibri" pitchFamily="34" charset="0"/>
                <a:ea typeface="Calibri" pitchFamily="34" charset="-122"/>
                <a:cs typeface="Calibri" pitchFamily="34" charset="-120"/>
              </a:rPr>
              <a:t>EL PECADO, EL EVANGELIO Y LA LEY</a:t>
            </a:r>
            <a:endParaRPr lang="en-US" sz="4000" dirty="0"/>
          </a:p>
        </p:txBody>
      </p:sp>
      <p:sp>
        <p:nvSpPr>
          <p:cNvPr id="9" name="Text 7"/>
          <p:cNvSpPr/>
          <p:nvPr/>
        </p:nvSpPr>
        <p:spPr>
          <a:xfrm>
            <a:off x="713232" y="2148840"/>
            <a:ext cx="7772400" cy="347472"/>
          </a:xfrm>
          <a:prstGeom prst="rect">
            <a:avLst/>
          </a:prstGeom>
          <a:noFill/>
          <a:ln/>
        </p:spPr>
        <p:txBody>
          <a:bodyPr wrap="square" rtlCol="0" anchor="ctr"/>
          <a:lstStyle/>
          <a:p>
            <a:pPr indent="0" marL="0">
              <a:buNone/>
            </a:pPr>
            <a:r>
              <a:rPr lang="en-US" sz="1300" i="1" dirty="0">
                <a:solidFill>
                  <a:srgbClr val="D0E4F5"/>
                </a:solidFill>
                <a:latin typeface="Calibri" pitchFamily="34" charset="0"/>
                <a:ea typeface="Calibri" pitchFamily="34" charset="-122"/>
                <a:cs typeface="Calibri" pitchFamily="34" charset="-120"/>
              </a:rPr>
              <a:t>Para el Sábado 30 de mayo de 2026</a:t>
            </a:r>
            <a:endParaRPr lang="en-US" sz="1300" dirty="0"/>
          </a:p>
        </p:txBody>
      </p:sp>
      <p:sp>
        <p:nvSpPr>
          <p:cNvPr id="10" name="Shape 8"/>
          <p:cNvSpPr/>
          <p:nvPr/>
        </p:nvSpPr>
        <p:spPr>
          <a:xfrm>
            <a:off x="475488" y="2514600"/>
            <a:ext cx="8229600" cy="1024128"/>
          </a:xfrm>
          <a:prstGeom prst="rect">
            <a:avLst/>
          </a:prstGeom>
          <a:solidFill>
            <a:srgbClr val="FFFFFF">
              <a:alpha val="10000"/>
            </a:srgbClr>
          </a:solidFill>
          <a:ln w="12700">
            <a:solidFill>
              <a:srgbClr val="2D7A3A">
                <a:alpha val="75000"/>
              </a:srgbClr>
            </a:solidFill>
            <a:prstDash val="solid"/>
          </a:ln>
        </p:spPr>
      </p:sp>
      <p:sp>
        <p:nvSpPr>
          <p:cNvPr id="11" name="Shape 9"/>
          <p:cNvSpPr/>
          <p:nvPr/>
        </p:nvSpPr>
        <p:spPr>
          <a:xfrm>
            <a:off x="475488" y="2514600"/>
            <a:ext cx="118872" cy="1024128"/>
          </a:xfrm>
          <a:prstGeom prst="rect">
            <a:avLst/>
          </a:prstGeom>
          <a:solidFill>
            <a:srgbClr val="2D7A3A"/>
          </a:solidFill>
          <a:ln w="12700">
            <a:solidFill>
              <a:srgbClr val="2D7A3A"/>
            </a:solidFill>
            <a:prstDash val="solid"/>
          </a:ln>
        </p:spPr>
      </p:sp>
      <p:sp>
        <p:nvSpPr>
          <p:cNvPr id="12" name="Text 10"/>
          <p:cNvSpPr/>
          <p:nvPr/>
        </p:nvSpPr>
        <p:spPr>
          <a:xfrm>
            <a:off x="658368" y="2532888"/>
            <a:ext cx="7909560" cy="987552"/>
          </a:xfrm>
          <a:prstGeom prst="rect">
            <a:avLst/>
          </a:prstGeom>
          <a:noFill/>
          <a:ln/>
        </p:spPr>
        <p:txBody>
          <a:bodyPr wrap="square" rtlCol="0" anchor="ctr"/>
          <a:lstStyle/>
          <a:p>
            <a:pPr indent="0" marL="0">
              <a:buNone/>
            </a:pPr>
            <a:r>
              <a:rPr lang="en-US" sz="900" b="1" dirty="0">
                <a:solidFill>
                  <a:srgbClr val="2D7A3A"/>
                </a:solidFill>
                <a:latin typeface="Calibri" pitchFamily="34" charset="0"/>
                <a:ea typeface="Calibri" pitchFamily="34" charset="-122"/>
                <a:cs typeface="Calibri" pitchFamily="34" charset="-120"/>
              </a:rPr>
              <a:t>Para memorizar: </a:t>
            </a:r>
            <a:pPr indent="0" marL="0">
              <a:buNone/>
            </a:pPr>
            <a:r>
              <a:rPr lang="en-US" sz="1150" i="1" dirty="0">
                <a:solidFill>
                  <a:srgbClr val="FFFFFF"/>
                </a:solidFill>
                <a:latin typeface="Calibri" pitchFamily="34" charset="0"/>
                <a:ea typeface="Calibri" pitchFamily="34" charset="-122"/>
                <a:cs typeface="Calibri" pitchFamily="34" charset="-120"/>
              </a:rPr>
              <a:t>"Jamás olvidaré tus mandamientos, porque con ellos me has vivificado."  —  Salmo 119:93</a:t>
            </a:r>
            <a:endParaRPr lang="en-US" sz="900" dirty="0"/>
          </a:p>
        </p:txBody>
      </p:sp>
      <p:sp>
        <p:nvSpPr>
          <p:cNvPr id="13" name="Shape 11"/>
          <p:cNvSpPr/>
          <p:nvPr/>
        </p:nvSpPr>
        <p:spPr>
          <a:xfrm>
            <a:off x="0" y="4800600"/>
            <a:ext cx="9144000" cy="342900"/>
          </a:xfrm>
          <a:prstGeom prst="rect">
            <a:avLst/>
          </a:prstGeom>
          <a:solidFill>
            <a:srgbClr val="1A5276"/>
          </a:solidFill>
          <a:ln w="12700">
            <a:solidFill>
              <a:srgbClr val="1A5276"/>
            </a:solidFill>
            <a:prstDash val="solid"/>
          </a:ln>
        </p:spPr>
      </p:sp>
      <p:sp>
        <p:nvSpPr>
          <p:cNvPr id="14" name="Text 1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Reflexiona antes de comenzar:</a:t>
            </a:r>
            <a:endParaRPr lang="en-US" sz="1100" dirty="0"/>
          </a:p>
        </p:txBody>
      </p:sp>
      <p:sp>
        <p:nvSpPr>
          <p:cNvPr id="5" name="Shape 3"/>
          <p:cNvSpPr/>
          <p:nvPr/>
        </p:nvSpPr>
        <p:spPr>
          <a:xfrm>
            <a:off x="256032" y="804672"/>
            <a:ext cx="8631936" cy="1600200"/>
          </a:xfrm>
          <a:prstGeom prst="rect">
            <a:avLst/>
          </a:prstGeom>
          <a:solidFill>
            <a:srgbClr val="E8F5EA"/>
          </a:solidFill>
          <a:ln w="12700">
            <a:solidFill>
              <a:srgbClr val="2D7A3A"/>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56032" y="804672"/>
            <a:ext cx="128016" cy="1600200"/>
          </a:xfrm>
          <a:prstGeom prst="rect">
            <a:avLst/>
          </a:prstGeom>
          <a:solidFill>
            <a:srgbClr val="2D7A3A"/>
          </a:solidFill>
          <a:ln w="12700">
            <a:solidFill>
              <a:srgbClr val="2D7A3A"/>
            </a:solidFill>
            <a:prstDash val="solid"/>
          </a:ln>
        </p:spPr>
      </p:sp>
      <p:sp>
        <p:nvSpPr>
          <p:cNvPr id="7" name="Text 5"/>
          <p:cNvSpPr/>
          <p:nvPr/>
        </p:nvSpPr>
        <p:spPr>
          <a:xfrm>
            <a:off x="438912" y="832104"/>
            <a:ext cx="8321040" cy="1536192"/>
          </a:xfrm>
          <a:prstGeom prst="rect">
            <a:avLst/>
          </a:prstGeom>
          <a:noFill/>
          <a:ln/>
        </p:spPr>
        <p:txBody>
          <a:bodyPr wrap="square" rtlCol="0" anchor="ctr"/>
          <a:lstStyle/>
          <a:p>
            <a:pPr indent="0" marL="0">
              <a:buNone/>
            </a:pPr>
            <a:r>
              <a:rPr lang="en-US" sz="1600" b="1" dirty="0">
                <a:solidFill>
                  <a:srgbClr val="1A5276"/>
                </a:solidFill>
                <a:latin typeface="Calibri" pitchFamily="34" charset="0"/>
                <a:ea typeface="Calibri" pitchFamily="34" charset="-122"/>
                <a:cs typeface="Calibri" pitchFamily="34" charset="-120"/>
              </a:rPr>
              <a:t>GPS:  </a:t>
            </a:r>
            <a:pPr indent="0" marL="0">
              <a:buNone/>
            </a:pPr>
            <a:r>
              <a:rPr lang="en-US" sz="1450" b="1" i="1" dirty="0">
                <a:solidFill>
                  <a:srgbClr val="2D7A3A"/>
                </a:solidFill>
                <a:latin typeface="Calibri" pitchFamily="34" charset="0"/>
                <a:ea typeface="Calibri" pitchFamily="34" charset="-122"/>
                <a:cs typeface="Calibri" pitchFamily="34" charset="-120"/>
              </a:rPr>
              <a:t>¿Cómo te ayudan la Ley y el Evangelio juntos a comprender el pecado, recibir la gracia de Dios y vivir una fe que se expresa en obediencia genuina?</a:t>
            </a:r>
            <a:endParaRPr lang="en-US" sz="16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256032" y="2532888"/>
            <a:ext cx="128016" cy="749808"/>
          </a:xfrm>
          <a:prstGeom prst="rect">
            <a:avLst/>
          </a:prstGeom>
          <a:solidFill>
            <a:srgbClr val="1A5276"/>
          </a:solidFill>
          <a:ln w="12700">
            <a:solidFill>
              <a:srgbClr val="1A5276"/>
            </a:solidFill>
            <a:prstDash val="solid"/>
          </a:ln>
        </p:spPr>
      </p:sp>
      <p:sp>
        <p:nvSpPr>
          <p:cNvPr id="10" name="Text 8"/>
          <p:cNvSpPr/>
          <p:nvPr/>
        </p:nvSpPr>
        <p:spPr>
          <a:xfrm>
            <a:off x="457200" y="2578608"/>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¿Cómo defines el pecado en tu vida diaria? ¿Es algo que reconoces con claridad o tiende a volverse borroso ante las presiones y excusas del ambiente?</a:t>
            </a:r>
            <a:endParaRPr lang="en-US" sz="125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56032" y="3419856"/>
            <a:ext cx="128016" cy="749808"/>
          </a:xfrm>
          <a:prstGeom prst="rect">
            <a:avLst/>
          </a:prstGeom>
          <a:solidFill>
            <a:srgbClr val="1A5276"/>
          </a:solidFill>
          <a:ln w="12700">
            <a:solidFill>
              <a:srgbClr val="1A5276"/>
            </a:solidFill>
            <a:prstDash val="solid"/>
          </a:ln>
        </p:spPr>
      </p:sp>
      <p:sp>
        <p:nvSpPr>
          <p:cNvPr id="13" name="Text 11"/>
          <p:cNvSpPr/>
          <p:nvPr/>
        </p:nvSpPr>
        <p:spPr>
          <a:xfrm>
            <a:off x="457200" y="3465576"/>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¿Sientes que en tu experiencia personal la Ley y el Evangelio van de la mano, o te parece que alguno de los dos recibe más énfasis?</a:t>
            </a:r>
            <a:endParaRPr lang="en-US" sz="1250" dirty="0"/>
          </a:p>
        </p:txBody>
      </p:sp>
      <p:sp>
        <p:nvSpPr>
          <p:cNvPr id="14" name="Shape 12"/>
          <p:cNvSpPr/>
          <p:nvPr/>
        </p:nvSpPr>
        <p:spPr>
          <a:xfrm>
            <a:off x="0" y="4800600"/>
            <a:ext cx="9144000" cy="342900"/>
          </a:xfrm>
          <a:prstGeom prst="rect">
            <a:avLst/>
          </a:prstGeom>
          <a:solidFill>
            <a:srgbClr val="1A5276"/>
          </a:solidFill>
          <a:ln w="12700">
            <a:solidFill>
              <a:srgbClr val="1A5276"/>
            </a:solidFill>
            <a:prstDash val="solid"/>
          </a:ln>
        </p:spPr>
      </p:sp>
      <p:sp>
        <p:nvSpPr>
          <p:cNvPr id="15" name="Text 13"/>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2D7A3A"/>
          </a:solidFill>
          <a:ln w="12700">
            <a:solidFill>
              <a:srgbClr val="2D7A3A"/>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1A5276"/>
          </a:solidFill>
          <a:ln w="12700">
            <a:solidFill>
              <a:srgbClr val="1A5276"/>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2D7A3A"/>
          </a:solidFill>
          <a:ln w="12700">
            <a:solidFill>
              <a:srgbClr val="2D7A3A"/>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El pecado: distracción, transgresión y obstáculo</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El pecado no solo es la transgresión de la Ley sino también las distracciones que nos alejan de Dios. Reconocer el pecado requiere honestidad, pues el mundo lo minimiza y nosotros tendemos a justificarlo.</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2D7A3A"/>
                </a:solidFill>
                <a:latin typeface="Calibri" pitchFamily="34" charset="0"/>
                <a:ea typeface="Calibri" pitchFamily="34" charset="-122"/>
                <a:cs typeface="Calibri" pitchFamily="34" charset="-120"/>
              </a:rPr>
              <a:t>1 Juan 3:4; Romanos 3:20</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2D7A3A"/>
          </a:solidFill>
          <a:ln w="12700">
            <a:solidFill>
              <a:srgbClr val="2D7A3A"/>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1 Juan 3:4  —  </a:t>
            </a:r>
            <a:pPr indent="0" marL="0">
              <a:buNone/>
            </a:pPr>
            <a:r>
              <a:rPr lang="en-US" sz="1150" b="1" dirty="0">
                <a:solidFill>
                  <a:srgbClr val="1A5276"/>
                </a:solidFill>
                <a:latin typeface="Calibri" pitchFamily="34" charset="0"/>
                <a:ea typeface="Calibri" pitchFamily="34" charset="-122"/>
                <a:cs typeface="Calibri" pitchFamily="34" charset="-120"/>
              </a:rPr>
              <a:t>El pecado es transgresión de la Ley: </a:t>
            </a:r>
            <a:pPr indent="0" marL="0">
              <a:buNone/>
            </a:pPr>
            <a:r>
              <a:rPr lang="en-US" sz="1150" dirty="0">
                <a:solidFill>
                  <a:srgbClr val="1A1A1A"/>
                </a:solidFill>
                <a:latin typeface="Calibri" pitchFamily="34" charset="0"/>
                <a:ea typeface="Calibri" pitchFamily="34" charset="-122"/>
                <a:cs typeface="Calibri" pitchFamily="34" charset="-120"/>
              </a:rPr>
              <a:t>La Biblia define claramente el pecado: todo el que practica el pecado practica también la transgresión de la Ley. Esta definición es objetiva y no depende de las opiniones culturales.</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2D7A3A"/>
          </a:solidFill>
          <a:ln w="12700">
            <a:solidFill>
              <a:srgbClr val="2D7A3A"/>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Rom. 3:20  —  </a:t>
            </a:r>
            <a:pPr indent="0" marL="0">
              <a:buNone/>
            </a:pPr>
            <a:r>
              <a:rPr lang="en-US" sz="1150" b="1" dirty="0">
                <a:solidFill>
                  <a:srgbClr val="1A5276"/>
                </a:solidFill>
                <a:latin typeface="Calibri" pitchFamily="34" charset="0"/>
                <a:ea typeface="Calibri" pitchFamily="34" charset="-122"/>
                <a:cs typeface="Calibri" pitchFamily="34" charset="-120"/>
              </a:rPr>
              <a:t>La Ley revela el pecado: </a:t>
            </a:r>
            <a:pPr indent="0" marL="0">
              <a:buNone/>
            </a:pPr>
            <a:r>
              <a:rPr lang="en-US" sz="1150" dirty="0">
                <a:solidFill>
                  <a:srgbClr val="1A1A1A"/>
                </a:solidFill>
                <a:latin typeface="Calibri" pitchFamily="34" charset="0"/>
                <a:ea typeface="Calibri" pitchFamily="34" charset="-122"/>
                <a:cs typeface="Calibri" pitchFamily="34" charset="-120"/>
              </a:rPr>
              <a:t>Por la ley se conoce el pecado. La Ley actúa como espejo que nos muestra con claridad nuestra condición real delante de Dios, sin que podamos pretender que todo está bien.</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2D7A3A"/>
          </a:solidFill>
          <a:ln w="12700">
            <a:solidFill>
              <a:srgbClr val="2D7A3A"/>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Mar. 9:42-48  —  </a:t>
            </a:r>
            <a:pPr indent="0" marL="0">
              <a:buNone/>
            </a:pPr>
            <a:r>
              <a:rPr lang="en-US" sz="1150" b="1" dirty="0">
                <a:solidFill>
                  <a:srgbClr val="1A5276"/>
                </a:solidFill>
                <a:latin typeface="Calibri" pitchFamily="34" charset="0"/>
                <a:ea typeface="Calibri" pitchFamily="34" charset="-122"/>
                <a:cs typeface="Calibri" pitchFamily="34" charset="-120"/>
              </a:rPr>
              <a:t>La gravedad del pecado que aleja: </a:t>
            </a:r>
            <a:pPr indent="0" marL="0">
              <a:buNone/>
            </a:pPr>
            <a:r>
              <a:rPr lang="en-US" sz="1150" dirty="0">
                <a:solidFill>
                  <a:srgbClr val="1A1A1A"/>
                </a:solidFill>
                <a:latin typeface="Calibri" pitchFamily="34" charset="0"/>
                <a:ea typeface="Calibri" pitchFamily="34" charset="-122"/>
                <a:cs typeface="Calibri" pitchFamily="34" charset="-120"/>
              </a:rPr>
              <a:t>Jesús habló con extrema seriedad sobre lo que nos hace tropezar. El pecado que alejamos de nuestra conciencia puede destruir eternamente lo que no destruyó temporalmente.</a:t>
            </a:r>
            <a:endParaRPr lang="en-US" sz="1150" dirty="0"/>
          </a:p>
        </p:txBody>
      </p:sp>
      <p:sp>
        <p:nvSpPr>
          <p:cNvPr id="21" name="Shape 19"/>
          <p:cNvSpPr/>
          <p:nvPr/>
        </p:nvSpPr>
        <p:spPr>
          <a:xfrm>
            <a:off x="0" y="4800600"/>
            <a:ext cx="9144000" cy="342900"/>
          </a:xfrm>
          <a:prstGeom prst="rect">
            <a:avLst/>
          </a:prstGeom>
          <a:solidFill>
            <a:srgbClr val="1A5276"/>
          </a:solidFill>
          <a:ln w="12700">
            <a:solidFill>
              <a:srgbClr val="1A5276"/>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2D7A3A"/>
          </a:solidFill>
          <a:ln w="12700">
            <a:solidFill>
              <a:srgbClr val="2D7A3A"/>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1A5276"/>
          </a:solidFill>
          <a:ln w="12700">
            <a:solidFill>
              <a:srgbClr val="1A5276"/>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2D7A3A"/>
          </a:solidFill>
          <a:ln w="12700">
            <a:solidFill>
              <a:srgbClr val="2D7A3A"/>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 Ley: reflejo del carácter de Dios</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Jesús no vino a abolir la Ley sino a cumplirla. La Ley revela el carácter de Dios y cuando la comprendemos correctamente nos motiva a amar a Dios y al prójimo, no a vivir en legalismo.</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2D7A3A"/>
                </a:solidFill>
                <a:latin typeface="Calibri" pitchFamily="34" charset="0"/>
                <a:ea typeface="Calibri" pitchFamily="34" charset="-122"/>
                <a:cs typeface="Calibri" pitchFamily="34" charset="-120"/>
              </a:rPr>
              <a:t>Mateo 5:17-18</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2D7A3A"/>
          </a:solidFill>
          <a:ln w="12700">
            <a:solidFill>
              <a:srgbClr val="2D7A3A"/>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Mat. 5:17  —  </a:t>
            </a:r>
            <a:pPr indent="0" marL="0">
              <a:buNone/>
            </a:pPr>
            <a:r>
              <a:rPr lang="en-US" sz="1150" b="1" dirty="0">
                <a:solidFill>
                  <a:srgbClr val="1A5276"/>
                </a:solidFill>
                <a:latin typeface="Calibri" pitchFamily="34" charset="0"/>
                <a:ea typeface="Calibri" pitchFamily="34" charset="-122"/>
                <a:cs typeface="Calibri" pitchFamily="34" charset="-120"/>
              </a:rPr>
              <a:t>Cristo cumple la Ley: </a:t>
            </a:r>
            <a:pPr indent="0" marL="0">
              <a:buNone/>
            </a:pPr>
            <a:r>
              <a:rPr lang="en-US" sz="1150" dirty="0">
                <a:solidFill>
                  <a:srgbClr val="1A1A1A"/>
                </a:solidFill>
                <a:latin typeface="Calibri" pitchFamily="34" charset="0"/>
                <a:ea typeface="Calibri" pitchFamily="34" charset="-122"/>
                <a:cs typeface="Calibri" pitchFamily="34" charset="-120"/>
              </a:rPr>
              <a:t>Jesús declaró que no vino para abolir la Ley o los profetas sino para cumplirlos. Su vida perfecta fue la expresión más completa de lo que la Ley siempre quiso comunicar acerca de Dios.</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2D7A3A"/>
          </a:solidFill>
          <a:ln w="12700">
            <a:solidFill>
              <a:srgbClr val="2D7A3A"/>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Mat. 5:18  —  </a:t>
            </a:r>
            <a:pPr indent="0" marL="0">
              <a:buNone/>
            </a:pPr>
            <a:r>
              <a:rPr lang="en-US" sz="1150" b="1" dirty="0">
                <a:solidFill>
                  <a:srgbClr val="1A5276"/>
                </a:solidFill>
                <a:latin typeface="Calibri" pitchFamily="34" charset="0"/>
                <a:ea typeface="Calibri" pitchFamily="34" charset="-122"/>
                <a:cs typeface="Calibri" pitchFamily="34" charset="-120"/>
              </a:rPr>
              <a:t>Ni una jota de la Ley pasará: </a:t>
            </a:r>
            <a:pPr indent="0" marL="0">
              <a:buNone/>
            </a:pPr>
            <a:r>
              <a:rPr lang="en-US" sz="1150" dirty="0">
                <a:solidFill>
                  <a:srgbClr val="1A1A1A"/>
                </a:solidFill>
                <a:latin typeface="Calibri" pitchFamily="34" charset="0"/>
                <a:ea typeface="Calibri" pitchFamily="34" charset="-122"/>
                <a:cs typeface="Calibri" pitchFamily="34" charset="-120"/>
              </a:rPr>
              <a:t>Hasta que pasen el cielo y la tierra, ni una jota ni una tilde de la Ley pasará. Esta declaración de Cristo confirma la validez permanente de la Ley como reflejo del carácter divino.</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2D7A3A"/>
          </a:solidFill>
          <a:ln w="12700">
            <a:solidFill>
              <a:srgbClr val="2D7A3A"/>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Mar. 12:30-31  —  </a:t>
            </a:r>
            <a:pPr indent="0" marL="0">
              <a:buNone/>
            </a:pPr>
            <a:r>
              <a:rPr lang="en-US" sz="1150" b="1" dirty="0">
                <a:solidFill>
                  <a:srgbClr val="1A5276"/>
                </a:solidFill>
                <a:latin typeface="Calibri" pitchFamily="34" charset="0"/>
                <a:ea typeface="Calibri" pitchFamily="34" charset="-122"/>
                <a:cs typeface="Calibri" pitchFamily="34" charset="-120"/>
              </a:rPr>
              <a:t>La Ley resume el amor: </a:t>
            </a:r>
            <a:pPr indent="0" marL="0">
              <a:buNone/>
            </a:pPr>
            <a:r>
              <a:rPr lang="en-US" sz="1150" dirty="0">
                <a:solidFill>
                  <a:srgbClr val="1A1A1A"/>
                </a:solidFill>
                <a:latin typeface="Calibri" pitchFamily="34" charset="0"/>
                <a:ea typeface="Calibri" pitchFamily="34" charset="-122"/>
                <a:cs typeface="Calibri" pitchFamily="34" charset="-120"/>
              </a:rPr>
              <a:t>Jesús resumió toda la Ley en dos mandamientos: amar a Dios y al prójimo. La Ley correctamente comprendida no es una carga sino la expresión del amor que nace de una relación con Dios.</a:t>
            </a:r>
            <a:endParaRPr lang="en-US" sz="1150" dirty="0"/>
          </a:p>
        </p:txBody>
      </p:sp>
      <p:sp>
        <p:nvSpPr>
          <p:cNvPr id="21" name="Shape 19"/>
          <p:cNvSpPr/>
          <p:nvPr/>
        </p:nvSpPr>
        <p:spPr>
          <a:xfrm>
            <a:off x="0" y="4800600"/>
            <a:ext cx="9144000" cy="342900"/>
          </a:xfrm>
          <a:prstGeom prst="rect">
            <a:avLst/>
          </a:prstGeom>
          <a:solidFill>
            <a:srgbClr val="1A5276"/>
          </a:solidFill>
          <a:ln w="12700">
            <a:solidFill>
              <a:srgbClr val="1A5276"/>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2D7A3A"/>
          </a:solidFill>
          <a:ln w="12700">
            <a:solidFill>
              <a:srgbClr val="2D7A3A"/>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1A5276"/>
          </a:solidFill>
          <a:ln w="12700">
            <a:solidFill>
              <a:srgbClr val="1A5276"/>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2D7A3A"/>
          </a:solidFill>
          <a:ln w="12700">
            <a:solidFill>
              <a:srgbClr val="2D7A3A"/>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Fe que obra: conocer a Dios y hacer su voluntad</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No basta conocer acerca de Dios. Jesús dice que entrará al Reino quien hace la voluntad del Padre. La fe genuina siempre produce obediencia y transforma la manera en que vivimos cada día.</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2D7A3A"/>
                </a:solidFill>
                <a:latin typeface="Calibri" pitchFamily="34" charset="0"/>
                <a:ea typeface="Calibri" pitchFamily="34" charset="-122"/>
                <a:cs typeface="Calibri" pitchFamily="34" charset="-120"/>
              </a:rPr>
              <a:t>Mateo 7:24-29</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2D7A3A"/>
          </a:solidFill>
          <a:ln w="12700">
            <a:solidFill>
              <a:srgbClr val="2D7A3A"/>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Mat. 7:24-25  —  </a:t>
            </a:r>
            <a:pPr indent="0" marL="0">
              <a:buNone/>
            </a:pPr>
            <a:r>
              <a:rPr lang="en-US" sz="1150" b="1" dirty="0">
                <a:solidFill>
                  <a:srgbClr val="1A5276"/>
                </a:solidFill>
                <a:latin typeface="Calibri" pitchFamily="34" charset="0"/>
                <a:ea typeface="Calibri" pitchFamily="34" charset="-122"/>
                <a:cs typeface="Calibri" pitchFamily="34" charset="-120"/>
              </a:rPr>
              <a:t>El hombre sabio: oye y hace: </a:t>
            </a:r>
            <a:pPr indent="0" marL="0">
              <a:buNone/>
            </a:pPr>
            <a:r>
              <a:rPr lang="en-US" sz="1150" dirty="0">
                <a:solidFill>
                  <a:srgbClr val="1A1A1A"/>
                </a:solidFill>
                <a:latin typeface="Calibri" pitchFamily="34" charset="0"/>
                <a:ea typeface="Calibri" pitchFamily="34" charset="-122"/>
                <a:cs typeface="Calibri" pitchFamily="34" charset="-120"/>
              </a:rPr>
              <a:t>El que oye las palabras de Jesús y las pone por obra es como el hombre sabio que edificó sobre roca. La fe que no produce obediencia no es fe bíblica sino conocimiento vacío.</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2D7A3A"/>
          </a:solidFill>
          <a:ln w="12700">
            <a:solidFill>
              <a:srgbClr val="2D7A3A"/>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Mat. 7:26-27  —  </a:t>
            </a:r>
            <a:pPr indent="0" marL="0">
              <a:buNone/>
            </a:pPr>
            <a:r>
              <a:rPr lang="en-US" sz="1150" b="1" dirty="0">
                <a:solidFill>
                  <a:srgbClr val="1A5276"/>
                </a:solidFill>
                <a:latin typeface="Calibri" pitchFamily="34" charset="0"/>
                <a:ea typeface="Calibri" pitchFamily="34" charset="-122"/>
                <a:cs typeface="Calibri" pitchFamily="34" charset="-120"/>
              </a:rPr>
              <a:t>El hombre necio: oye pero no hace: </a:t>
            </a:r>
            <a:pPr indent="0" marL="0">
              <a:buNone/>
            </a:pPr>
            <a:r>
              <a:rPr lang="en-US" sz="1150" dirty="0">
                <a:solidFill>
                  <a:srgbClr val="1A1A1A"/>
                </a:solidFill>
                <a:latin typeface="Calibri" pitchFamily="34" charset="0"/>
                <a:ea typeface="Calibri" pitchFamily="34" charset="-122"/>
                <a:cs typeface="Calibri" pitchFamily="34" charset="-120"/>
              </a:rPr>
              <a:t>El que oye pero no hace es como el necio que edificó sobre arena. El conocimiento sin obediencia crea la ilusión de seguridad espiritual sin la realidad de ella.</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2D7A3A"/>
          </a:solidFill>
          <a:ln w="12700">
            <a:solidFill>
              <a:srgbClr val="2D7A3A"/>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Juan 17:3  —  </a:t>
            </a:r>
            <a:pPr indent="0" marL="0">
              <a:buNone/>
            </a:pPr>
            <a:r>
              <a:rPr lang="en-US" sz="1150" b="1" dirty="0">
                <a:solidFill>
                  <a:srgbClr val="1A5276"/>
                </a:solidFill>
                <a:latin typeface="Calibri" pitchFamily="34" charset="0"/>
                <a:ea typeface="Calibri" pitchFamily="34" charset="-122"/>
                <a:cs typeface="Calibri" pitchFamily="34" charset="-120"/>
              </a:rPr>
              <a:t>La vida eterna: conocer a Dios: </a:t>
            </a:r>
            <a:pPr indent="0" marL="0">
              <a:buNone/>
            </a:pPr>
            <a:r>
              <a:rPr lang="en-US" sz="1150" dirty="0">
                <a:solidFill>
                  <a:srgbClr val="1A1A1A"/>
                </a:solidFill>
                <a:latin typeface="Calibri" pitchFamily="34" charset="0"/>
                <a:ea typeface="Calibri" pitchFamily="34" charset="-122"/>
                <a:cs typeface="Calibri" pitchFamily="34" charset="-120"/>
              </a:rPr>
              <a:t>Jesús definió la vida eterna como conocer al único Dios verdadero y a Jesucristo. Este conocimiento no es solo intelectual sino relacional: implica hacer la voluntad del que conocemos.</a:t>
            </a:r>
            <a:endParaRPr lang="en-US" sz="1150" dirty="0"/>
          </a:p>
        </p:txBody>
      </p:sp>
      <p:sp>
        <p:nvSpPr>
          <p:cNvPr id="21" name="Shape 19"/>
          <p:cNvSpPr/>
          <p:nvPr/>
        </p:nvSpPr>
        <p:spPr>
          <a:xfrm>
            <a:off x="0" y="4800600"/>
            <a:ext cx="9144000" cy="342900"/>
          </a:xfrm>
          <a:prstGeom prst="rect">
            <a:avLst/>
          </a:prstGeom>
          <a:solidFill>
            <a:srgbClr val="1A5276"/>
          </a:solidFill>
          <a:ln w="12700">
            <a:solidFill>
              <a:srgbClr val="1A5276"/>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A3A00"/>
          </a:solidFill>
          <a:ln w="12700">
            <a:solidFill>
              <a:srgbClr val="8A3A00"/>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3]  APLICA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C8ECD4"/>
                </a:solidFill>
                <a:latin typeface="Calibri" pitchFamily="34" charset="0"/>
                <a:ea typeface="Calibri" pitchFamily="34" charset="-122"/>
                <a:cs typeface="Calibri" pitchFamily="34" charset="-120"/>
              </a:rPr>
              <a:t>— Reflexión personal:</a:t>
            </a:r>
            <a:endParaRPr lang="en-US" sz="1100" dirty="0"/>
          </a:p>
        </p:txBody>
      </p:sp>
      <p:sp>
        <p:nvSpPr>
          <p:cNvPr id="5" name="Shape 3"/>
          <p:cNvSpPr/>
          <p:nvPr/>
        </p:nvSpPr>
        <p:spPr>
          <a:xfrm>
            <a:off x="228600" y="768096"/>
            <a:ext cx="8686800" cy="1325880"/>
          </a:xfrm>
          <a:prstGeom prst="rect">
            <a:avLst/>
          </a:prstGeom>
          <a:solidFill>
            <a:srgbClr val="FFF0E5"/>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28600" y="768096"/>
            <a:ext cx="128016" cy="1325880"/>
          </a:xfrm>
          <a:prstGeom prst="rect">
            <a:avLst/>
          </a:prstGeom>
          <a:solidFill>
            <a:srgbClr val="8A3A00"/>
          </a:solidFill>
          <a:ln w="12700">
            <a:solidFill>
              <a:srgbClr val="8A3A00"/>
            </a:solidFill>
            <a:prstDash val="solid"/>
          </a:ln>
        </p:spPr>
      </p:sp>
      <p:sp>
        <p:nvSpPr>
          <p:cNvPr id="7" name="Text 5"/>
          <p:cNvSpPr/>
          <p:nvPr/>
        </p:nvSpPr>
        <p:spPr>
          <a:xfrm>
            <a:off x="402336" y="822960"/>
            <a:ext cx="347472" cy="329184"/>
          </a:xfrm>
          <a:prstGeom prst="rect">
            <a:avLst/>
          </a:prstGeom>
          <a:noFill/>
          <a:ln/>
        </p:spPr>
        <p:txBody>
          <a:bodyPr wrap="square" rtlCol="0" anchor="ctr"/>
          <a:lstStyle/>
          <a:p>
            <a:pPr indent="0" marL="0">
              <a:buNone/>
            </a:pPr>
            <a:r>
              <a:rPr lang="en-US" sz="1400" dirty="0">
                <a:solidFill>
                  <a:srgbClr val="8A3A00"/>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"Solo podía esperar que realizaría el propósito divino si conservaba en su corazón reverencia por la Santa Palabra de Dios. Fue el aprecio por la Ley de Dios lo que dio a Israel fuerza durante el reinado de David."</a:t>
            </a:r>
            <a:endParaRPr lang="en-US" sz="1200" dirty="0"/>
          </a:p>
        </p:txBody>
      </p:sp>
      <p:sp>
        <p:nvSpPr>
          <p:cNvPr id="9" name="Text 7"/>
          <p:cNvSpPr/>
          <p:nvPr/>
        </p:nvSpPr>
        <p:spPr>
          <a:xfrm>
            <a:off x="749808" y="1755648"/>
            <a:ext cx="8046720" cy="256032"/>
          </a:xfrm>
          <a:prstGeom prst="rect">
            <a:avLst/>
          </a:prstGeom>
          <a:noFill/>
          <a:ln/>
        </p:spPr>
        <p:txBody>
          <a:bodyPr wrap="square" rtlCol="0" anchor="ctr"/>
          <a:lstStyle/>
          <a:p>
            <a:pPr algn="r" indent="0" marL="0">
              <a:buNone/>
            </a:pPr>
            <a:r>
              <a:rPr lang="en-US" sz="1000" i="1" dirty="0">
                <a:solidFill>
                  <a:srgbClr val="8A3A00"/>
                </a:solidFill>
                <a:latin typeface="Calibri" pitchFamily="34" charset="0"/>
                <a:ea typeface="Calibri" pitchFamily="34" charset="-122"/>
                <a:cs typeface="Calibri" pitchFamily="34" charset="-120"/>
              </a:rPr>
              <a:t>— Elena de White, Profetas y reyes, p. 343</a:t>
            </a:r>
            <a:endParaRPr lang="en-US" sz="1000" dirty="0"/>
          </a:p>
        </p:txBody>
      </p:sp>
      <p:sp>
        <p:nvSpPr>
          <p:cNvPr id="10" name="Shape 8"/>
          <p:cNvSpPr/>
          <p:nvPr/>
        </p:nvSpPr>
        <p:spPr>
          <a:xfrm>
            <a:off x="228600" y="2148840"/>
            <a:ext cx="8686800" cy="832104"/>
          </a:xfrm>
          <a:prstGeom prst="rect">
            <a:avLst/>
          </a:prstGeom>
          <a:solidFill>
            <a:srgbClr val="FFFFFF"/>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2148840"/>
            <a:ext cx="128016" cy="832104"/>
          </a:xfrm>
          <a:prstGeom prst="rect">
            <a:avLst/>
          </a:prstGeom>
          <a:solidFill>
            <a:srgbClr val="8A3A00"/>
          </a:solidFill>
          <a:ln w="12700">
            <a:solidFill>
              <a:srgbClr val="8A3A00"/>
            </a:solidFill>
            <a:prstDash val="solid"/>
          </a:ln>
        </p:spPr>
      </p:sp>
      <p:sp>
        <p:nvSpPr>
          <p:cNvPr id="12" name="Text 10"/>
          <p:cNvSpPr/>
          <p:nvPr/>
        </p:nvSpPr>
        <p:spPr>
          <a:xfrm>
            <a:off x="420624" y="2221992"/>
            <a:ext cx="8366760" cy="685800"/>
          </a:xfrm>
          <a:prstGeom prst="rect">
            <a:avLst/>
          </a:prstGeom>
          <a:noFill/>
          <a:ln/>
        </p:spPr>
        <p:txBody>
          <a:bodyPr wrap="square" rtlCol="0" anchor="ctr"/>
          <a:lstStyle/>
          <a:p>
            <a:pPr indent="0" marL="0">
              <a:buNone/>
            </a:pPr>
            <a:r>
              <a:rPr lang="en-US" sz="1300" b="1" dirty="0">
                <a:solidFill>
                  <a:srgbClr val="8A3A00"/>
                </a:solidFill>
                <a:latin typeface="Calibri" pitchFamily="34" charset="0"/>
                <a:ea typeface="Calibri" pitchFamily="34" charset="-122"/>
                <a:cs typeface="Calibri" pitchFamily="34" charset="-120"/>
              </a:rPr>
              <a:t>1.  </a:t>
            </a:r>
            <a:pPr indent="0" marL="0">
              <a:buNone/>
            </a:pPr>
            <a:r>
              <a:rPr lang="en-US" sz="1250" b="1" dirty="0">
                <a:solidFill>
                  <a:srgbClr val="1A1A1A"/>
                </a:solidFill>
                <a:latin typeface="Calibri" pitchFamily="34" charset="0"/>
                <a:ea typeface="Calibri" pitchFamily="34" charset="-122"/>
                <a:cs typeface="Calibri" pitchFamily="34" charset="-120"/>
              </a:rPr>
              <a:t>¿Hay algún pecado que has minimizado o justificado que sabes en tu corazón que está dañando tu relación con Dios?</a:t>
            </a:r>
            <a:endParaRPr lang="en-US" sz="1300" dirty="0"/>
          </a:p>
        </p:txBody>
      </p:sp>
      <p:sp>
        <p:nvSpPr>
          <p:cNvPr id="13" name="Shape 11"/>
          <p:cNvSpPr/>
          <p:nvPr/>
        </p:nvSpPr>
        <p:spPr>
          <a:xfrm>
            <a:off x="228600" y="3017520"/>
            <a:ext cx="8686800" cy="832104"/>
          </a:xfrm>
          <a:prstGeom prst="rect">
            <a:avLst/>
          </a:prstGeom>
          <a:solidFill>
            <a:srgbClr val="FFF0E5"/>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228600" y="3017520"/>
            <a:ext cx="128016" cy="832104"/>
          </a:xfrm>
          <a:prstGeom prst="rect">
            <a:avLst/>
          </a:prstGeom>
          <a:solidFill>
            <a:srgbClr val="8A3A00"/>
          </a:solidFill>
          <a:ln w="12700">
            <a:solidFill>
              <a:srgbClr val="8A3A00"/>
            </a:solidFill>
            <a:prstDash val="solid"/>
          </a:ln>
        </p:spPr>
      </p:sp>
      <p:sp>
        <p:nvSpPr>
          <p:cNvPr id="15" name="Text 13"/>
          <p:cNvSpPr/>
          <p:nvPr/>
        </p:nvSpPr>
        <p:spPr>
          <a:xfrm>
            <a:off x="420624" y="3090672"/>
            <a:ext cx="8366760" cy="685800"/>
          </a:xfrm>
          <a:prstGeom prst="rect">
            <a:avLst/>
          </a:prstGeom>
          <a:noFill/>
          <a:ln/>
        </p:spPr>
        <p:txBody>
          <a:bodyPr wrap="square" rtlCol="0" anchor="ctr"/>
          <a:lstStyle/>
          <a:p>
            <a:pPr indent="0" marL="0">
              <a:buNone/>
            </a:pPr>
            <a:r>
              <a:rPr lang="en-US" sz="1300" b="1" dirty="0">
                <a:solidFill>
                  <a:srgbClr val="8A3A00"/>
                </a:solidFill>
                <a:latin typeface="Calibri" pitchFamily="34" charset="0"/>
                <a:ea typeface="Calibri" pitchFamily="34" charset="-122"/>
                <a:cs typeface="Calibri" pitchFamily="34" charset="-120"/>
              </a:rPr>
              <a:t>2.  </a:t>
            </a:r>
            <a:pPr indent="0" marL="0">
              <a:buNone/>
            </a:pPr>
            <a:r>
              <a:rPr lang="en-US" sz="1250" b="1" dirty="0">
                <a:solidFill>
                  <a:srgbClr val="1A1A1A"/>
                </a:solidFill>
                <a:latin typeface="Calibri" pitchFamily="34" charset="0"/>
                <a:ea typeface="Calibri" pitchFamily="34" charset="-122"/>
                <a:cs typeface="Calibri" pitchFamily="34" charset="-120"/>
              </a:rPr>
              <a:t>¿Obedeces los mandamientos de Dios por amor y gratitud, o por miedo a las consecuencias? ¿Qué revela esa diferencia sobre el estado de tu relación con él?</a:t>
            </a:r>
            <a:endParaRPr lang="en-US" sz="1300" dirty="0"/>
          </a:p>
        </p:txBody>
      </p:sp>
      <p:sp>
        <p:nvSpPr>
          <p:cNvPr id="16" name="Shape 14"/>
          <p:cNvSpPr/>
          <p:nvPr/>
        </p:nvSpPr>
        <p:spPr>
          <a:xfrm>
            <a:off x="228600" y="3886200"/>
            <a:ext cx="8686800" cy="832104"/>
          </a:xfrm>
          <a:prstGeom prst="rect">
            <a:avLst/>
          </a:prstGeom>
          <a:solidFill>
            <a:srgbClr val="FFFFFF"/>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228600" y="3886200"/>
            <a:ext cx="128016" cy="832104"/>
          </a:xfrm>
          <a:prstGeom prst="rect">
            <a:avLst/>
          </a:prstGeom>
          <a:solidFill>
            <a:srgbClr val="8A3A00"/>
          </a:solidFill>
          <a:ln w="12700">
            <a:solidFill>
              <a:srgbClr val="8A3A00"/>
            </a:solidFill>
            <a:prstDash val="solid"/>
          </a:ln>
        </p:spPr>
      </p:sp>
      <p:sp>
        <p:nvSpPr>
          <p:cNvPr id="18" name="Text 16"/>
          <p:cNvSpPr/>
          <p:nvPr/>
        </p:nvSpPr>
        <p:spPr>
          <a:xfrm>
            <a:off x="420624" y="3959352"/>
            <a:ext cx="8366760" cy="685800"/>
          </a:xfrm>
          <a:prstGeom prst="rect">
            <a:avLst/>
          </a:prstGeom>
          <a:noFill/>
          <a:ln/>
        </p:spPr>
        <p:txBody>
          <a:bodyPr wrap="square" rtlCol="0" anchor="ctr"/>
          <a:lstStyle/>
          <a:p>
            <a:pPr indent="0" marL="0">
              <a:buNone/>
            </a:pPr>
            <a:r>
              <a:rPr lang="en-US" sz="1300" b="1" dirty="0">
                <a:solidFill>
                  <a:srgbClr val="8A3A00"/>
                </a:solidFill>
                <a:latin typeface="Calibri" pitchFamily="34" charset="0"/>
                <a:ea typeface="Calibri" pitchFamily="34" charset="-122"/>
                <a:cs typeface="Calibri" pitchFamily="34" charset="-120"/>
              </a:rPr>
              <a:t>3.  </a:t>
            </a:r>
            <a:pPr indent="0" marL="0">
              <a:buNone/>
            </a:pPr>
            <a:r>
              <a:rPr lang="en-US" sz="1250" b="1" dirty="0">
                <a:solidFill>
                  <a:srgbClr val="1A1A1A"/>
                </a:solidFill>
                <a:latin typeface="Calibri" pitchFamily="34" charset="0"/>
                <a:ea typeface="Calibri" pitchFamily="34" charset="-122"/>
                <a:cs typeface="Calibri" pitchFamily="34" charset="-120"/>
              </a:rPr>
              <a:t>¿Hay una enseñanza de Jesús que conoces bien pero que no estás poniendo en práctica en tu vida? ¿Qué te impide actuar según lo que sabes?</a:t>
            </a:r>
            <a:endParaRPr lang="en-US" sz="1300" dirty="0"/>
          </a:p>
        </p:txBody>
      </p:sp>
      <p:sp>
        <p:nvSpPr>
          <p:cNvPr id="19" name="Shape 17"/>
          <p:cNvSpPr/>
          <p:nvPr/>
        </p:nvSpPr>
        <p:spPr>
          <a:xfrm>
            <a:off x="0" y="4800600"/>
            <a:ext cx="9144000" cy="342900"/>
          </a:xfrm>
          <a:prstGeom prst="rect">
            <a:avLst/>
          </a:prstGeom>
          <a:solidFill>
            <a:srgbClr val="1A5276"/>
          </a:solidFill>
          <a:ln w="12700">
            <a:solidFill>
              <a:srgbClr val="1A5276"/>
            </a:solidFill>
            <a:prstDash val="solid"/>
          </a:ln>
        </p:spPr>
      </p:sp>
      <p:sp>
        <p:nvSpPr>
          <p:cNvPr id="20" name="Text 1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2D7A3A">
              <a:alpha val="40000"/>
            </a:srgbClr>
          </a:solidFill>
          <a:ln w="12700">
            <a:solidFill>
              <a:srgbClr val="2D7A3A">
                <a:alpha val="40000"/>
              </a:srgbClr>
            </a:solidFill>
            <a:prstDash val="solid"/>
          </a:ln>
        </p:spPr>
      </p:sp>
      <p:sp>
        <p:nvSpPr>
          <p:cNvPr id="3" name="Shape 1"/>
          <p:cNvSpPr/>
          <p:nvPr/>
        </p:nvSpPr>
        <p:spPr>
          <a:xfrm>
            <a:off x="-45720" y="3291840"/>
            <a:ext cx="1645920" cy="1920240"/>
          </a:xfrm>
          <a:prstGeom prst="rect">
            <a:avLst/>
          </a:prstGeom>
          <a:solidFill>
            <a:srgbClr val="2D7A3A">
              <a:alpha val="30000"/>
            </a:srgbClr>
          </a:solidFill>
          <a:ln w="12700">
            <a:solidFill>
              <a:srgbClr val="2D7A3A">
                <a:alpha val="30000"/>
              </a:srgbClr>
            </a:solidFill>
            <a:prstDash val="solid"/>
          </a:ln>
        </p:spPr>
      </p:sp>
      <p:sp>
        <p:nvSpPr>
          <p:cNvPr id="4" name="Shape 2"/>
          <p:cNvSpPr/>
          <p:nvPr/>
        </p:nvSpPr>
        <p:spPr>
          <a:xfrm>
            <a:off x="347472" y="256032"/>
            <a:ext cx="2743200" cy="438912"/>
          </a:xfrm>
          <a:prstGeom prst="rect">
            <a:avLst/>
          </a:prstGeom>
          <a:solidFill>
            <a:srgbClr val="2D7A3A"/>
          </a:solidFill>
          <a:ln w="12700">
            <a:solidFill>
              <a:srgbClr val="2D7A3A"/>
            </a:solidFill>
            <a:prstDash val="solid"/>
          </a:ln>
        </p:spPr>
      </p:sp>
      <p:sp>
        <p:nvSpPr>
          <p:cNvPr id="5" name="Text 3"/>
          <p:cNvSpPr/>
          <p:nvPr/>
        </p:nvSpPr>
        <p:spPr>
          <a:xfrm>
            <a:off x="347472" y="256032"/>
            <a:ext cx="27432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[FASE 4]  CREA  — MI DECISIÓN</a:t>
            </a:r>
            <a:endParaRPr lang="en-US" sz="1050" dirty="0"/>
          </a:p>
        </p:txBody>
      </p:sp>
      <p:sp>
        <p:nvSpPr>
          <p:cNvPr id="6" name="Shape 4"/>
          <p:cNvSpPr/>
          <p:nvPr/>
        </p:nvSpPr>
        <p:spPr>
          <a:xfrm>
            <a:off x="347472" y="804672"/>
            <a:ext cx="118872" cy="3886200"/>
          </a:xfrm>
          <a:prstGeom prst="rect">
            <a:avLst/>
          </a:prstGeom>
          <a:solidFill>
            <a:srgbClr val="2D7A3A"/>
          </a:solidFill>
          <a:ln w="12700">
            <a:solidFill>
              <a:srgbClr val="2D7A3A"/>
            </a:solidFill>
            <a:prstDash val="solid"/>
          </a:ln>
        </p:spPr>
      </p:sp>
      <p:sp>
        <p:nvSpPr>
          <p:cNvPr id="7" name="Text 5"/>
          <p:cNvSpPr/>
          <p:nvPr/>
        </p:nvSpPr>
        <p:spPr>
          <a:xfrm>
            <a:off x="566928" y="822960"/>
            <a:ext cx="8046720" cy="411480"/>
          </a:xfrm>
          <a:prstGeom prst="rect">
            <a:avLst/>
          </a:prstGeom>
          <a:noFill/>
          <a:ln/>
        </p:spPr>
        <p:txBody>
          <a:bodyPr wrap="square" rtlCol="0" anchor="ctr"/>
          <a:lstStyle/>
          <a:p>
            <a:pPr indent="0" marL="0">
              <a:buNone/>
            </a:pPr>
            <a:r>
              <a:rPr lang="en-US" sz="1400" i="1" dirty="0">
                <a:solidFill>
                  <a:srgbClr val="D0E4F5"/>
                </a:solidFill>
                <a:latin typeface="Calibri" pitchFamily="34" charset="0"/>
                <a:ea typeface="Calibri" pitchFamily="34" charset="-122"/>
                <a:cs typeface="Calibri" pitchFamily="34" charset="-120"/>
              </a:rPr>
              <a:t>Marca tu respuesta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2D7A3A">
                <a:alpha val="60000"/>
              </a:srgbClr>
            </a:solidFill>
            <a:prstDash val="solid"/>
          </a:ln>
        </p:spPr>
      </p:sp>
      <p:sp>
        <p:nvSpPr>
          <p:cNvPr id="9" name="Shape 7"/>
          <p:cNvSpPr/>
          <p:nvPr/>
        </p:nvSpPr>
        <p:spPr>
          <a:xfrm>
            <a:off x="713232" y="1453896"/>
            <a:ext cx="292608" cy="292608"/>
          </a:xfrm>
          <a:prstGeom prst="ellipse">
            <a:avLst/>
          </a:prstGeom>
          <a:solidFill>
            <a:srgbClr val="2D7A3A"/>
          </a:solidFill>
          <a:ln w="12700">
            <a:solidFill>
              <a:srgbClr val="2D7A3A"/>
            </a:solidFill>
            <a:prstDash val="solid"/>
          </a:ln>
        </p:spPr>
      </p:sp>
      <p:sp>
        <p:nvSpPr>
          <p:cNvPr id="10" name="Text 8"/>
          <p:cNvSpPr/>
          <p:nvPr/>
        </p:nvSpPr>
        <p:spPr>
          <a:xfrm>
            <a:off x="713232" y="1453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Esta semana confesaré honestamente ante Dios un pecado específico que he minimizado y pediré su gracia para vencer.</a:t>
            </a:r>
            <a:endParaRPr lang="en-US" sz="1250" dirty="0"/>
          </a:p>
        </p:txBody>
      </p:sp>
      <p:sp>
        <p:nvSpPr>
          <p:cNvPr id="12" name="Text 10"/>
          <p:cNvSpPr/>
          <p:nvPr/>
        </p:nvSpPr>
        <p:spPr>
          <a:xfrm>
            <a:off x="7818120" y="1399032"/>
            <a:ext cx="914400" cy="850392"/>
          </a:xfrm>
          <a:prstGeom prst="rect">
            <a:avLst/>
          </a:prstGeom>
          <a:noFill/>
          <a:ln/>
        </p:spPr>
        <p:txBody>
          <a:bodyPr wrap="square" rtlCol="0" anchor="ctr"/>
          <a:lstStyle/>
          <a:p>
            <a:pPr algn="r" indent="0" marL="0">
              <a:buNone/>
            </a:pPr>
            <a:r>
              <a:rPr lang="en-US" sz="1150" b="1" dirty="0">
                <a:solidFill>
                  <a:srgbClr val="2D7A3A"/>
                </a:solidFill>
                <a:latin typeface="Calibri" pitchFamily="34" charset="0"/>
                <a:ea typeface="Calibri" pitchFamily="34" charset="-122"/>
                <a:cs typeface="Calibri" pitchFamily="34" charset="-120"/>
              </a:rPr>
              <a:t>☐ Sí  ☐ No</a:t>
            </a:r>
            <a:endParaRPr lang="en-US" sz="1150" dirty="0"/>
          </a:p>
        </p:txBody>
      </p:sp>
      <p:sp>
        <p:nvSpPr>
          <p:cNvPr id="13" name="Shape 11"/>
          <p:cNvSpPr/>
          <p:nvPr/>
        </p:nvSpPr>
        <p:spPr>
          <a:xfrm>
            <a:off x="566928" y="2377440"/>
            <a:ext cx="8229600" cy="996696"/>
          </a:xfrm>
          <a:prstGeom prst="rect">
            <a:avLst/>
          </a:prstGeom>
          <a:solidFill>
            <a:srgbClr val="E8F5EA">
              <a:alpha val="92000"/>
            </a:srgbClr>
          </a:solidFill>
          <a:ln w="12700">
            <a:solidFill>
              <a:srgbClr val="2D7A3A">
                <a:alpha val="60000"/>
              </a:srgbClr>
            </a:solidFill>
            <a:prstDash val="solid"/>
          </a:ln>
        </p:spPr>
      </p:sp>
      <p:sp>
        <p:nvSpPr>
          <p:cNvPr id="14" name="Shape 12"/>
          <p:cNvSpPr/>
          <p:nvPr/>
        </p:nvSpPr>
        <p:spPr>
          <a:xfrm>
            <a:off x="713232" y="2505456"/>
            <a:ext cx="292608" cy="292608"/>
          </a:xfrm>
          <a:prstGeom prst="ellipse">
            <a:avLst/>
          </a:prstGeom>
          <a:solidFill>
            <a:srgbClr val="2D7A3A"/>
          </a:solidFill>
          <a:ln w="12700">
            <a:solidFill>
              <a:srgbClr val="2D7A3A"/>
            </a:solidFill>
            <a:prstDash val="solid"/>
          </a:ln>
        </p:spPr>
      </p:sp>
      <p:sp>
        <p:nvSpPr>
          <p:cNvPr id="15" name="Text 13"/>
          <p:cNvSpPr/>
          <p:nvPr/>
        </p:nvSpPr>
        <p:spPr>
          <a:xfrm>
            <a:off x="713232" y="25054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Leeré los Diez Mandamientos esta semana como reflejo del carácter de Dios y no como lista de restricciones.</a:t>
            </a:r>
            <a:endParaRPr lang="en-US" sz="1250" dirty="0"/>
          </a:p>
        </p:txBody>
      </p:sp>
      <p:sp>
        <p:nvSpPr>
          <p:cNvPr id="17" name="Text 15"/>
          <p:cNvSpPr/>
          <p:nvPr/>
        </p:nvSpPr>
        <p:spPr>
          <a:xfrm>
            <a:off x="7818120" y="2450592"/>
            <a:ext cx="914400" cy="850392"/>
          </a:xfrm>
          <a:prstGeom prst="rect">
            <a:avLst/>
          </a:prstGeom>
          <a:noFill/>
          <a:ln/>
        </p:spPr>
        <p:txBody>
          <a:bodyPr wrap="square" rtlCol="0" anchor="ctr"/>
          <a:lstStyle/>
          <a:p>
            <a:pPr algn="r" indent="0" marL="0">
              <a:buNone/>
            </a:pPr>
            <a:r>
              <a:rPr lang="en-US" sz="1150" b="1" dirty="0">
                <a:solidFill>
                  <a:srgbClr val="2D7A3A"/>
                </a:solidFill>
                <a:latin typeface="Calibri" pitchFamily="34" charset="0"/>
                <a:ea typeface="Calibri" pitchFamily="34" charset="-122"/>
                <a:cs typeface="Calibri" pitchFamily="34" charset="-120"/>
              </a:rPr>
              <a:t>☐ Sí  ☐ No</a:t>
            </a:r>
            <a:endParaRPr lang="en-US" sz="115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2D7A3A">
                <a:alpha val="60000"/>
              </a:srgbClr>
            </a:solidFill>
            <a:prstDash val="solid"/>
          </a:ln>
        </p:spPr>
      </p:sp>
      <p:sp>
        <p:nvSpPr>
          <p:cNvPr id="19" name="Shape 17"/>
          <p:cNvSpPr/>
          <p:nvPr/>
        </p:nvSpPr>
        <p:spPr>
          <a:xfrm>
            <a:off x="713232" y="3557016"/>
            <a:ext cx="292608" cy="292608"/>
          </a:xfrm>
          <a:prstGeom prst="ellipse">
            <a:avLst/>
          </a:prstGeom>
          <a:solidFill>
            <a:srgbClr val="2D7A3A"/>
          </a:solidFill>
          <a:ln w="12700">
            <a:solidFill>
              <a:srgbClr val="2D7A3A"/>
            </a:solidFill>
            <a:prstDash val="solid"/>
          </a:ln>
        </p:spPr>
      </p:sp>
      <p:sp>
        <p:nvSpPr>
          <p:cNvPr id="20" name="Text 18"/>
          <p:cNvSpPr/>
          <p:nvPr/>
        </p:nvSpPr>
        <p:spPr>
          <a:xfrm>
            <a:off x="713232" y="3557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Identificaré una enseñanza de Jesús que conozco pero no practico y daré un paso concreto hacia la obediencia.</a:t>
            </a:r>
            <a:endParaRPr lang="en-US" sz="1250" dirty="0"/>
          </a:p>
        </p:txBody>
      </p:sp>
      <p:sp>
        <p:nvSpPr>
          <p:cNvPr id="22" name="Text 20"/>
          <p:cNvSpPr/>
          <p:nvPr/>
        </p:nvSpPr>
        <p:spPr>
          <a:xfrm>
            <a:off x="7818120" y="3502152"/>
            <a:ext cx="914400" cy="850392"/>
          </a:xfrm>
          <a:prstGeom prst="rect">
            <a:avLst/>
          </a:prstGeom>
          <a:noFill/>
          <a:ln/>
        </p:spPr>
        <p:txBody>
          <a:bodyPr wrap="square" rtlCol="0" anchor="ctr"/>
          <a:lstStyle/>
          <a:p>
            <a:pPr algn="r" indent="0" marL="0">
              <a:buNone/>
            </a:pPr>
            <a:r>
              <a:rPr lang="en-US" sz="1150" b="1" dirty="0">
                <a:solidFill>
                  <a:srgbClr val="2D7A3A"/>
                </a:solidFill>
                <a:latin typeface="Calibri" pitchFamily="34" charset="0"/>
                <a:ea typeface="Calibri" pitchFamily="34" charset="-122"/>
                <a:cs typeface="Calibri" pitchFamily="34" charset="-120"/>
              </a:rPr>
              <a:t>☐ Sí  ☐ No</a:t>
            </a:r>
            <a:endParaRPr lang="en-US" sz="1150" dirty="0"/>
          </a:p>
        </p:txBody>
      </p:sp>
      <p:sp>
        <p:nvSpPr>
          <p:cNvPr id="23" name="Shape 21"/>
          <p:cNvSpPr/>
          <p:nvPr/>
        </p:nvSpPr>
        <p:spPr>
          <a:xfrm>
            <a:off x="0" y="4800600"/>
            <a:ext cx="9144000" cy="342900"/>
          </a:xfrm>
          <a:prstGeom prst="rect">
            <a:avLst/>
          </a:prstGeom>
          <a:solidFill>
            <a:srgbClr val="1A5276"/>
          </a:solidFill>
          <a:ln w="12700">
            <a:solidFill>
              <a:srgbClr val="1A5276"/>
            </a:solidFill>
            <a:prstDash val="solid"/>
          </a:ln>
        </p:spPr>
      </p:sp>
      <p:sp>
        <p:nvSpPr>
          <p:cNvPr id="24" name="Text 2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2D7A3A">
              <a:alpha val="40000"/>
            </a:srgbClr>
          </a:solidFill>
          <a:ln w="12700">
            <a:solidFill>
              <a:srgbClr val="2D7A3A">
                <a:alpha val="40000"/>
              </a:srgbClr>
            </a:solidFill>
            <a:prstDash val="solid"/>
          </a:ln>
        </p:spPr>
      </p:sp>
      <p:sp>
        <p:nvSpPr>
          <p:cNvPr id="3" name="Shape 1"/>
          <p:cNvSpPr/>
          <p:nvPr/>
        </p:nvSpPr>
        <p:spPr>
          <a:xfrm>
            <a:off x="7818120" y="1691640"/>
            <a:ext cx="1371600" cy="1371600"/>
          </a:xfrm>
          <a:prstGeom prst="rect">
            <a:avLst/>
          </a:prstGeom>
          <a:solidFill>
            <a:srgbClr val="2D7A3A">
              <a:alpha val="25000"/>
            </a:srgbClr>
          </a:solidFill>
          <a:ln w="12700">
            <a:solidFill>
              <a:srgbClr val="2D7A3A">
                <a:alpha val="25000"/>
              </a:srgbClr>
            </a:solidFill>
            <a:prstDash val="solid"/>
          </a:ln>
        </p:spPr>
      </p:sp>
      <p:sp>
        <p:nvSpPr>
          <p:cNvPr id="4" name="Shape 2"/>
          <p:cNvSpPr/>
          <p:nvPr/>
        </p:nvSpPr>
        <p:spPr>
          <a:xfrm>
            <a:off x="-45720" y="3520440"/>
            <a:ext cx="1920240" cy="1783080"/>
          </a:xfrm>
          <a:prstGeom prst="rect">
            <a:avLst/>
          </a:prstGeom>
          <a:solidFill>
            <a:srgbClr val="2D7A3A">
              <a:alpha val="30000"/>
            </a:srgbClr>
          </a:solidFill>
          <a:ln w="12700">
            <a:solidFill>
              <a:srgbClr val="2D7A3A">
                <a:alpha val="30000"/>
              </a:srgbClr>
            </a:solidFill>
            <a:prstDash val="solid"/>
          </a:ln>
        </p:spPr>
      </p:sp>
      <p:sp>
        <p:nvSpPr>
          <p:cNvPr id="5" name="Shape 3"/>
          <p:cNvSpPr/>
          <p:nvPr/>
        </p:nvSpPr>
        <p:spPr>
          <a:xfrm>
            <a:off x="438912" y="1005840"/>
            <a:ext cx="118872" cy="2423160"/>
          </a:xfrm>
          <a:prstGeom prst="rect">
            <a:avLst/>
          </a:prstGeom>
          <a:solidFill>
            <a:srgbClr val="2D7A3A"/>
          </a:solidFill>
          <a:ln w="12700">
            <a:solidFill>
              <a:srgbClr val="2D7A3A"/>
            </a:solidFill>
            <a:prstDash val="solid"/>
          </a:ln>
        </p:spPr>
      </p:sp>
      <p:sp>
        <p:nvSpPr>
          <p:cNvPr id="6" name="Text 4"/>
          <p:cNvSpPr/>
          <p:nvPr/>
        </p:nvSpPr>
        <p:spPr>
          <a:xfrm>
            <a:off x="658368" y="822960"/>
            <a:ext cx="7772400" cy="146304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7" name="Text 5"/>
          <p:cNvSpPr/>
          <p:nvPr/>
        </p:nvSpPr>
        <p:spPr>
          <a:xfrm>
            <a:off x="658368" y="2423160"/>
            <a:ext cx="7772400" cy="594360"/>
          </a:xfrm>
          <a:prstGeom prst="rect">
            <a:avLst/>
          </a:prstGeom>
          <a:noFill/>
          <a:ln/>
        </p:spPr>
        <p:txBody>
          <a:bodyPr wrap="square" rtlCol="0" anchor="ctr"/>
          <a:lstStyle/>
          <a:p>
            <a:pPr indent="0" marL="0">
              <a:buNone/>
            </a:pPr>
            <a:r>
              <a:rPr lang="en-US" sz="2200" b="1" dirty="0">
                <a:solidFill>
                  <a:srgbClr val="2D7A3A"/>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indent="0" marL="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1A5276"/>
          </a:solidFill>
          <a:ln w="12700">
            <a:solidFill>
              <a:srgbClr val="1A5276"/>
            </a:solidFill>
            <a:prstDash val="solid"/>
          </a:ln>
        </p:spPr>
      </p:sp>
      <p:sp>
        <p:nvSpPr>
          <p:cNvPr id="10" name="Text 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Lección 9 · EL PECADO, EL EVANGELIO Y LA LEY</dc:title>
  <dc:subject>PptxGenJS Presentation</dc:subject>
  <dc:creator>Dr. Tito Goicochea M.</dc:creator>
  <cp:lastModifiedBy>Dr. Tito Goicochea M.</cp:lastModifiedBy>
  <cp:revision>1</cp:revision>
  <dcterms:created xsi:type="dcterms:W3CDTF">2026-03-15T16:06:18Z</dcterms:created>
  <dcterms:modified xsi:type="dcterms:W3CDTF">2026-03-15T16:06:18Z</dcterms:modified>
</cp:coreProperties>
</file>