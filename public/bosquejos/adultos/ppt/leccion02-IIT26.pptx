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1F3A"/>
        </a:solidFill>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0D7377">
              <a:alpha val="70000"/>
            </a:srgbClr>
          </a:solidFill>
          <a:ln w="12700">
            <a:solidFill>
              <a:srgbClr val="0D7377">
                <a:alpha val="70000"/>
              </a:srgbClr>
            </a:solidFill>
            <a:prstDash val="solid"/>
          </a:ln>
        </p:spPr>
      </p:sp>
      <p:sp>
        <p:nvSpPr>
          <p:cNvPr id="3" name="Shape 1"/>
          <p:cNvSpPr/>
          <p:nvPr/>
        </p:nvSpPr>
        <p:spPr>
          <a:xfrm>
            <a:off x="7406640" y="713232"/>
            <a:ext cx="1783080" cy="502920"/>
          </a:xfrm>
          <a:prstGeom prst="rect">
            <a:avLst/>
          </a:prstGeom>
          <a:solidFill>
            <a:srgbClr val="0D7377">
              <a:alpha val="45000"/>
            </a:srgbClr>
          </a:solidFill>
          <a:ln w="12700">
            <a:solidFill>
              <a:srgbClr val="0D7377">
                <a:alpha val="45000"/>
              </a:srgbClr>
            </a:solidFill>
            <a:prstDash val="solid"/>
          </a:ln>
        </p:spPr>
      </p:sp>
      <p:sp>
        <p:nvSpPr>
          <p:cNvPr id="4" name="Shape 2"/>
          <p:cNvSpPr/>
          <p:nvPr/>
        </p:nvSpPr>
        <p:spPr>
          <a:xfrm>
            <a:off x="-45720" y="3566160"/>
            <a:ext cx="1554480" cy="1645920"/>
          </a:xfrm>
          <a:prstGeom prst="rect">
            <a:avLst/>
          </a:prstGeom>
          <a:solidFill>
            <a:srgbClr val="0D7377">
              <a:alpha val="45000"/>
            </a:srgbClr>
          </a:solidFill>
          <a:ln w="12700">
            <a:solidFill>
              <a:srgbClr val="0D7377">
                <a:alpha val="45000"/>
              </a:srgbClr>
            </a:solidFill>
            <a:prstDash val="solid"/>
          </a:ln>
        </p:spPr>
      </p:sp>
      <p:sp>
        <p:nvSpPr>
          <p:cNvPr id="5" name="Shape 3"/>
          <p:cNvSpPr/>
          <p:nvPr/>
        </p:nvSpPr>
        <p:spPr>
          <a:xfrm>
            <a:off x="475488" y="1051560"/>
            <a:ext cx="118872" cy="2468880"/>
          </a:xfrm>
          <a:prstGeom prst="rect">
            <a:avLst/>
          </a:prstGeom>
          <a:solidFill>
            <a:srgbClr val="0D7377"/>
          </a:solidFill>
          <a:ln w="12700">
            <a:solidFill>
              <a:srgbClr val="0D7377"/>
            </a:solidFill>
            <a:prstDash val="solid"/>
          </a:ln>
        </p:spPr>
      </p:sp>
      <p:sp>
        <p:nvSpPr>
          <p:cNvPr id="6" name="Text 4"/>
          <p:cNvSpPr/>
          <p:nvPr/>
        </p:nvSpPr>
        <p:spPr>
          <a:xfrm>
            <a:off x="713232" y="228600"/>
            <a:ext cx="7772400" cy="475488"/>
          </a:xfrm>
          <a:prstGeom prst="rect">
            <a:avLst/>
          </a:prstGeom>
          <a:noFill/>
          <a:ln/>
        </p:spPr>
        <p:txBody>
          <a:bodyPr wrap="square" rtlCol="0" anchor="ctr"/>
          <a:lstStyle/>
          <a:p>
            <a:pPr indent="0" marL="0">
              <a:buNone/>
            </a:pPr>
            <a:r>
              <a:rPr lang="en-US" sz="1250" b="1" spc="100" kern="0" dirty="0">
                <a:solidFill>
                  <a:srgbClr val="D0E4F5"/>
                </a:solidFill>
                <a:latin typeface="Calibri" pitchFamily="34" charset="0"/>
                <a:ea typeface="Calibri" pitchFamily="34" charset="-122"/>
                <a:cs typeface="Calibri" pitchFamily="34" charset="-120"/>
              </a:rPr>
              <a:t>PUNTOS PRINCIPALES DE LA LECCIÓN DE ESCUELA SABÁTICA</a:t>
            </a:r>
            <a:endParaRPr lang="en-US" sz="1250" dirty="0"/>
          </a:p>
        </p:txBody>
      </p:sp>
      <p:sp>
        <p:nvSpPr>
          <p:cNvPr id="7" name="Text 5"/>
          <p:cNvSpPr/>
          <p:nvPr/>
        </p:nvSpPr>
        <p:spPr>
          <a:xfrm>
            <a:off x="713232" y="685800"/>
            <a:ext cx="7772400" cy="384048"/>
          </a:xfrm>
          <a:prstGeom prst="rect">
            <a:avLst/>
          </a:prstGeom>
          <a:noFill/>
          <a:ln/>
        </p:spPr>
        <p:txBody>
          <a:bodyPr wrap="square" rtlCol="0" anchor="ctr"/>
          <a:lstStyle/>
          <a:p>
            <a:pPr indent="0" marL="0">
              <a:buNone/>
            </a:pPr>
            <a:r>
              <a:rPr lang="en-US" sz="1400" b="1" spc="200" kern="0" dirty="0">
                <a:solidFill>
                  <a:srgbClr val="0D7377"/>
                </a:solidFill>
                <a:latin typeface="Calibri" pitchFamily="34" charset="0"/>
                <a:ea typeface="Calibri" pitchFamily="34" charset="-122"/>
                <a:cs typeface="Calibri" pitchFamily="34" charset="-120"/>
              </a:rPr>
              <a:t>Lección 2</a:t>
            </a:r>
            <a:endParaRPr lang="en-US" sz="1400" dirty="0"/>
          </a:p>
        </p:txBody>
      </p:sp>
      <p:sp>
        <p:nvSpPr>
          <p:cNvPr id="8" name="Text 6"/>
          <p:cNvSpPr/>
          <p:nvPr/>
        </p:nvSpPr>
        <p:spPr>
          <a:xfrm>
            <a:off x="713232" y="1051560"/>
            <a:ext cx="7498080" cy="1005840"/>
          </a:xfrm>
          <a:prstGeom prst="rect">
            <a:avLst/>
          </a:prstGeom>
          <a:noFill/>
          <a:ln/>
        </p:spPr>
        <p:txBody>
          <a:bodyPr wrap="square" rtlCol="0" anchor="ctr"/>
          <a:lstStyle/>
          <a:p>
            <a:pPr indent="0" marL="0">
              <a:buNone/>
            </a:pPr>
            <a:r>
              <a:rPr lang="en-US" sz="5200" b="1" spc="200" kern="0" dirty="0">
                <a:solidFill>
                  <a:srgbClr val="FFFFFF"/>
                </a:solidFill>
                <a:latin typeface="Calibri" pitchFamily="34" charset="0"/>
                <a:ea typeface="Calibri" pitchFamily="34" charset="-122"/>
                <a:cs typeface="Calibri" pitchFamily="34" charset="-120"/>
              </a:rPr>
              <a:t>CONOCIENDO A DIOS</a:t>
            </a:r>
            <a:endParaRPr lang="en-US" sz="5200" dirty="0"/>
          </a:p>
        </p:txBody>
      </p:sp>
      <p:sp>
        <p:nvSpPr>
          <p:cNvPr id="9" name="Text 7"/>
          <p:cNvSpPr/>
          <p:nvPr/>
        </p:nvSpPr>
        <p:spPr>
          <a:xfrm>
            <a:off x="713232" y="2148840"/>
            <a:ext cx="7772400" cy="347472"/>
          </a:xfrm>
          <a:prstGeom prst="rect">
            <a:avLst/>
          </a:prstGeom>
          <a:noFill/>
          <a:ln/>
        </p:spPr>
        <p:txBody>
          <a:bodyPr wrap="square" rtlCol="0" anchor="ctr"/>
          <a:lstStyle/>
          <a:p>
            <a:pPr indent="0" marL="0">
              <a:buNone/>
            </a:pPr>
            <a:r>
              <a:rPr lang="en-US" sz="1300" i="1" dirty="0">
                <a:solidFill>
                  <a:srgbClr val="D0E4F5"/>
                </a:solidFill>
                <a:latin typeface="Calibri" pitchFamily="34" charset="0"/>
                <a:ea typeface="Calibri" pitchFamily="34" charset="-122"/>
                <a:cs typeface="Calibri" pitchFamily="34" charset="-120"/>
              </a:rPr>
              <a:t>Para el Sábado 11 de abril de 2026</a:t>
            </a:r>
            <a:endParaRPr lang="en-US" sz="1300" dirty="0"/>
          </a:p>
        </p:txBody>
      </p:sp>
      <p:sp>
        <p:nvSpPr>
          <p:cNvPr id="10" name="Shape 8"/>
          <p:cNvSpPr/>
          <p:nvPr/>
        </p:nvSpPr>
        <p:spPr>
          <a:xfrm>
            <a:off x="475488" y="2514600"/>
            <a:ext cx="8229600" cy="1024128"/>
          </a:xfrm>
          <a:prstGeom prst="rect">
            <a:avLst/>
          </a:prstGeom>
          <a:solidFill>
            <a:srgbClr val="FFFFFF">
              <a:alpha val="10000"/>
            </a:srgbClr>
          </a:solidFill>
          <a:ln w="12700">
            <a:solidFill>
              <a:srgbClr val="0D7377">
                <a:alpha val="75000"/>
              </a:srgbClr>
            </a:solidFill>
            <a:prstDash val="solid"/>
          </a:ln>
        </p:spPr>
      </p:sp>
      <p:sp>
        <p:nvSpPr>
          <p:cNvPr id="11" name="Shape 9"/>
          <p:cNvSpPr/>
          <p:nvPr/>
        </p:nvSpPr>
        <p:spPr>
          <a:xfrm>
            <a:off x="475488" y="2514600"/>
            <a:ext cx="118872" cy="1024128"/>
          </a:xfrm>
          <a:prstGeom prst="rect">
            <a:avLst/>
          </a:prstGeom>
          <a:solidFill>
            <a:srgbClr val="0D7377"/>
          </a:solidFill>
          <a:ln w="12700">
            <a:solidFill>
              <a:srgbClr val="0D7377"/>
            </a:solidFill>
            <a:prstDash val="solid"/>
          </a:ln>
        </p:spPr>
      </p:sp>
      <p:sp>
        <p:nvSpPr>
          <p:cNvPr id="12" name="Text 10"/>
          <p:cNvSpPr/>
          <p:nvPr/>
        </p:nvSpPr>
        <p:spPr>
          <a:xfrm>
            <a:off x="658368" y="2532888"/>
            <a:ext cx="7909560" cy="987552"/>
          </a:xfrm>
          <a:prstGeom prst="rect">
            <a:avLst/>
          </a:prstGeom>
          <a:noFill/>
          <a:ln/>
        </p:spPr>
        <p:txBody>
          <a:bodyPr wrap="square" rtlCol="0" anchor="ctr"/>
          <a:lstStyle/>
          <a:p>
            <a:pPr indent="0" marL="0">
              <a:buNone/>
            </a:pPr>
            <a:r>
              <a:rPr lang="en-US" sz="900" b="1" dirty="0">
                <a:solidFill>
                  <a:srgbClr val="0D7377"/>
                </a:solidFill>
                <a:latin typeface="Calibri" pitchFamily="34" charset="0"/>
                <a:ea typeface="Calibri" pitchFamily="34" charset="-122"/>
                <a:cs typeface="Calibri" pitchFamily="34" charset="-120"/>
              </a:rPr>
              <a:t>Para memorizar: </a:t>
            </a:r>
            <a:pPr indent="0" marL="0">
              <a:buNone/>
            </a:pPr>
            <a:r>
              <a:rPr lang="en-US" sz="1150" i="1" dirty="0">
                <a:solidFill>
                  <a:srgbClr val="FFFFFF"/>
                </a:solidFill>
                <a:latin typeface="Calibri" pitchFamily="34" charset="0"/>
                <a:ea typeface="Calibri" pitchFamily="34" charset="-122"/>
                <a:cs typeface="Calibri" pitchFamily="34" charset="-120"/>
              </a:rPr>
              <a:t>"Y esta es la vida eterna, que te conozcan a ti, el único Dios verdadero, y a Jesucristo, a quien tú has enviado."  —  Juan 17:3</a:t>
            </a:r>
            <a:endParaRPr lang="en-US" sz="900" dirty="0"/>
          </a:p>
        </p:txBody>
      </p:sp>
      <p:sp>
        <p:nvSpPr>
          <p:cNvPr id="13" name="Shape 11"/>
          <p:cNvSpPr/>
          <p:nvPr/>
        </p:nvSpPr>
        <p:spPr>
          <a:xfrm>
            <a:off x="0" y="4800600"/>
            <a:ext cx="9144000" cy="342900"/>
          </a:xfrm>
          <a:prstGeom prst="rect">
            <a:avLst/>
          </a:prstGeom>
          <a:solidFill>
            <a:srgbClr val="7B1F3A"/>
          </a:solidFill>
          <a:ln w="12700">
            <a:solidFill>
              <a:srgbClr val="7B1F3A"/>
            </a:solidFill>
            <a:prstDash val="solid"/>
          </a:ln>
        </p:spPr>
      </p:sp>
      <p:sp>
        <p:nvSpPr>
          <p:cNvPr id="14" name="Text 1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Reflexiona antes de comenzar:</a:t>
            </a:r>
            <a:endParaRPr lang="en-US" sz="1100" dirty="0"/>
          </a:p>
        </p:txBody>
      </p:sp>
      <p:sp>
        <p:nvSpPr>
          <p:cNvPr id="5" name="Shape 3"/>
          <p:cNvSpPr/>
          <p:nvPr/>
        </p:nvSpPr>
        <p:spPr>
          <a:xfrm>
            <a:off x="256032" y="804672"/>
            <a:ext cx="8631936" cy="1600200"/>
          </a:xfrm>
          <a:prstGeom prst="rect">
            <a:avLst/>
          </a:prstGeom>
          <a:solidFill>
            <a:srgbClr val="E0F4F4"/>
          </a:solidFill>
          <a:ln w="12700">
            <a:solidFill>
              <a:srgbClr val="0D7377"/>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56032" y="804672"/>
            <a:ext cx="128016" cy="1600200"/>
          </a:xfrm>
          <a:prstGeom prst="rect">
            <a:avLst/>
          </a:prstGeom>
          <a:solidFill>
            <a:srgbClr val="0D7377"/>
          </a:solidFill>
          <a:ln w="12700">
            <a:solidFill>
              <a:srgbClr val="0D7377"/>
            </a:solidFill>
            <a:prstDash val="solid"/>
          </a:ln>
        </p:spPr>
      </p:sp>
      <p:sp>
        <p:nvSpPr>
          <p:cNvPr id="7" name="Text 5"/>
          <p:cNvSpPr/>
          <p:nvPr/>
        </p:nvSpPr>
        <p:spPr>
          <a:xfrm>
            <a:off x="438912" y="832104"/>
            <a:ext cx="8321040" cy="1536192"/>
          </a:xfrm>
          <a:prstGeom prst="rect">
            <a:avLst/>
          </a:prstGeom>
          <a:noFill/>
          <a:ln/>
        </p:spPr>
        <p:txBody>
          <a:bodyPr wrap="square" rtlCol="0" anchor="ctr"/>
          <a:lstStyle/>
          <a:p>
            <a:pPr indent="0" marL="0">
              <a:buNone/>
            </a:pPr>
            <a:r>
              <a:rPr lang="en-US" sz="1600" b="1" dirty="0">
                <a:solidFill>
                  <a:srgbClr val="7B1F3A"/>
                </a:solidFill>
                <a:latin typeface="Calibri" pitchFamily="34" charset="0"/>
                <a:ea typeface="Calibri" pitchFamily="34" charset="-122"/>
                <a:cs typeface="Calibri" pitchFamily="34" charset="-120"/>
              </a:rPr>
              <a:t>GPS:  </a:t>
            </a:r>
            <a:pPr indent="0" marL="0">
              <a:buNone/>
            </a:pPr>
            <a:r>
              <a:rPr lang="en-US" sz="1450" b="1" i="1" dirty="0">
                <a:solidFill>
                  <a:srgbClr val="0D7377"/>
                </a:solidFill>
                <a:latin typeface="Calibri" pitchFamily="34" charset="0"/>
                <a:ea typeface="Calibri" pitchFamily="34" charset="-122"/>
                <a:cs typeface="Calibri" pitchFamily="34" charset="-120"/>
              </a:rPr>
              <a:t>¿Cómo transforma tu vida el conocer a Dios como Santo, como Amor y como Emanuel presente contigo?</a:t>
            </a:r>
            <a:endParaRPr lang="en-US" sz="16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256032" y="2532888"/>
            <a:ext cx="128016" cy="749808"/>
          </a:xfrm>
          <a:prstGeom prst="rect">
            <a:avLst/>
          </a:prstGeom>
          <a:solidFill>
            <a:srgbClr val="7B1F3A"/>
          </a:solidFill>
          <a:ln w="12700">
            <a:solidFill>
              <a:srgbClr val="7B1F3A"/>
            </a:solidFill>
            <a:prstDash val="solid"/>
          </a:ln>
        </p:spPr>
      </p:sp>
      <p:sp>
        <p:nvSpPr>
          <p:cNvPr id="10" name="Text 8"/>
          <p:cNvSpPr/>
          <p:nvPr/>
        </p:nvSpPr>
        <p:spPr>
          <a:xfrm>
            <a:off x="457200" y="2578608"/>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¿Cuál es la imagen de Dios que tienes cuando atraviesas momentos difíciles? ¿En qué medida esa imagen corresponde a lo que la Biblia revela?</a:t>
            </a:r>
            <a:endParaRPr lang="en-US" sz="125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56032" y="3419856"/>
            <a:ext cx="128016" cy="749808"/>
          </a:xfrm>
          <a:prstGeom prst="rect">
            <a:avLst/>
          </a:prstGeom>
          <a:solidFill>
            <a:srgbClr val="7B1F3A"/>
          </a:solidFill>
          <a:ln w="12700">
            <a:solidFill>
              <a:srgbClr val="7B1F3A"/>
            </a:solidFill>
            <a:prstDash val="solid"/>
          </a:ln>
        </p:spPr>
      </p:sp>
      <p:sp>
        <p:nvSpPr>
          <p:cNvPr id="13" name="Text 11"/>
          <p:cNvSpPr/>
          <p:nvPr/>
        </p:nvSpPr>
        <p:spPr>
          <a:xfrm>
            <a:off x="457200" y="3465576"/>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¿Si tuvieras que describir el carácter de Dios a alguien que nunca leyó la Biblia, qué características resaltarías primero y por qué?</a:t>
            </a:r>
            <a:endParaRPr lang="en-US" sz="1250" dirty="0"/>
          </a:p>
        </p:txBody>
      </p:sp>
      <p:sp>
        <p:nvSpPr>
          <p:cNvPr id="14" name="Shape 12"/>
          <p:cNvSpPr/>
          <p:nvPr/>
        </p:nvSpPr>
        <p:spPr>
          <a:xfrm>
            <a:off x="0" y="4800600"/>
            <a:ext cx="9144000" cy="342900"/>
          </a:xfrm>
          <a:prstGeom prst="rect">
            <a:avLst/>
          </a:prstGeom>
          <a:solidFill>
            <a:srgbClr val="7B1F3A"/>
          </a:solidFill>
          <a:ln w="12700">
            <a:solidFill>
              <a:srgbClr val="7B1F3A"/>
            </a:solidFill>
            <a:prstDash val="solid"/>
          </a:ln>
        </p:spPr>
      </p:sp>
      <p:sp>
        <p:nvSpPr>
          <p:cNvPr id="15" name="Text 13"/>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0D7377"/>
          </a:solidFill>
          <a:ln w="12700">
            <a:solidFill>
              <a:srgbClr val="0D7377"/>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7B1F3A"/>
          </a:solidFill>
          <a:ln w="12700">
            <a:solidFill>
              <a:srgbClr val="7B1F3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0D7377"/>
          </a:solidFill>
          <a:ln w="12700">
            <a:solidFill>
              <a:srgbClr val="0D7377"/>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Dios es Santo: separado del mal</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La santidad es el centro del carácter de Dios. Estar separado completamente del mal hace posible que su amor, poder y sabiduría sean dignos de toda nuestra confianza.</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0D7377"/>
                </a:solidFill>
                <a:latin typeface="Calibri" pitchFamily="34" charset="0"/>
                <a:ea typeface="Calibri" pitchFamily="34" charset="-122"/>
                <a:cs typeface="Calibri" pitchFamily="34" charset="-120"/>
              </a:rPr>
              <a:t>Levítico 20:26; 1 Samuel 2:2</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0D7377"/>
          </a:solidFill>
          <a:ln w="12700">
            <a:solidFill>
              <a:srgbClr val="0D7377"/>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Lev. 20:26  —  </a:t>
            </a:r>
            <a:pPr indent="0" marL="0">
              <a:buNone/>
            </a:pPr>
            <a:r>
              <a:rPr lang="en-US" sz="1150" b="1" dirty="0">
                <a:solidFill>
                  <a:srgbClr val="7B1F3A"/>
                </a:solidFill>
                <a:latin typeface="Calibri" pitchFamily="34" charset="0"/>
                <a:ea typeface="Calibri" pitchFamily="34" charset="-122"/>
                <a:cs typeface="Calibri" pitchFamily="34" charset="-120"/>
              </a:rPr>
              <a:t>Separados para ser santos: </a:t>
            </a:r>
            <a:pPr indent="0" marL="0">
              <a:buNone/>
            </a:pPr>
            <a:r>
              <a:rPr lang="en-US" sz="1150" dirty="0">
                <a:solidFill>
                  <a:srgbClr val="1A1A1A"/>
                </a:solidFill>
                <a:latin typeface="Calibri" pitchFamily="34" charset="0"/>
                <a:ea typeface="Calibri" pitchFamily="34" charset="-122"/>
                <a:cs typeface="Calibri" pitchFamily="34" charset="-120"/>
              </a:rPr>
              <a:t>Dios llama a su pueblo a ser santos como él. La santidad no es rigidez, sino el reflejo del carácter divino que nos separa del mal para acercarnos a Dios.</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0D7377"/>
          </a:solidFill>
          <a:ln w="12700">
            <a:solidFill>
              <a:srgbClr val="0D7377"/>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Sam. 2:2  —  </a:t>
            </a:r>
            <a:pPr indent="0" marL="0">
              <a:buNone/>
            </a:pPr>
            <a:r>
              <a:rPr lang="en-US" sz="1150" b="1" dirty="0">
                <a:solidFill>
                  <a:srgbClr val="7B1F3A"/>
                </a:solidFill>
                <a:latin typeface="Calibri" pitchFamily="34" charset="0"/>
                <a:ea typeface="Calibri" pitchFamily="34" charset="-122"/>
                <a:cs typeface="Calibri" pitchFamily="34" charset="-120"/>
              </a:rPr>
              <a:t>No hay santo como el Señor: </a:t>
            </a:r>
            <a:pPr indent="0" marL="0">
              <a:buNone/>
            </a:pPr>
            <a:r>
              <a:rPr lang="en-US" sz="1150" dirty="0">
                <a:solidFill>
                  <a:srgbClr val="1A1A1A"/>
                </a:solidFill>
                <a:latin typeface="Calibri" pitchFamily="34" charset="0"/>
                <a:ea typeface="Calibri" pitchFamily="34" charset="-122"/>
                <a:cs typeface="Calibri" pitchFamily="34" charset="-120"/>
              </a:rPr>
              <a:t>La declaración de Ana proclama que ningún ser es comparable a Dios en santidad. Esa singularidad es el fundamento seguro de nuestra adoración y confianza.</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0D7377"/>
          </a:solidFill>
          <a:ln w="12700">
            <a:solidFill>
              <a:srgbClr val="0D7377"/>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Isa. 57:15  —  </a:t>
            </a:r>
            <a:pPr indent="0" marL="0">
              <a:buNone/>
            </a:pPr>
            <a:r>
              <a:rPr lang="en-US" sz="1150" b="1" dirty="0">
                <a:solidFill>
                  <a:srgbClr val="7B1F3A"/>
                </a:solidFill>
                <a:latin typeface="Calibri" pitchFamily="34" charset="0"/>
                <a:ea typeface="Calibri" pitchFamily="34" charset="-122"/>
                <a:cs typeface="Calibri" pitchFamily="34" charset="-120"/>
              </a:rPr>
              <a:t>El Alto y Sublime habita con el humilde: </a:t>
            </a:r>
            <a:pPr indent="0" marL="0">
              <a:buNone/>
            </a:pPr>
            <a:r>
              <a:rPr lang="en-US" sz="1150" dirty="0">
                <a:solidFill>
                  <a:srgbClr val="1A1A1A"/>
                </a:solidFill>
                <a:latin typeface="Calibri" pitchFamily="34" charset="0"/>
                <a:ea typeface="Calibri" pitchFamily="34" charset="-122"/>
                <a:cs typeface="Calibri" pitchFamily="34" charset="-120"/>
              </a:rPr>
              <a:t>El Dios santo mora con el contrito y humilde. Su santidad no es distancia sino pureza que puede acercarse a nosotros con gracia.</a:t>
            </a:r>
            <a:endParaRPr lang="en-US" sz="1150" dirty="0"/>
          </a:p>
        </p:txBody>
      </p:sp>
      <p:sp>
        <p:nvSpPr>
          <p:cNvPr id="21" name="Shape 19"/>
          <p:cNvSpPr/>
          <p:nvPr/>
        </p:nvSpPr>
        <p:spPr>
          <a:xfrm>
            <a:off x="0" y="4800600"/>
            <a:ext cx="9144000" cy="342900"/>
          </a:xfrm>
          <a:prstGeom prst="rect">
            <a:avLst/>
          </a:prstGeom>
          <a:solidFill>
            <a:srgbClr val="7B1F3A"/>
          </a:solidFill>
          <a:ln w="12700">
            <a:solidFill>
              <a:srgbClr val="7B1F3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0D7377"/>
          </a:solidFill>
          <a:ln w="12700">
            <a:solidFill>
              <a:srgbClr val="0D7377"/>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7B1F3A"/>
          </a:solidFill>
          <a:ln w="12700">
            <a:solidFill>
              <a:srgbClr val="7B1F3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0D7377"/>
          </a:solidFill>
          <a:ln w="12700">
            <a:solidFill>
              <a:srgbClr val="0D7377"/>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Dios es Amor: la esencia de su ser</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Juan no dice que Dios siente amor, sino que Dios ES amor. Su amor es la esencia de su carácter, gratuito, perfecto y que invita a permanecer en una relación viva con él.</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0D7377"/>
                </a:solidFill>
                <a:latin typeface="Calibri" pitchFamily="34" charset="0"/>
                <a:ea typeface="Calibri" pitchFamily="34" charset="-122"/>
                <a:cs typeface="Calibri" pitchFamily="34" charset="-120"/>
              </a:rPr>
              <a:t>1 Juan 4:7-19</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0D7377"/>
          </a:solidFill>
          <a:ln w="12700">
            <a:solidFill>
              <a:srgbClr val="0D7377"/>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Juan 4:7-8  —  </a:t>
            </a:r>
            <a:pPr indent="0" marL="0">
              <a:buNone/>
            </a:pPr>
            <a:r>
              <a:rPr lang="en-US" sz="1150" b="1" dirty="0">
                <a:solidFill>
                  <a:srgbClr val="7B1F3A"/>
                </a:solidFill>
                <a:latin typeface="Calibri" pitchFamily="34" charset="0"/>
                <a:ea typeface="Calibri" pitchFamily="34" charset="-122"/>
                <a:cs typeface="Calibri" pitchFamily="34" charset="-120"/>
              </a:rPr>
              <a:t>El amor proviene de Dios: </a:t>
            </a:r>
            <a:pPr indent="0" marL="0">
              <a:buNone/>
            </a:pPr>
            <a:r>
              <a:rPr lang="en-US" sz="1150" dirty="0">
                <a:solidFill>
                  <a:srgbClr val="1A1A1A"/>
                </a:solidFill>
                <a:latin typeface="Calibri" pitchFamily="34" charset="0"/>
                <a:ea typeface="Calibri" pitchFamily="34" charset="-122"/>
                <a:cs typeface="Calibri" pitchFamily="34" charset="-120"/>
              </a:rPr>
              <a:t>Todo amor verdadero tiene su origen en Dios. Quien ama conoce a Dios; quien no ama no lo conoce, porque Dios en su esencia misma es amor.</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0D7377"/>
          </a:solidFill>
          <a:ln w="12700">
            <a:solidFill>
              <a:srgbClr val="0D7377"/>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Juan 4:9-11  —  </a:t>
            </a:r>
            <a:pPr indent="0" marL="0">
              <a:buNone/>
            </a:pPr>
            <a:r>
              <a:rPr lang="en-US" sz="1150" b="1" dirty="0">
                <a:solidFill>
                  <a:srgbClr val="7B1F3A"/>
                </a:solidFill>
                <a:latin typeface="Calibri" pitchFamily="34" charset="0"/>
                <a:ea typeface="Calibri" pitchFamily="34" charset="-122"/>
                <a:cs typeface="Calibri" pitchFamily="34" charset="-120"/>
              </a:rPr>
              <a:t>El amor demostrado en la Cruz: </a:t>
            </a:r>
            <a:pPr indent="0" marL="0">
              <a:buNone/>
            </a:pPr>
            <a:r>
              <a:rPr lang="en-US" sz="1150" dirty="0">
                <a:solidFill>
                  <a:srgbClr val="1A1A1A"/>
                </a:solidFill>
                <a:latin typeface="Calibri" pitchFamily="34" charset="0"/>
                <a:ea typeface="Calibri" pitchFamily="34" charset="-122"/>
                <a:cs typeface="Calibri" pitchFamily="34" charset="-120"/>
              </a:rPr>
              <a:t>Dios demostró su amor enviando a su Hijo único para que vivamos por él. No que nosotros amáramos a Dios, sino que él nos amó primero.</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0D7377"/>
          </a:solidFill>
          <a:ln w="12700">
            <a:solidFill>
              <a:srgbClr val="0D7377"/>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Juan 4:16-19  —  </a:t>
            </a:r>
            <a:pPr indent="0" marL="0">
              <a:buNone/>
            </a:pPr>
            <a:r>
              <a:rPr lang="en-US" sz="1150" b="1" dirty="0">
                <a:solidFill>
                  <a:srgbClr val="7B1F3A"/>
                </a:solidFill>
                <a:latin typeface="Calibri" pitchFamily="34" charset="0"/>
                <a:ea typeface="Calibri" pitchFamily="34" charset="-122"/>
                <a:cs typeface="Calibri" pitchFamily="34" charset="-120"/>
              </a:rPr>
              <a:t>Permanecer en el amor: </a:t>
            </a:r>
            <a:pPr indent="0" marL="0">
              <a:buNone/>
            </a:pPr>
            <a:r>
              <a:rPr lang="en-US" sz="1150" dirty="0">
                <a:solidFill>
                  <a:srgbClr val="1A1A1A"/>
                </a:solidFill>
                <a:latin typeface="Calibri" pitchFamily="34" charset="0"/>
                <a:ea typeface="Calibri" pitchFamily="34" charset="-122"/>
                <a:cs typeface="Calibri" pitchFamily="34" charset="-120"/>
              </a:rPr>
              <a:t>Quien permanece en el amor permanece en Dios. Su amor perfecto echa fuera el temor. Amamos porque él nos amó primero, como respuesta a su gracia.</a:t>
            </a:r>
            <a:endParaRPr lang="en-US" sz="1150" dirty="0"/>
          </a:p>
        </p:txBody>
      </p:sp>
      <p:sp>
        <p:nvSpPr>
          <p:cNvPr id="21" name="Shape 19"/>
          <p:cNvSpPr/>
          <p:nvPr/>
        </p:nvSpPr>
        <p:spPr>
          <a:xfrm>
            <a:off x="0" y="4800600"/>
            <a:ext cx="9144000" cy="342900"/>
          </a:xfrm>
          <a:prstGeom prst="rect">
            <a:avLst/>
          </a:prstGeom>
          <a:solidFill>
            <a:srgbClr val="7B1F3A"/>
          </a:solidFill>
          <a:ln w="12700">
            <a:solidFill>
              <a:srgbClr val="7B1F3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0D7377"/>
          </a:solidFill>
          <a:ln w="12700">
            <a:solidFill>
              <a:srgbClr val="0D7377"/>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7B1F3A"/>
          </a:solidFill>
          <a:ln w="12700">
            <a:solidFill>
              <a:srgbClr val="7B1F3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0D7377"/>
          </a:solidFill>
          <a:ln w="12700">
            <a:solidFill>
              <a:srgbClr val="0D7377"/>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Dios con nosotros: Creador y Emanuel</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La misma Biblia que presenta a Dios como el poderoso Creador lo revela como Emanuel, el Dios que habita entre nosotros. Esta paradoja es la esencia de nuestra relación con él.</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0D7377"/>
                </a:solidFill>
                <a:latin typeface="Calibri" pitchFamily="34" charset="0"/>
                <a:ea typeface="Calibri" pitchFamily="34" charset="-122"/>
                <a:cs typeface="Calibri" pitchFamily="34" charset="-120"/>
              </a:rPr>
              <a:t>Génesis 1:1; 2:7; Mateo 1:23</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0D7377"/>
          </a:solidFill>
          <a:ln w="12700">
            <a:solidFill>
              <a:srgbClr val="0D7377"/>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Gén. 1:1  —  </a:t>
            </a:r>
            <a:pPr indent="0" marL="0">
              <a:buNone/>
            </a:pPr>
            <a:r>
              <a:rPr lang="en-US" sz="1150" b="1" dirty="0">
                <a:solidFill>
                  <a:srgbClr val="7B1F3A"/>
                </a:solidFill>
                <a:latin typeface="Calibri" pitchFamily="34" charset="0"/>
                <a:ea typeface="Calibri" pitchFamily="34" charset="-122"/>
                <a:cs typeface="Calibri" pitchFamily="34" charset="-120"/>
              </a:rPr>
              <a:t>Dios: el Creador todopoderoso: </a:t>
            </a:r>
            <a:pPr indent="0" marL="0">
              <a:buNone/>
            </a:pPr>
            <a:r>
              <a:rPr lang="en-US" sz="1150" dirty="0">
                <a:solidFill>
                  <a:srgbClr val="1A1A1A"/>
                </a:solidFill>
                <a:latin typeface="Calibri" pitchFamily="34" charset="0"/>
                <a:ea typeface="Calibri" pitchFamily="34" charset="-122"/>
                <a:cs typeface="Calibri" pitchFamily="34" charset="-120"/>
              </a:rPr>
              <a:t>En el principio Dios creó todo con su sola palabra. Elohim, el Dios trascendente, tiene el control absoluto del universo. Su poder es la base de nuestra confianza.</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0D7377"/>
          </a:solidFill>
          <a:ln w="12700">
            <a:solidFill>
              <a:srgbClr val="0D7377"/>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Gén. 2:7  —  </a:t>
            </a:r>
            <a:pPr indent="0" marL="0">
              <a:buNone/>
            </a:pPr>
            <a:r>
              <a:rPr lang="en-US" sz="1150" b="1" dirty="0">
                <a:solidFill>
                  <a:srgbClr val="7B1F3A"/>
                </a:solidFill>
                <a:latin typeface="Calibri" pitchFamily="34" charset="0"/>
                <a:ea typeface="Calibri" pitchFamily="34" charset="-122"/>
                <a:cs typeface="Calibri" pitchFamily="34" charset="-120"/>
              </a:rPr>
              <a:t>Dios: el Padre personal: </a:t>
            </a:r>
            <a:pPr indent="0" marL="0">
              <a:buNone/>
            </a:pPr>
            <a:r>
              <a:rPr lang="en-US" sz="1150" dirty="0">
                <a:solidFill>
                  <a:srgbClr val="1A1A1A"/>
                </a:solidFill>
                <a:latin typeface="Calibri" pitchFamily="34" charset="0"/>
                <a:ea typeface="Calibri" pitchFamily="34" charset="-122"/>
                <a:cs typeface="Calibri" pitchFamily="34" charset="-120"/>
              </a:rPr>
              <a:t>Yahweh formó al ser humano con sus propias manos y sopló en él el aliento de vida. El poderoso Creador desea una relación íntima con cada uno.</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0D7377"/>
          </a:solidFill>
          <a:ln w="12700">
            <a:solidFill>
              <a:srgbClr val="0D7377"/>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Mat. 1:23  —  </a:t>
            </a:r>
            <a:pPr indent="0" marL="0">
              <a:buNone/>
            </a:pPr>
            <a:r>
              <a:rPr lang="en-US" sz="1150" b="1" dirty="0">
                <a:solidFill>
                  <a:srgbClr val="7B1F3A"/>
                </a:solidFill>
                <a:latin typeface="Calibri" pitchFamily="34" charset="0"/>
                <a:ea typeface="Calibri" pitchFamily="34" charset="-122"/>
                <a:cs typeface="Calibri" pitchFamily="34" charset="-120"/>
              </a:rPr>
              <a:t>Emanuel: Dios entre nosotros: </a:t>
            </a:r>
            <a:pPr indent="0" marL="0">
              <a:buNone/>
            </a:pPr>
            <a:r>
              <a:rPr lang="en-US" sz="1150" dirty="0">
                <a:solidFill>
                  <a:srgbClr val="1A1A1A"/>
                </a:solidFill>
                <a:latin typeface="Calibri" pitchFamily="34" charset="0"/>
                <a:ea typeface="Calibri" pitchFamily="34" charset="-122"/>
                <a:cs typeface="Calibri" pitchFamily="34" charset="-120"/>
              </a:rPr>
              <a:t>La promesa se cumple en Jesús: Dios mismo viene a vivir entre nosotros. En Cristo vemos perfectamente cómo es el Padre, y esa revelación transforma nuestra imagen de Dios.</a:t>
            </a:r>
            <a:endParaRPr lang="en-US" sz="1150" dirty="0"/>
          </a:p>
        </p:txBody>
      </p:sp>
      <p:sp>
        <p:nvSpPr>
          <p:cNvPr id="21" name="Shape 19"/>
          <p:cNvSpPr/>
          <p:nvPr/>
        </p:nvSpPr>
        <p:spPr>
          <a:xfrm>
            <a:off x="0" y="4800600"/>
            <a:ext cx="9144000" cy="342900"/>
          </a:xfrm>
          <a:prstGeom prst="rect">
            <a:avLst/>
          </a:prstGeom>
          <a:solidFill>
            <a:srgbClr val="7B1F3A"/>
          </a:solidFill>
          <a:ln w="12700">
            <a:solidFill>
              <a:srgbClr val="7B1F3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6B44"/>
          </a:solidFill>
          <a:ln w="12700">
            <a:solidFill>
              <a:srgbClr val="1A6B44"/>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3]  APLICA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C8ECD4"/>
                </a:solidFill>
                <a:latin typeface="Calibri" pitchFamily="34" charset="0"/>
                <a:ea typeface="Calibri" pitchFamily="34" charset="-122"/>
                <a:cs typeface="Calibri" pitchFamily="34" charset="-120"/>
              </a:rPr>
              <a:t>— Reflexión personal:</a:t>
            </a:r>
            <a:endParaRPr lang="en-US" sz="1100" dirty="0"/>
          </a:p>
        </p:txBody>
      </p:sp>
      <p:sp>
        <p:nvSpPr>
          <p:cNvPr id="5" name="Shape 3"/>
          <p:cNvSpPr/>
          <p:nvPr/>
        </p:nvSpPr>
        <p:spPr>
          <a:xfrm>
            <a:off x="228600" y="768096"/>
            <a:ext cx="8686800" cy="1325880"/>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28600" y="768096"/>
            <a:ext cx="128016" cy="1325880"/>
          </a:xfrm>
          <a:prstGeom prst="rect">
            <a:avLst/>
          </a:prstGeom>
          <a:solidFill>
            <a:srgbClr val="1A6B44"/>
          </a:solidFill>
          <a:ln w="12700">
            <a:solidFill>
              <a:srgbClr val="1A6B44"/>
            </a:solidFill>
            <a:prstDash val="solid"/>
          </a:ln>
        </p:spPr>
      </p:sp>
      <p:sp>
        <p:nvSpPr>
          <p:cNvPr id="7" name="Text 5"/>
          <p:cNvSpPr/>
          <p:nvPr/>
        </p:nvSpPr>
        <p:spPr>
          <a:xfrm>
            <a:off x="402336" y="822960"/>
            <a:ext cx="347472" cy="329184"/>
          </a:xfrm>
          <a:prstGeom prst="rect">
            <a:avLst/>
          </a:prstGeom>
          <a:noFill/>
          <a:ln/>
        </p:spPr>
        <p:txBody>
          <a:bodyPr wrap="square" rtlCol="0" anchor="ctr"/>
          <a:lstStyle/>
          <a:p>
            <a:pPr indent="0" marL="0">
              <a:buNone/>
            </a:pPr>
            <a:r>
              <a:rPr lang="en-US" sz="1400" dirty="0">
                <a:solidFill>
                  <a:srgbClr val="1A6B44"/>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"Todo el amor paterno que se haya transmitido por medio de los corazones humanos, todos los manantiales de ternura que se hayan abierto en las almas de los hombres son tan solo como una gota del ilimitado océano, cuando se comparan con el amor infinito e inagotable de Dios."</a:t>
            </a:r>
            <a:endParaRPr lang="en-US" sz="1200" dirty="0"/>
          </a:p>
        </p:txBody>
      </p:sp>
      <p:sp>
        <p:nvSpPr>
          <p:cNvPr id="9" name="Text 7"/>
          <p:cNvSpPr/>
          <p:nvPr/>
        </p:nvSpPr>
        <p:spPr>
          <a:xfrm>
            <a:off x="749808" y="1755648"/>
            <a:ext cx="8046720" cy="256032"/>
          </a:xfrm>
          <a:prstGeom prst="rect">
            <a:avLst/>
          </a:prstGeom>
          <a:noFill/>
          <a:ln/>
        </p:spPr>
        <p:txBody>
          <a:bodyPr wrap="square" rtlCol="0" anchor="ctr"/>
          <a:lstStyle/>
          <a:p>
            <a:pPr algn="r" indent="0" marL="0">
              <a:buNone/>
            </a:pPr>
            <a:r>
              <a:rPr lang="en-US" sz="1000" i="1" dirty="0">
                <a:solidFill>
                  <a:srgbClr val="1A6B44"/>
                </a:solidFill>
                <a:latin typeface="Calibri" pitchFamily="34" charset="0"/>
                <a:ea typeface="Calibri" pitchFamily="34" charset="-122"/>
                <a:cs typeface="Calibri" pitchFamily="34" charset="-120"/>
              </a:rPr>
              <a:t>— Elena de White, El camino a Cristo, p. 10</a:t>
            </a:r>
            <a:endParaRPr lang="en-US" sz="1000" dirty="0"/>
          </a:p>
        </p:txBody>
      </p:sp>
      <p:sp>
        <p:nvSpPr>
          <p:cNvPr id="10" name="Shape 8"/>
          <p:cNvSpPr/>
          <p:nvPr/>
        </p:nvSpPr>
        <p:spPr>
          <a:xfrm>
            <a:off x="228600" y="214884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2148840"/>
            <a:ext cx="128016" cy="832104"/>
          </a:xfrm>
          <a:prstGeom prst="rect">
            <a:avLst/>
          </a:prstGeom>
          <a:solidFill>
            <a:srgbClr val="1A6B44"/>
          </a:solidFill>
          <a:ln w="12700">
            <a:solidFill>
              <a:srgbClr val="1A6B44"/>
            </a:solidFill>
            <a:prstDash val="solid"/>
          </a:ln>
        </p:spPr>
      </p:sp>
      <p:sp>
        <p:nvSpPr>
          <p:cNvPr id="12" name="Text 10"/>
          <p:cNvSpPr/>
          <p:nvPr/>
        </p:nvSpPr>
        <p:spPr>
          <a:xfrm>
            <a:off x="420624" y="2221992"/>
            <a:ext cx="8366760" cy="685800"/>
          </a:xfrm>
          <a:prstGeom prst="rect">
            <a:avLst/>
          </a:prstGeom>
          <a:noFill/>
          <a:ln/>
        </p:spPr>
        <p:txBody>
          <a:bodyPr wrap="square" rtlCol="0" anchor="ctr"/>
          <a:lstStyle/>
          <a:p>
            <a:pPr indent="0" marL="0">
              <a:buNone/>
            </a:pPr>
            <a:r>
              <a:rPr lang="en-US" sz="1300" b="1" dirty="0">
                <a:solidFill>
                  <a:srgbClr val="1A6B44"/>
                </a:solidFill>
                <a:latin typeface="Calibri" pitchFamily="34" charset="0"/>
                <a:ea typeface="Calibri" pitchFamily="34" charset="-122"/>
                <a:cs typeface="Calibri" pitchFamily="34" charset="-120"/>
              </a:rPr>
              <a:t>1.  </a:t>
            </a:r>
            <a:pPr indent="0" marL="0">
              <a:buNone/>
            </a:pPr>
            <a:r>
              <a:rPr lang="en-US" sz="1250" b="1" dirty="0">
                <a:solidFill>
                  <a:srgbClr val="1A1A1A"/>
                </a:solidFill>
                <a:latin typeface="Calibri" pitchFamily="34" charset="0"/>
                <a:ea typeface="Calibri" pitchFamily="34" charset="-122"/>
                <a:cs typeface="Calibri" pitchFamily="34" charset="-120"/>
              </a:rPr>
              <a:t>¿Qué cambiaría en tu conducta diaria si visualizaras claramente que vives en presencia de un Dios completamente santo?</a:t>
            </a:r>
            <a:endParaRPr lang="en-US" sz="1300" dirty="0"/>
          </a:p>
        </p:txBody>
      </p:sp>
      <p:sp>
        <p:nvSpPr>
          <p:cNvPr id="13" name="Shape 11"/>
          <p:cNvSpPr/>
          <p:nvPr/>
        </p:nvSpPr>
        <p:spPr>
          <a:xfrm>
            <a:off x="228600" y="3017520"/>
            <a:ext cx="8686800" cy="832104"/>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228600" y="3017520"/>
            <a:ext cx="128016" cy="832104"/>
          </a:xfrm>
          <a:prstGeom prst="rect">
            <a:avLst/>
          </a:prstGeom>
          <a:solidFill>
            <a:srgbClr val="1A6B44"/>
          </a:solidFill>
          <a:ln w="12700">
            <a:solidFill>
              <a:srgbClr val="1A6B44"/>
            </a:solidFill>
            <a:prstDash val="solid"/>
          </a:ln>
        </p:spPr>
      </p:sp>
      <p:sp>
        <p:nvSpPr>
          <p:cNvPr id="15" name="Text 13"/>
          <p:cNvSpPr/>
          <p:nvPr/>
        </p:nvSpPr>
        <p:spPr>
          <a:xfrm>
            <a:off x="420624" y="3090672"/>
            <a:ext cx="8366760" cy="685800"/>
          </a:xfrm>
          <a:prstGeom prst="rect">
            <a:avLst/>
          </a:prstGeom>
          <a:noFill/>
          <a:ln/>
        </p:spPr>
        <p:txBody>
          <a:bodyPr wrap="square" rtlCol="0" anchor="ctr"/>
          <a:lstStyle/>
          <a:p>
            <a:pPr indent="0" marL="0">
              <a:buNone/>
            </a:pPr>
            <a:r>
              <a:rPr lang="en-US" sz="1300" b="1" dirty="0">
                <a:solidFill>
                  <a:srgbClr val="1A6B44"/>
                </a:solidFill>
                <a:latin typeface="Calibri" pitchFamily="34" charset="0"/>
                <a:ea typeface="Calibri" pitchFamily="34" charset="-122"/>
                <a:cs typeface="Calibri" pitchFamily="34" charset="-120"/>
              </a:rPr>
              <a:t>2.  </a:t>
            </a:r>
            <a:pPr indent="0" marL="0">
              <a:buNone/>
            </a:pPr>
            <a:r>
              <a:rPr lang="en-US" sz="1250" b="1" dirty="0">
                <a:solidFill>
                  <a:srgbClr val="1A1A1A"/>
                </a:solidFill>
                <a:latin typeface="Calibri" pitchFamily="34" charset="0"/>
                <a:ea typeface="Calibri" pitchFamily="34" charset="-122"/>
                <a:cs typeface="Calibri" pitchFamily="34" charset="-120"/>
              </a:rPr>
              <a:t>¿En qué medida el amor de Dios ha reemplazado en tu experiencia el temor o la obligación como motivación para servirle?</a:t>
            </a:r>
            <a:endParaRPr lang="en-US" sz="1300" dirty="0"/>
          </a:p>
        </p:txBody>
      </p:sp>
      <p:sp>
        <p:nvSpPr>
          <p:cNvPr id="16" name="Shape 14"/>
          <p:cNvSpPr/>
          <p:nvPr/>
        </p:nvSpPr>
        <p:spPr>
          <a:xfrm>
            <a:off x="228600" y="388620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228600" y="3886200"/>
            <a:ext cx="128016" cy="832104"/>
          </a:xfrm>
          <a:prstGeom prst="rect">
            <a:avLst/>
          </a:prstGeom>
          <a:solidFill>
            <a:srgbClr val="1A6B44"/>
          </a:solidFill>
          <a:ln w="12700">
            <a:solidFill>
              <a:srgbClr val="1A6B44"/>
            </a:solidFill>
            <a:prstDash val="solid"/>
          </a:ln>
        </p:spPr>
      </p:sp>
      <p:sp>
        <p:nvSpPr>
          <p:cNvPr id="18" name="Text 16"/>
          <p:cNvSpPr/>
          <p:nvPr/>
        </p:nvSpPr>
        <p:spPr>
          <a:xfrm>
            <a:off x="420624" y="3959352"/>
            <a:ext cx="8366760" cy="685800"/>
          </a:xfrm>
          <a:prstGeom prst="rect">
            <a:avLst/>
          </a:prstGeom>
          <a:noFill/>
          <a:ln/>
        </p:spPr>
        <p:txBody>
          <a:bodyPr wrap="square" rtlCol="0" anchor="ctr"/>
          <a:lstStyle/>
          <a:p>
            <a:pPr indent="0" marL="0">
              <a:buNone/>
            </a:pPr>
            <a:r>
              <a:rPr lang="en-US" sz="1300" b="1" dirty="0">
                <a:solidFill>
                  <a:srgbClr val="1A6B44"/>
                </a:solidFill>
                <a:latin typeface="Calibri" pitchFamily="34" charset="0"/>
                <a:ea typeface="Calibri" pitchFamily="34" charset="-122"/>
                <a:cs typeface="Calibri" pitchFamily="34" charset="-120"/>
              </a:rPr>
              <a:t>3.  </a:t>
            </a:r>
            <a:pPr indent="0" marL="0">
              <a:buNone/>
            </a:pPr>
            <a:r>
              <a:rPr lang="en-US" sz="1250" b="1" dirty="0">
                <a:solidFill>
                  <a:srgbClr val="1A1A1A"/>
                </a:solidFill>
                <a:latin typeface="Calibri" pitchFamily="34" charset="0"/>
                <a:ea typeface="Calibri" pitchFamily="34" charset="-122"/>
                <a:cs typeface="Calibri" pitchFamily="34" charset="-120"/>
              </a:rPr>
              <a:t>¿Cómo cambia tu oración y tu vida diaria el saber que el mismo Dios que creó el universo está contigo como Emanuel?</a:t>
            </a:r>
            <a:endParaRPr lang="en-US" sz="1300" dirty="0"/>
          </a:p>
        </p:txBody>
      </p:sp>
      <p:sp>
        <p:nvSpPr>
          <p:cNvPr id="19" name="Shape 17"/>
          <p:cNvSpPr/>
          <p:nvPr/>
        </p:nvSpPr>
        <p:spPr>
          <a:xfrm>
            <a:off x="0" y="4800600"/>
            <a:ext cx="9144000" cy="342900"/>
          </a:xfrm>
          <a:prstGeom prst="rect">
            <a:avLst/>
          </a:prstGeom>
          <a:solidFill>
            <a:srgbClr val="7B1F3A"/>
          </a:solidFill>
          <a:ln w="12700">
            <a:solidFill>
              <a:srgbClr val="7B1F3A"/>
            </a:solidFill>
            <a:prstDash val="solid"/>
          </a:ln>
        </p:spPr>
      </p:sp>
      <p:sp>
        <p:nvSpPr>
          <p:cNvPr id="20" name="Text 1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B1F3A"/>
        </a:solidFill>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0D7377">
              <a:alpha val="40000"/>
            </a:srgbClr>
          </a:solidFill>
          <a:ln w="12700">
            <a:solidFill>
              <a:srgbClr val="0D7377">
                <a:alpha val="40000"/>
              </a:srgbClr>
            </a:solidFill>
            <a:prstDash val="solid"/>
          </a:ln>
        </p:spPr>
      </p:sp>
      <p:sp>
        <p:nvSpPr>
          <p:cNvPr id="3" name="Shape 1"/>
          <p:cNvSpPr/>
          <p:nvPr/>
        </p:nvSpPr>
        <p:spPr>
          <a:xfrm>
            <a:off x="-45720" y="3291840"/>
            <a:ext cx="1645920" cy="1920240"/>
          </a:xfrm>
          <a:prstGeom prst="rect">
            <a:avLst/>
          </a:prstGeom>
          <a:solidFill>
            <a:srgbClr val="0D7377">
              <a:alpha val="30000"/>
            </a:srgbClr>
          </a:solidFill>
          <a:ln w="12700">
            <a:solidFill>
              <a:srgbClr val="0D7377">
                <a:alpha val="30000"/>
              </a:srgbClr>
            </a:solidFill>
            <a:prstDash val="solid"/>
          </a:ln>
        </p:spPr>
      </p:sp>
      <p:sp>
        <p:nvSpPr>
          <p:cNvPr id="4" name="Shape 2"/>
          <p:cNvSpPr/>
          <p:nvPr/>
        </p:nvSpPr>
        <p:spPr>
          <a:xfrm>
            <a:off x="347472" y="256032"/>
            <a:ext cx="2743200" cy="438912"/>
          </a:xfrm>
          <a:prstGeom prst="rect">
            <a:avLst/>
          </a:prstGeom>
          <a:solidFill>
            <a:srgbClr val="0D7377"/>
          </a:solidFill>
          <a:ln w="12700">
            <a:solidFill>
              <a:srgbClr val="0D7377"/>
            </a:solidFill>
            <a:prstDash val="solid"/>
          </a:ln>
        </p:spPr>
      </p:sp>
      <p:sp>
        <p:nvSpPr>
          <p:cNvPr id="5" name="Text 3"/>
          <p:cNvSpPr/>
          <p:nvPr/>
        </p:nvSpPr>
        <p:spPr>
          <a:xfrm>
            <a:off x="347472" y="256032"/>
            <a:ext cx="27432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[FASE 4]  CREA  — MI DECISIÓN</a:t>
            </a:r>
            <a:endParaRPr lang="en-US" sz="1050" dirty="0"/>
          </a:p>
        </p:txBody>
      </p:sp>
      <p:sp>
        <p:nvSpPr>
          <p:cNvPr id="6" name="Shape 4"/>
          <p:cNvSpPr/>
          <p:nvPr/>
        </p:nvSpPr>
        <p:spPr>
          <a:xfrm>
            <a:off x="347472" y="804672"/>
            <a:ext cx="118872" cy="3886200"/>
          </a:xfrm>
          <a:prstGeom prst="rect">
            <a:avLst/>
          </a:prstGeom>
          <a:solidFill>
            <a:srgbClr val="0D7377"/>
          </a:solidFill>
          <a:ln w="12700">
            <a:solidFill>
              <a:srgbClr val="0D7377"/>
            </a:solidFill>
            <a:prstDash val="solid"/>
          </a:ln>
        </p:spPr>
      </p:sp>
      <p:sp>
        <p:nvSpPr>
          <p:cNvPr id="7" name="Text 5"/>
          <p:cNvSpPr/>
          <p:nvPr/>
        </p:nvSpPr>
        <p:spPr>
          <a:xfrm>
            <a:off x="566928" y="822960"/>
            <a:ext cx="8046720" cy="411480"/>
          </a:xfrm>
          <a:prstGeom prst="rect">
            <a:avLst/>
          </a:prstGeom>
          <a:noFill/>
          <a:ln/>
        </p:spPr>
        <p:txBody>
          <a:bodyPr wrap="square" rtlCol="0" anchor="ctr"/>
          <a:lstStyle/>
          <a:p>
            <a:pPr indent="0" marL="0">
              <a:buNone/>
            </a:pPr>
            <a:r>
              <a:rPr lang="en-US" sz="1400" i="1" dirty="0">
                <a:solidFill>
                  <a:srgbClr val="D0E4F5"/>
                </a:solidFill>
                <a:latin typeface="Calibri" pitchFamily="34" charset="0"/>
                <a:ea typeface="Calibri" pitchFamily="34" charset="-122"/>
                <a:cs typeface="Calibri" pitchFamily="34" charset="-120"/>
              </a:rPr>
              <a:t>Marca tu respuesta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0D7377">
                <a:alpha val="60000"/>
              </a:srgbClr>
            </a:solidFill>
            <a:prstDash val="solid"/>
          </a:ln>
        </p:spPr>
      </p:sp>
      <p:sp>
        <p:nvSpPr>
          <p:cNvPr id="9" name="Shape 7"/>
          <p:cNvSpPr/>
          <p:nvPr/>
        </p:nvSpPr>
        <p:spPr>
          <a:xfrm>
            <a:off x="713232" y="1453896"/>
            <a:ext cx="292608" cy="292608"/>
          </a:xfrm>
          <a:prstGeom prst="ellipse">
            <a:avLst/>
          </a:prstGeom>
          <a:solidFill>
            <a:srgbClr val="0D7377"/>
          </a:solidFill>
          <a:ln w="12700">
            <a:solidFill>
              <a:srgbClr val="0D7377"/>
            </a:solidFill>
            <a:prstDash val="solid"/>
          </a:ln>
        </p:spPr>
      </p:sp>
      <p:sp>
        <p:nvSpPr>
          <p:cNvPr id="10" name="Text 8"/>
          <p:cNvSpPr/>
          <p:nvPr/>
        </p:nvSpPr>
        <p:spPr>
          <a:xfrm>
            <a:off x="713232" y="1453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Esta semana estudiaré al menos un atributo del carácter de Dios en su Palabra para conocerlo mejor.</a:t>
            </a:r>
            <a:endParaRPr lang="en-US" sz="1250" dirty="0"/>
          </a:p>
        </p:txBody>
      </p:sp>
      <p:sp>
        <p:nvSpPr>
          <p:cNvPr id="12" name="Text 10"/>
          <p:cNvSpPr/>
          <p:nvPr/>
        </p:nvSpPr>
        <p:spPr>
          <a:xfrm>
            <a:off x="7818120" y="1399032"/>
            <a:ext cx="914400" cy="850392"/>
          </a:xfrm>
          <a:prstGeom prst="rect">
            <a:avLst/>
          </a:prstGeom>
          <a:noFill/>
          <a:ln/>
        </p:spPr>
        <p:txBody>
          <a:bodyPr wrap="square" rtlCol="0" anchor="ctr"/>
          <a:lstStyle/>
          <a:p>
            <a:pPr algn="r" indent="0" marL="0">
              <a:buNone/>
            </a:pPr>
            <a:r>
              <a:rPr lang="en-US" sz="1150" b="1" dirty="0">
                <a:solidFill>
                  <a:srgbClr val="0D7377"/>
                </a:solidFill>
                <a:latin typeface="Calibri" pitchFamily="34" charset="0"/>
                <a:ea typeface="Calibri" pitchFamily="34" charset="-122"/>
                <a:cs typeface="Calibri" pitchFamily="34" charset="-120"/>
              </a:rPr>
              <a:t>☐ Sí  ☐ No</a:t>
            </a:r>
            <a:endParaRPr lang="en-US" sz="1150" dirty="0"/>
          </a:p>
        </p:txBody>
      </p:sp>
      <p:sp>
        <p:nvSpPr>
          <p:cNvPr id="13" name="Shape 11"/>
          <p:cNvSpPr/>
          <p:nvPr/>
        </p:nvSpPr>
        <p:spPr>
          <a:xfrm>
            <a:off x="566928" y="2377440"/>
            <a:ext cx="8229600" cy="996696"/>
          </a:xfrm>
          <a:prstGeom prst="rect">
            <a:avLst/>
          </a:prstGeom>
          <a:solidFill>
            <a:srgbClr val="E0F4F4">
              <a:alpha val="92000"/>
            </a:srgbClr>
          </a:solidFill>
          <a:ln w="12700">
            <a:solidFill>
              <a:srgbClr val="0D7377">
                <a:alpha val="60000"/>
              </a:srgbClr>
            </a:solidFill>
            <a:prstDash val="solid"/>
          </a:ln>
        </p:spPr>
      </p:sp>
      <p:sp>
        <p:nvSpPr>
          <p:cNvPr id="14" name="Shape 12"/>
          <p:cNvSpPr/>
          <p:nvPr/>
        </p:nvSpPr>
        <p:spPr>
          <a:xfrm>
            <a:off x="713232" y="2505456"/>
            <a:ext cx="292608" cy="292608"/>
          </a:xfrm>
          <a:prstGeom prst="ellipse">
            <a:avLst/>
          </a:prstGeom>
          <a:solidFill>
            <a:srgbClr val="0D7377"/>
          </a:solidFill>
          <a:ln w="12700">
            <a:solidFill>
              <a:srgbClr val="0D7377"/>
            </a:solidFill>
            <a:prstDash val="solid"/>
          </a:ln>
        </p:spPr>
      </p:sp>
      <p:sp>
        <p:nvSpPr>
          <p:cNvPr id="15" name="Text 13"/>
          <p:cNvSpPr/>
          <p:nvPr/>
        </p:nvSpPr>
        <p:spPr>
          <a:xfrm>
            <a:off x="713232" y="25054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Reemplazaré una imagen distorsionada de Dios por la imagen que la Biblia revela de su amor y santidad.</a:t>
            </a:r>
            <a:endParaRPr lang="en-US" sz="1250" dirty="0"/>
          </a:p>
        </p:txBody>
      </p:sp>
      <p:sp>
        <p:nvSpPr>
          <p:cNvPr id="17" name="Text 15"/>
          <p:cNvSpPr/>
          <p:nvPr/>
        </p:nvSpPr>
        <p:spPr>
          <a:xfrm>
            <a:off x="7818120" y="2450592"/>
            <a:ext cx="914400" cy="850392"/>
          </a:xfrm>
          <a:prstGeom prst="rect">
            <a:avLst/>
          </a:prstGeom>
          <a:noFill/>
          <a:ln/>
        </p:spPr>
        <p:txBody>
          <a:bodyPr wrap="square" rtlCol="0" anchor="ctr"/>
          <a:lstStyle/>
          <a:p>
            <a:pPr algn="r" indent="0" marL="0">
              <a:buNone/>
            </a:pPr>
            <a:r>
              <a:rPr lang="en-US" sz="1150" b="1" dirty="0">
                <a:solidFill>
                  <a:srgbClr val="0D7377"/>
                </a:solidFill>
                <a:latin typeface="Calibri" pitchFamily="34" charset="0"/>
                <a:ea typeface="Calibri" pitchFamily="34" charset="-122"/>
                <a:cs typeface="Calibri" pitchFamily="34" charset="-120"/>
              </a:rPr>
              <a:t>☐ Sí  ☐ No</a:t>
            </a:r>
            <a:endParaRPr lang="en-US" sz="115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0D7377">
                <a:alpha val="60000"/>
              </a:srgbClr>
            </a:solidFill>
            <a:prstDash val="solid"/>
          </a:ln>
        </p:spPr>
      </p:sp>
      <p:sp>
        <p:nvSpPr>
          <p:cNvPr id="19" name="Shape 17"/>
          <p:cNvSpPr/>
          <p:nvPr/>
        </p:nvSpPr>
        <p:spPr>
          <a:xfrm>
            <a:off x="713232" y="3557016"/>
            <a:ext cx="292608" cy="292608"/>
          </a:xfrm>
          <a:prstGeom prst="ellipse">
            <a:avLst/>
          </a:prstGeom>
          <a:solidFill>
            <a:srgbClr val="0D7377"/>
          </a:solidFill>
          <a:ln w="12700">
            <a:solidFill>
              <a:srgbClr val="0D7377"/>
            </a:solidFill>
            <a:prstDash val="solid"/>
          </a:ln>
        </p:spPr>
      </p:sp>
      <p:sp>
        <p:nvSpPr>
          <p:cNvPr id="20" name="Text 18"/>
          <p:cNvSpPr/>
          <p:nvPr/>
        </p:nvSpPr>
        <p:spPr>
          <a:xfrm>
            <a:off x="713232" y="3557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Compartiré con alguien una experiencia personal de cómo Dios se ha manifestado como Emanuel en mi vida.</a:t>
            </a:r>
            <a:endParaRPr lang="en-US" sz="1250" dirty="0"/>
          </a:p>
        </p:txBody>
      </p:sp>
      <p:sp>
        <p:nvSpPr>
          <p:cNvPr id="22" name="Text 20"/>
          <p:cNvSpPr/>
          <p:nvPr/>
        </p:nvSpPr>
        <p:spPr>
          <a:xfrm>
            <a:off x="7818120" y="3502152"/>
            <a:ext cx="914400" cy="850392"/>
          </a:xfrm>
          <a:prstGeom prst="rect">
            <a:avLst/>
          </a:prstGeom>
          <a:noFill/>
          <a:ln/>
        </p:spPr>
        <p:txBody>
          <a:bodyPr wrap="square" rtlCol="0" anchor="ctr"/>
          <a:lstStyle/>
          <a:p>
            <a:pPr algn="r" indent="0" marL="0">
              <a:buNone/>
            </a:pPr>
            <a:r>
              <a:rPr lang="en-US" sz="1150" b="1" dirty="0">
                <a:solidFill>
                  <a:srgbClr val="0D7377"/>
                </a:solidFill>
                <a:latin typeface="Calibri" pitchFamily="34" charset="0"/>
                <a:ea typeface="Calibri" pitchFamily="34" charset="-122"/>
                <a:cs typeface="Calibri" pitchFamily="34" charset="-120"/>
              </a:rPr>
              <a:t>☐ Sí  ☐ No</a:t>
            </a:r>
            <a:endParaRPr lang="en-US" sz="1150" dirty="0"/>
          </a:p>
        </p:txBody>
      </p:sp>
      <p:sp>
        <p:nvSpPr>
          <p:cNvPr id="23" name="Shape 21"/>
          <p:cNvSpPr/>
          <p:nvPr/>
        </p:nvSpPr>
        <p:spPr>
          <a:xfrm>
            <a:off x="0" y="4800600"/>
            <a:ext cx="9144000" cy="342900"/>
          </a:xfrm>
          <a:prstGeom prst="rect">
            <a:avLst/>
          </a:prstGeom>
          <a:solidFill>
            <a:srgbClr val="7B1F3A"/>
          </a:solidFill>
          <a:ln w="12700">
            <a:solidFill>
              <a:srgbClr val="7B1F3A"/>
            </a:solidFill>
            <a:prstDash val="solid"/>
          </a:ln>
        </p:spPr>
      </p:sp>
      <p:sp>
        <p:nvSpPr>
          <p:cNvPr id="24" name="Text 2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B1F3A"/>
        </a:solidFill>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0D7377">
              <a:alpha val="40000"/>
            </a:srgbClr>
          </a:solidFill>
          <a:ln w="12700">
            <a:solidFill>
              <a:srgbClr val="0D7377">
                <a:alpha val="40000"/>
              </a:srgbClr>
            </a:solidFill>
            <a:prstDash val="solid"/>
          </a:ln>
        </p:spPr>
      </p:sp>
      <p:sp>
        <p:nvSpPr>
          <p:cNvPr id="3" name="Shape 1"/>
          <p:cNvSpPr/>
          <p:nvPr/>
        </p:nvSpPr>
        <p:spPr>
          <a:xfrm>
            <a:off x="7818120" y="1691640"/>
            <a:ext cx="1371600" cy="1371600"/>
          </a:xfrm>
          <a:prstGeom prst="rect">
            <a:avLst/>
          </a:prstGeom>
          <a:solidFill>
            <a:srgbClr val="0D7377">
              <a:alpha val="25000"/>
            </a:srgbClr>
          </a:solidFill>
          <a:ln w="12700">
            <a:solidFill>
              <a:srgbClr val="0D7377">
                <a:alpha val="25000"/>
              </a:srgbClr>
            </a:solidFill>
            <a:prstDash val="solid"/>
          </a:ln>
        </p:spPr>
      </p:sp>
      <p:sp>
        <p:nvSpPr>
          <p:cNvPr id="4" name="Shape 2"/>
          <p:cNvSpPr/>
          <p:nvPr/>
        </p:nvSpPr>
        <p:spPr>
          <a:xfrm>
            <a:off x="-45720" y="3520440"/>
            <a:ext cx="1920240" cy="1783080"/>
          </a:xfrm>
          <a:prstGeom prst="rect">
            <a:avLst/>
          </a:prstGeom>
          <a:solidFill>
            <a:srgbClr val="0D7377">
              <a:alpha val="30000"/>
            </a:srgbClr>
          </a:solidFill>
          <a:ln w="12700">
            <a:solidFill>
              <a:srgbClr val="0D7377">
                <a:alpha val="30000"/>
              </a:srgbClr>
            </a:solidFill>
            <a:prstDash val="solid"/>
          </a:ln>
        </p:spPr>
      </p:sp>
      <p:sp>
        <p:nvSpPr>
          <p:cNvPr id="5" name="Shape 3"/>
          <p:cNvSpPr/>
          <p:nvPr/>
        </p:nvSpPr>
        <p:spPr>
          <a:xfrm>
            <a:off x="438912" y="1005840"/>
            <a:ext cx="118872" cy="2423160"/>
          </a:xfrm>
          <a:prstGeom prst="rect">
            <a:avLst/>
          </a:prstGeom>
          <a:solidFill>
            <a:srgbClr val="0D7377"/>
          </a:solidFill>
          <a:ln w="12700">
            <a:solidFill>
              <a:srgbClr val="0D7377"/>
            </a:solidFill>
            <a:prstDash val="solid"/>
          </a:ln>
        </p:spPr>
      </p:sp>
      <p:sp>
        <p:nvSpPr>
          <p:cNvPr id="6" name="Text 4"/>
          <p:cNvSpPr/>
          <p:nvPr/>
        </p:nvSpPr>
        <p:spPr>
          <a:xfrm>
            <a:off x="658368" y="822960"/>
            <a:ext cx="7772400" cy="146304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7" name="Text 5"/>
          <p:cNvSpPr/>
          <p:nvPr/>
        </p:nvSpPr>
        <p:spPr>
          <a:xfrm>
            <a:off x="658368" y="2423160"/>
            <a:ext cx="7772400" cy="594360"/>
          </a:xfrm>
          <a:prstGeom prst="rect">
            <a:avLst/>
          </a:prstGeom>
          <a:noFill/>
          <a:ln/>
        </p:spPr>
        <p:txBody>
          <a:bodyPr wrap="square" rtlCol="0" anchor="ctr"/>
          <a:lstStyle/>
          <a:p>
            <a:pPr indent="0" marL="0">
              <a:buNone/>
            </a:pPr>
            <a:r>
              <a:rPr lang="en-US" sz="2200" b="1" dirty="0">
                <a:solidFill>
                  <a:srgbClr val="0D7377"/>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indent="0" marL="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7B1F3A"/>
          </a:solidFill>
          <a:ln w="12700">
            <a:solidFill>
              <a:srgbClr val="7B1F3A"/>
            </a:solidFill>
            <a:prstDash val="solid"/>
          </a:ln>
        </p:spPr>
      </p:sp>
      <p:sp>
        <p:nvSpPr>
          <p:cNvPr id="10" name="Text 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Lección 2 · CONOCIENDO A DIOS</dc:title>
  <dc:subject>PptxGenJS Presentation</dc:subject>
  <dc:creator>Dr. Tito Goicochea M.</dc:creator>
  <cp:lastModifiedBy>Dr. Tito Goicochea M.</cp:lastModifiedBy>
  <cp:revision>1</cp:revision>
  <dcterms:created xsi:type="dcterms:W3CDTF">2026-03-15T16:06:18Z</dcterms:created>
  <dcterms:modified xsi:type="dcterms:W3CDTF">2026-03-15T16:06:18Z</dcterms:modified>
</cp:coreProperties>
</file>