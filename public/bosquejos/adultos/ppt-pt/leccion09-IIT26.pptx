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2D7A3A">
              <a:alpha val="70000"/>
            </a:srgbClr>
          </a:solidFill>
          <a:ln w="12700">
            <a:solidFill>
              <a:srgbClr val="2D7A3A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2D7A3A">
              <a:alpha val="45000"/>
            </a:srgbClr>
          </a:solidFill>
          <a:ln w="12700">
            <a:solidFill>
              <a:srgbClr val="2D7A3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2D7A3A">
              <a:alpha val="45000"/>
            </a:srgbClr>
          </a:solidFill>
          <a:ln w="12700">
            <a:solidFill>
              <a:srgbClr val="2D7A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PRINCIPAIS DA LIÇÃO DA ESCOLA SABATINA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PECADO, O EVANGELHO E A LEI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Sábado 30 de maio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D7A3A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"Nunca esquecerei os Teus mandamentos, porque com eles me vivificaste."  —  Salmo 119:93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Reflita antes de começar: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E8F5EA"/>
          </a:solidFill>
          <a:ln w="12700">
            <a:solidFill>
              <a:srgbClr val="2D7A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0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Lei e o Evangelho juntos te ajudam a compreender o pecado, receber a graça de Deus e viver uma fé que se expressa em obediência genuína?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Como você define o pecado em sua vida diária? É algo que você reconhece com clareza ou tende a ficar impreciso ante as pressões e desculpas do ambiente?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Você sente que em sua experiência pessoal a Lei e o Evangelho andam juntos, ou parece que algum dos dois recebe mais ênfase?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pecado: distração, transgressão e obstáculo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pecado não é apenas a transgressão da Lei, mas também as distrações que nos afastam de Deus. Reconhecê-lo requer honestidade, pois o mundo o minimiza e nós tendemos a justificá-lo.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João 3:4; Romanos 3:20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João 3:4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pecado é transgressão da Lei: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Bíblia define claramente o pecado: todo o que pratica o pecado pratica também a transgressão da Lei. Essa definição é objetiva e não depende das opiniões culturais.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Rom. 3:20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 revela o pecado: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Lei se conhece o pecado. A Lei age como espelho que nos mostra com clareza nossa condição real diante de Deus, sem que possamos pretender ignorância.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Heb. 3:13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endurecimento pelo engano do pecado: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pecado não reconhecido endurece o coração progressivamente. Cada vez que justificamos o pecado, nossa sensibilidade espiritual diminui e nos tornamos mais vulneráveis ao engano.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Lei: reflexo do caráter de Deus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não veio abolir a Lei, mas cumpri-la. A Lei não é um obstáculo para a graça: é a expressão do caráter de Deus e o caminho pelo qual a graça nos transforma.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Mateus 5:17; Romanos 7:12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5:17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Cristo cumpriu a Lei: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veio não para abolir a Lei ou os Profetas, mas para cumpri-los. A obediência de Cristo à Lei foi perfeita; essa perfeição é agora imputada ao crente pela fé.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Rom. 7:12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 é santa, justa e boa: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afirma que a Lei é santa, e o mandamento é santo, justo e bom. A Lei reflete o caráter de Deus; amá-la é amar a Deus mesmo, não é uma religiosidade legalista.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Rom. 3:31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Estabelecemos a Lei pela fé: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fé não anula a Lei; ao contrário, a confirma. O crente que recebe a graça não tem licença para pecar, mas motivação transformada para obedecer de dentro para fora.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 que opera: graça e obediência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graça não nos dá licença para continuar no pecado, mas nos capacita para uma obediência genuína. A fé que salva é uma fé que transforma e que se expressa em amor e ação.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Mateus 7:21-23; Tiago 2:17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Mat. 7:21-23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todo o que diz Senhor: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adverte que não entrará no reino quem apenas diz 'Senhor, Senhor', mas quem faz a vontade do Pai. A fé genuína produz frutos de obediência visíveis e concretos.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Tia. 2:17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fé sem obras é morta: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fé que não produz obras está morta em si mesma. Isso não significa que nos salvamos pelas obras, mas que a fé verdadeira sempre se expressa em obediência e amor concretos.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Gál. 5:6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fé que opera pelo amor: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Cristo Jesus nem a circuncisão nem a incircuncisão tem valor; o que vale é a fé que opera pelo amor. O amor é a motivação e o fruto da fé genuína que transforma o coração.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A3A00"/>
          </a:solidFill>
          <a:ln w="12700">
            <a:solidFill>
              <a:srgbClr val="8A3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APLIQUE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Reflexão pessoal: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FFF0E5"/>
          </a:solidFill>
          <a:ln w="12700">
            <a:solidFill>
              <a:srgbClr val="D4A0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8A3A00"/>
          </a:solidFill>
          <a:ln w="12700">
            <a:solidFill>
              <a:srgbClr val="8A3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3A00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"Somente podia esperar que realizaria o propósito divino se conservasse em seu coração reverência pela Santa Palavra de Deus. Foi o apreço pela Lei de Deus o que deu a Israel força durante o reinado de Davi."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Ellen G. White, Profetas e Reis, p. 343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8A3A00"/>
          </a:solidFill>
          <a:ln w="12700">
            <a:solidFill>
              <a:srgbClr val="8A3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algum pecado que você minimizou ou justificou que você sabe em seu coração que está prejudicando sua relação com Deus?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FFF0E5"/>
          </a:solidFill>
          <a:ln w="12700">
            <a:solidFill>
              <a:srgbClr val="D4A0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8A3A00"/>
          </a:solidFill>
          <a:ln w="12700">
            <a:solidFill>
              <a:srgbClr val="8A3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obedece os mandamentos de Deus por medo do castigo, por costume ou por genuíno amor a Ele? Como isso se reflete em sua experiência diária?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8A3A00"/>
          </a:solidFill>
          <a:ln w="12700">
            <a:solidFill>
              <a:srgbClr val="8A3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uma área de sua vida onde sua fé ainda não produziu o fruto de obediência que você sabe que deveria existir? Que passo concreto você pode dar?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2D7A3A">
              <a:alpha val="40000"/>
            </a:srgbClr>
          </a:solidFill>
          <a:ln w="12700">
            <a:solidFill>
              <a:srgbClr val="2D7A3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2D7A3A">
              <a:alpha val="30000"/>
            </a:srgbClr>
          </a:solidFill>
          <a:ln w="12700">
            <a:solidFill>
              <a:srgbClr val="2D7A3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CRIE  — MINHA DECISÃO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sua resposta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2D7A3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confessarei honestamente a Deus um pecado específico que minimizei e pedirei Sua graça para vencer.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139903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E8F5EA">
              <a:alpha val="92000"/>
            </a:srgbClr>
          </a:solidFill>
          <a:ln w="12700">
            <a:solidFill>
              <a:srgbClr val="2D7A3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Lerei os Dez Mandamentos esta semana como reflexo do caráter de Deus e não como lista de restrições.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245059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2D7A3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Identificarei uma área onde minha fé precisa se expressar em obediência concreta e darei um passo nessa direção.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0" y="350215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2D7A3A">
              <a:alpha val="40000"/>
            </a:srgbClr>
          </a:solidFill>
          <a:ln w="12700">
            <a:solidFill>
              <a:srgbClr val="2D7A3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2D7A3A">
              <a:alpha val="25000"/>
            </a:srgbClr>
          </a:solidFill>
          <a:ln w="12700">
            <a:solidFill>
              <a:srgbClr val="2D7A3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2D7A3A">
              <a:alpha val="30000"/>
            </a:srgbClr>
          </a:solidFill>
          <a:ln w="12700">
            <a:solidFill>
              <a:srgbClr val="2D7A3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Lição 9 · O PECADO, O EVANGELHO E A LEI</dc:title>
  <dc:subject>PptxGenJS Presentation</dc:subject>
  <dc:creator>Dr. Tito Goicochea M.</dc:creator>
  <cp:lastModifiedBy>Dr. Tito Goicochea M.</cp:lastModifiedBy>
  <cp:revision>1</cp:revision>
  <dcterms:created xsi:type="dcterms:W3CDTF">2026-03-15T16:26:42Z</dcterms:created>
  <dcterms:modified xsi:type="dcterms:W3CDTF">2026-03-15T16:26:42Z</dcterms:modified>
</cp:coreProperties>
</file>