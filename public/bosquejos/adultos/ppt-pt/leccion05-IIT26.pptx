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45720"/>
            <a:ext cx="2514600" cy="777240"/>
          </a:xfrm>
          <a:prstGeom prst="rect">
            <a:avLst/>
          </a:prstGeom>
          <a:solidFill>
            <a:srgbClr val="E87C1E">
              <a:alpha val="70000"/>
            </a:srgbClr>
          </a:solidFill>
          <a:ln w="12700">
            <a:solidFill>
              <a:srgbClr val="E87C1E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713232"/>
            <a:ext cx="1783080" cy="502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66160"/>
            <a:ext cx="1554480" cy="1645920"/>
          </a:xfrm>
          <a:prstGeom prst="rect">
            <a:avLst/>
          </a:prstGeom>
          <a:solidFill>
            <a:srgbClr val="E87C1E">
              <a:alpha val="45000"/>
            </a:srgbClr>
          </a:solidFill>
          <a:ln w="12700">
            <a:solidFill>
              <a:srgbClr val="E87C1E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051560"/>
            <a:ext cx="118872" cy="246888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28600"/>
            <a:ext cx="7772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PRINCIPAIS DA LIÇÃO DA ESCOLA SABATINA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3232" y="6858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Lição 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051560"/>
            <a:ext cx="7498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ESTUDAR A BÍBLIA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713232" y="21488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Sábado 2 de maio de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2514600"/>
            <a:ext cx="8229600" cy="102412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E87C1E">
                <a:alpha val="7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" y="2514600"/>
            <a:ext cx="118872" cy="1024128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532888"/>
            <a:ext cx="79095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memorizar: </a:t>
            </a:r>
            <a:pPr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"Assim será a minha Palavra que sair da minha boca: não voltará para mim vazia."  —  Isaías 55:11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1]  MOTIVA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Reflita antes de começar: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6032" y="804672"/>
            <a:ext cx="8631936" cy="1600200"/>
          </a:xfrm>
          <a:prstGeom prst="rect">
            <a:avLst/>
          </a:prstGeom>
          <a:solidFill>
            <a:srgbClr val="FFF0E0"/>
          </a:solidFill>
          <a:ln w="12700">
            <a:solidFill>
              <a:srgbClr val="E87C1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04672"/>
            <a:ext cx="128016" cy="1600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832104"/>
            <a:ext cx="832104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GPS:  </a:t>
            </a:r>
            <a:pPr indent="0" marL="0">
              <a:buNone/>
            </a:pPr>
            <a:r>
              <a:rPr lang="en-US" sz="140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hábitos práticos de tempo, lugar e método preciso cultivar para que o estudo da Bíblia seja uma experiência transformadora e não apenas rotineira?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532888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2532888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78608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Você tem um momento e lugar fixos para estudar a Bíblia? O que aconteceu nas épocas em que você o teve ou quando o perdeu?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56032" y="3419856"/>
            <a:ext cx="8631936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6032" y="3419856"/>
            <a:ext cx="128016" cy="74980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65576"/>
            <a:ext cx="8321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Que método de estudo bíblico você encontrou mais útil para se conectar pessoalmente com Deus através de Sua Palavra?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 lugar: prioridades para o encontro com Deus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Jesus separava tempo e lugar para estar com Seu Pai antes que o dia começasse. Esse exemplo nos ensina que o encontro com Deus requer intencionalidade e uma decisão diária.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Marcos 1:35; 1 Crônicas 16:11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Mar. 1:35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Jesus: tempo e lugar com o Pai: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se levantava muito cedo e ia a um lugar solitário para orar. Se o Filho de Deus priorizava esse tempo, quanto mais nós precisamos fazê-lo cada dia.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Crôn. 16:11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o Seu rosto continuamente: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chamado é para buscar ao Senhor e Seu poder de maneira contínua, buscar Seu rosto cada dia. A constância no encontro com Deus mantém viva e crescente nossa relação com Ele.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27:8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convite e a resposta: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diz: 'Buscai o meu rosto'. A resposta do salmista é: 'O teu rosto buscarei'. O estudo da Bíblia é essencialmente a busca do rosto de Deus em Sua Palavra.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para um estudo profundo da Bíblia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de Deus é uma lâmpada para nossos pés. Para que ilumine com eficácia, precisamos de métodos que nos ajudem a ir além da superfície e encontrar o sentido profundo.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Salmo 119:105; Josué 1:8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Sal. 119:105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como lâmpada: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de Deus ilumina o caminho passo a passo. Métodos como a leitura meditativa, o estudo por temas ou a memorização permitem que essa luz ilumine cada área da vida.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Jos. 1:8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Meditar dia e noite: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ordenou a Josué que o livro da Lei nunca se apartasse da sua boca e que meditasse nele dia e noite. A meditação contínua transforma o pensamento e produz prosperidade espiritual.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Neem. 8:8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com clareza e entendimento: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Esdras lia a Lei com clareza, dando o sentido e fazendo entender a leitura. Compreender o contexto histórico e literário de cada passagem enriquece profundamente o estudo.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2]  EXPLORE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que diz a Bíblia?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18872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 de 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286000" cy="3931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49808"/>
            <a:ext cx="2286000" cy="402336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749808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Tópico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8328" y="1207008"/>
            <a:ext cx="2084832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que alimenta e satisfaz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convida a vir a Ele e comer do que verdadeiramente satisfaz. A Palavra bíblica é o alimento da alma, e seu estudo regular produz crescimento espiritual sustentável.</a:t>
            </a:r>
            <a:endParaRPr lang="en-US" sz="1250" dirty="0"/>
          </a:p>
          <a:p>
            <a:pPr algn="ctr"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2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Isaías 55:1-3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749808"/>
            <a:ext cx="6309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4980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32283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84124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Isa. 55:1-2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Vinde, comei sem dinheiro: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Deus convida a comer do que genuinamente satisfaz sem custo. A Palavra de Deus oferece gratuitamente o que o mundo não pode dar: vida, paz e direção para a alma.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606040" y="2060448"/>
            <a:ext cx="6309360" cy="1310640"/>
          </a:xfrm>
          <a:prstGeom prst="rect">
            <a:avLst/>
          </a:prstGeom>
          <a:solidFill>
            <a:srgbClr val="EBF3F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263347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215188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Isa. 55:3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 ouvidos e vosso coração viverá: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Inclinar o ouvido e vir a Deus traz vida à alma. O compromisso com o estudo regular da Bíblia é a decisão de alimentar a parte mais importante do nosso ser.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606040" y="3371088"/>
            <a:ext cx="6309360" cy="1310640"/>
          </a:xfrm>
          <a:prstGeom prst="rect">
            <a:avLst/>
          </a:prstGeom>
          <a:solidFill>
            <a:srgbClr val="F4F6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3944112"/>
            <a:ext cx="164592" cy="164592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462528"/>
            <a:ext cx="5833872" cy="1146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Isa. 55:11  —  </a:t>
            </a:r>
            <a:pPr indent="0" marL="0">
              <a:buNone/>
            </a:pPr>
            <a:r>
              <a:rPr lang="en-US" sz="115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não voltará vazia: 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Palavra que sai da boca de Deus cumprirá o que Ele quer e prosperará naquilo para o que foi enviada. Nenhum tempo investido no estudo bíblico é perdido.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3]  APLIQUE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91840" y="0"/>
            <a:ext cx="5029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Reflexão pessoal: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768096"/>
            <a:ext cx="868680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768096"/>
            <a:ext cx="128016" cy="1325880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22960"/>
            <a:ext cx="3474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6B44"/>
                </a:solidFill>
              </a:rPr>
              <a:t>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795528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"Obteremos pouquíssimo benefício de uma leitura precipitada das Escrituras. Pode-se ler toda a Bíblia e, contudo, ficar sem ver sua beleza ou compreender seu sentido profundo e oculto."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" y="175564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Ellen G. White, O Caminho a Cristo, p. 77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214884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214884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22199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mudança concreta em sua rotina você precisa fazer esta semana para proteger seu tempo de estudo bíblico como prioridade?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" y="3017520"/>
            <a:ext cx="8686800" cy="832104"/>
          </a:xfrm>
          <a:prstGeom prst="rect">
            <a:avLst/>
          </a:prstGeom>
          <a:solidFill>
            <a:srgbClr val="EAF7E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301752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09067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desses métodos de estudo bíblico você nunca tentou e poderia enriquecer seu encontro com Deus esta semana?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3886200"/>
            <a:ext cx="8686800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88C5A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86200"/>
            <a:ext cx="128016" cy="832104"/>
          </a:xfrm>
          <a:prstGeom prst="rect">
            <a:avLst/>
          </a:prstGeom>
          <a:solidFill>
            <a:srgbClr val="146B44"/>
          </a:solidFill>
          <a:ln w="12700">
            <a:solidFill>
              <a:srgbClr val="146B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3959352"/>
            <a:ext cx="8366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6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uma área de sua vida onde você percebe que a 'fome espiritual' é mais intensa? Como o estudo regular da Palavra poderia suprir essa necessidade?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0"/>
            <a:ext cx="2194560" cy="201168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" y="3291840"/>
            <a:ext cx="1645920" cy="192024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[FASE 4]  CRIE  — MINHA DECISÃO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804672"/>
            <a:ext cx="118872" cy="388620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822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sua resposta honesta para esta semana: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132588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145389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4538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78992" y="139903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estabelecerei um tempo e lugar fixos para o estudo da Bíblia e o protegerei como prioridade.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680960" y="139903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2377440"/>
            <a:ext cx="8229600" cy="996696"/>
          </a:xfrm>
          <a:prstGeom prst="rect">
            <a:avLst/>
          </a:prstGeom>
          <a:solidFill>
            <a:srgbClr val="FFF0E0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0545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505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78992" y="245059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Lerei uma passagem bíblica com calma, escreverei o que Deus me disser e o colocarei em prática naquele mesmo dia.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680960" y="245059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429000"/>
            <a:ext cx="8229600" cy="996696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E87C1E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557016"/>
            <a:ext cx="292608" cy="292608"/>
          </a:xfrm>
          <a:prstGeom prst="ellipse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78992" y="3502152"/>
            <a:ext cx="65836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Compartilharei algo que Deus me ensinou esta semana na Bíblia com um familiar ou amigo.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680960" y="3502152"/>
            <a:ext cx="109728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Sim  ☐ Não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78040" y="0"/>
            <a:ext cx="2011680" cy="1828800"/>
          </a:xfrm>
          <a:prstGeom prst="rect">
            <a:avLst/>
          </a:prstGeom>
          <a:solidFill>
            <a:srgbClr val="E87C1E">
              <a:alpha val="40000"/>
            </a:srgbClr>
          </a:solidFill>
          <a:ln w="12700">
            <a:solidFill>
              <a:srgbClr val="E87C1E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18120" y="1691640"/>
            <a:ext cx="1371600" cy="1371600"/>
          </a:xfrm>
          <a:prstGeom prst="rect">
            <a:avLst/>
          </a:prstGeom>
          <a:solidFill>
            <a:srgbClr val="E87C1E">
              <a:alpha val="25000"/>
            </a:srgbClr>
          </a:solidFill>
          <a:ln w="12700">
            <a:solidFill>
              <a:srgbClr val="E87C1E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" y="3520440"/>
            <a:ext cx="1920240" cy="1783080"/>
          </a:xfrm>
          <a:prstGeom prst="rect">
            <a:avLst/>
          </a:prstGeom>
          <a:solidFill>
            <a:srgbClr val="E87C1E">
              <a:alpha val="30000"/>
            </a:srgbClr>
          </a:solidFill>
          <a:ln w="12700">
            <a:solidFill>
              <a:srgbClr val="E87C1E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1005840"/>
            <a:ext cx="118872" cy="2423160"/>
          </a:xfrm>
          <a:prstGeom prst="rect">
            <a:avLst/>
          </a:prstGeom>
          <a:solidFill>
            <a:srgbClr val="E87C1E"/>
          </a:solidFill>
          <a:ln w="12700">
            <a:solidFill>
              <a:srgbClr val="E87C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229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8097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D0E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· NEED - DSA · Esboço Lição Escola Sabatina II Trimestre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Lição 5 · COMO ESTUDAR A BÍBLIA</dc:title>
  <dc:subject>PptxGenJS Presentation</dc:subject>
  <dc:creator>Dr. Tito Goicochea M.</dc:creator>
  <cp:lastModifiedBy>Dr. Tito Goicochea M.</cp:lastModifiedBy>
  <cp:revision>1</cp:revision>
  <dcterms:created xsi:type="dcterms:W3CDTF">2026-03-15T16:26:42Z</dcterms:created>
  <dcterms:modified xsi:type="dcterms:W3CDTF">2026-03-15T16:26:42Z</dcterms:modified>
</cp:coreProperties>
</file>