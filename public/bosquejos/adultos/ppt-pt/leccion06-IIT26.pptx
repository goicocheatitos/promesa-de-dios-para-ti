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1B8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75120" y="-45720"/>
            <a:ext cx="2514600" cy="777240"/>
          </a:xfrm>
          <a:prstGeom prst="rect">
            <a:avLst/>
          </a:prstGeom>
          <a:solidFill>
            <a:srgbClr val="C85A00">
              <a:alpha val="70000"/>
            </a:srgbClr>
          </a:solidFill>
          <a:ln w="12700">
            <a:solidFill>
              <a:srgbClr val="C85A00">
                <a:alpha val="7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406640" y="713232"/>
            <a:ext cx="1783080" cy="502920"/>
          </a:xfrm>
          <a:prstGeom prst="rect">
            <a:avLst/>
          </a:prstGeom>
          <a:solidFill>
            <a:srgbClr val="C85A00">
              <a:alpha val="45000"/>
            </a:srgbClr>
          </a:solidFill>
          <a:ln w="12700">
            <a:solidFill>
              <a:srgbClr val="C85A00">
                <a:alpha val="4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45720" y="3566160"/>
            <a:ext cx="1554480" cy="1645920"/>
          </a:xfrm>
          <a:prstGeom prst="rect">
            <a:avLst/>
          </a:prstGeom>
          <a:solidFill>
            <a:srgbClr val="C85A00">
              <a:alpha val="45000"/>
            </a:srgbClr>
          </a:solidFill>
          <a:ln w="12700">
            <a:solidFill>
              <a:srgbClr val="C85A00">
                <a:alpha val="4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75488" y="1051560"/>
            <a:ext cx="118872" cy="2468880"/>
          </a:xfrm>
          <a:prstGeom prst="rect">
            <a:avLst/>
          </a:prstGeom>
          <a:solidFill>
            <a:srgbClr val="C85A00"/>
          </a:solidFill>
          <a:ln w="12700">
            <a:solidFill>
              <a:srgbClr val="C85A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13232" y="228600"/>
            <a:ext cx="77724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D0E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PONTOS PRINCIPAIS DA LIÇÃO DA ESCOLA SABATINA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13232" y="685800"/>
            <a:ext cx="7772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C85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Lição 6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13232" y="1051560"/>
            <a:ext cx="74980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2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GUERREIROS DE ORAÇÃO</a:t>
            </a:r>
            <a:endParaRPr lang="en-US" sz="5200" dirty="0"/>
          </a:p>
        </p:txBody>
      </p:sp>
      <p:sp>
        <p:nvSpPr>
          <p:cNvPr id="9" name="Text 7"/>
          <p:cNvSpPr/>
          <p:nvPr/>
        </p:nvSpPr>
        <p:spPr>
          <a:xfrm>
            <a:off x="713232" y="2148840"/>
            <a:ext cx="7772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D0E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o Sábado 9 de maio de 2026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75488" y="2514600"/>
            <a:ext cx="8229600" cy="1024128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C85A00">
                <a:alpha val="75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75488" y="2514600"/>
            <a:ext cx="118872" cy="1024128"/>
          </a:xfrm>
          <a:prstGeom prst="rect">
            <a:avLst/>
          </a:prstGeom>
          <a:solidFill>
            <a:srgbClr val="C85A00"/>
          </a:solidFill>
          <a:ln w="12700">
            <a:solidFill>
              <a:srgbClr val="C85A0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58368" y="2532888"/>
            <a:ext cx="7909560" cy="9875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85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memorizar: </a:t>
            </a:r>
            <a:pPr indent="0" marL="0">
              <a:buNone/>
            </a:pPr>
            <a:r>
              <a:rPr lang="en-US" sz="11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"Amo o Senhor, porque Ele ouve a minha voz e as minhas súplicas; por isso O invocarei enquanto viver."  —  Salmo 116:1, 2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4A1B8A"/>
          </a:solidFill>
          <a:ln w="12700">
            <a:solidFill>
              <a:srgbClr val="4A1B8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74320" y="4809744"/>
            <a:ext cx="8595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D0E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Tito Goicochea M. · NEED - DSA · Esboço Lição Escola Sabatina II Trimestre 2026</a:t>
            </a:r>
            <a:endParaRPr lang="en-US" sz="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A1B8A"/>
          </a:solidFill>
          <a:ln w="12700">
            <a:solidFill>
              <a:srgbClr val="4A1B8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43891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[FASE 1]  MOTIVA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3291840" y="0"/>
            <a:ext cx="50292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D0E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Reflita antes de começar: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56032" y="804672"/>
            <a:ext cx="8631936" cy="1600200"/>
          </a:xfrm>
          <a:prstGeom prst="rect">
            <a:avLst/>
          </a:prstGeom>
          <a:solidFill>
            <a:srgbClr val="FFF0E5"/>
          </a:solidFill>
          <a:ln w="12700">
            <a:solidFill>
              <a:srgbClr val="C85A0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56032" y="804672"/>
            <a:ext cx="128016" cy="1600200"/>
          </a:xfrm>
          <a:prstGeom prst="rect">
            <a:avLst/>
          </a:prstGeom>
          <a:solidFill>
            <a:srgbClr val="C85A00"/>
          </a:solidFill>
          <a:ln w="12700">
            <a:solidFill>
              <a:srgbClr val="C85A0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38912" y="832104"/>
            <a:ext cx="8321040" cy="1536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A1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GPS:  </a:t>
            </a:r>
            <a:pPr indent="0" marL="0">
              <a:buNone/>
            </a:pPr>
            <a:r>
              <a:rPr lang="en-US" sz="1400" b="1" i="1" dirty="0">
                <a:solidFill>
                  <a:srgbClr val="C85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caracterizou a vida de oração de Daniel, Enoque e Moisés, e como pode se transformar sua própria vida de oração a partir do exemplo deles?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256032" y="2532888"/>
            <a:ext cx="8631936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56032" y="2532888"/>
            <a:ext cx="128016" cy="749808"/>
          </a:xfrm>
          <a:prstGeom prst="rect">
            <a:avLst/>
          </a:prstGeom>
          <a:solidFill>
            <a:srgbClr val="4A1B8A"/>
          </a:solidFill>
          <a:ln w="12700">
            <a:solidFill>
              <a:srgbClr val="4A1B8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2578608"/>
            <a:ext cx="83210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 Com que frequência e profundidade você ora atualmente? O que mudaria em sua vida se a oração se tornasse sua primeira resposta ante qualquer situação?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256032" y="3419856"/>
            <a:ext cx="8631936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56032" y="3419856"/>
            <a:ext cx="128016" cy="749808"/>
          </a:xfrm>
          <a:prstGeom prst="rect">
            <a:avLst/>
          </a:prstGeom>
          <a:solidFill>
            <a:srgbClr val="4A1B8A"/>
          </a:solidFill>
          <a:ln w="12700">
            <a:solidFill>
              <a:srgbClr val="4A1B8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3465576"/>
            <a:ext cx="83210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 Você já experimentou alguma vez uma resposta clara de Deus a uma oração? Que efeito isso teve em sua vida de oração posterior?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4A1B8A"/>
          </a:solidFill>
          <a:ln w="12700">
            <a:solidFill>
              <a:srgbClr val="4A1B8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74320" y="4809744"/>
            <a:ext cx="8595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D0E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Tito Goicochea M. · NEED - DSA · Esboço Lição Escola Sabatina II Trimestre 2026</a:t>
            </a:r>
            <a:endParaRPr lang="en-US" sz="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A1B8A"/>
          </a:solidFill>
          <a:ln w="12700">
            <a:solidFill>
              <a:srgbClr val="4A1B8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43891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[FASE 2]  EXPLORE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3291840" y="0"/>
            <a:ext cx="50292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D0E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O que diz a Bíblia?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6995160" y="118872"/>
            <a:ext cx="1828800" cy="420624"/>
          </a:xfrm>
          <a:prstGeom prst="rect">
            <a:avLst/>
          </a:prstGeom>
          <a:solidFill>
            <a:srgbClr val="C85A00"/>
          </a:solidFill>
          <a:ln w="12700">
            <a:solidFill>
              <a:srgbClr val="C85A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995160" y="118872"/>
            <a:ext cx="1828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Tópico 1 de 3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28600" y="749808"/>
            <a:ext cx="2286000" cy="3931920"/>
          </a:xfrm>
          <a:prstGeom prst="rect">
            <a:avLst/>
          </a:prstGeom>
          <a:solidFill>
            <a:srgbClr val="4A1B8A"/>
          </a:solidFill>
          <a:ln w="12700">
            <a:solidFill>
              <a:srgbClr val="4A1B8A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28600" y="749808"/>
            <a:ext cx="2286000" cy="402336"/>
          </a:xfrm>
          <a:prstGeom prst="rect">
            <a:avLst/>
          </a:prstGeom>
          <a:solidFill>
            <a:srgbClr val="C85A00"/>
          </a:solidFill>
          <a:ln w="12700">
            <a:solidFill>
              <a:srgbClr val="C85A0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0040" y="749808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Tópico 1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38328" y="1207008"/>
            <a:ext cx="2084832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Daniel: a oração como dependência constante</a:t>
            </a:r>
            <a:endParaRPr lang="en-US" sz="1250" dirty="0"/>
          </a:p>
          <a:p>
            <a:pPr algn="ctr" indent="0" marL="0">
              <a:buNone/>
            </a:pPr>
            <a:r>
              <a:rPr lang="en-US" sz="500" dirty="0">
                <a:solidFill>
                  <a:srgbClr val="000000"/>
                </a:solidFill>
              </a:rPr>
              <a:t>
</a:t>
            </a:r>
            <a:endParaRPr lang="en-US" sz="1250" dirty="0"/>
          </a:p>
          <a:p>
            <a:pPr algn="ctr" indent="0" marL="0">
              <a:buNone/>
            </a:pPr>
            <a:r>
              <a:rPr lang="en-US" sz="1000" i="1" dirty="0">
                <a:solidFill>
                  <a:srgbClr val="D0E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Daniel orou na gratidão e na crise, na vitória e diante da ameaça de morte. Sua oração era genuína, específica e confiante, nascida de uma relação real e diária com Deus.</a:t>
            </a:r>
            <a:endParaRPr lang="en-US" sz="1250" dirty="0"/>
          </a:p>
          <a:p>
            <a:pPr algn="ctr" indent="0" marL="0">
              <a:buNone/>
            </a:pPr>
            <a:r>
              <a:rPr lang="en-US" sz="500" dirty="0">
                <a:solidFill>
                  <a:srgbClr val="000000"/>
                </a:solidFill>
              </a:rPr>
              <a:t>
</a:t>
            </a:r>
            <a:endParaRPr lang="en-US" sz="12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C85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Daniel 2:20-23; 6:10-11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2606040" y="749808"/>
            <a:ext cx="630936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606040" y="749808"/>
            <a:ext cx="6309360" cy="1310640"/>
          </a:xfrm>
          <a:prstGeom prst="rect">
            <a:avLst/>
          </a:prstGeom>
          <a:solidFill>
            <a:srgbClr val="F4F6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743200" y="1322832"/>
            <a:ext cx="164592" cy="164592"/>
          </a:xfrm>
          <a:prstGeom prst="ellipse">
            <a:avLst/>
          </a:prstGeom>
          <a:solidFill>
            <a:srgbClr val="C85A00"/>
          </a:solidFill>
          <a:ln w="12700">
            <a:solidFill>
              <a:srgbClr val="C85A0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971800" y="841248"/>
            <a:ext cx="5833872" cy="1146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i="1" dirty="0">
                <a:solidFill>
                  <a:srgbClr val="C85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Dan. 2:20-21  —  </a:t>
            </a:r>
            <a:pPr indent="0" marL="0">
              <a:buNone/>
            </a:pPr>
            <a:r>
              <a:rPr lang="en-US" sz="1150" b="1" dirty="0">
                <a:solidFill>
                  <a:srgbClr val="4A1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Louvor que reconhece a soberania divina: </a:t>
            </a:r>
            <a:pPr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Quando Deus lhe revelou o sonho, Daniel O louvou imediatamente. Sua oração reconhece que a sabedoria e o poder pertencem a Deus, que controla os tempos e as estações.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2606040" y="2060448"/>
            <a:ext cx="6309360" cy="1310640"/>
          </a:xfrm>
          <a:prstGeom prst="rect">
            <a:avLst/>
          </a:prstGeom>
          <a:solidFill>
            <a:srgbClr val="EBF3FB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743200" y="2633472"/>
            <a:ext cx="164592" cy="164592"/>
          </a:xfrm>
          <a:prstGeom prst="ellipse">
            <a:avLst/>
          </a:prstGeom>
          <a:solidFill>
            <a:srgbClr val="C85A00"/>
          </a:solidFill>
          <a:ln w="12700">
            <a:solidFill>
              <a:srgbClr val="C85A0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971800" y="2151888"/>
            <a:ext cx="5833872" cy="1146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i="1" dirty="0">
                <a:solidFill>
                  <a:srgbClr val="C85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Dan. 2:22-23  —  </a:t>
            </a:r>
            <a:pPr indent="0" marL="0">
              <a:buNone/>
            </a:pPr>
            <a:r>
              <a:rPr lang="en-US" sz="1150" b="1" dirty="0">
                <a:solidFill>
                  <a:srgbClr val="4A1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Gratidão pela revelação divina: </a:t>
            </a:r>
            <a:pPr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Daniel agradece a Deus por lhe dar sabedoria, por revelar o sonho e por ouvir sua súplica. A gratidão é o coração de sua vida de oração, não apenas os pedidos.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2606040" y="3371088"/>
            <a:ext cx="6309360" cy="1310640"/>
          </a:xfrm>
          <a:prstGeom prst="rect">
            <a:avLst/>
          </a:prstGeom>
          <a:solidFill>
            <a:srgbClr val="F4F6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743200" y="3944112"/>
            <a:ext cx="164592" cy="164592"/>
          </a:xfrm>
          <a:prstGeom prst="ellipse">
            <a:avLst/>
          </a:prstGeom>
          <a:solidFill>
            <a:srgbClr val="C85A00"/>
          </a:solidFill>
          <a:ln w="12700">
            <a:solidFill>
              <a:srgbClr val="C85A0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971800" y="3462528"/>
            <a:ext cx="5833872" cy="1146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i="1" dirty="0">
                <a:solidFill>
                  <a:srgbClr val="C85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Dan. 6:10-11  —  </a:t>
            </a:r>
            <a:pPr indent="0" marL="0">
              <a:buNone/>
            </a:pPr>
            <a:r>
              <a:rPr lang="en-US" sz="1150" b="1" dirty="0">
                <a:solidFill>
                  <a:srgbClr val="4A1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oração como hábito sagrado: </a:t>
            </a:r>
            <a:pPr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Diante do decreto que o ameaçava de morte, Daniel continuou orando três vezes ao dia como era seu costume. Para ele a oração não era uma reação às crises, mas o ritmo normal de sua vida.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4A1B8A"/>
          </a:solidFill>
          <a:ln w="12700">
            <a:solidFill>
              <a:srgbClr val="4A1B8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74320" y="4809744"/>
            <a:ext cx="8595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D0E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Tito Goicochea M. · NEED - DSA · Esboço Lição Escola Sabatina II Trimestre 2026</a:t>
            </a:r>
            <a:endParaRPr lang="en-US" sz="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A1B8A"/>
          </a:solidFill>
          <a:ln w="12700">
            <a:solidFill>
              <a:srgbClr val="4A1B8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43891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[FASE 2]  EXPLORE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3291840" y="0"/>
            <a:ext cx="50292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D0E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O que diz a Bíblia?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6995160" y="118872"/>
            <a:ext cx="1828800" cy="420624"/>
          </a:xfrm>
          <a:prstGeom prst="rect">
            <a:avLst/>
          </a:prstGeom>
          <a:solidFill>
            <a:srgbClr val="C85A00"/>
          </a:solidFill>
          <a:ln w="12700">
            <a:solidFill>
              <a:srgbClr val="C85A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995160" y="118872"/>
            <a:ext cx="1828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Tópico 2 de 3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28600" y="749808"/>
            <a:ext cx="2286000" cy="3931920"/>
          </a:xfrm>
          <a:prstGeom prst="rect">
            <a:avLst/>
          </a:prstGeom>
          <a:solidFill>
            <a:srgbClr val="4A1B8A"/>
          </a:solidFill>
          <a:ln w="12700">
            <a:solidFill>
              <a:srgbClr val="4A1B8A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28600" y="749808"/>
            <a:ext cx="2286000" cy="402336"/>
          </a:xfrm>
          <a:prstGeom prst="rect">
            <a:avLst/>
          </a:prstGeom>
          <a:solidFill>
            <a:srgbClr val="C85A00"/>
          </a:solidFill>
          <a:ln w="12700">
            <a:solidFill>
              <a:srgbClr val="C85A0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0040" y="749808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Tópico 2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38328" y="1207008"/>
            <a:ext cx="2084832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Enoque: caminhar com Deus como estilo de vida</a:t>
            </a:r>
            <a:endParaRPr lang="en-US" sz="1250" dirty="0"/>
          </a:p>
          <a:p>
            <a:pPr algn="ctr" indent="0" marL="0">
              <a:buNone/>
            </a:pPr>
            <a:r>
              <a:rPr lang="en-US" sz="500" dirty="0">
                <a:solidFill>
                  <a:srgbClr val="000000"/>
                </a:solidFill>
              </a:rPr>
              <a:t>
</a:t>
            </a:r>
            <a:endParaRPr lang="en-US" sz="1250" dirty="0"/>
          </a:p>
          <a:p>
            <a:pPr algn="ctr" indent="0" marL="0">
              <a:buNone/>
            </a:pPr>
            <a:r>
              <a:rPr lang="en-US" sz="1000" i="1" dirty="0">
                <a:solidFill>
                  <a:srgbClr val="D0E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Enoque caminhou com Deus em um mundo corrupto. Sua vida de comunhão contínua mostra que é possível manter uma relação de oração profunda no meio das pressões cotidianas.</a:t>
            </a:r>
            <a:endParaRPr lang="en-US" sz="1250" dirty="0"/>
          </a:p>
          <a:p>
            <a:pPr algn="ctr" indent="0" marL="0">
              <a:buNone/>
            </a:pPr>
            <a:r>
              <a:rPr lang="en-US" sz="500" dirty="0">
                <a:solidFill>
                  <a:srgbClr val="000000"/>
                </a:solidFill>
              </a:rPr>
              <a:t>
</a:t>
            </a:r>
            <a:endParaRPr lang="en-US" sz="12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C85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Gênesis 5:22-24; Hebreus 11:5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2606040" y="749808"/>
            <a:ext cx="630936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606040" y="749808"/>
            <a:ext cx="6309360" cy="1310640"/>
          </a:xfrm>
          <a:prstGeom prst="rect">
            <a:avLst/>
          </a:prstGeom>
          <a:solidFill>
            <a:srgbClr val="F4F6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743200" y="1322832"/>
            <a:ext cx="164592" cy="164592"/>
          </a:xfrm>
          <a:prstGeom prst="ellipse">
            <a:avLst/>
          </a:prstGeom>
          <a:solidFill>
            <a:srgbClr val="C85A00"/>
          </a:solidFill>
          <a:ln w="12700">
            <a:solidFill>
              <a:srgbClr val="C85A0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971800" y="841248"/>
            <a:ext cx="5833872" cy="1146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i="1" dirty="0">
                <a:solidFill>
                  <a:srgbClr val="C85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Gên. 5:22-24  —  </a:t>
            </a:r>
            <a:pPr indent="0" marL="0">
              <a:buNone/>
            </a:pPr>
            <a:r>
              <a:rPr lang="en-US" sz="1150" b="1" dirty="0">
                <a:solidFill>
                  <a:srgbClr val="4A1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Caminhar com Deus: comunhão contínua: </a:t>
            </a:r>
            <a:pPr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Enoque caminhou com Deus trezentos anos. Essa expressão descreve uma relação de comunhão constante, não momentos isolados de oração. A vida de oração era sua vida toda.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2606040" y="2060448"/>
            <a:ext cx="6309360" cy="1310640"/>
          </a:xfrm>
          <a:prstGeom prst="rect">
            <a:avLst/>
          </a:prstGeom>
          <a:solidFill>
            <a:srgbClr val="EBF3FB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743200" y="2633472"/>
            <a:ext cx="164592" cy="164592"/>
          </a:xfrm>
          <a:prstGeom prst="ellipse">
            <a:avLst/>
          </a:prstGeom>
          <a:solidFill>
            <a:srgbClr val="C85A00"/>
          </a:solidFill>
          <a:ln w="12700">
            <a:solidFill>
              <a:srgbClr val="C85A0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971800" y="2151888"/>
            <a:ext cx="5833872" cy="1146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i="1" dirty="0">
                <a:solidFill>
                  <a:srgbClr val="C85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Heb. 11:5  —  </a:t>
            </a:r>
            <a:pPr indent="0" marL="0">
              <a:buNone/>
            </a:pPr>
            <a:r>
              <a:rPr lang="en-US" sz="1150" b="1" dirty="0">
                <a:solidFill>
                  <a:srgbClr val="4A1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Testemunho de ter agradado a Deus: </a:t>
            </a:r>
            <a:pPr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Antes de ser trasladado, Enoque recebeu o testemunho de ter agradado a Deus. Agradar a Deus é o resultado de uma vida de fé que se expressa em comunhão diária com Ele.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2606040" y="3371088"/>
            <a:ext cx="6309360" cy="1310640"/>
          </a:xfrm>
          <a:prstGeom prst="rect">
            <a:avLst/>
          </a:prstGeom>
          <a:solidFill>
            <a:srgbClr val="F4F6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743200" y="3944112"/>
            <a:ext cx="164592" cy="164592"/>
          </a:xfrm>
          <a:prstGeom prst="ellipse">
            <a:avLst/>
          </a:prstGeom>
          <a:solidFill>
            <a:srgbClr val="C85A00"/>
          </a:solidFill>
          <a:ln w="12700">
            <a:solidFill>
              <a:srgbClr val="C85A0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971800" y="3462528"/>
            <a:ext cx="5833872" cy="1146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i="1" dirty="0">
                <a:solidFill>
                  <a:srgbClr val="C85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Gên. 5:24  —  </a:t>
            </a:r>
            <a:pPr indent="0" marL="0">
              <a:buNone/>
            </a:pPr>
            <a:r>
              <a:rPr lang="en-US" sz="1150" b="1" dirty="0">
                <a:solidFill>
                  <a:srgbClr val="4A1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Deus o tomou: </a:t>
            </a:r>
            <a:pPr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Enoque caminhou com Deus e Deus o tomou. A intimidade com Deus desenvolvida ao longo de uma vida transforma até a relação com a morte e com a eternidade.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4A1B8A"/>
          </a:solidFill>
          <a:ln w="12700">
            <a:solidFill>
              <a:srgbClr val="4A1B8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74320" y="4809744"/>
            <a:ext cx="8595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D0E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Tito Goicochea M. · NEED - DSA · Esboço Lição Escola Sabatina II Trimestre 2026</a:t>
            </a:r>
            <a:endParaRPr lang="en-US" sz="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A1B8A"/>
          </a:solidFill>
          <a:ln w="12700">
            <a:solidFill>
              <a:srgbClr val="4A1B8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43891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[FASE 2]  EXPLORE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3291840" y="0"/>
            <a:ext cx="50292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D0E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O que diz a Bíblia?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6995160" y="118872"/>
            <a:ext cx="1828800" cy="420624"/>
          </a:xfrm>
          <a:prstGeom prst="rect">
            <a:avLst/>
          </a:prstGeom>
          <a:solidFill>
            <a:srgbClr val="C85A00"/>
          </a:solidFill>
          <a:ln w="12700">
            <a:solidFill>
              <a:srgbClr val="C85A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995160" y="118872"/>
            <a:ext cx="1828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Tópico 3 de 3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28600" y="749808"/>
            <a:ext cx="2286000" cy="3931920"/>
          </a:xfrm>
          <a:prstGeom prst="rect">
            <a:avLst/>
          </a:prstGeom>
          <a:solidFill>
            <a:srgbClr val="4A1B8A"/>
          </a:solidFill>
          <a:ln w="12700">
            <a:solidFill>
              <a:srgbClr val="4A1B8A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28600" y="749808"/>
            <a:ext cx="2286000" cy="402336"/>
          </a:xfrm>
          <a:prstGeom prst="rect">
            <a:avLst/>
          </a:prstGeom>
          <a:solidFill>
            <a:srgbClr val="C85A00"/>
          </a:solidFill>
          <a:ln w="12700">
            <a:solidFill>
              <a:srgbClr val="C85A0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0040" y="749808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Tópico 3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38328" y="1207008"/>
            <a:ext cx="2084832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Moisés: a intercessão como expressão do amor</a:t>
            </a:r>
            <a:endParaRPr lang="en-US" sz="1250" dirty="0"/>
          </a:p>
          <a:p>
            <a:pPr algn="ctr" indent="0" marL="0">
              <a:buNone/>
            </a:pPr>
            <a:r>
              <a:rPr lang="en-US" sz="500" dirty="0">
                <a:solidFill>
                  <a:srgbClr val="000000"/>
                </a:solidFill>
              </a:rPr>
              <a:t>
</a:t>
            </a:r>
            <a:endParaRPr lang="en-US" sz="1250" dirty="0"/>
          </a:p>
          <a:p>
            <a:pPr algn="ctr" indent="0" marL="0">
              <a:buNone/>
            </a:pPr>
            <a:r>
              <a:rPr lang="en-US" sz="1000" i="1" dirty="0">
                <a:solidFill>
                  <a:srgbClr val="D0E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Moisés intercedeu pelo povo quando Deus estava prestes a destruí-lo. Sua oração intercessória revela que orar pelos outros é uma das expressões mais elevadas do amor cristão.</a:t>
            </a:r>
            <a:endParaRPr lang="en-US" sz="1250" dirty="0"/>
          </a:p>
          <a:p>
            <a:pPr algn="ctr" indent="0" marL="0">
              <a:buNone/>
            </a:pPr>
            <a:r>
              <a:rPr lang="en-US" sz="500" dirty="0">
                <a:solidFill>
                  <a:srgbClr val="000000"/>
                </a:solidFill>
              </a:rPr>
              <a:t>
</a:t>
            </a:r>
            <a:endParaRPr lang="en-US" sz="12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C85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Êxodo 33:15-16; Números 14:13-19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2606040" y="749808"/>
            <a:ext cx="630936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606040" y="749808"/>
            <a:ext cx="6309360" cy="1310640"/>
          </a:xfrm>
          <a:prstGeom prst="rect">
            <a:avLst/>
          </a:prstGeom>
          <a:solidFill>
            <a:srgbClr val="F4F6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743200" y="1322832"/>
            <a:ext cx="164592" cy="164592"/>
          </a:xfrm>
          <a:prstGeom prst="ellipse">
            <a:avLst/>
          </a:prstGeom>
          <a:solidFill>
            <a:srgbClr val="C85A00"/>
          </a:solidFill>
          <a:ln w="12700">
            <a:solidFill>
              <a:srgbClr val="C85A0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971800" y="841248"/>
            <a:ext cx="5833872" cy="1146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i="1" dirty="0">
                <a:solidFill>
                  <a:srgbClr val="C85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Êxo. 33:15-16  —  </a:t>
            </a:r>
            <a:pPr indent="0" marL="0">
              <a:buNone/>
            </a:pPr>
            <a:r>
              <a:rPr lang="en-US" sz="1150" b="1" dirty="0">
                <a:solidFill>
                  <a:srgbClr val="4A1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a Tua presença, não nos faças partir: </a:t>
            </a:r>
            <a:pPr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Moisés não avançava sem a presença de Deus. Sua oração expressa uma dependência total: a presença divina era a única coisa que distinguia o povo de qualquer outra nação.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2606040" y="2060448"/>
            <a:ext cx="6309360" cy="1310640"/>
          </a:xfrm>
          <a:prstGeom prst="rect">
            <a:avLst/>
          </a:prstGeom>
          <a:solidFill>
            <a:srgbClr val="EBF3FB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743200" y="2633472"/>
            <a:ext cx="164592" cy="164592"/>
          </a:xfrm>
          <a:prstGeom prst="ellipse">
            <a:avLst/>
          </a:prstGeom>
          <a:solidFill>
            <a:srgbClr val="C85A00"/>
          </a:solidFill>
          <a:ln w="12700">
            <a:solidFill>
              <a:srgbClr val="C85A0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971800" y="2151888"/>
            <a:ext cx="5833872" cy="1146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i="1" dirty="0">
                <a:solidFill>
                  <a:srgbClr val="C85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Núm. 14:13-17  —  </a:t>
            </a:r>
            <a:pPr indent="0" marL="0">
              <a:buNone/>
            </a:pPr>
            <a:r>
              <a:rPr lang="en-US" sz="1150" b="1" dirty="0">
                <a:solidFill>
                  <a:srgbClr val="4A1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Intercedendo pela honra de Deus: </a:t>
            </a:r>
            <a:pPr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Moisés intercedeu argumentando que se Deus destruísse o povo, as nações diriam que não foi capaz de cumprir Sua promessa. A intercessão genuína coloca a glória de Deus acima de tudo.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2606040" y="3371088"/>
            <a:ext cx="6309360" cy="1310640"/>
          </a:xfrm>
          <a:prstGeom prst="rect">
            <a:avLst/>
          </a:prstGeom>
          <a:solidFill>
            <a:srgbClr val="F4F6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743200" y="3944112"/>
            <a:ext cx="164592" cy="164592"/>
          </a:xfrm>
          <a:prstGeom prst="ellipse">
            <a:avLst/>
          </a:prstGeom>
          <a:solidFill>
            <a:srgbClr val="C85A00"/>
          </a:solidFill>
          <a:ln w="12700">
            <a:solidFill>
              <a:srgbClr val="C85A0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971800" y="3462528"/>
            <a:ext cx="5833872" cy="1146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i="1" dirty="0">
                <a:solidFill>
                  <a:srgbClr val="C85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Núm. 14:18-19  —  </a:t>
            </a:r>
            <a:pPr indent="0" marL="0">
              <a:buNone/>
            </a:pPr>
            <a:r>
              <a:rPr lang="en-US" sz="1150" b="1" dirty="0">
                <a:solidFill>
                  <a:srgbClr val="4A1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Pedindo misericórdia para os infiéis: </a:t>
            </a:r>
            <a:pPr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Moisés pediu perdão para o povo que o tinha rejeitado repetidamente. A intercessão verdadeira ora pelos que menos merecem, assim como Deus nos perdoa quando não merecemos.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4A1B8A"/>
          </a:solidFill>
          <a:ln w="12700">
            <a:solidFill>
              <a:srgbClr val="4A1B8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74320" y="4809744"/>
            <a:ext cx="8595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D0E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Tito Goicochea M. · NEED - DSA · Esboço Lição Escola Sabatina II Trimestre 2026</a:t>
            </a:r>
            <a:endParaRPr lang="en-US" sz="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E3A78"/>
          </a:solidFill>
          <a:ln w="12700">
            <a:solidFill>
              <a:srgbClr val="1E3A7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43891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[FASE 3]  APLIQUE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3291840" y="0"/>
            <a:ext cx="50292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C8E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Reflexão pessoal: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28600" y="768096"/>
            <a:ext cx="8686800" cy="1325880"/>
          </a:xfrm>
          <a:prstGeom prst="rect">
            <a:avLst/>
          </a:prstGeom>
          <a:solidFill>
            <a:srgbClr val="E8EEF8"/>
          </a:solidFill>
          <a:ln w="12700">
            <a:solidFill>
              <a:srgbClr val="8BAAD4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28600" y="768096"/>
            <a:ext cx="128016" cy="1325880"/>
          </a:xfrm>
          <a:prstGeom prst="rect">
            <a:avLst/>
          </a:prstGeom>
          <a:solidFill>
            <a:srgbClr val="1E3A78"/>
          </a:solidFill>
          <a:ln w="12700">
            <a:solidFill>
              <a:srgbClr val="1E3A7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02336" y="822960"/>
            <a:ext cx="34747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3A78"/>
                </a:solidFill>
              </a:rPr>
              <a:t>✶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49808" y="795528"/>
            <a:ext cx="80467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"Podemos nos manter tão perto de Deus que, em qualquer provação inesperada, nossos pensamentos se voltem a Ele tão naturalmente como a flor se volta para o Sol."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49808" y="1755648"/>
            <a:ext cx="8046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1E3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Ellen G. White, O Caminho a Cristo, p. 80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28600" y="2148840"/>
            <a:ext cx="8686800" cy="832104"/>
          </a:xfrm>
          <a:prstGeom prst="rect">
            <a:avLst/>
          </a:prstGeom>
          <a:solidFill>
            <a:srgbClr val="FFFFFF"/>
          </a:solidFill>
          <a:ln w="12700">
            <a:solidFill>
              <a:srgbClr val="8BAAD4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28600" y="2148840"/>
            <a:ext cx="128016" cy="832104"/>
          </a:xfrm>
          <a:prstGeom prst="rect">
            <a:avLst/>
          </a:prstGeom>
          <a:solidFill>
            <a:srgbClr val="1E3A78"/>
          </a:solidFill>
          <a:ln w="12700">
            <a:solidFill>
              <a:srgbClr val="1E3A7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20624" y="2221992"/>
            <a:ext cx="83667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3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</a:t>
            </a:r>
            <a:pPr indent="0" marL="0">
              <a:buNone/>
            </a:pPr>
            <a:r>
              <a:rPr lang="en-US" sz="12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Sua oração é principalmente uma lista de pedidos ou inclui também louvor, confissão e gratidão genuínos, como a de Daniel?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228600" y="3017520"/>
            <a:ext cx="8686800" cy="832104"/>
          </a:xfrm>
          <a:prstGeom prst="rect">
            <a:avLst/>
          </a:prstGeom>
          <a:solidFill>
            <a:srgbClr val="E8EEF8"/>
          </a:solidFill>
          <a:ln w="12700">
            <a:solidFill>
              <a:srgbClr val="8BAAD4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28600" y="3017520"/>
            <a:ext cx="128016" cy="832104"/>
          </a:xfrm>
          <a:prstGeom prst="rect">
            <a:avLst/>
          </a:prstGeom>
          <a:solidFill>
            <a:srgbClr val="1E3A78"/>
          </a:solidFill>
          <a:ln w="12700">
            <a:solidFill>
              <a:srgbClr val="1E3A7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20624" y="3090672"/>
            <a:ext cx="83667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3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</a:t>
            </a:r>
            <a:pPr indent="0" marL="0">
              <a:buNone/>
            </a:pPr>
            <a:r>
              <a:rPr lang="en-US" sz="12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te impede de transformar sua vida de oração de momentos ocasionais em uma caminhada contínua com Deus, como a de Enoque?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228600" y="3886200"/>
            <a:ext cx="8686800" cy="832104"/>
          </a:xfrm>
          <a:prstGeom prst="rect">
            <a:avLst/>
          </a:prstGeom>
          <a:solidFill>
            <a:srgbClr val="FFFFFF"/>
          </a:solidFill>
          <a:ln w="12700">
            <a:solidFill>
              <a:srgbClr val="8BAAD4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228600" y="3886200"/>
            <a:ext cx="128016" cy="832104"/>
          </a:xfrm>
          <a:prstGeom prst="rect">
            <a:avLst/>
          </a:prstGeom>
          <a:solidFill>
            <a:srgbClr val="1E3A78"/>
          </a:solidFill>
          <a:ln w="12700">
            <a:solidFill>
              <a:srgbClr val="1E3A7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20624" y="3959352"/>
            <a:ext cx="83667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3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</a:t>
            </a:r>
            <a:pPr indent="0" marL="0">
              <a:buNone/>
            </a:pPr>
            <a:r>
              <a:rPr lang="en-US" sz="12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Há pessoas ou situações concretas por quem você deveria interceder regularmente mas ainda não o faz? O que você pode fazer esta semana?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4A1B8A"/>
          </a:solidFill>
          <a:ln w="12700">
            <a:solidFill>
              <a:srgbClr val="4A1B8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74320" y="4809744"/>
            <a:ext cx="8595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D0E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Tito Goicochea M. · NEED - DSA · Esboço Lição Escola Sabatina II Trimestre 2026</a:t>
            </a:r>
            <a:endParaRPr lang="en-US" sz="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1B8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949440" y="0"/>
            <a:ext cx="2194560" cy="2011680"/>
          </a:xfrm>
          <a:prstGeom prst="rect">
            <a:avLst/>
          </a:prstGeom>
          <a:solidFill>
            <a:srgbClr val="C85A00">
              <a:alpha val="40000"/>
            </a:srgbClr>
          </a:solidFill>
          <a:ln w="12700">
            <a:solidFill>
              <a:srgbClr val="C85A00">
                <a:alpha val="4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45720" y="3291840"/>
            <a:ext cx="1645920" cy="1920240"/>
          </a:xfrm>
          <a:prstGeom prst="rect">
            <a:avLst/>
          </a:prstGeom>
          <a:solidFill>
            <a:srgbClr val="C85A00">
              <a:alpha val="30000"/>
            </a:srgbClr>
          </a:solidFill>
          <a:ln w="12700">
            <a:solidFill>
              <a:srgbClr val="C85A00">
                <a:alpha val="3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47472" y="256032"/>
            <a:ext cx="2834640" cy="438912"/>
          </a:xfrm>
          <a:prstGeom prst="rect">
            <a:avLst/>
          </a:prstGeom>
          <a:solidFill>
            <a:srgbClr val="C85A00"/>
          </a:solidFill>
          <a:ln w="12700">
            <a:solidFill>
              <a:srgbClr val="C85A0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47472" y="256032"/>
            <a:ext cx="2834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[FASE 4]  CRIE  — MINHA DECISÃO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347472" y="804672"/>
            <a:ext cx="118872" cy="3886200"/>
          </a:xfrm>
          <a:prstGeom prst="rect">
            <a:avLst/>
          </a:prstGeom>
          <a:solidFill>
            <a:srgbClr val="C85A00"/>
          </a:solidFill>
          <a:ln w="12700">
            <a:solidFill>
              <a:srgbClr val="C85A0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66928" y="822960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D0E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Marque sua resposta honesta para esta semana: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66928" y="1325880"/>
            <a:ext cx="8229600" cy="996696"/>
          </a:xfrm>
          <a:prstGeom prst="rect">
            <a:avLst/>
          </a:prstGeom>
          <a:solidFill>
            <a:srgbClr val="FFFFFF">
              <a:alpha val="92000"/>
            </a:srgbClr>
          </a:solidFill>
          <a:ln w="12700">
            <a:solidFill>
              <a:srgbClr val="C85A00">
                <a:alpha val="6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13232" y="1453896"/>
            <a:ext cx="292608" cy="292608"/>
          </a:xfrm>
          <a:prstGeom prst="ellipse">
            <a:avLst/>
          </a:prstGeom>
          <a:solidFill>
            <a:srgbClr val="C85A00"/>
          </a:solidFill>
          <a:ln w="12700">
            <a:solidFill>
              <a:srgbClr val="C85A0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13232" y="145389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078992" y="1399032"/>
            <a:ext cx="6583680" cy="8503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 semana estabelecerei momentos fixos de oração durante o dia, como fez Daniel, independentemente das circunstâncias.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7680960" y="1399032"/>
            <a:ext cx="1097280" cy="8503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C85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Sim  ☐ Não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66928" y="2377440"/>
            <a:ext cx="8229600" cy="996696"/>
          </a:xfrm>
          <a:prstGeom prst="rect">
            <a:avLst/>
          </a:prstGeom>
          <a:solidFill>
            <a:srgbClr val="FFF0E5">
              <a:alpha val="92000"/>
            </a:srgbClr>
          </a:solidFill>
          <a:ln w="12700">
            <a:solidFill>
              <a:srgbClr val="C85A00">
                <a:alpha val="60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13232" y="2505456"/>
            <a:ext cx="292608" cy="292608"/>
          </a:xfrm>
          <a:prstGeom prst="ellipse">
            <a:avLst/>
          </a:prstGeom>
          <a:solidFill>
            <a:srgbClr val="C85A00"/>
          </a:solidFill>
          <a:ln w="12700">
            <a:solidFill>
              <a:srgbClr val="C85A0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13232" y="250545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1078992" y="2450592"/>
            <a:ext cx="6583680" cy="8503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Começarei uma lista de intercessão por pessoas concretas de minha família, igreja ou trabalho e orarei por elas diariamente.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7680960" y="2450592"/>
            <a:ext cx="1097280" cy="8503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C85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Sim  ☐ Não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66928" y="3429000"/>
            <a:ext cx="8229600" cy="996696"/>
          </a:xfrm>
          <a:prstGeom prst="rect">
            <a:avLst/>
          </a:prstGeom>
          <a:solidFill>
            <a:srgbClr val="FFFFFF">
              <a:alpha val="92000"/>
            </a:srgbClr>
          </a:solidFill>
          <a:ln w="12700">
            <a:solidFill>
              <a:srgbClr val="C85A00">
                <a:alpha val="60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13232" y="3557016"/>
            <a:ext cx="292608" cy="292608"/>
          </a:xfrm>
          <a:prstGeom prst="ellipse">
            <a:avLst/>
          </a:prstGeom>
          <a:solidFill>
            <a:srgbClr val="C85A00"/>
          </a:solidFill>
          <a:ln w="12700">
            <a:solidFill>
              <a:srgbClr val="C85A0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13232" y="355701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1078992" y="3502152"/>
            <a:ext cx="6583680" cy="8503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vez que orar, incluirei um momento de louvor e gratidão antes de apresentar meus pedidos.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7680960" y="3502152"/>
            <a:ext cx="1097280" cy="8503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C85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Sim  ☐ Não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4A1B8A"/>
          </a:solidFill>
          <a:ln w="12700">
            <a:solidFill>
              <a:srgbClr val="4A1B8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74320" y="4809744"/>
            <a:ext cx="8595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D0E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Tito Goicochea M. · NEED - DSA · Esboço Lição Escola Sabatina II Trimestre 2026</a:t>
            </a:r>
            <a:endParaRPr lang="en-US" sz="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1B8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178040" y="0"/>
            <a:ext cx="2011680" cy="1828800"/>
          </a:xfrm>
          <a:prstGeom prst="rect">
            <a:avLst/>
          </a:prstGeom>
          <a:solidFill>
            <a:srgbClr val="C85A00">
              <a:alpha val="40000"/>
            </a:srgbClr>
          </a:solidFill>
          <a:ln w="12700">
            <a:solidFill>
              <a:srgbClr val="C85A00">
                <a:alpha val="4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818120" y="1691640"/>
            <a:ext cx="1371600" cy="1371600"/>
          </a:xfrm>
          <a:prstGeom prst="rect">
            <a:avLst/>
          </a:prstGeom>
          <a:solidFill>
            <a:srgbClr val="C85A00">
              <a:alpha val="25000"/>
            </a:srgbClr>
          </a:solidFill>
          <a:ln w="12700">
            <a:solidFill>
              <a:srgbClr val="C85A00">
                <a:alpha val="2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45720" y="3520440"/>
            <a:ext cx="1920240" cy="1783080"/>
          </a:xfrm>
          <a:prstGeom prst="rect">
            <a:avLst/>
          </a:prstGeom>
          <a:solidFill>
            <a:srgbClr val="C85A00">
              <a:alpha val="30000"/>
            </a:srgbClr>
          </a:solidFill>
          <a:ln w="12700">
            <a:solidFill>
              <a:srgbClr val="C85A00">
                <a:alpha val="3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38912" y="1005840"/>
            <a:ext cx="118872" cy="2423160"/>
          </a:xfrm>
          <a:prstGeom prst="rect">
            <a:avLst/>
          </a:prstGeom>
          <a:solidFill>
            <a:srgbClr val="C85A00"/>
          </a:solidFill>
          <a:ln w="12700">
            <a:solidFill>
              <a:srgbClr val="C85A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58368" y="822960"/>
            <a:ext cx="77724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Obrigado</a:t>
            </a:r>
            <a:endParaRPr lang="en-US" sz="6600" dirty="0"/>
          </a:p>
        </p:txBody>
      </p:sp>
      <p:sp>
        <p:nvSpPr>
          <p:cNvPr id="7" name="Text 5"/>
          <p:cNvSpPr/>
          <p:nvPr/>
        </p:nvSpPr>
        <p:spPr>
          <a:xfrm>
            <a:off x="658368" y="2423160"/>
            <a:ext cx="7772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85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Tito Goicochea M.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658368" y="3063240"/>
            <a:ext cx="77724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D0E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 - DSA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4A1B8A"/>
          </a:solidFill>
          <a:ln w="12700">
            <a:solidFill>
              <a:srgbClr val="4A1B8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74320" y="4809744"/>
            <a:ext cx="8595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D0E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Tito Goicochea M. · NEED - DSA · Esboço Lição Escola Sabatina II Trimestre 2026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Lição 6 · GUERREIROS DE ORAÇÃO</dc:title>
  <dc:subject>PptxGenJS Presentation</dc:subject>
  <dc:creator>Dr. Tito Goicochea M.</dc:creator>
  <cp:lastModifiedBy>Dr. Tito Goicochea M.</cp:lastModifiedBy>
  <cp:revision>1</cp:revision>
  <dcterms:created xsi:type="dcterms:W3CDTF">2026-03-15T16:26:42Z</dcterms:created>
  <dcterms:modified xsi:type="dcterms:W3CDTF">2026-03-15T16:26:42Z</dcterms:modified>
</cp:coreProperties>
</file>