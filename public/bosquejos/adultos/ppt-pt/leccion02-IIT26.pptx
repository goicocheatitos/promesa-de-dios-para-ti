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B1F3A"/>
        </a:solidFill>
      </p:bgPr>
    </p:bg>
    <p:spTree>
      <p:nvGrpSpPr>
        <p:cNvPr id="1" name=""/>
        <p:cNvGrpSpPr/>
        <p:nvPr/>
      </p:nvGrpSpPr>
      <p:grpSpPr>
        <a:xfrm>
          <a:off x="0" y="0"/>
          <a:ext cx="0" cy="0"/>
          <a:chOff x="0" y="0"/>
          <a:chExt cx="0" cy="0"/>
        </a:xfrm>
      </p:grpSpPr>
      <p:sp>
        <p:nvSpPr>
          <p:cNvPr id="2" name="Shape 0"/>
          <p:cNvSpPr/>
          <p:nvPr/>
        </p:nvSpPr>
        <p:spPr>
          <a:xfrm>
            <a:off x="6675120" y="-45720"/>
            <a:ext cx="2514600" cy="777240"/>
          </a:xfrm>
          <a:prstGeom prst="rect">
            <a:avLst/>
          </a:prstGeom>
          <a:solidFill>
            <a:srgbClr val="0D7377">
              <a:alpha val="70000"/>
            </a:srgbClr>
          </a:solidFill>
          <a:ln w="12700">
            <a:solidFill>
              <a:srgbClr val="0D7377">
                <a:alpha val="70000"/>
              </a:srgbClr>
            </a:solidFill>
            <a:prstDash val="solid"/>
          </a:ln>
        </p:spPr>
      </p:sp>
      <p:sp>
        <p:nvSpPr>
          <p:cNvPr id="3" name="Shape 1"/>
          <p:cNvSpPr/>
          <p:nvPr/>
        </p:nvSpPr>
        <p:spPr>
          <a:xfrm>
            <a:off x="7406640" y="713232"/>
            <a:ext cx="1783080" cy="502920"/>
          </a:xfrm>
          <a:prstGeom prst="rect">
            <a:avLst/>
          </a:prstGeom>
          <a:solidFill>
            <a:srgbClr val="0D7377">
              <a:alpha val="45000"/>
            </a:srgbClr>
          </a:solidFill>
          <a:ln w="12700">
            <a:solidFill>
              <a:srgbClr val="0D7377">
                <a:alpha val="45000"/>
              </a:srgbClr>
            </a:solidFill>
            <a:prstDash val="solid"/>
          </a:ln>
        </p:spPr>
      </p:sp>
      <p:sp>
        <p:nvSpPr>
          <p:cNvPr id="4" name="Shape 2"/>
          <p:cNvSpPr/>
          <p:nvPr/>
        </p:nvSpPr>
        <p:spPr>
          <a:xfrm>
            <a:off x="-45720" y="3566160"/>
            <a:ext cx="1554480" cy="1645920"/>
          </a:xfrm>
          <a:prstGeom prst="rect">
            <a:avLst/>
          </a:prstGeom>
          <a:solidFill>
            <a:srgbClr val="0D7377">
              <a:alpha val="45000"/>
            </a:srgbClr>
          </a:solidFill>
          <a:ln w="12700">
            <a:solidFill>
              <a:srgbClr val="0D7377">
                <a:alpha val="45000"/>
              </a:srgbClr>
            </a:solidFill>
            <a:prstDash val="solid"/>
          </a:ln>
        </p:spPr>
      </p:sp>
      <p:sp>
        <p:nvSpPr>
          <p:cNvPr id="5" name="Shape 3"/>
          <p:cNvSpPr/>
          <p:nvPr/>
        </p:nvSpPr>
        <p:spPr>
          <a:xfrm>
            <a:off x="475488" y="1051560"/>
            <a:ext cx="118872" cy="2468880"/>
          </a:xfrm>
          <a:prstGeom prst="rect">
            <a:avLst/>
          </a:prstGeom>
          <a:solidFill>
            <a:srgbClr val="0D7377"/>
          </a:solidFill>
          <a:ln w="12700">
            <a:solidFill>
              <a:srgbClr val="0D7377"/>
            </a:solidFill>
            <a:prstDash val="solid"/>
          </a:ln>
        </p:spPr>
      </p:sp>
      <p:sp>
        <p:nvSpPr>
          <p:cNvPr id="6" name="Text 4"/>
          <p:cNvSpPr/>
          <p:nvPr/>
        </p:nvSpPr>
        <p:spPr>
          <a:xfrm>
            <a:off x="713232" y="228600"/>
            <a:ext cx="7772400" cy="475488"/>
          </a:xfrm>
          <a:prstGeom prst="rect">
            <a:avLst/>
          </a:prstGeom>
          <a:noFill/>
          <a:ln/>
        </p:spPr>
        <p:txBody>
          <a:bodyPr wrap="square" rtlCol="0" anchor="ctr"/>
          <a:lstStyle/>
          <a:p>
            <a:pPr indent="0" marL="0">
              <a:buNone/>
            </a:pPr>
            <a:r>
              <a:rPr lang="en-US" sz="1200" b="1" spc="100" kern="0" dirty="0">
                <a:solidFill>
                  <a:srgbClr val="D0E4F5"/>
                </a:solidFill>
                <a:latin typeface="Calibri" pitchFamily="34" charset="0"/>
                <a:ea typeface="Calibri" pitchFamily="34" charset="-122"/>
                <a:cs typeface="Calibri" pitchFamily="34" charset="-120"/>
              </a:rPr>
              <a:t>PONTOS PRINCIPAIS DA LIÇÃO DA ESCOLA SABATINA</a:t>
            </a:r>
            <a:endParaRPr lang="en-US" sz="1200" dirty="0"/>
          </a:p>
        </p:txBody>
      </p:sp>
      <p:sp>
        <p:nvSpPr>
          <p:cNvPr id="7" name="Text 5"/>
          <p:cNvSpPr/>
          <p:nvPr/>
        </p:nvSpPr>
        <p:spPr>
          <a:xfrm>
            <a:off x="713232" y="685800"/>
            <a:ext cx="7772400" cy="384048"/>
          </a:xfrm>
          <a:prstGeom prst="rect">
            <a:avLst/>
          </a:prstGeom>
          <a:noFill/>
          <a:ln/>
        </p:spPr>
        <p:txBody>
          <a:bodyPr wrap="square" rtlCol="0" anchor="ctr"/>
          <a:lstStyle/>
          <a:p>
            <a:pPr indent="0" marL="0">
              <a:buNone/>
            </a:pPr>
            <a:r>
              <a:rPr lang="en-US" sz="1400" b="1" spc="200" kern="0" dirty="0">
                <a:solidFill>
                  <a:srgbClr val="0D7377"/>
                </a:solidFill>
                <a:latin typeface="Calibri" pitchFamily="34" charset="0"/>
                <a:ea typeface="Calibri" pitchFamily="34" charset="-122"/>
                <a:cs typeface="Calibri" pitchFamily="34" charset="-120"/>
              </a:rPr>
              <a:t>Lição 2</a:t>
            </a:r>
            <a:endParaRPr lang="en-US" sz="1400" dirty="0"/>
          </a:p>
        </p:txBody>
      </p:sp>
      <p:sp>
        <p:nvSpPr>
          <p:cNvPr id="8" name="Text 6"/>
          <p:cNvSpPr/>
          <p:nvPr/>
        </p:nvSpPr>
        <p:spPr>
          <a:xfrm>
            <a:off x="713232" y="1051560"/>
            <a:ext cx="7498080" cy="1005840"/>
          </a:xfrm>
          <a:prstGeom prst="rect">
            <a:avLst/>
          </a:prstGeom>
          <a:noFill/>
          <a:ln/>
        </p:spPr>
        <p:txBody>
          <a:bodyPr wrap="square" rtlCol="0" anchor="ctr"/>
          <a:lstStyle/>
          <a:p>
            <a:pPr indent="0" marL="0">
              <a:buNone/>
            </a:pPr>
            <a:r>
              <a:rPr lang="en-US" sz="5200" b="1" spc="200" kern="0" dirty="0">
                <a:solidFill>
                  <a:srgbClr val="FFFFFF"/>
                </a:solidFill>
                <a:latin typeface="Calibri" pitchFamily="34" charset="0"/>
                <a:ea typeface="Calibri" pitchFamily="34" charset="-122"/>
                <a:cs typeface="Calibri" pitchFamily="34" charset="-120"/>
              </a:rPr>
              <a:t>CONHECENDO A DEUS</a:t>
            </a:r>
            <a:endParaRPr lang="en-US" sz="5200" dirty="0"/>
          </a:p>
        </p:txBody>
      </p:sp>
      <p:sp>
        <p:nvSpPr>
          <p:cNvPr id="9" name="Text 7"/>
          <p:cNvSpPr/>
          <p:nvPr/>
        </p:nvSpPr>
        <p:spPr>
          <a:xfrm>
            <a:off x="713232" y="2148840"/>
            <a:ext cx="7772400" cy="347472"/>
          </a:xfrm>
          <a:prstGeom prst="rect">
            <a:avLst/>
          </a:prstGeom>
          <a:noFill/>
          <a:ln/>
        </p:spPr>
        <p:txBody>
          <a:bodyPr wrap="square" rtlCol="0" anchor="ctr"/>
          <a:lstStyle/>
          <a:p>
            <a:pPr indent="0" marL="0">
              <a:buNone/>
            </a:pPr>
            <a:r>
              <a:rPr lang="en-US" sz="1300" i="1" dirty="0">
                <a:solidFill>
                  <a:srgbClr val="D0E4F5"/>
                </a:solidFill>
                <a:latin typeface="Calibri" pitchFamily="34" charset="0"/>
                <a:ea typeface="Calibri" pitchFamily="34" charset="-122"/>
                <a:cs typeface="Calibri" pitchFamily="34" charset="-120"/>
              </a:rPr>
              <a:t>Para o Sábado 11 de abril de 2026</a:t>
            </a:r>
            <a:endParaRPr lang="en-US" sz="1300" dirty="0"/>
          </a:p>
        </p:txBody>
      </p:sp>
      <p:sp>
        <p:nvSpPr>
          <p:cNvPr id="10" name="Shape 8"/>
          <p:cNvSpPr/>
          <p:nvPr/>
        </p:nvSpPr>
        <p:spPr>
          <a:xfrm>
            <a:off x="475488" y="2514600"/>
            <a:ext cx="8229600" cy="1024128"/>
          </a:xfrm>
          <a:prstGeom prst="rect">
            <a:avLst/>
          </a:prstGeom>
          <a:solidFill>
            <a:srgbClr val="FFFFFF">
              <a:alpha val="10000"/>
            </a:srgbClr>
          </a:solidFill>
          <a:ln w="12700">
            <a:solidFill>
              <a:srgbClr val="0D7377">
                <a:alpha val="75000"/>
              </a:srgbClr>
            </a:solidFill>
            <a:prstDash val="solid"/>
          </a:ln>
        </p:spPr>
      </p:sp>
      <p:sp>
        <p:nvSpPr>
          <p:cNvPr id="11" name="Shape 9"/>
          <p:cNvSpPr/>
          <p:nvPr/>
        </p:nvSpPr>
        <p:spPr>
          <a:xfrm>
            <a:off x="475488" y="2514600"/>
            <a:ext cx="118872" cy="1024128"/>
          </a:xfrm>
          <a:prstGeom prst="rect">
            <a:avLst/>
          </a:prstGeom>
          <a:solidFill>
            <a:srgbClr val="0D7377"/>
          </a:solidFill>
          <a:ln w="12700">
            <a:solidFill>
              <a:srgbClr val="0D7377"/>
            </a:solidFill>
            <a:prstDash val="solid"/>
          </a:ln>
        </p:spPr>
      </p:sp>
      <p:sp>
        <p:nvSpPr>
          <p:cNvPr id="12" name="Text 10"/>
          <p:cNvSpPr/>
          <p:nvPr/>
        </p:nvSpPr>
        <p:spPr>
          <a:xfrm>
            <a:off x="658368" y="2532888"/>
            <a:ext cx="7909560" cy="987552"/>
          </a:xfrm>
          <a:prstGeom prst="rect">
            <a:avLst/>
          </a:prstGeom>
          <a:noFill/>
          <a:ln/>
        </p:spPr>
        <p:txBody>
          <a:bodyPr wrap="square" rtlCol="0" anchor="ctr"/>
          <a:lstStyle/>
          <a:p>
            <a:pPr indent="0" marL="0">
              <a:buNone/>
            </a:pPr>
            <a:r>
              <a:rPr lang="en-US" sz="900" b="1" dirty="0">
                <a:solidFill>
                  <a:srgbClr val="0D7377"/>
                </a:solidFill>
                <a:latin typeface="Calibri" pitchFamily="34" charset="0"/>
                <a:ea typeface="Calibri" pitchFamily="34" charset="-122"/>
                <a:cs typeface="Calibri" pitchFamily="34" charset="-120"/>
              </a:rPr>
              <a:t>Para memorizar: </a:t>
            </a:r>
            <a:pPr indent="0" marL="0">
              <a:buNone/>
            </a:pPr>
            <a:r>
              <a:rPr lang="en-US" sz="1150" i="1" dirty="0">
                <a:solidFill>
                  <a:srgbClr val="FFFFFF"/>
                </a:solidFill>
                <a:latin typeface="Calibri" pitchFamily="34" charset="0"/>
                <a:ea typeface="Calibri" pitchFamily="34" charset="-122"/>
                <a:cs typeface="Calibri" pitchFamily="34" charset="-120"/>
              </a:rPr>
              <a:t>"E esta é a vida eterna: que te conheçam a ti, o único Deus verdadeiro, e a Jesus Cristo, a quem enviaste."  —  João 17:3</a:t>
            </a:r>
            <a:endParaRPr lang="en-US" sz="900" dirty="0"/>
          </a:p>
        </p:txBody>
      </p:sp>
      <p:sp>
        <p:nvSpPr>
          <p:cNvPr id="13" name="Shape 11"/>
          <p:cNvSpPr/>
          <p:nvPr/>
        </p:nvSpPr>
        <p:spPr>
          <a:xfrm>
            <a:off x="0" y="4800600"/>
            <a:ext cx="9144000" cy="342900"/>
          </a:xfrm>
          <a:prstGeom prst="rect">
            <a:avLst/>
          </a:prstGeom>
          <a:solidFill>
            <a:srgbClr val="7B1F3A"/>
          </a:solidFill>
          <a:ln w="12700">
            <a:solidFill>
              <a:srgbClr val="7B1F3A"/>
            </a:solidFill>
            <a:prstDash val="solid"/>
          </a:ln>
        </p:spPr>
      </p:sp>
      <p:sp>
        <p:nvSpPr>
          <p:cNvPr id="14" name="Text 12"/>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Esboço Lição Escola Sabatina II Trimestre 2026</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7B1F3A"/>
          </a:solidFill>
          <a:ln w="12700">
            <a:solidFill>
              <a:srgbClr val="7B1F3A"/>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1]  MOTIVA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Reflita antes de começar:</a:t>
            </a:r>
            <a:endParaRPr lang="en-US" sz="1100" dirty="0"/>
          </a:p>
        </p:txBody>
      </p:sp>
      <p:sp>
        <p:nvSpPr>
          <p:cNvPr id="5" name="Shape 3"/>
          <p:cNvSpPr/>
          <p:nvPr/>
        </p:nvSpPr>
        <p:spPr>
          <a:xfrm>
            <a:off x="256032" y="804672"/>
            <a:ext cx="8631936" cy="1600200"/>
          </a:xfrm>
          <a:prstGeom prst="rect">
            <a:avLst/>
          </a:prstGeom>
          <a:solidFill>
            <a:srgbClr val="E0F4F4"/>
          </a:solidFill>
          <a:ln w="12700">
            <a:solidFill>
              <a:srgbClr val="0D7377"/>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256032" y="804672"/>
            <a:ext cx="128016" cy="1600200"/>
          </a:xfrm>
          <a:prstGeom prst="rect">
            <a:avLst/>
          </a:prstGeom>
          <a:solidFill>
            <a:srgbClr val="0D7377"/>
          </a:solidFill>
          <a:ln w="12700">
            <a:solidFill>
              <a:srgbClr val="0D7377"/>
            </a:solidFill>
            <a:prstDash val="solid"/>
          </a:ln>
        </p:spPr>
      </p:sp>
      <p:sp>
        <p:nvSpPr>
          <p:cNvPr id="7" name="Text 5"/>
          <p:cNvSpPr/>
          <p:nvPr/>
        </p:nvSpPr>
        <p:spPr>
          <a:xfrm>
            <a:off x="438912" y="832104"/>
            <a:ext cx="8321040" cy="1536192"/>
          </a:xfrm>
          <a:prstGeom prst="rect">
            <a:avLst/>
          </a:prstGeom>
          <a:noFill/>
          <a:ln/>
        </p:spPr>
        <p:txBody>
          <a:bodyPr wrap="square" rtlCol="0" anchor="ctr"/>
          <a:lstStyle/>
          <a:p>
            <a:pPr indent="0" marL="0">
              <a:buNone/>
            </a:pPr>
            <a:r>
              <a:rPr lang="en-US" sz="1600" b="1" dirty="0">
                <a:solidFill>
                  <a:srgbClr val="7B1F3A"/>
                </a:solidFill>
                <a:latin typeface="Calibri" pitchFamily="34" charset="0"/>
                <a:ea typeface="Calibri" pitchFamily="34" charset="-122"/>
                <a:cs typeface="Calibri" pitchFamily="34" charset="-120"/>
              </a:rPr>
              <a:t>GPS:  </a:t>
            </a:r>
            <a:pPr indent="0" marL="0">
              <a:buNone/>
            </a:pPr>
            <a:r>
              <a:rPr lang="en-US" sz="1400" b="1" i="1" dirty="0">
                <a:solidFill>
                  <a:srgbClr val="0D7377"/>
                </a:solidFill>
                <a:latin typeface="Calibri" pitchFamily="34" charset="0"/>
                <a:ea typeface="Calibri" pitchFamily="34" charset="-122"/>
                <a:cs typeface="Calibri" pitchFamily="34" charset="-120"/>
              </a:rPr>
              <a:t>Como transforma sua vida o conhecer a Deus como Santo, como Amor e como Emanuel presente com você?</a:t>
            </a:r>
            <a:endParaRPr lang="en-US" sz="1600" dirty="0"/>
          </a:p>
        </p:txBody>
      </p:sp>
      <p:sp>
        <p:nvSpPr>
          <p:cNvPr id="8" name="Shape 6"/>
          <p:cNvSpPr/>
          <p:nvPr/>
        </p:nvSpPr>
        <p:spPr>
          <a:xfrm>
            <a:off x="256032" y="2532888"/>
            <a:ext cx="8631936" cy="749808"/>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9" name="Shape 7"/>
          <p:cNvSpPr/>
          <p:nvPr/>
        </p:nvSpPr>
        <p:spPr>
          <a:xfrm>
            <a:off x="256032" y="2532888"/>
            <a:ext cx="128016" cy="749808"/>
          </a:xfrm>
          <a:prstGeom prst="rect">
            <a:avLst/>
          </a:prstGeom>
          <a:solidFill>
            <a:srgbClr val="7B1F3A"/>
          </a:solidFill>
          <a:ln w="12700">
            <a:solidFill>
              <a:srgbClr val="7B1F3A"/>
            </a:solidFill>
            <a:prstDash val="solid"/>
          </a:ln>
        </p:spPr>
      </p:sp>
      <p:sp>
        <p:nvSpPr>
          <p:cNvPr id="10" name="Text 8"/>
          <p:cNvSpPr/>
          <p:nvPr/>
        </p:nvSpPr>
        <p:spPr>
          <a:xfrm>
            <a:off x="457200" y="2578608"/>
            <a:ext cx="8321040" cy="658368"/>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  Qual é a imagem de Deus que você tem quando atravessa momentos difíceis? Em que medida essa imagem corresponde ao que a Bíblia revela?</a:t>
            </a:r>
            <a:endParaRPr lang="en-US" sz="1250" dirty="0"/>
          </a:p>
        </p:txBody>
      </p:sp>
      <p:sp>
        <p:nvSpPr>
          <p:cNvPr id="11" name="Shape 9"/>
          <p:cNvSpPr/>
          <p:nvPr/>
        </p:nvSpPr>
        <p:spPr>
          <a:xfrm>
            <a:off x="256032" y="3419856"/>
            <a:ext cx="8631936" cy="749808"/>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56032" y="3419856"/>
            <a:ext cx="128016" cy="749808"/>
          </a:xfrm>
          <a:prstGeom prst="rect">
            <a:avLst/>
          </a:prstGeom>
          <a:solidFill>
            <a:srgbClr val="7B1F3A"/>
          </a:solidFill>
          <a:ln w="12700">
            <a:solidFill>
              <a:srgbClr val="7B1F3A"/>
            </a:solidFill>
            <a:prstDash val="solid"/>
          </a:ln>
        </p:spPr>
      </p:sp>
      <p:sp>
        <p:nvSpPr>
          <p:cNvPr id="13" name="Text 11"/>
          <p:cNvSpPr/>
          <p:nvPr/>
        </p:nvSpPr>
        <p:spPr>
          <a:xfrm>
            <a:off x="457200" y="3465576"/>
            <a:ext cx="8321040" cy="658368"/>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  Se você tivesse que descrever o caráter de Deus a alguém que nunca leu a Bíblia, quais características destacaria primeiro e por quê?</a:t>
            </a:r>
            <a:endParaRPr lang="en-US" sz="1250" dirty="0"/>
          </a:p>
        </p:txBody>
      </p:sp>
      <p:sp>
        <p:nvSpPr>
          <p:cNvPr id="14" name="Shape 12"/>
          <p:cNvSpPr/>
          <p:nvPr/>
        </p:nvSpPr>
        <p:spPr>
          <a:xfrm>
            <a:off x="0" y="4800600"/>
            <a:ext cx="9144000" cy="342900"/>
          </a:xfrm>
          <a:prstGeom prst="rect">
            <a:avLst/>
          </a:prstGeom>
          <a:solidFill>
            <a:srgbClr val="7B1F3A"/>
          </a:solidFill>
          <a:ln w="12700">
            <a:solidFill>
              <a:srgbClr val="7B1F3A"/>
            </a:solidFill>
            <a:prstDash val="solid"/>
          </a:ln>
        </p:spPr>
      </p:sp>
      <p:sp>
        <p:nvSpPr>
          <p:cNvPr id="15" name="Text 13"/>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Esboço Lição Escola Sabatina II Trimestre 2026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7B1F3A"/>
          </a:solidFill>
          <a:ln w="12700">
            <a:solidFill>
              <a:srgbClr val="7B1F3A"/>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EXPLORE</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O que diz a Bíblia?</a:t>
            </a:r>
            <a:endParaRPr lang="en-US" sz="1100" dirty="0"/>
          </a:p>
        </p:txBody>
      </p:sp>
      <p:sp>
        <p:nvSpPr>
          <p:cNvPr id="5" name="Shape 3"/>
          <p:cNvSpPr/>
          <p:nvPr/>
        </p:nvSpPr>
        <p:spPr>
          <a:xfrm>
            <a:off x="6995160" y="118872"/>
            <a:ext cx="1828800" cy="420624"/>
          </a:xfrm>
          <a:prstGeom prst="rect">
            <a:avLst/>
          </a:prstGeom>
          <a:solidFill>
            <a:srgbClr val="0D7377"/>
          </a:solidFill>
          <a:ln w="12700">
            <a:solidFill>
              <a:srgbClr val="0D7377"/>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1 de 3</a:t>
            </a:r>
            <a:endParaRPr lang="en-US" sz="900" dirty="0"/>
          </a:p>
        </p:txBody>
      </p:sp>
      <p:sp>
        <p:nvSpPr>
          <p:cNvPr id="7" name="Shape 5"/>
          <p:cNvSpPr/>
          <p:nvPr/>
        </p:nvSpPr>
        <p:spPr>
          <a:xfrm>
            <a:off x="228600" y="749808"/>
            <a:ext cx="2286000" cy="3931920"/>
          </a:xfrm>
          <a:prstGeom prst="rect">
            <a:avLst/>
          </a:prstGeom>
          <a:solidFill>
            <a:srgbClr val="7B1F3A"/>
          </a:solidFill>
          <a:ln w="12700">
            <a:solidFill>
              <a:srgbClr val="7B1F3A"/>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0D7377"/>
          </a:solidFill>
          <a:ln w="12700">
            <a:solidFill>
              <a:srgbClr val="0D7377"/>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1</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Deus é Santo: separado do mal</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A santidade é o centro do caráter de Deus. Estar completamente separado do mal possibilita que Seu amor, poder e sabedoria sejam dignos de toda a nossa confiança.</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0D7377"/>
                </a:solidFill>
                <a:latin typeface="Calibri" pitchFamily="34" charset="0"/>
                <a:ea typeface="Calibri" pitchFamily="34" charset="-122"/>
                <a:cs typeface="Calibri" pitchFamily="34" charset="-120"/>
              </a:rPr>
              <a:t>Levítico 20:26; 1 Samuel 2:2</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0D7377"/>
          </a:solidFill>
          <a:ln w="12700">
            <a:solidFill>
              <a:srgbClr val="0D7377"/>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0D7377"/>
                </a:solidFill>
                <a:latin typeface="Calibri" pitchFamily="34" charset="0"/>
                <a:ea typeface="Calibri" pitchFamily="34" charset="-122"/>
                <a:cs typeface="Calibri" pitchFamily="34" charset="-120"/>
              </a:rPr>
              <a:t>Lev. 20:26  —  </a:t>
            </a:r>
            <a:pPr indent="0" marL="0">
              <a:buNone/>
            </a:pPr>
            <a:r>
              <a:rPr lang="en-US" sz="1150" b="1" dirty="0">
                <a:solidFill>
                  <a:srgbClr val="7B1F3A"/>
                </a:solidFill>
                <a:latin typeface="Calibri" pitchFamily="34" charset="0"/>
                <a:ea typeface="Calibri" pitchFamily="34" charset="-122"/>
                <a:cs typeface="Calibri" pitchFamily="34" charset="-120"/>
              </a:rPr>
              <a:t>Separados para ser santos: </a:t>
            </a:r>
            <a:pPr indent="0" marL="0">
              <a:buNone/>
            </a:pPr>
            <a:r>
              <a:rPr lang="en-US" sz="1150" dirty="0">
                <a:solidFill>
                  <a:srgbClr val="1A1A1A"/>
                </a:solidFill>
                <a:latin typeface="Calibri" pitchFamily="34" charset="0"/>
                <a:ea typeface="Calibri" pitchFamily="34" charset="-122"/>
                <a:cs typeface="Calibri" pitchFamily="34" charset="-120"/>
              </a:rPr>
              <a:t>Deus chama Seu povo a ser santo como Ele. A santidade não é rigidez, mas o reflexo do caráter divino que nos separa do mal para nos aproximar de Deus.</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0D7377"/>
          </a:solidFill>
          <a:ln w="12700">
            <a:solidFill>
              <a:srgbClr val="0D7377"/>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0D7377"/>
                </a:solidFill>
                <a:latin typeface="Calibri" pitchFamily="34" charset="0"/>
                <a:ea typeface="Calibri" pitchFamily="34" charset="-122"/>
                <a:cs typeface="Calibri" pitchFamily="34" charset="-120"/>
              </a:rPr>
              <a:t>1 Sam. 2:2  —  </a:t>
            </a:r>
            <a:pPr indent="0" marL="0">
              <a:buNone/>
            </a:pPr>
            <a:r>
              <a:rPr lang="en-US" sz="1150" b="1" dirty="0">
                <a:solidFill>
                  <a:srgbClr val="7B1F3A"/>
                </a:solidFill>
                <a:latin typeface="Calibri" pitchFamily="34" charset="0"/>
                <a:ea typeface="Calibri" pitchFamily="34" charset="-122"/>
                <a:cs typeface="Calibri" pitchFamily="34" charset="-120"/>
              </a:rPr>
              <a:t>Não há santo como o Senhor: </a:t>
            </a:r>
            <a:pPr indent="0" marL="0">
              <a:buNone/>
            </a:pPr>
            <a:r>
              <a:rPr lang="en-US" sz="1150" dirty="0">
                <a:solidFill>
                  <a:srgbClr val="1A1A1A"/>
                </a:solidFill>
                <a:latin typeface="Calibri" pitchFamily="34" charset="0"/>
                <a:ea typeface="Calibri" pitchFamily="34" charset="-122"/>
                <a:cs typeface="Calibri" pitchFamily="34" charset="-120"/>
              </a:rPr>
              <a:t>A declaração de Ana proclama que nenhum ser é comparável a Deus em santidade. Essa singularidade é o fundamento seguro de nossa adoração e confiança.</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0D7377"/>
          </a:solidFill>
          <a:ln w="12700">
            <a:solidFill>
              <a:srgbClr val="0D7377"/>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0D7377"/>
                </a:solidFill>
                <a:latin typeface="Calibri" pitchFamily="34" charset="0"/>
                <a:ea typeface="Calibri" pitchFamily="34" charset="-122"/>
                <a:cs typeface="Calibri" pitchFamily="34" charset="-120"/>
              </a:rPr>
              <a:t>Isa. 57:15  —  </a:t>
            </a:r>
            <a:pPr indent="0" marL="0">
              <a:buNone/>
            </a:pPr>
            <a:r>
              <a:rPr lang="en-US" sz="1150" b="1" dirty="0">
                <a:solidFill>
                  <a:srgbClr val="7B1F3A"/>
                </a:solidFill>
                <a:latin typeface="Calibri" pitchFamily="34" charset="0"/>
                <a:ea typeface="Calibri" pitchFamily="34" charset="-122"/>
                <a:cs typeface="Calibri" pitchFamily="34" charset="-120"/>
              </a:rPr>
              <a:t>O Alto e Sublime habita com o humilde: </a:t>
            </a:r>
            <a:pPr indent="0" marL="0">
              <a:buNone/>
            </a:pPr>
            <a:r>
              <a:rPr lang="en-US" sz="1150" dirty="0">
                <a:solidFill>
                  <a:srgbClr val="1A1A1A"/>
                </a:solidFill>
                <a:latin typeface="Calibri" pitchFamily="34" charset="0"/>
                <a:ea typeface="Calibri" pitchFamily="34" charset="-122"/>
                <a:cs typeface="Calibri" pitchFamily="34" charset="-120"/>
              </a:rPr>
              <a:t>O Deus santo não está longe do pecador arrependido: mora com o contrito e humilde. Sua santidade não é distância, mas pureza que pode se aproximar de nós com graça.</a:t>
            </a:r>
            <a:endParaRPr lang="en-US" sz="1150" dirty="0"/>
          </a:p>
        </p:txBody>
      </p:sp>
      <p:sp>
        <p:nvSpPr>
          <p:cNvPr id="21" name="Shape 19"/>
          <p:cNvSpPr/>
          <p:nvPr/>
        </p:nvSpPr>
        <p:spPr>
          <a:xfrm>
            <a:off x="0" y="4800600"/>
            <a:ext cx="9144000" cy="342900"/>
          </a:xfrm>
          <a:prstGeom prst="rect">
            <a:avLst/>
          </a:prstGeom>
          <a:solidFill>
            <a:srgbClr val="7B1F3A"/>
          </a:solidFill>
          <a:ln w="12700">
            <a:solidFill>
              <a:srgbClr val="7B1F3A"/>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Esboço Lição Escola Sabatina II Trimestre 2026</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7B1F3A"/>
          </a:solidFill>
          <a:ln w="12700">
            <a:solidFill>
              <a:srgbClr val="7B1F3A"/>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EXPLORE</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O que diz a Bíblia?</a:t>
            </a:r>
            <a:endParaRPr lang="en-US" sz="1100" dirty="0"/>
          </a:p>
        </p:txBody>
      </p:sp>
      <p:sp>
        <p:nvSpPr>
          <p:cNvPr id="5" name="Shape 3"/>
          <p:cNvSpPr/>
          <p:nvPr/>
        </p:nvSpPr>
        <p:spPr>
          <a:xfrm>
            <a:off x="6995160" y="118872"/>
            <a:ext cx="1828800" cy="420624"/>
          </a:xfrm>
          <a:prstGeom prst="rect">
            <a:avLst/>
          </a:prstGeom>
          <a:solidFill>
            <a:srgbClr val="0D7377"/>
          </a:solidFill>
          <a:ln w="12700">
            <a:solidFill>
              <a:srgbClr val="0D7377"/>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2 de 3</a:t>
            </a:r>
            <a:endParaRPr lang="en-US" sz="900" dirty="0"/>
          </a:p>
        </p:txBody>
      </p:sp>
      <p:sp>
        <p:nvSpPr>
          <p:cNvPr id="7" name="Shape 5"/>
          <p:cNvSpPr/>
          <p:nvPr/>
        </p:nvSpPr>
        <p:spPr>
          <a:xfrm>
            <a:off x="228600" y="749808"/>
            <a:ext cx="2286000" cy="3931920"/>
          </a:xfrm>
          <a:prstGeom prst="rect">
            <a:avLst/>
          </a:prstGeom>
          <a:solidFill>
            <a:srgbClr val="7B1F3A"/>
          </a:solidFill>
          <a:ln w="12700">
            <a:solidFill>
              <a:srgbClr val="7B1F3A"/>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0D7377"/>
          </a:solidFill>
          <a:ln w="12700">
            <a:solidFill>
              <a:srgbClr val="0D7377"/>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2</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Deus é Amor: a essência do Seu ser</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João não diz que Deus sente amor, mas que Deus É amor. Seu amor é a essência do Seu caráter: gratuito, perfeito e que convida a permanecer em uma relação viva com Ele.</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0D7377"/>
                </a:solidFill>
                <a:latin typeface="Calibri" pitchFamily="34" charset="0"/>
                <a:ea typeface="Calibri" pitchFamily="34" charset="-122"/>
                <a:cs typeface="Calibri" pitchFamily="34" charset="-120"/>
              </a:rPr>
              <a:t>1 João 4:7-19</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0D7377"/>
          </a:solidFill>
          <a:ln w="12700">
            <a:solidFill>
              <a:srgbClr val="0D7377"/>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0D7377"/>
                </a:solidFill>
                <a:latin typeface="Calibri" pitchFamily="34" charset="0"/>
                <a:ea typeface="Calibri" pitchFamily="34" charset="-122"/>
                <a:cs typeface="Calibri" pitchFamily="34" charset="-120"/>
              </a:rPr>
              <a:t>1 João 4:7-8  —  </a:t>
            </a:r>
            <a:pPr indent="0" marL="0">
              <a:buNone/>
            </a:pPr>
            <a:r>
              <a:rPr lang="en-US" sz="1150" b="1" dirty="0">
                <a:solidFill>
                  <a:srgbClr val="7B1F3A"/>
                </a:solidFill>
                <a:latin typeface="Calibri" pitchFamily="34" charset="0"/>
                <a:ea typeface="Calibri" pitchFamily="34" charset="-122"/>
                <a:cs typeface="Calibri" pitchFamily="34" charset="-120"/>
              </a:rPr>
              <a:t>O amor provém de Deus: </a:t>
            </a:r>
            <a:pPr indent="0" marL="0">
              <a:buNone/>
            </a:pPr>
            <a:r>
              <a:rPr lang="en-US" sz="1150" dirty="0">
                <a:solidFill>
                  <a:srgbClr val="1A1A1A"/>
                </a:solidFill>
                <a:latin typeface="Calibri" pitchFamily="34" charset="0"/>
                <a:ea typeface="Calibri" pitchFamily="34" charset="-122"/>
                <a:cs typeface="Calibri" pitchFamily="34" charset="-120"/>
              </a:rPr>
              <a:t>Todo amor verdadeiro tem sua origem em Deus. Quem ama conhece a Deus; quem não ama não O conhece, porque Deus em Sua própria essência é amor.</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0D7377"/>
          </a:solidFill>
          <a:ln w="12700">
            <a:solidFill>
              <a:srgbClr val="0D7377"/>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0D7377"/>
                </a:solidFill>
                <a:latin typeface="Calibri" pitchFamily="34" charset="0"/>
                <a:ea typeface="Calibri" pitchFamily="34" charset="-122"/>
                <a:cs typeface="Calibri" pitchFamily="34" charset="-120"/>
              </a:rPr>
              <a:t>1 João 4:9-11  —  </a:t>
            </a:r>
            <a:pPr indent="0" marL="0">
              <a:buNone/>
            </a:pPr>
            <a:r>
              <a:rPr lang="en-US" sz="1150" b="1" dirty="0">
                <a:solidFill>
                  <a:srgbClr val="7B1F3A"/>
                </a:solidFill>
                <a:latin typeface="Calibri" pitchFamily="34" charset="0"/>
                <a:ea typeface="Calibri" pitchFamily="34" charset="-122"/>
                <a:cs typeface="Calibri" pitchFamily="34" charset="-120"/>
              </a:rPr>
              <a:t>O amor demonstrado na Cruz: </a:t>
            </a:r>
            <a:pPr indent="0" marL="0">
              <a:buNone/>
            </a:pPr>
            <a:r>
              <a:rPr lang="en-US" sz="1150" dirty="0">
                <a:solidFill>
                  <a:srgbClr val="1A1A1A"/>
                </a:solidFill>
                <a:latin typeface="Calibri" pitchFamily="34" charset="0"/>
                <a:ea typeface="Calibri" pitchFamily="34" charset="-122"/>
                <a:cs typeface="Calibri" pitchFamily="34" charset="-120"/>
              </a:rPr>
              <a:t>Deus demonstrou Seu amor enviando Seu Filho único para que vivamos por Ele. Não que nós amássemos a Deus, mas que Ele nos amou primeiro.</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0D7377"/>
          </a:solidFill>
          <a:ln w="12700">
            <a:solidFill>
              <a:srgbClr val="0D7377"/>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0D7377"/>
                </a:solidFill>
                <a:latin typeface="Calibri" pitchFamily="34" charset="0"/>
                <a:ea typeface="Calibri" pitchFamily="34" charset="-122"/>
                <a:cs typeface="Calibri" pitchFamily="34" charset="-120"/>
              </a:rPr>
              <a:t>1 João 4:16-19  —  </a:t>
            </a:r>
            <a:pPr indent="0" marL="0">
              <a:buNone/>
            </a:pPr>
            <a:r>
              <a:rPr lang="en-US" sz="1150" b="1" dirty="0">
                <a:solidFill>
                  <a:srgbClr val="7B1F3A"/>
                </a:solidFill>
                <a:latin typeface="Calibri" pitchFamily="34" charset="0"/>
                <a:ea typeface="Calibri" pitchFamily="34" charset="-122"/>
                <a:cs typeface="Calibri" pitchFamily="34" charset="-120"/>
              </a:rPr>
              <a:t>Permanecer no amor: </a:t>
            </a:r>
            <a:pPr indent="0" marL="0">
              <a:buNone/>
            </a:pPr>
            <a:r>
              <a:rPr lang="en-US" sz="1150" dirty="0">
                <a:solidFill>
                  <a:srgbClr val="1A1A1A"/>
                </a:solidFill>
                <a:latin typeface="Calibri" pitchFamily="34" charset="0"/>
                <a:ea typeface="Calibri" pitchFamily="34" charset="-122"/>
                <a:cs typeface="Calibri" pitchFamily="34" charset="-120"/>
              </a:rPr>
              <a:t>Quem permanece no amor permanece em Deus. Seu amor perfeito expulsa o temor. Amamos porque Ele nos amou primeiro, não para ganhar Sua aceitação, mas como resposta à Sua graça.</a:t>
            </a:r>
            <a:endParaRPr lang="en-US" sz="1150" dirty="0"/>
          </a:p>
        </p:txBody>
      </p:sp>
      <p:sp>
        <p:nvSpPr>
          <p:cNvPr id="21" name="Shape 19"/>
          <p:cNvSpPr/>
          <p:nvPr/>
        </p:nvSpPr>
        <p:spPr>
          <a:xfrm>
            <a:off x="0" y="4800600"/>
            <a:ext cx="9144000" cy="342900"/>
          </a:xfrm>
          <a:prstGeom prst="rect">
            <a:avLst/>
          </a:prstGeom>
          <a:solidFill>
            <a:srgbClr val="7B1F3A"/>
          </a:solidFill>
          <a:ln w="12700">
            <a:solidFill>
              <a:srgbClr val="7B1F3A"/>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Esboço Lição Escola Sabatina II Trimestre 2026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7B1F3A"/>
          </a:solidFill>
          <a:ln w="12700">
            <a:solidFill>
              <a:srgbClr val="7B1F3A"/>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EXPLORE</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O que diz a Bíblia?</a:t>
            </a:r>
            <a:endParaRPr lang="en-US" sz="1100" dirty="0"/>
          </a:p>
        </p:txBody>
      </p:sp>
      <p:sp>
        <p:nvSpPr>
          <p:cNvPr id="5" name="Shape 3"/>
          <p:cNvSpPr/>
          <p:nvPr/>
        </p:nvSpPr>
        <p:spPr>
          <a:xfrm>
            <a:off x="6995160" y="118872"/>
            <a:ext cx="1828800" cy="420624"/>
          </a:xfrm>
          <a:prstGeom prst="rect">
            <a:avLst/>
          </a:prstGeom>
          <a:solidFill>
            <a:srgbClr val="0D7377"/>
          </a:solidFill>
          <a:ln w="12700">
            <a:solidFill>
              <a:srgbClr val="0D7377"/>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3 de 3</a:t>
            </a:r>
            <a:endParaRPr lang="en-US" sz="900" dirty="0"/>
          </a:p>
        </p:txBody>
      </p:sp>
      <p:sp>
        <p:nvSpPr>
          <p:cNvPr id="7" name="Shape 5"/>
          <p:cNvSpPr/>
          <p:nvPr/>
        </p:nvSpPr>
        <p:spPr>
          <a:xfrm>
            <a:off x="228600" y="749808"/>
            <a:ext cx="2286000" cy="3931920"/>
          </a:xfrm>
          <a:prstGeom prst="rect">
            <a:avLst/>
          </a:prstGeom>
          <a:solidFill>
            <a:srgbClr val="7B1F3A"/>
          </a:solidFill>
          <a:ln w="12700">
            <a:solidFill>
              <a:srgbClr val="7B1F3A"/>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0D7377"/>
          </a:solidFill>
          <a:ln w="12700">
            <a:solidFill>
              <a:srgbClr val="0D7377"/>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3</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Deus conosco: Criador e Emanuel</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A mesma Bíblia que apresenta Deus como o poderoso Criador O revela como Emanuel, o Deus que habita entre nós. Esse paradoxo é a essência de nossa relação com Ele.</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0D7377"/>
                </a:solidFill>
                <a:latin typeface="Calibri" pitchFamily="34" charset="0"/>
                <a:ea typeface="Calibri" pitchFamily="34" charset="-122"/>
                <a:cs typeface="Calibri" pitchFamily="34" charset="-120"/>
              </a:rPr>
              <a:t>Gênesis 1:1; 2:7; Mateus 1:23</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0D7377"/>
          </a:solidFill>
          <a:ln w="12700">
            <a:solidFill>
              <a:srgbClr val="0D7377"/>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0D7377"/>
                </a:solidFill>
                <a:latin typeface="Calibri" pitchFamily="34" charset="0"/>
                <a:ea typeface="Calibri" pitchFamily="34" charset="-122"/>
                <a:cs typeface="Calibri" pitchFamily="34" charset="-120"/>
              </a:rPr>
              <a:t>Gên. 1:1  —  </a:t>
            </a:r>
            <a:pPr indent="0" marL="0">
              <a:buNone/>
            </a:pPr>
            <a:r>
              <a:rPr lang="en-US" sz="1150" b="1" dirty="0">
                <a:solidFill>
                  <a:srgbClr val="7B1F3A"/>
                </a:solidFill>
                <a:latin typeface="Calibri" pitchFamily="34" charset="0"/>
                <a:ea typeface="Calibri" pitchFamily="34" charset="-122"/>
                <a:cs typeface="Calibri" pitchFamily="34" charset="-120"/>
              </a:rPr>
              <a:t>Deus: o Criador todo-poderoso: </a:t>
            </a:r>
            <a:pPr indent="0" marL="0">
              <a:buNone/>
            </a:pPr>
            <a:r>
              <a:rPr lang="en-US" sz="1150" dirty="0">
                <a:solidFill>
                  <a:srgbClr val="1A1A1A"/>
                </a:solidFill>
                <a:latin typeface="Calibri" pitchFamily="34" charset="0"/>
                <a:ea typeface="Calibri" pitchFamily="34" charset="-122"/>
                <a:cs typeface="Calibri" pitchFamily="34" charset="-120"/>
              </a:rPr>
              <a:t>No princípio Deus criou tudo com Sua sola palavra. Elohim, o Deus transcendente, tem o controle absoluto do universo. Seu poder é a base de nossa confiança.</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0D7377"/>
          </a:solidFill>
          <a:ln w="12700">
            <a:solidFill>
              <a:srgbClr val="0D7377"/>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0D7377"/>
                </a:solidFill>
                <a:latin typeface="Calibri" pitchFamily="34" charset="0"/>
                <a:ea typeface="Calibri" pitchFamily="34" charset="-122"/>
                <a:cs typeface="Calibri" pitchFamily="34" charset="-120"/>
              </a:rPr>
              <a:t>Gên. 2:7  —  </a:t>
            </a:r>
            <a:pPr indent="0" marL="0">
              <a:buNone/>
            </a:pPr>
            <a:r>
              <a:rPr lang="en-US" sz="1150" b="1" dirty="0">
                <a:solidFill>
                  <a:srgbClr val="7B1F3A"/>
                </a:solidFill>
                <a:latin typeface="Calibri" pitchFamily="34" charset="0"/>
                <a:ea typeface="Calibri" pitchFamily="34" charset="-122"/>
                <a:cs typeface="Calibri" pitchFamily="34" charset="-120"/>
              </a:rPr>
              <a:t>Deus: o Pai pessoal: </a:t>
            </a:r>
            <a:pPr indent="0" marL="0">
              <a:buNone/>
            </a:pPr>
            <a:r>
              <a:rPr lang="en-US" sz="1150" dirty="0">
                <a:solidFill>
                  <a:srgbClr val="1A1A1A"/>
                </a:solidFill>
                <a:latin typeface="Calibri" pitchFamily="34" charset="0"/>
                <a:ea typeface="Calibri" pitchFamily="34" charset="-122"/>
                <a:cs typeface="Calibri" pitchFamily="34" charset="-120"/>
              </a:rPr>
              <a:t>Yahweh formou o ser humano com Suas próprias mãos e soprou nele o fôlego de vida. O poderoso Criador deseja uma relação íntima com cada um.</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0D7377"/>
          </a:solidFill>
          <a:ln w="12700">
            <a:solidFill>
              <a:srgbClr val="0D7377"/>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0D7377"/>
                </a:solidFill>
                <a:latin typeface="Calibri" pitchFamily="34" charset="0"/>
                <a:ea typeface="Calibri" pitchFamily="34" charset="-122"/>
                <a:cs typeface="Calibri" pitchFamily="34" charset="-120"/>
              </a:rPr>
              <a:t>Mat. 1:23  —  </a:t>
            </a:r>
            <a:pPr indent="0" marL="0">
              <a:buNone/>
            </a:pPr>
            <a:r>
              <a:rPr lang="en-US" sz="1150" b="1" dirty="0">
                <a:solidFill>
                  <a:srgbClr val="7B1F3A"/>
                </a:solidFill>
                <a:latin typeface="Calibri" pitchFamily="34" charset="0"/>
                <a:ea typeface="Calibri" pitchFamily="34" charset="-122"/>
                <a:cs typeface="Calibri" pitchFamily="34" charset="-120"/>
              </a:rPr>
              <a:t>Emanuel: Deus entre nós: </a:t>
            </a:r>
            <a:pPr indent="0" marL="0">
              <a:buNone/>
            </a:pPr>
            <a:r>
              <a:rPr lang="en-US" sz="1150" dirty="0">
                <a:solidFill>
                  <a:srgbClr val="1A1A1A"/>
                </a:solidFill>
                <a:latin typeface="Calibri" pitchFamily="34" charset="0"/>
                <a:ea typeface="Calibri" pitchFamily="34" charset="-122"/>
                <a:cs typeface="Calibri" pitchFamily="34" charset="-120"/>
              </a:rPr>
              <a:t>A promessa se cumpre em Jesus: o próprio Deus vem viver entre nós. Em Cristo vemos perfeitamente como é o Pai, e essa revelação transforma nossa imagem de Deus.</a:t>
            </a:r>
            <a:endParaRPr lang="en-US" sz="1150" dirty="0"/>
          </a:p>
        </p:txBody>
      </p:sp>
      <p:sp>
        <p:nvSpPr>
          <p:cNvPr id="21" name="Shape 19"/>
          <p:cNvSpPr/>
          <p:nvPr/>
        </p:nvSpPr>
        <p:spPr>
          <a:xfrm>
            <a:off x="0" y="4800600"/>
            <a:ext cx="9144000" cy="342900"/>
          </a:xfrm>
          <a:prstGeom prst="rect">
            <a:avLst/>
          </a:prstGeom>
          <a:solidFill>
            <a:srgbClr val="7B1F3A"/>
          </a:solidFill>
          <a:ln w="12700">
            <a:solidFill>
              <a:srgbClr val="7B1F3A"/>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Esboço Lição Escola Sabatina II Trimestre 2026</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6B44"/>
          </a:solidFill>
          <a:ln w="12700">
            <a:solidFill>
              <a:srgbClr val="1A6B44"/>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3]  APLIQUE</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C8ECD4"/>
                </a:solidFill>
                <a:latin typeface="Calibri" pitchFamily="34" charset="0"/>
                <a:ea typeface="Calibri" pitchFamily="34" charset="-122"/>
                <a:cs typeface="Calibri" pitchFamily="34" charset="-120"/>
              </a:rPr>
              <a:t>— Reflexão pessoal:</a:t>
            </a:r>
            <a:endParaRPr lang="en-US" sz="1100" dirty="0"/>
          </a:p>
        </p:txBody>
      </p:sp>
      <p:sp>
        <p:nvSpPr>
          <p:cNvPr id="5" name="Shape 3"/>
          <p:cNvSpPr/>
          <p:nvPr/>
        </p:nvSpPr>
        <p:spPr>
          <a:xfrm>
            <a:off x="228600" y="768096"/>
            <a:ext cx="8686800" cy="1325880"/>
          </a:xfrm>
          <a:prstGeom prst="rect">
            <a:avLst/>
          </a:prstGeom>
          <a:solidFill>
            <a:srgbClr val="EAF7EF"/>
          </a:solidFill>
          <a:ln w="12700">
            <a:solidFill>
              <a:srgbClr val="88C5A0"/>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228600" y="768096"/>
            <a:ext cx="128016" cy="1325880"/>
          </a:xfrm>
          <a:prstGeom prst="rect">
            <a:avLst/>
          </a:prstGeom>
          <a:solidFill>
            <a:srgbClr val="1A6B44"/>
          </a:solidFill>
          <a:ln w="12700">
            <a:solidFill>
              <a:srgbClr val="1A6B44"/>
            </a:solidFill>
            <a:prstDash val="solid"/>
          </a:ln>
        </p:spPr>
      </p:sp>
      <p:sp>
        <p:nvSpPr>
          <p:cNvPr id="7" name="Text 5"/>
          <p:cNvSpPr/>
          <p:nvPr/>
        </p:nvSpPr>
        <p:spPr>
          <a:xfrm>
            <a:off x="402336" y="822960"/>
            <a:ext cx="347472" cy="329184"/>
          </a:xfrm>
          <a:prstGeom prst="rect">
            <a:avLst/>
          </a:prstGeom>
          <a:noFill/>
          <a:ln/>
        </p:spPr>
        <p:txBody>
          <a:bodyPr wrap="square" rtlCol="0" anchor="ctr"/>
          <a:lstStyle/>
          <a:p>
            <a:pPr indent="0" marL="0">
              <a:buNone/>
            </a:pPr>
            <a:r>
              <a:rPr lang="en-US" sz="1400" dirty="0">
                <a:solidFill>
                  <a:srgbClr val="1A6B44"/>
                </a:solidFill>
              </a:rPr>
              <a:t>✶</a:t>
            </a:r>
            <a:endParaRPr lang="en-US" sz="1400" dirty="0"/>
          </a:p>
        </p:txBody>
      </p:sp>
      <p:sp>
        <p:nvSpPr>
          <p:cNvPr id="8" name="Text 6"/>
          <p:cNvSpPr/>
          <p:nvPr/>
        </p:nvSpPr>
        <p:spPr>
          <a:xfrm>
            <a:off x="749808" y="795528"/>
            <a:ext cx="8046720" cy="960120"/>
          </a:xfrm>
          <a:prstGeom prst="rect">
            <a:avLst/>
          </a:prstGeom>
          <a:noFill/>
          <a:ln/>
        </p:spPr>
        <p:txBody>
          <a:bodyPr wrap="square"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"Todo o amor paterno que se haja transmitido por meio dos corações humanos, todas as fontes de ternura que se tenham aberto nas almas dos homens são como uma gota do ilimitado oceano, quando comparados com o amor infinito e inesgotável de Deus."</a:t>
            </a:r>
            <a:endParaRPr lang="en-US" sz="1200" dirty="0"/>
          </a:p>
        </p:txBody>
      </p:sp>
      <p:sp>
        <p:nvSpPr>
          <p:cNvPr id="9" name="Text 7"/>
          <p:cNvSpPr/>
          <p:nvPr/>
        </p:nvSpPr>
        <p:spPr>
          <a:xfrm>
            <a:off x="749808" y="1755648"/>
            <a:ext cx="8046720" cy="256032"/>
          </a:xfrm>
          <a:prstGeom prst="rect">
            <a:avLst/>
          </a:prstGeom>
          <a:noFill/>
          <a:ln/>
        </p:spPr>
        <p:txBody>
          <a:bodyPr wrap="square" rtlCol="0" anchor="ctr"/>
          <a:lstStyle/>
          <a:p>
            <a:pPr algn="r" indent="0" marL="0">
              <a:buNone/>
            </a:pPr>
            <a:r>
              <a:rPr lang="en-US" sz="1000" i="1" dirty="0">
                <a:solidFill>
                  <a:srgbClr val="1A6B44"/>
                </a:solidFill>
                <a:latin typeface="Calibri" pitchFamily="34" charset="0"/>
                <a:ea typeface="Calibri" pitchFamily="34" charset="-122"/>
                <a:cs typeface="Calibri" pitchFamily="34" charset="-120"/>
              </a:rPr>
              <a:t>— Ellen G. White, O Caminho a Cristo, p. 10</a:t>
            </a:r>
            <a:endParaRPr lang="en-US" sz="1000" dirty="0"/>
          </a:p>
        </p:txBody>
      </p:sp>
      <p:sp>
        <p:nvSpPr>
          <p:cNvPr id="10" name="Shape 8"/>
          <p:cNvSpPr/>
          <p:nvPr/>
        </p:nvSpPr>
        <p:spPr>
          <a:xfrm>
            <a:off x="228600" y="2148840"/>
            <a:ext cx="8686800" cy="832104"/>
          </a:xfrm>
          <a:prstGeom prst="rect">
            <a:avLst/>
          </a:prstGeom>
          <a:solidFill>
            <a:srgbClr val="FFFFFF"/>
          </a:solidFill>
          <a:ln w="12700">
            <a:solidFill>
              <a:srgbClr val="88C5A0"/>
            </a:solidFill>
            <a:prstDash val="solid"/>
          </a:ln>
          <a:effectLst>
            <a:outerShdw sx="100000" sy="100000" kx="0" ky="0" algn="bl" rotWithShape="0" blurRad="63500" dist="25400" dir="8100000">
              <a:srgbClr val="000000">
                <a:alpha val="12000"/>
              </a:srgbClr>
            </a:outerShdw>
          </a:effectLst>
        </p:spPr>
      </p:sp>
      <p:sp>
        <p:nvSpPr>
          <p:cNvPr id="11" name="Shape 9"/>
          <p:cNvSpPr/>
          <p:nvPr/>
        </p:nvSpPr>
        <p:spPr>
          <a:xfrm>
            <a:off x="228600" y="2148840"/>
            <a:ext cx="128016" cy="832104"/>
          </a:xfrm>
          <a:prstGeom prst="rect">
            <a:avLst/>
          </a:prstGeom>
          <a:solidFill>
            <a:srgbClr val="1A6B44"/>
          </a:solidFill>
          <a:ln w="12700">
            <a:solidFill>
              <a:srgbClr val="1A6B44"/>
            </a:solidFill>
            <a:prstDash val="solid"/>
          </a:ln>
        </p:spPr>
      </p:sp>
      <p:sp>
        <p:nvSpPr>
          <p:cNvPr id="12" name="Text 10"/>
          <p:cNvSpPr/>
          <p:nvPr/>
        </p:nvSpPr>
        <p:spPr>
          <a:xfrm>
            <a:off x="420624" y="2221992"/>
            <a:ext cx="8366760" cy="685800"/>
          </a:xfrm>
          <a:prstGeom prst="rect">
            <a:avLst/>
          </a:prstGeom>
          <a:noFill/>
          <a:ln/>
        </p:spPr>
        <p:txBody>
          <a:bodyPr wrap="square" rtlCol="0" anchor="ctr"/>
          <a:lstStyle/>
          <a:p>
            <a:pPr indent="0" marL="0">
              <a:buNone/>
            </a:pPr>
            <a:r>
              <a:rPr lang="en-US" sz="1300" b="1" dirty="0">
                <a:solidFill>
                  <a:srgbClr val="1A6B44"/>
                </a:solidFill>
                <a:latin typeface="Calibri" pitchFamily="34" charset="0"/>
                <a:ea typeface="Calibri" pitchFamily="34" charset="-122"/>
                <a:cs typeface="Calibri" pitchFamily="34" charset="-120"/>
              </a:rPr>
              <a:t>1.  </a:t>
            </a:r>
            <a:pPr indent="0" marL="0">
              <a:buNone/>
            </a:pPr>
            <a:r>
              <a:rPr lang="en-US" sz="1250" b="1" dirty="0">
                <a:solidFill>
                  <a:srgbClr val="1A1A1A"/>
                </a:solidFill>
                <a:latin typeface="Calibri" pitchFamily="34" charset="0"/>
                <a:ea typeface="Calibri" pitchFamily="34" charset="-122"/>
                <a:cs typeface="Calibri" pitchFamily="34" charset="-120"/>
              </a:rPr>
              <a:t>O que mudaria em sua conduta diária se você visualizasse claramente que vive na presença de um Deus completamente santo?</a:t>
            </a:r>
            <a:endParaRPr lang="en-US" sz="1300" dirty="0"/>
          </a:p>
        </p:txBody>
      </p:sp>
      <p:sp>
        <p:nvSpPr>
          <p:cNvPr id="13" name="Shape 11"/>
          <p:cNvSpPr/>
          <p:nvPr/>
        </p:nvSpPr>
        <p:spPr>
          <a:xfrm>
            <a:off x="228600" y="3017520"/>
            <a:ext cx="8686800" cy="832104"/>
          </a:xfrm>
          <a:prstGeom prst="rect">
            <a:avLst/>
          </a:prstGeom>
          <a:solidFill>
            <a:srgbClr val="EAF7EF"/>
          </a:solidFill>
          <a:ln w="12700">
            <a:solidFill>
              <a:srgbClr val="88C5A0"/>
            </a:solidFill>
            <a:prstDash val="solid"/>
          </a:ln>
          <a:effectLst>
            <a:outerShdw sx="100000" sy="100000" kx="0" ky="0" algn="bl" rotWithShape="0" blurRad="63500" dist="25400" dir="8100000">
              <a:srgbClr val="000000">
                <a:alpha val="12000"/>
              </a:srgbClr>
            </a:outerShdw>
          </a:effectLst>
        </p:spPr>
      </p:sp>
      <p:sp>
        <p:nvSpPr>
          <p:cNvPr id="14" name="Shape 12"/>
          <p:cNvSpPr/>
          <p:nvPr/>
        </p:nvSpPr>
        <p:spPr>
          <a:xfrm>
            <a:off x="228600" y="3017520"/>
            <a:ext cx="128016" cy="832104"/>
          </a:xfrm>
          <a:prstGeom prst="rect">
            <a:avLst/>
          </a:prstGeom>
          <a:solidFill>
            <a:srgbClr val="1A6B44"/>
          </a:solidFill>
          <a:ln w="12700">
            <a:solidFill>
              <a:srgbClr val="1A6B44"/>
            </a:solidFill>
            <a:prstDash val="solid"/>
          </a:ln>
        </p:spPr>
      </p:sp>
      <p:sp>
        <p:nvSpPr>
          <p:cNvPr id="15" name="Text 13"/>
          <p:cNvSpPr/>
          <p:nvPr/>
        </p:nvSpPr>
        <p:spPr>
          <a:xfrm>
            <a:off x="420624" y="3090672"/>
            <a:ext cx="8366760" cy="685800"/>
          </a:xfrm>
          <a:prstGeom prst="rect">
            <a:avLst/>
          </a:prstGeom>
          <a:noFill/>
          <a:ln/>
        </p:spPr>
        <p:txBody>
          <a:bodyPr wrap="square" rtlCol="0" anchor="ctr"/>
          <a:lstStyle/>
          <a:p>
            <a:pPr indent="0" marL="0">
              <a:buNone/>
            </a:pPr>
            <a:r>
              <a:rPr lang="en-US" sz="1300" b="1" dirty="0">
                <a:solidFill>
                  <a:srgbClr val="1A6B44"/>
                </a:solidFill>
                <a:latin typeface="Calibri" pitchFamily="34" charset="0"/>
                <a:ea typeface="Calibri" pitchFamily="34" charset="-122"/>
                <a:cs typeface="Calibri" pitchFamily="34" charset="-120"/>
              </a:rPr>
              <a:t>2.  </a:t>
            </a:r>
            <a:pPr indent="0" marL="0">
              <a:buNone/>
            </a:pPr>
            <a:r>
              <a:rPr lang="en-US" sz="1250" b="1" dirty="0">
                <a:solidFill>
                  <a:srgbClr val="1A1A1A"/>
                </a:solidFill>
                <a:latin typeface="Calibri" pitchFamily="34" charset="0"/>
                <a:ea typeface="Calibri" pitchFamily="34" charset="-122"/>
                <a:cs typeface="Calibri" pitchFamily="34" charset="-120"/>
              </a:rPr>
              <a:t>Em que medida o amor de Deus substituiu em sua experiência o temor ou a obrigação como motivação para servi-Lo?</a:t>
            </a:r>
            <a:endParaRPr lang="en-US" sz="1300" dirty="0"/>
          </a:p>
        </p:txBody>
      </p:sp>
      <p:sp>
        <p:nvSpPr>
          <p:cNvPr id="16" name="Shape 14"/>
          <p:cNvSpPr/>
          <p:nvPr/>
        </p:nvSpPr>
        <p:spPr>
          <a:xfrm>
            <a:off x="228600" y="3886200"/>
            <a:ext cx="8686800" cy="832104"/>
          </a:xfrm>
          <a:prstGeom prst="rect">
            <a:avLst/>
          </a:prstGeom>
          <a:solidFill>
            <a:srgbClr val="FFFFFF"/>
          </a:solidFill>
          <a:ln w="12700">
            <a:solidFill>
              <a:srgbClr val="88C5A0"/>
            </a:solidFill>
            <a:prstDash val="solid"/>
          </a:ln>
          <a:effectLst>
            <a:outerShdw sx="100000" sy="100000" kx="0" ky="0" algn="bl" rotWithShape="0" blurRad="63500" dist="25400" dir="8100000">
              <a:srgbClr val="000000">
                <a:alpha val="12000"/>
              </a:srgbClr>
            </a:outerShdw>
          </a:effectLst>
        </p:spPr>
      </p:sp>
      <p:sp>
        <p:nvSpPr>
          <p:cNvPr id="17" name="Shape 15"/>
          <p:cNvSpPr/>
          <p:nvPr/>
        </p:nvSpPr>
        <p:spPr>
          <a:xfrm>
            <a:off x="228600" y="3886200"/>
            <a:ext cx="128016" cy="832104"/>
          </a:xfrm>
          <a:prstGeom prst="rect">
            <a:avLst/>
          </a:prstGeom>
          <a:solidFill>
            <a:srgbClr val="1A6B44"/>
          </a:solidFill>
          <a:ln w="12700">
            <a:solidFill>
              <a:srgbClr val="1A6B44"/>
            </a:solidFill>
            <a:prstDash val="solid"/>
          </a:ln>
        </p:spPr>
      </p:sp>
      <p:sp>
        <p:nvSpPr>
          <p:cNvPr id="18" name="Text 16"/>
          <p:cNvSpPr/>
          <p:nvPr/>
        </p:nvSpPr>
        <p:spPr>
          <a:xfrm>
            <a:off x="420624" y="3959352"/>
            <a:ext cx="8366760" cy="685800"/>
          </a:xfrm>
          <a:prstGeom prst="rect">
            <a:avLst/>
          </a:prstGeom>
          <a:noFill/>
          <a:ln/>
        </p:spPr>
        <p:txBody>
          <a:bodyPr wrap="square" rtlCol="0" anchor="ctr"/>
          <a:lstStyle/>
          <a:p>
            <a:pPr indent="0" marL="0">
              <a:buNone/>
            </a:pPr>
            <a:r>
              <a:rPr lang="en-US" sz="1300" b="1" dirty="0">
                <a:solidFill>
                  <a:srgbClr val="1A6B44"/>
                </a:solidFill>
                <a:latin typeface="Calibri" pitchFamily="34" charset="0"/>
                <a:ea typeface="Calibri" pitchFamily="34" charset="-122"/>
                <a:cs typeface="Calibri" pitchFamily="34" charset="-120"/>
              </a:rPr>
              <a:t>3.  </a:t>
            </a:r>
            <a:pPr indent="0" marL="0">
              <a:buNone/>
            </a:pPr>
            <a:r>
              <a:rPr lang="en-US" sz="1250" b="1" dirty="0">
                <a:solidFill>
                  <a:srgbClr val="1A1A1A"/>
                </a:solidFill>
                <a:latin typeface="Calibri" pitchFamily="34" charset="0"/>
                <a:ea typeface="Calibri" pitchFamily="34" charset="-122"/>
                <a:cs typeface="Calibri" pitchFamily="34" charset="-120"/>
              </a:rPr>
              <a:t>Como muda sua oração e sua vida diária o saber que o mesmo Deus que criou o universo está com você como Emanuel?</a:t>
            </a:r>
            <a:endParaRPr lang="en-US" sz="1300" dirty="0"/>
          </a:p>
        </p:txBody>
      </p:sp>
      <p:sp>
        <p:nvSpPr>
          <p:cNvPr id="19" name="Shape 17"/>
          <p:cNvSpPr/>
          <p:nvPr/>
        </p:nvSpPr>
        <p:spPr>
          <a:xfrm>
            <a:off x="0" y="4800600"/>
            <a:ext cx="9144000" cy="342900"/>
          </a:xfrm>
          <a:prstGeom prst="rect">
            <a:avLst/>
          </a:prstGeom>
          <a:solidFill>
            <a:srgbClr val="7B1F3A"/>
          </a:solidFill>
          <a:ln w="12700">
            <a:solidFill>
              <a:srgbClr val="7B1F3A"/>
            </a:solidFill>
            <a:prstDash val="solid"/>
          </a:ln>
        </p:spPr>
      </p:sp>
      <p:sp>
        <p:nvSpPr>
          <p:cNvPr id="20" name="Text 18"/>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Esboço Lição Escola Sabatina II Trimestre 2026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7B1F3A"/>
        </a:solidFill>
      </p:bgPr>
    </p:bg>
    <p:spTree>
      <p:nvGrpSpPr>
        <p:cNvPr id="1" name=""/>
        <p:cNvGrpSpPr/>
        <p:nvPr/>
      </p:nvGrpSpPr>
      <p:grpSpPr>
        <a:xfrm>
          <a:off x="0" y="0"/>
          <a:ext cx="0" cy="0"/>
          <a:chOff x="0" y="0"/>
          <a:chExt cx="0" cy="0"/>
        </a:xfrm>
      </p:grpSpPr>
      <p:sp>
        <p:nvSpPr>
          <p:cNvPr id="2" name="Shape 0"/>
          <p:cNvSpPr/>
          <p:nvPr/>
        </p:nvSpPr>
        <p:spPr>
          <a:xfrm>
            <a:off x="6949440" y="0"/>
            <a:ext cx="2194560" cy="2011680"/>
          </a:xfrm>
          <a:prstGeom prst="rect">
            <a:avLst/>
          </a:prstGeom>
          <a:solidFill>
            <a:srgbClr val="0D7377">
              <a:alpha val="40000"/>
            </a:srgbClr>
          </a:solidFill>
          <a:ln w="12700">
            <a:solidFill>
              <a:srgbClr val="0D7377">
                <a:alpha val="40000"/>
              </a:srgbClr>
            </a:solidFill>
            <a:prstDash val="solid"/>
          </a:ln>
        </p:spPr>
      </p:sp>
      <p:sp>
        <p:nvSpPr>
          <p:cNvPr id="3" name="Shape 1"/>
          <p:cNvSpPr/>
          <p:nvPr/>
        </p:nvSpPr>
        <p:spPr>
          <a:xfrm>
            <a:off x="-45720" y="3291840"/>
            <a:ext cx="1645920" cy="1920240"/>
          </a:xfrm>
          <a:prstGeom prst="rect">
            <a:avLst/>
          </a:prstGeom>
          <a:solidFill>
            <a:srgbClr val="0D7377">
              <a:alpha val="30000"/>
            </a:srgbClr>
          </a:solidFill>
          <a:ln w="12700">
            <a:solidFill>
              <a:srgbClr val="0D7377">
                <a:alpha val="30000"/>
              </a:srgbClr>
            </a:solidFill>
            <a:prstDash val="solid"/>
          </a:ln>
        </p:spPr>
      </p:sp>
      <p:sp>
        <p:nvSpPr>
          <p:cNvPr id="4" name="Shape 2"/>
          <p:cNvSpPr/>
          <p:nvPr/>
        </p:nvSpPr>
        <p:spPr>
          <a:xfrm>
            <a:off x="347472" y="256032"/>
            <a:ext cx="2834640" cy="438912"/>
          </a:xfrm>
          <a:prstGeom prst="rect">
            <a:avLst/>
          </a:prstGeom>
          <a:solidFill>
            <a:srgbClr val="0D7377"/>
          </a:solidFill>
          <a:ln w="12700">
            <a:solidFill>
              <a:srgbClr val="0D7377"/>
            </a:solidFill>
            <a:prstDash val="solid"/>
          </a:ln>
        </p:spPr>
      </p:sp>
      <p:sp>
        <p:nvSpPr>
          <p:cNvPr id="5" name="Text 3"/>
          <p:cNvSpPr/>
          <p:nvPr/>
        </p:nvSpPr>
        <p:spPr>
          <a:xfrm>
            <a:off x="347472" y="256032"/>
            <a:ext cx="283464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[FASE 4]  CRIE  — MINHA DECISÃO</a:t>
            </a:r>
            <a:endParaRPr lang="en-US" sz="1050" dirty="0"/>
          </a:p>
        </p:txBody>
      </p:sp>
      <p:sp>
        <p:nvSpPr>
          <p:cNvPr id="6" name="Shape 4"/>
          <p:cNvSpPr/>
          <p:nvPr/>
        </p:nvSpPr>
        <p:spPr>
          <a:xfrm>
            <a:off x="347472" y="804672"/>
            <a:ext cx="118872" cy="3886200"/>
          </a:xfrm>
          <a:prstGeom prst="rect">
            <a:avLst/>
          </a:prstGeom>
          <a:solidFill>
            <a:srgbClr val="0D7377"/>
          </a:solidFill>
          <a:ln w="12700">
            <a:solidFill>
              <a:srgbClr val="0D7377"/>
            </a:solidFill>
            <a:prstDash val="solid"/>
          </a:ln>
        </p:spPr>
      </p:sp>
      <p:sp>
        <p:nvSpPr>
          <p:cNvPr id="7" name="Text 5"/>
          <p:cNvSpPr/>
          <p:nvPr/>
        </p:nvSpPr>
        <p:spPr>
          <a:xfrm>
            <a:off x="566928" y="822960"/>
            <a:ext cx="8046720" cy="411480"/>
          </a:xfrm>
          <a:prstGeom prst="rect">
            <a:avLst/>
          </a:prstGeom>
          <a:noFill/>
          <a:ln/>
        </p:spPr>
        <p:txBody>
          <a:bodyPr wrap="square" rtlCol="0" anchor="ctr"/>
          <a:lstStyle/>
          <a:p>
            <a:pPr indent="0" marL="0">
              <a:buNone/>
            </a:pPr>
            <a:r>
              <a:rPr lang="en-US" sz="1400" i="1" dirty="0">
                <a:solidFill>
                  <a:srgbClr val="D0E4F5"/>
                </a:solidFill>
                <a:latin typeface="Calibri" pitchFamily="34" charset="0"/>
                <a:ea typeface="Calibri" pitchFamily="34" charset="-122"/>
                <a:cs typeface="Calibri" pitchFamily="34" charset="-120"/>
              </a:rPr>
              <a:t>Marque sua resposta honesta para esta semana:</a:t>
            </a:r>
            <a:endParaRPr lang="en-US" sz="1400" dirty="0"/>
          </a:p>
        </p:txBody>
      </p:sp>
      <p:sp>
        <p:nvSpPr>
          <p:cNvPr id="8" name="Shape 6"/>
          <p:cNvSpPr/>
          <p:nvPr/>
        </p:nvSpPr>
        <p:spPr>
          <a:xfrm>
            <a:off x="566928" y="1325880"/>
            <a:ext cx="8229600" cy="996696"/>
          </a:xfrm>
          <a:prstGeom prst="rect">
            <a:avLst/>
          </a:prstGeom>
          <a:solidFill>
            <a:srgbClr val="FFFFFF">
              <a:alpha val="92000"/>
            </a:srgbClr>
          </a:solidFill>
          <a:ln w="12700">
            <a:solidFill>
              <a:srgbClr val="0D7377">
                <a:alpha val="60000"/>
              </a:srgbClr>
            </a:solidFill>
            <a:prstDash val="solid"/>
          </a:ln>
        </p:spPr>
      </p:sp>
      <p:sp>
        <p:nvSpPr>
          <p:cNvPr id="9" name="Shape 7"/>
          <p:cNvSpPr/>
          <p:nvPr/>
        </p:nvSpPr>
        <p:spPr>
          <a:xfrm>
            <a:off x="713232" y="1453896"/>
            <a:ext cx="292608" cy="292608"/>
          </a:xfrm>
          <a:prstGeom prst="ellipse">
            <a:avLst/>
          </a:prstGeom>
          <a:solidFill>
            <a:srgbClr val="0D7377"/>
          </a:solidFill>
          <a:ln w="12700">
            <a:solidFill>
              <a:srgbClr val="0D7377"/>
            </a:solidFill>
            <a:prstDash val="solid"/>
          </a:ln>
        </p:spPr>
      </p:sp>
      <p:sp>
        <p:nvSpPr>
          <p:cNvPr id="10" name="Text 8"/>
          <p:cNvSpPr/>
          <p:nvPr/>
        </p:nvSpPr>
        <p:spPr>
          <a:xfrm>
            <a:off x="713232" y="14538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p:nvPr/>
        </p:nvSpPr>
        <p:spPr>
          <a:xfrm>
            <a:off x="1078992" y="1399032"/>
            <a:ext cx="6583680"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Esta semana estudarei pelo menos um atributo do caráter de Deus em Sua Palavra para conhecê-Lo melhor.</a:t>
            </a:r>
            <a:endParaRPr lang="en-US" sz="1250" dirty="0"/>
          </a:p>
        </p:txBody>
      </p:sp>
      <p:sp>
        <p:nvSpPr>
          <p:cNvPr id="12" name="Text 10"/>
          <p:cNvSpPr/>
          <p:nvPr/>
        </p:nvSpPr>
        <p:spPr>
          <a:xfrm>
            <a:off x="7680960" y="1399032"/>
            <a:ext cx="1097280" cy="850392"/>
          </a:xfrm>
          <a:prstGeom prst="rect">
            <a:avLst/>
          </a:prstGeom>
          <a:noFill/>
          <a:ln/>
        </p:spPr>
        <p:txBody>
          <a:bodyPr wrap="square" rtlCol="0" anchor="ctr"/>
          <a:lstStyle/>
          <a:p>
            <a:pPr algn="r" indent="0" marL="0">
              <a:buNone/>
            </a:pPr>
            <a:r>
              <a:rPr lang="en-US" sz="1100" b="1" dirty="0">
                <a:solidFill>
                  <a:srgbClr val="0D7377"/>
                </a:solidFill>
                <a:latin typeface="Calibri" pitchFamily="34" charset="0"/>
                <a:ea typeface="Calibri" pitchFamily="34" charset="-122"/>
                <a:cs typeface="Calibri" pitchFamily="34" charset="-120"/>
              </a:rPr>
              <a:t>☐ Sim  ☐ Não</a:t>
            </a:r>
            <a:endParaRPr lang="en-US" sz="1100" dirty="0"/>
          </a:p>
        </p:txBody>
      </p:sp>
      <p:sp>
        <p:nvSpPr>
          <p:cNvPr id="13" name="Shape 11"/>
          <p:cNvSpPr/>
          <p:nvPr/>
        </p:nvSpPr>
        <p:spPr>
          <a:xfrm>
            <a:off x="566928" y="2377440"/>
            <a:ext cx="8229600" cy="996696"/>
          </a:xfrm>
          <a:prstGeom prst="rect">
            <a:avLst/>
          </a:prstGeom>
          <a:solidFill>
            <a:srgbClr val="E0F4F4">
              <a:alpha val="92000"/>
            </a:srgbClr>
          </a:solidFill>
          <a:ln w="12700">
            <a:solidFill>
              <a:srgbClr val="0D7377">
                <a:alpha val="60000"/>
              </a:srgbClr>
            </a:solidFill>
            <a:prstDash val="solid"/>
          </a:ln>
        </p:spPr>
      </p:sp>
      <p:sp>
        <p:nvSpPr>
          <p:cNvPr id="14" name="Shape 12"/>
          <p:cNvSpPr/>
          <p:nvPr/>
        </p:nvSpPr>
        <p:spPr>
          <a:xfrm>
            <a:off x="713232" y="2505456"/>
            <a:ext cx="292608" cy="292608"/>
          </a:xfrm>
          <a:prstGeom prst="ellipse">
            <a:avLst/>
          </a:prstGeom>
          <a:solidFill>
            <a:srgbClr val="0D7377"/>
          </a:solidFill>
          <a:ln w="12700">
            <a:solidFill>
              <a:srgbClr val="0D7377"/>
            </a:solidFill>
            <a:prstDash val="solid"/>
          </a:ln>
        </p:spPr>
      </p:sp>
      <p:sp>
        <p:nvSpPr>
          <p:cNvPr id="15" name="Text 13"/>
          <p:cNvSpPr/>
          <p:nvPr/>
        </p:nvSpPr>
        <p:spPr>
          <a:xfrm>
            <a:off x="713232" y="250545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p:nvPr/>
        </p:nvSpPr>
        <p:spPr>
          <a:xfrm>
            <a:off x="1078992" y="2450592"/>
            <a:ext cx="6583680"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Substituirei uma imagem distorcida de Deus pela imagem que a Bíblia revela do Seu amor e santidade.</a:t>
            </a:r>
            <a:endParaRPr lang="en-US" sz="1250" dirty="0"/>
          </a:p>
        </p:txBody>
      </p:sp>
      <p:sp>
        <p:nvSpPr>
          <p:cNvPr id="17" name="Text 15"/>
          <p:cNvSpPr/>
          <p:nvPr/>
        </p:nvSpPr>
        <p:spPr>
          <a:xfrm>
            <a:off x="7680960" y="2450592"/>
            <a:ext cx="1097280" cy="850392"/>
          </a:xfrm>
          <a:prstGeom prst="rect">
            <a:avLst/>
          </a:prstGeom>
          <a:noFill/>
          <a:ln/>
        </p:spPr>
        <p:txBody>
          <a:bodyPr wrap="square" rtlCol="0" anchor="ctr"/>
          <a:lstStyle/>
          <a:p>
            <a:pPr algn="r" indent="0" marL="0">
              <a:buNone/>
            </a:pPr>
            <a:r>
              <a:rPr lang="en-US" sz="1100" b="1" dirty="0">
                <a:solidFill>
                  <a:srgbClr val="0D7377"/>
                </a:solidFill>
                <a:latin typeface="Calibri" pitchFamily="34" charset="0"/>
                <a:ea typeface="Calibri" pitchFamily="34" charset="-122"/>
                <a:cs typeface="Calibri" pitchFamily="34" charset="-120"/>
              </a:rPr>
              <a:t>☐ Sim  ☐ Não</a:t>
            </a:r>
            <a:endParaRPr lang="en-US" sz="1100" dirty="0"/>
          </a:p>
        </p:txBody>
      </p:sp>
      <p:sp>
        <p:nvSpPr>
          <p:cNvPr id="18" name="Shape 16"/>
          <p:cNvSpPr/>
          <p:nvPr/>
        </p:nvSpPr>
        <p:spPr>
          <a:xfrm>
            <a:off x="566928" y="3429000"/>
            <a:ext cx="8229600" cy="996696"/>
          </a:xfrm>
          <a:prstGeom prst="rect">
            <a:avLst/>
          </a:prstGeom>
          <a:solidFill>
            <a:srgbClr val="FFFFFF">
              <a:alpha val="92000"/>
            </a:srgbClr>
          </a:solidFill>
          <a:ln w="12700">
            <a:solidFill>
              <a:srgbClr val="0D7377">
                <a:alpha val="60000"/>
              </a:srgbClr>
            </a:solidFill>
            <a:prstDash val="solid"/>
          </a:ln>
        </p:spPr>
      </p:sp>
      <p:sp>
        <p:nvSpPr>
          <p:cNvPr id="19" name="Shape 17"/>
          <p:cNvSpPr/>
          <p:nvPr/>
        </p:nvSpPr>
        <p:spPr>
          <a:xfrm>
            <a:off x="713232" y="3557016"/>
            <a:ext cx="292608" cy="292608"/>
          </a:xfrm>
          <a:prstGeom prst="ellipse">
            <a:avLst/>
          </a:prstGeom>
          <a:solidFill>
            <a:srgbClr val="0D7377"/>
          </a:solidFill>
          <a:ln w="12700">
            <a:solidFill>
              <a:srgbClr val="0D7377"/>
            </a:solidFill>
            <a:prstDash val="solid"/>
          </a:ln>
        </p:spPr>
      </p:sp>
      <p:sp>
        <p:nvSpPr>
          <p:cNvPr id="20" name="Text 18"/>
          <p:cNvSpPr/>
          <p:nvPr/>
        </p:nvSpPr>
        <p:spPr>
          <a:xfrm>
            <a:off x="713232" y="35570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9"/>
          <p:cNvSpPr/>
          <p:nvPr/>
        </p:nvSpPr>
        <p:spPr>
          <a:xfrm>
            <a:off x="1078992" y="3502152"/>
            <a:ext cx="6583680"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Compartilharei com alguém uma experiência pessoal de como Deus Se manifestou como Emanuel em minha vida.</a:t>
            </a:r>
            <a:endParaRPr lang="en-US" sz="1250" dirty="0"/>
          </a:p>
        </p:txBody>
      </p:sp>
      <p:sp>
        <p:nvSpPr>
          <p:cNvPr id="22" name="Text 20"/>
          <p:cNvSpPr/>
          <p:nvPr/>
        </p:nvSpPr>
        <p:spPr>
          <a:xfrm>
            <a:off x="7680960" y="3502152"/>
            <a:ext cx="1097280" cy="850392"/>
          </a:xfrm>
          <a:prstGeom prst="rect">
            <a:avLst/>
          </a:prstGeom>
          <a:noFill/>
          <a:ln/>
        </p:spPr>
        <p:txBody>
          <a:bodyPr wrap="square" rtlCol="0" anchor="ctr"/>
          <a:lstStyle/>
          <a:p>
            <a:pPr algn="r" indent="0" marL="0">
              <a:buNone/>
            </a:pPr>
            <a:r>
              <a:rPr lang="en-US" sz="1100" b="1" dirty="0">
                <a:solidFill>
                  <a:srgbClr val="0D7377"/>
                </a:solidFill>
                <a:latin typeface="Calibri" pitchFamily="34" charset="0"/>
                <a:ea typeface="Calibri" pitchFamily="34" charset="-122"/>
                <a:cs typeface="Calibri" pitchFamily="34" charset="-120"/>
              </a:rPr>
              <a:t>☐ Sim  ☐ Não</a:t>
            </a:r>
            <a:endParaRPr lang="en-US" sz="1100" dirty="0"/>
          </a:p>
        </p:txBody>
      </p:sp>
      <p:sp>
        <p:nvSpPr>
          <p:cNvPr id="23" name="Shape 21"/>
          <p:cNvSpPr/>
          <p:nvPr/>
        </p:nvSpPr>
        <p:spPr>
          <a:xfrm>
            <a:off x="0" y="4800600"/>
            <a:ext cx="9144000" cy="342900"/>
          </a:xfrm>
          <a:prstGeom prst="rect">
            <a:avLst/>
          </a:prstGeom>
          <a:solidFill>
            <a:srgbClr val="7B1F3A"/>
          </a:solidFill>
          <a:ln w="12700">
            <a:solidFill>
              <a:srgbClr val="7B1F3A"/>
            </a:solidFill>
            <a:prstDash val="solid"/>
          </a:ln>
        </p:spPr>
      </p:sp>
      <p:sp>
        <p:nvSpPr>
          <p:cNvPr id="24" name="Text 22"/>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Esboço Lição Escola Sabatina II Trimestre 2026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7B1F3A"/>
        </a:solidFill>
      </p:bgPr>
    </p:bg>
    <p:spTree>
      <p:nvGrpSpPr>
        <p:cNvPr id="1" name=""/>
        <p:cNvGrpSpPr/>
        <p:nvPr/>
      </p:nvGrpSpPr>
      <p:grpSpPr>
        <a:xfrm>
          <a:off x="0" y="0"/>
          <a:ext cx="0" cy="0"/>
          <a:chOff x="0" y="0"/>
          <a:chExt cx="0" cy="0"/>
        </a:xfrm>
      </p:grpSpPr>
      <p:sp>
        <p:nvSpPr>
          <p:cNvPr id="2" name="Shape 0"/>
          <p:cNvSpPr/>
          <p:nvPr/>
        </p:nvSpPr>
        <p:spPr>
          <a:xfrm>
            <a:off x="7178040" y="0"/>
            <a:ext cx="2011680" cy="1828800"/>
          </a:xfrm>
          <a:prstGeom prst="rect">
            <a:avLst/>
          </a:prstGeom>
          <a:solidFill>
            <a:srgbClr val="0D7377">
              <a:alpha val="40000"/>
            </a:srgbClr>
          </a:solidFill>
          <a:ln w="12700">
            <a:solidFill>
              <a:srgbClr val="0D7377">
                <a:alpha val="40000"/>
              </a:srgbClr>
            </a:solidFill>
            <a:prstDash val="solid"/>
          </a:ln>
        </p:spPr>
      </p:sp>
      <p:sp>
        <p:nvSpPr>
          <p:cNvPr id="3" name="Shape 1"/>
          <p:cNvSpPr/>
          <p:nvPr/>
        </p:nvSpPr>
        <p:spPr>
          <a:xfrm>
            <a:off x="7818120" y="1691640"/>
            <a:ext cx="1371600" cy="1371600"/>
          </a:xfrm>
          <a:prstGeom prst="rect">
            <a:avLst/>
          </a:prstGeom>
          <a:solidFill>
            <a:srgbClr val="0D7377">
              <a:alpha val="25000"/>
            </a:srgbClr>
          </a:solidFill>
          <a:ln w="12700">
            <a:solidFill>
              <a:srgbClr val="0D7377">
                <a:alpha val="25000"/>
              </a:srgbClr>
            </a:solidFill>
            <a:prstDash val="solid"/>
          </a:ln>
        </p:spPr>
      </p:sp>
      <p:sp>
        <p:nvSpPr>
          <p:cNvPr id="4" name="Shape 2"/>
          <p:cNvSpPr/>
          <p:nvPr/>
        </p:nvSpPr>
        <p:spPr>
          <a:xfrm>
            <a:off x="-45720" y="3520440"/>
            <a:ext cx="1920240" cy="1783080"/>
          </a:xfrm>
          <a:prstGeom prst="rect">
            <a:avLst/>
          </a:prstGeom>
          <a:solidFill>
            <a:srgbClr val="0D7377">
              <a:alpha val="30000"/>
            </a:srgbClr>
          </a:solidFill>
          <a:ln w="12700">
            <a:solidFill>
              <a:srgbClr val="0D7377">
                <a:alpha val="30000"/>
              </a:srgbClr>
            </a:solidFill>
            <a:prstDash val="solid"/>
          </a:ln>
        </p:spPr>
      </p:sp>
      <p:sp>
        <p:nvSpPr>
          <p:cNvPr id="5" name="Shape 3"/>
          <p:cNvSpPr/>
          <p:nvPr/>
        </p:nvSpPr>
        <p:spPr>
          <a:xfrm>
            <a:off x="438912" y="1005840"/>
            <a:ext cx="118872" cy="2423160"/>
          </a:xfrm>
          <a:prstGeom prst="rect">
            <a:avLst/>
          </a:prstGeom>
          <a:solidFill>
            <a:srgbClr val="0D7377"/>
          </a:solidFill>
          <a:ln w="12700">
            <a:solidFill>
              <a:srgbClr val="0D7377"/>
            </a:solidFill>
            <a:prstDash val="solid"/>
          </a:ln>
        </p:spPr>
      </p:sp>
      <p:sp>
        <p:nvSpPr>
          <p:cNvPr id="6" name="Text 4"/>
          <p:cNvSpPr/>
          <p:nvPr/>
        </p:nvSpPr>
        <p:spPr>
          <a:xfrm>
            <a:off x="658368" y="822960"/>
            <a:ext cx="7772400" cy="1463040"/>
          </a:xfrm>
          <a:prstGeom prst="rect">
            <a:avLst/>
          </a:prstGeom>
          <a:noFill/>
          <a:ln/>
        </p:spPr>
        <p:txBody>
          <a:bodyPr wrap="square" rtlCol="0" anchor="ctr"/>
          <a:lstStyle/>
          <a:p>
            <a:pPr indent="0" marL="0">
              <a:buNone/>
            </a:pPr>
            <a:r>
              <a:rPr lang="en-US" sz="6600" b="1" dirty="0">
                <a:solidFill>
                  <a:srgbClr val="FFFFFF"/>
                </a:solidFill>
                <a:latin typeface="Calibri" pitchFamily="34" charset="0"/>
                <a:ea typeface="Calibri" pitchFamily="34" charset="-122"/>
                <a:cs typeface="Calibri" pitchFamily="34" charset="-120"/>
              </a:rPr>
              <a:t>Obrigado</a:t>
            </a:r>
            <a:endParaRPr lang="en-US" sz="6600" dirty="0"/>
          </a:p>
        </p:txBody>
      </p:sp>
      <p:sp>
        <p:nvSpPr>
          <p:cNvPr id="7" name="Text 5"/>
          <p:cNvSpPr/>
          <p:nvPr/>
        </p:nvSpPr>
        <p:spPr>
          <a:xfrm>
            <a:off x="658368" y="2423160"/>
            <a:ext cx="7772400" cy="594360"/>
          </a:xfrm>
          <a:prstGeom prst="rect">
            <a:avLst/>
          </a:prstGeom>
          <a:noFill/>
          <a:ln/>
        </p:spPr>
        <p:txBody>
          <a:bodyPr wrap="square" rtlCol="0" anchor="ctr"/>
          <a:lstStyle/>
          <a:p>
            <a:pPr indent="0" marL="0">
              <a:buNone/>
            </a:pPr>
            <a:r>
              <a:rPr lang="en-US" sz="2200" b="1" dirty="0">
                <a:solidFill>
                  <a:srgbClr val="0D7377"/>
                </a:solidFill>
                <a:latin typeface="Calibri" pitchFamily="34" charset="0"/>
                <a:ea typeface="Calibri" pitchFamily="34" charset="-122"/>
                <a:cs typeface="Calibri" pitchFamily="34" charset="-120"/>
              </a:rPr>
              <a:t>Dr. Tito Goicochea M.</a:t>
            </a:r>
            <a:endParaRPr lang="en-US" sz="2200" dirty="0"/>
          </a:p>
        </p:txBody>
      </p:sp>
      <p:sp>
        <p:nvSpPr>
          <p:cNvPr id="8" name="Text 6"/>
          <p:cNvSpPr/>
          <p:nvPr/>
        </p:nvSpPr>
        <p:spPr>
          <a:xfrm>
            <a:off x="658368" y="3063240"/>
            <a:ext cx="7772400" cy="438912"/>
          </a:xfrm>
          <a:prstGeom prst="rect">
            <a:avLst/>
          </a:prstGeom>
          <a:noFill/>
          <a:ln/>
        </p:spPr>
        <p:txBody>
          <a:bodyPr wrap="square" rtlCol="0" anchor="ctr"/>
          <a:lstStyle/>
          <a:p>
            <a:pPr indent="0" marL="0">
              <a:buNone/>
            </a:pPr>
            <a:r>
              <a:rPr lang="en-US" sz="1600" i="1" dirty="0">
                <a:solidFill>
                  <a:srgbClr val="D0E4F5"/>
                </a:solidFill>
                <a:latin typeface="Calibri" pitchFamily="34" charset="0"/>
                <a:ea typeface="Calibri" pitchFamily="34" charset="-122"/>
                <a:cs typeface="Calibri" pitchFamily="34" charset="-120"/>
              </a:rPr>
              <a:t>NEED - DSA</a:t>
            </a:r>
            <a:endParaRPr lang="en-US" sz="1600" dirty="0"/>
          </a:p>
        </p:txBody>
      </p:sp>
      <p:sp>
        <p:nvSpPr>
          <p:cNvPr id="9" name="Shape 7"/>
          <p:cNvSpPr/>
          <p:nvPr/>
        </p:nvSpPr>
        <p:spPr>
          <a:xfrm>
            <a:off x="0" y="4800600"/>
            <a:ext cx="9144000" cy="342900"/>
          </a:xfrm>
          <a:prstGeom prst="rect">
            <a:avLst/>
          </a:prstGeom>
          <a:solidFill>
            <a:srgbClr val="7B1F3A"/>
          </a:solidFill>
          <a:ln w="12700">
            <a:solidFill>
              <a:srgbClr val="7B1F3A"/>
            </a:solidFill>
            <a:prstDash val="solid"/>
          </a:ln>
        </p:spPr>
      </p:sp>
      <p:sp>
        <p:nvSpPr>
          <p:cNvPr id="10" name="Text 8"/>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Esboço Lição Escola Sabatina II Trimestre 2026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Lição 2 · CONHECENDO A DEUS</dc:title>
  <dc:subject>PptxGenJS Presentation</dc:subject>
  <dc:creator>Dr. Tito Goicochea M.</dc:creator>
  <cp:lastModifiedBy>Dr. Tito Goicochea M.</cp:lastModifiedBy>
  <cp:revision>1</cp:revision>
  <dcterms:created xsi:type="dcterms:W3CDTF">2026-03-15T16:26:42Z</dcterms:created>
  <dcterms:modified xsi:type="dcterms:W3CDTF">2026-03-15T16:26:42Z</dcterms:modified>
</cp:coreProperties>
</file>