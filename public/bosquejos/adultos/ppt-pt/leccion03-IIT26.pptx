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45720"/>
            <a:ext cx="2514600" cy="777240"/>
          </a:xfrm>
          <a:prstGeom prst="rect">
            <a:avLst/>
          </a:prstGeom>
          <a:solidFill>
            <a:srgbClr val="B8860B">
              <a:alpha val="70000"/>
            </a:srgbClr>
          </a:solidFill>
          <a:ln w="12700">
            <a:solidFill>
              <a:srgbClr val="B8860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713232"/>
            <a:ext cx="1783080" cy="502920"/>
          </a:xfrm>
          <a:prstGeom prst="rect">
            <a:avLst/>
          </a:prstGeom>
          <a:solidFill>
            <a:srgbClr val="B8860B">
              <a:alpha val="45000"/>
            </a:srgbClr>
          </a:solidFill>
          <a:ln w="12700">
            <a:solidFill>
              <a:srgbClr val="B8860B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66160"/>
            <a:ext cx="1554480" cy="1645920"/>
          </a:xfrm>
          <a:prstGeom prst="rect">
            <a:avLst/>
          </a:prstGeom>
          <a:solidFill>
            <a:srgbClr val="B8860B">
              <a:alpha val="45000"/>
            </a:srgbClr>
          </a:solidFill>
          <a:ln w="12700">
            <a:solidFill>
              <a:srgbClr val="B8860B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51560"/>
            <a:ext cx="118872" cy="24688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2860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PRINCIPAIS DA LIÇÃO DA ESCOLA SABATINA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6858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Lição 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05156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ORGULHO VERSUS HUMILDADE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13232" y="21488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Sábado 18 de abril de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2514600"/>
            <a:ext cx="822960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B8860B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2514600"/>
            <a:ext cx="118872" cy="10241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32888"/>
            <a:ext cx="7909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memorizar: </a:t>
            </a:r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"Quem se exaltar será humilhado; e quem se humilhar será exaltado."  —  Lucas 14:11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1]  MOTIVA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Reflita antes de começar: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31936" cy="1600200"/>
          </a:xfrm>
          <a:prstGeom prst="rect">
            <a:avLst/>
          </a:prstGeom>
          <a:solidFill>
            <a:srgbClr val="FFF8E1"/>
          </a:solidFill>
          <a:ln w="12700">
            <a:solidFill>
              <a:srgbClr val="B886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128016" cy="16002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32104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GPS:  </a:t>
            </a:r>
            <a:pPr indent="0" marL="0">
              <a:buNone/>
            </a:pPr>
            <a:r>
              <a:rPr lang="en-US" sz="140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que maneira concreta o orgulho prejudica sua relação com Deus e como contemplar a humildade de Cristo te transforma?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" y="2532888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532888"/>
            <a:ext cx="128016" cy="749808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7860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Quando foi a última vez que você reconheceu ter agido com orgulho? O que foi mais difícil de admitir?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6032" y="3419856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3419856"/>
            <a:ext cx="128016" cy="749808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65576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Por que você acha que a humildade é tão valorizada no Céu, mas tão pouco apreciada em nossa cultura atual?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orgulho: raiz e consequências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orgulho começou com Lúcifer e continua sendo o maior obstáculo para nossa relação com Deus. Nos faz amar o mundo e nos ver melhores que os outros, afastando-nos da graça.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João 2:15-17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João 2:15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ames o mundo: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amamos o mundo e seus valores, o amor do Pai não está em nós. O orgulho nos faz buscar glória, conforto e reconhecimento humano acima de Deus.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João 2:16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tripla raiz do orgulho: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desejos da carne, os desejos dos olhos e a vaidade da vida não procedem do Pai. Essas forças alimentam o orgulho que nos separa de Deus e dos outros.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João 2:17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eterno versus o temporal: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mundo e seus desejos passam, mas quem faz a vontade de Deus permanece para sempre. O orgulho inverte essa prioridade, escolhendo o perecível sobre o eterno.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humildade que Deus vê e exalta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ilustrou com o fariseu e o publicano que Deus não valoriza a autojustiça, mas o coração contrito. Moisés é exemplo de como a humildade abre o canal da graça divina.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18:9-14; Hebreus 11:24-26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Luc. 18:9-12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orgulho disfarçado de piedade: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fariseu confiava em sua própria justiça e desprezava os outros. Sua oração era na realidade um monólogo de autoelogio, não uma comunhão real com Deus.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Luc. 18:13-14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contrito é justificado: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publicano, consciente do seu pecado, clamou misericórdia. Jesus declara que esse foi justificado, porque quem se humilha será exaltado por Deus.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Heb. 11:24-26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Moisés escolhe o caminho da humildade: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Moisés renunciou à glória do Egito para se identificar com o povo de Deus. Estimou mais as riquezas do opróbrio de Cristo do que os tesouros do mundo.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Cristo: o modelo supremo de humildade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Filipenses 2, Paulo apresenta a humildade de Cristo como o padrão definitivo. Jesus, sendo Deus, Se humilhou até a morte de cruz. Esse exemplo transforma nossa maneira de viver.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Filipenses 2:3-8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Fil. 2:3-4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por rivalidade nem vaidade: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Paulo chama a não fazer nada por egoísmo, mas a estimar os outros como superiores a si mesmo e a olhar os interesses alheios. Essa atitude é contrária ao orgulho natural.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Fil. 2:5-6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mente de Cristo: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Jesus, sendo em forma de Deus, não considerou o ser igual a Deus como algo a que se apegar. Tinha todo o direito da glória, mas escolheu o caminho do serviço.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Fil. 2:7-8  —  </a:t>
            </a:r>
            <a:pPr indent="0" marL="0">
              <a:buNone/>
            </a:pPr>
            <a:r>
              <a:rPr lang="en-US" sz="115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glória à cruz: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Cristo Se esvaziou a Si mesmo tomando forma de servo. Se humilhou obedecendo até a morte de cruz. Este é o maior ato de humildade em toda a história do universo.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3]  APLIQUE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E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Reflexão pessoal: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68096"/>
            <a:ext cx="8686800" cy="1325880"/>
          </a:xfrm>
          <a:prstGeom prst="rect">
            <a:avLst/>
          </a:prstGeom>
          <a:solidFill>
            <a:srgbClr val="E8EEF8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68096"/>
            <a:ext cx="128016" cy="13258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2296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A6B"/>
                </a:solidFill>
              </a:rPr>
              <a:t>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795528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"Quanto mais nos aproximamos de Jesus, e mais claramente discernimos a pureza do Seu caráter, mais claramente discerniremos a excessiva pecaminosidade do pecado e menos nos sentiremos inclinados a nos exaltar."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7556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Ellen G. White, Palavras de Vida do Grande Mestre, p. 124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14884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148840"/>
            <a:ext cx="128016" cy="83210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22199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área de sua vida o orgulho ou o amor ao mundo compete mais diretamente com seu amor a Deus?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3017520"/>
            <a:ext cx="8686800" cy="832104"/>
          </a:xfrm>
          <a:prstGeom prst="rect">
            <a:avLst/>
          </a:prstGeom>
          <a:solidFill>
            <a:srgbClr val="E8EEF8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017520"/>
            <a:ext cx="128016" cy="83210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09067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se reconhece mais na atitude do fariseu ou do publicano quando se aproxima de Deus em oração? O que isso revela sobre seu coração?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388620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BA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886200"/>
            <a:ext cx="128016" cy="83210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95935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contemplar a humildade de Cristo transforma sua maneira de se relacionar com pessoas difíceis ou que te feriram?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5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2011680"/>
          </a:xfrm>
          <a:prstGeom prst="rect">
            <a:avLst/>
          </a:prstGeom>
          <a:solidFill>
            <a:srgbClr val="B8860B">
              <a:alpha val="40000"/>
            </a:srgbClr>
          </a:solidFill>
          <a:ln w="12700">
            <a:solidFill>
              <a:srgbClr val="B8860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" y="3291840"/>
            <a:ext cx="1645920" cy="1920240"/>
          </a:xfrm>
          <a:prstGeom prst="rect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B8860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834640" cy="43891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4]  CRIE  — MINHA DECISÃO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118872" cy="38862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822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sua resposta honesta para esta semana: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132588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B8860B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53896"/>
            <a:ext cx="292608" cy="292608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" y="139903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identificarei uma atitude de orgulho e a levarei a Deus em oração pedindo Sua graça para mudar.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680960" y="139903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377440"/>
            <a:ext cx="8229600" cy="996696"/>
          </a:xfrm>
          <a:prstGeom prst="rect">
            <a:avLst/>
          </a:prstGeom>
          <a:solidFill>
            <a:srgbClr val="FFF8E1">
              <a:alpha val="92000"/>
            </a:srgbClr>
          </a:solidFill>
          <a:ln w="12700">
            <a:solidFill>
              <a:srgbClr val="B8860B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505456"/>
            <a:ext cx="292608" cy="292608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8992" y="245059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Buscarei uma oportunidade concreta de servir a alguém sem esperar reconhecimento em troca.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80960" y="245059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42900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B8860B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557016"/>
            <a:ext cx="292608" cy="292608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" y="350215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Meditarei em Filipenses 2:5-8 cada dia como modelo da humildade de Cristo que desejo imitar.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680960" y="350215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5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0"/>
            <a:ext cx="2011680" cy="1828800"/>
          </a:xfrm>
          <a:prstGeom prst="rect">
            <a:avLst/>
          </a:prstGeom>
          <a:solidFill>
            <a:srgbClr val="B8860B">
              <a:alpha val="40000"/>
            </a:srgbClr>
          </a:solidFill>
          <a:ln w="12700">
            <a:solidFill>
              <a:srgbClr val="B8860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1691640"/>
            <a:ext cx="1371600" cy="1371600"/>
          </a:xfrm>
          <a:prstGeom prst="rect">
            <a:avLst/>
          </a:prstGeom>
          <a:solidFill>
            <a:srgbClr val="B8860B">
              <a:alpha val="25000"/>
            </a:srgbClr>
          </a:solidFill>
          <a:ln w="12700">
            <a:solidFill>
              <a:srgbClr val="B8860B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20440"/>
            <a:ext cx="1920240" cy="1783080"/>
          </a:xfrm>
          <a:prstGeom prst="rect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B8860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05840"/>
            <a:ext cx="118872" cy="24231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229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58368" y="24231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30632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- DSA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Lição 3 · ORGULHO VERSUS HUMILDADE</dc:title>
  <dc:subject>PptxGenJS Presentation</dc:subject>
  <dc:creator>Dr. Tito Goicochea M.</dc:creator>
  <cp:lastModifiedBy>Dr. Tito Goicochea M.</cp:lastModifiedBy>
  <cp:revision>1</cp:revision>
  <dcterms:created xsi:type="dcterms:W3CDTF">2026-03-15T16:26:42Z</dcterms:created>
  <dcterms:modified xsi:type="dcterms:W3CDTF">2026-03-15T16:26:42Z</dcterms:modified>
</cp:coreProperties>
</file>