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B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45720"/>
            <a:ext cx="2514600" cy="777240"/>
          </a:xfrm>
          <a:prstGeom prst="rect">
            <a:avLst/>
          </a:prstGeom>
          <a:solidFill>
            <a:srgbClr val="C85A00">
              <a:alpha val="70000"/>
            </a:srgbClr>
          </a:solidFill>
          <a:ln w="12700">
            <a:solidFill>
              <a:srgbClr val="C85A00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713232"/>
            <a:ext cx="1783080" cy="502920"/>
          </a:xfrm>
          <a:prstGeom prst="rect">
            <a:avLst/>
          </a:prstGeom>
          <a:solidFill>
            <a:srgbClr val="C85A00">
              <a:alpha val="45000"/>
            </a:srgbClr>
          </a:solidFill>
          <a:ln w="12700">
            <a:solidFill>
              <a:srgbClr val="C85A00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66160"/>
            <a:ext cx="1554480" cy="1645920"/>
          </a:xfrm>
          <a:prstGeom prst="rect">
            <a:avLst/>
          </a:prstGeom>
          <a:solidFill>
            <a:srgbClr val="C85A00">
              <a:alpha val="45000"/>
            </a:srgbClr>
          </a:solidFill>
          <a:ln w="12700">
            <a:solidFill>
              <a:srgbClr val="C85A00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118872" cy="2468880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86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PRINCIPAIS DA LIÇÃO DA ESCOLA SABATINA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 11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REVESES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Sábado 13 de junho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5A00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514600"/>
            <a:ext cx="118872" cy="1024128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7909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memorizar: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"Sabemos que todas as coisas cooperam para o bem daqueles que amam a Deus."  —  Romanos 8:28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1]  MOTIVA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Reflita antes de começar: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600200"/>
          </a:xfrm>
          <a:prstGeom prst="rect">
            <a:avLst/>
          </a:prstGeom>
          <a:solidFill>
            <a:srgbClr val="FFF0E5"/>
          </a:solidFill>
          <a:ln w="12700">
            <a:solidFill>
              <a:srgbClr val="C85A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28016" cy="1600200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32104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 </a:t>
            </a:r>
            <a:pPr indent="0" marL="0">
              <a:buNone/>
            </a:pPr>
            <a:r>
              <a:rPr lang="en-US" sz="140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pode manter sua confiança em Deus quando enfrenta uma tempestade, um sofrimento prolongado ou uma profunda decepção?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532888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32888"/>
            <a:ext cx="128016" cy="749808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Qual foi o maior revés ou contratempo que você já enfrentou em sua vida? Como isso afetou sua relação com Deus naquele momento?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419856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419856"/>
            <a:ext cx="128016" cy="749808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Você já viu alguém manter uma fé sólida no meio de um grande sofrimento? O que mais te impressionou nessa pessoa?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 em meio à tempestade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permitiu que Seus discípulos passassem por uma tempestade aterradora. Seu propósito não era destruí-los, mas ensiná-los que com Ele no barco não há tempestade que tenha a última palavra.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4:35-41; 5:21-34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Mar. 4:35-37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no barco durante a tempestade: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convidou Seus discípulos a atravessar sabendo que haveria tempestade. Às vezes Deus nos conduz através da tempestade, não apenas ao redor dela, porque tem algo a nos ensinar ali.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Mar. 4:38-40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fé posta à prova: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discípulos temeram mesmo tendo Jesus no barco. Jesus lhes perguntou: 'Por que sois tão medrosos?' Os reveses revelam quanta fé real existe em nós além das palavras.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Mar. 5:28-34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 que alcança no meio da multidão: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mulher que sofria há doze anos tocou a orla do manto de Jesus no meio da multidão com fé. Deus responde à fé que age, mesmo quando parece impossível chegar até Ele.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Jó: fidelidade em meio ao sofrimento inexplicável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 perdeu tudo, mas se recusou a amaldiçoar a Deus. Sua fidelidade no sofrimento extremo mostra que é possível confiar em Deus mesmo quando não entendemos o que acontece.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 1:20-22; 19:23-27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 1:20-22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Adorar a Deus depois da perda: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perder filhos, propriedades e saúde, Jó se prostrou e adorou. Disse: 'O Senhor o deu e o Senhor o tomou; bendito seja o nome do Senhor'. Essa adoração é a fé mais profunda.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 19:23-25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sei que o meu Redentor vive: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meio de sua agonia, Jó declarou: 'Eu sei que o meu Redentor vive'. A certeza da presença e fidelidade de Deus sustenta a fé mesmo quando as circunstâncias contradizem tudo.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 19:26-27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o verei por mim mesmo: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 afirmou que veria a Deus com seus próprios olhos. A esperança da eternidade transforma a perspectiva do sofrimento presente: o que temos agora é temporal; o que virá é eterno.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Jesus: companheiro nos reveses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conhece o sofrimento por experiência própria. Ele não observa nossas tempestades de longe: entra nelas conosco, oferecendo Sua presença, Seu consolo e Sua vitória final.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22:39-44; Hebreus 4:15-16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Luc. 22:39-44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em Getsêmani: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jardim, Jesus experimentou angústia tão intensa que Seu suor se tornou como gotas de sangue. Ele sabe por experiência própria o que é atravessar a crise mais intensa e manter a confiança no Pai.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Heb. 4:15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sacerdote que foi tentado como nós: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temos um sumo sacerdote que não possa compadecer-Se das nossas fraquezas; mas um que, em tudo, foi tentado como nós. Jesus entende nosso sofrimento porque o viveu.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Heb. 4:16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Chegai com confiança ao trono da graça: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 chegar com confiança ao trono da graça para receber misericórdia e achar graça em hora oportuna. Jesus nos convida a trazer nossos reveses diretamente a Ele sem hesitar.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78"/>
          </a:solidFill>
          <a:ln w="12700">
            <a:solidFill>
              <a:srgbClr val="1E3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3]  APLIQUE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Reflexão pessoal: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325880"/>
          </a:xfrm>
          <a:prstGeom prst="rect">
            <a:avLst/>
          </a:prstGeom>
          <a:solidFill>
            <a:srgbClr val="E8EEF8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68096"/>
            <a:ext cx="128016" cy="1325880"/>
          </a:xfrm>
          <a:prstGeom prst="rect">
            <a:avLst/>
          </a:prstGeom>
          <a:solidFill>
            <a:srgbClr val="1E3A78"/>
          </a:solidFill>
          <a:ln w="12700">
            <a:solidFill>
              <a:srgbClr val="1E3A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78"/>
                </a:solidFill>
              </a:rPr>
              <a:t>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79552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 via sentada em abjeta desespero, reflexionando: Se Jesus estivesse na Terra, iria até Ele, me prostraria a Seus pés e Lhe contaria todos os meus sofrimentos. Não me rejeitaria. Teria misericórdia de mim."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E3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Ellen G. White, Primeiros Escritos, p. 78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128016" cy="832104"/>
          </a:xfrm>
          <a:prstGeom prst="rect">
            <a:avLst/>
          </a:prstGeom>
          <a:solidFill>
            <a:srgbClr val="1E3A78"/>
          </a:solidFill>
          <a:ln w="12700">
            <a:solidFill>
              <a:srgbClr val="1E3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está no meio de uma crise, sua tendência é buscar a Deus ou se afastar dEle? O que essa tendência revela sobre sua confiança nEle?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32104"/>
          </a:xfrm>
          <a:prstGeom prst="rect">
            <a:avLst/>
          </a:prstGeom>
          <a:solidFill>
            <a:srgbClr val="E8EEF8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28016" cy="832104"/>
          </a:xfrm>
          <a:prstGeom prst="rect">
            <a:avLst/>
          </a:prstGeom>
          <a:solidFill>
            <a:srgbClr val="1E3A78"/>
          </a:solidFill>
          <a:ln w="12700">
            <a:solidFill>
              <a:srgbClr val="1E3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9067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teve que confiar em Deus em uma situação que não entendia? Como essa experiência transformou sua fé?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86200"/>
            <a:ext cx="128016" cy="832104"/>
          </a:xfrm>
          <a:prstGeom prst="rect">
            <a:avLst/>
          </a:prstGeom>
          <a:solidFill>
            <a:srgbClr val="1E3A78"/>
          </a:solidFill>
          <a:ln w="12700">
            <a:solidFill>
              <a:srgbClr val="1E3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5935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revés atual você precisa confiar mais conscientemente que Jesus está com você e que Deus pode transformar essa situação para o bem?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1B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C85A00">
              <a:alpha val="40000"/>
            </a:srgbClr>
          </a:solidFill>
          <a:ln w="12700">
            <a:solidFill>
              <a:srgbClr val="C85A0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291840"/>
            <a:ext cx="1645920" cy="1920240"/>
          </a:xfrm>
          <a:prstGeom prst="rect">
            <a:avLst/>
          </a:prstGeom>
          <a:solidFill>
            <a:srgbClr val="C85A00">
              <a:alpha val="30000"/>
            </a:srgbClr>
          </a:solidFill>
          <a:ln w="12700">
            <a:solidFill>
              <a:srgbClr val="C85A0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4]  CRIE  — MINHA DECISÃO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18872" cy="3886200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sua resposta honesta para esta semana: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85A00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53896"/>
            <a:ext cx="292608" cy="292608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39903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levarei a Deus em oração alguma situação difícil que estou enfrentando e a porei em Suas mãos.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80960" y="139903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8229600" cy="996696"/>
          </a:xfrm>
          <a:prstGeom prst="rect">
            <a:avLst/>
          </a:prstGeom>
          <a:solidFill>
            <a:srgbClr val="FFF0E5">
              <a:alpha val="92000"/>
            </a:srgbClr>
          </a:solidFill>
          <a:ln w="12700">
            <a:solidFill>
              <a:srgbClr val="C85A00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05456"/>
            <a:ext cx="292608" cy="292608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Lerei Jó 19:23-27 cada dia desta semana e declararei com Jó: 'Eu sei que o meu Redentor vive'.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80960" y="245059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42900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85A00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57016"/>
            <a:ext cx="292608" cy="292608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50215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Buscarei alguém que esteja atravessando um revés e estarei presente com ele de maneira concreta e amorosa.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80960" y="350215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1B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2011680" cy="1828800"/>
          </a:xfrm>
          <a:prstGeom prst="rect">
            <a:avLst/>
          </a:prstGeom>
          <a:solidFill>
            <a:srgbClr val="C85A00">
              <a:alpha val="40000"/>
            </a:srgbClr>
          </a:solidFill>
          <a:ln w="12700">
            <a:solidFill>
              <a:srgbClr val="C85A0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691640"/>
            <a:ext cx="1371600" cy="1371600"/>
          </a:xfrm>
          <a:prstGeom prst="rect">
            <a:avLst/>
          </a:prstGeom>
          <a:solidFill>
            <a:srgbClr val="C85A00">
              <a:alpha val="25000"/>
            </a:srgbClr>
          </a:solidFill>
          <a:ln w="12700">
            <a:solidFill>
              <a:srgbClr val="C85A0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20440"/>
            <a:ext cx="1920240" cy="1783080"/>
          </a:xfrm>
          <a:prstGeom prst="rect">
            <a:avLst/>
          </a:prstGeom>
          <a:solidFill>
            <a:srgbClr val="C85A00">
              <a:alpha val="30000"/>
            </a:srgbClr>
          </a:solidFill>
          <a:ln w="12700">
            <a:solidFill>
              <a:srgbClr val="C85A0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05840"/>
            <a:ext cx="118872" cy="2423160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Lição 11 · REVESES</dc:title>
  <dc:subject>PptxGenJS Presentation</dc:subject>
  <dc:creator>Dr. Tito Goicochea M.</dc:creator>
  <cp:lastModifiedBy>Dr. Tito Goicochea M.</cp:lastModifiedBy>
  <cp:revision>1</cp:revision>
  <dcterms:created xsi:type="dcterms:W3CDTF">2026-03-15T16:26:42Z</dcterms:created>
  <dcterms:modified xsi:type="dcterms:W3CDTF">2026-03-15T16:26:42Z</dcterms:modified>
</cp:coreProperties>
</file>