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4591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FF6B6B"/>
          </a:solidFill>
          <a:ln w="12700">
            <a:solidFill>
              <a:srgbClr val="FF6B6B"/>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FF6B6B"/>
                </a:solidFill>
                <a:latin typeface="Trebuchet MS" pitchFamily="34" charset="0"/>
                <a:ea typeface="Trebuchet MS" pitchFamily="34" charset="-122"/>
                <a:cs typeface="Trebuchet MS" pitchFamily="34" charset="-120"/>
              </a:rPr>
              <a:t>LECCIÓN JOVEN 4</a:t>
            </a:r>
            <a:endParaRPr lang="en-US" sz="1400" dirty="0"/>
          </a:p>
        </p:txBody>
      </p:sp>
      <p:sp>
        <p:nvSpPr>
          <p:cNvPr id="6" name="Text 3"/>
          <p:cNvSpPr/>
          <p:nvPr/>
        </p:nvSpPr>
        <p:spPr>
          <a:xfrm>
            <a:off x="182880" y="786384"/>
            <a:ext cx="6217920"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EL ROL DE LA BIBLIA</a:t>
            </a:r>
            <a:endParaRPr lang="en-US" sz="5800" dirty="0"/>
          </a:p>
        </p:txBody>
      </p:sp>
      <p:sp>
        <p:nvSpPr>
          <p:cNvPr id="7" name="Shape 4"/>
          <p:cNvSpPr/>
          <p:nvPr/>
        </p:nvSpPr>
        <p:spPr>
          <a:xfrm>
            <a:off x="182880" y="3218688"/>
            <a:ext cx="2926080" cy="475488"/>
          </a:xfrm>
          <a:prstGeom prst="rect">
            <a:avLst/>
          </a:prstGeom>
          <a:solidFill>
            <a:srgbClr val="FF6B6B"/>
          </a:solidFill>
          <a:ln w="12700">
            <a:solidFill>
              <a:srgbClr val="FF6B6B"/>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2 Timoteo 3:10-17</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25 de abril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FF6B6B"/>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FFA0A0"/>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FF6B6B"/>
                </a:solidFill>
                <a:latin typeface="Arial Black" pitchFamily="34" charset="0"/>
                <a:ea typeface="Arial Black" pitchFamily="34" charset="-122"/>
                <a:cs typeface="Arial Black" pitchFamily="34" charset="-120"/>
              </a:rPr>
              <a:t>2 Timoteo 3:10-17</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La Biblia no es solo un libro antiguo ni un manual religioso: es la Palabra viva de Dios, inspirada e indispensable para conocerlo. Satán concentra sus mayores esfuerzos en alejar al joven de ella, porque sin ella la relación con Dios se debilita inevitablemente (2 Tim. 3:16-17).</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FF6B6B"/>
          </a:solidFill>
          <a:ln w="12700">
            <a:solidFill>
              <a:srgbClr val="FF6B6B"/>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FF6B6B"/>
          </a:solidFill>
          <a:ln w="12700">
            <a:solidFill>
              <a:srgbClr val="FF6B6B"/>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¿Por qué la Biblia es el recurso más indispensable para crecer en nuestra relación con Dios, y qué actitud necesitamos para recibirla genuinamente?</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2 Timoteo 3:10-13</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La vida que la Biblia sostiene</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revela la vida de Pablo sobre el papel de las Escrituras en tiempos de presión y persecución?</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Pablo invita a Timoteo a recordar su ejemplo de vida: todo ese perfil fue moldeado por las Escrituras en medio de persecuciones reales. (2 Tim. 3:10-11; Heb. 4:12)</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Biblia no es solo para momentos tranquilos; es el ancla en la tormenta cuando todo lo demás falla. (Sal. 33:6; Mat. 4:4)</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única protección real contra el error es conocer profundamente las Escrituras, no solo tener sentimientos religiosos. (2 Tim. 3:13; Efe. 6:17)</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En una evangelización donde se cortó la luz, alguien sugirió: «simplemente leamos las Escrituras». Lágrimas discretas cayeron. Sin recursos, pero con la Palabra, el mensaje llegó.</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2 Timoteo 3:14-15</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La sabiduría que lleva a la salvación</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¿Desde qué principio conocer la Biblia produce sabiduría, y por qué esa sabiduría solo activa cuando va unida a la fe en Jesucristo?</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Las Escrituras tienen el poder de hacernos sabios para la salvación mediante la fe en Cristo Jesús. (2 Tim. 3:14-15; Juan 5:39)</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Biblia sin fe en Jesús da información; con fe, da vida. (Luc. 24:27; 1 Cor. 2:14)</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punto de partida es permanecer en lo aprendido con convicción, sabiendo de quién lo aprendiste. (2 Tim. 3:14; Juan 16:13)</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Un joven puede crecer en la iglesia, memorizar versos, ganar concursos bíblicos y nunca haber tenido una conversación real con el Dios de quien hablan esas páginas.</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2 Timoteo 3:16-17</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Las cuatro funciones de la Escritura</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hace la Biblia en la vida del creyente según los cuatro verbos de este versículo, y por qué necesitamos abrirla en todas sus funciones?</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Toda la Escritura es útil para: ENSEÑAR la verdad, REPRENDER el error, CORREGIR el rumbo e INSTRUIR en justicia. (2 Tim. 3:16; Sal. 119:105)</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objetivo es que el hombre de Dios sea «enteramente capacitado para toda buena obra». (2 Tim. 3:17; Juan 14:6)</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Biblia es el instrumento del Espíritu para transformar al lector de adentro hacia afuera. (Jer. 15:16; Heb. 4:12)</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Leer el libro de recetas no sacia el hambre. Un joven puede llevar años en clases bíblicas sin que ninguna verdad cambie su carácter, si no permite que la Palabra entre a reprender y corregir.</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"La razón por la cual los jóvenes, y aun los de edad madura, se ven tan fácilmente inducidos a la tentación y al pecado es porque no estudian la Palabra de Dios ni la meditan como deberían. La falta de fuerza de voluntad firme y resuelta que se manifiesta en su vida y carácter resulta del descuido de la sagrada instrucción que da la Palabra de Dios."</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El camino a Cristo, p. 75</a:t>
            </a:r>
            <a:endParaRPr lang="en-US" sz="900" dirty="0"/>
          </a:p>
        </p:txBody>
      </p:sp>
      <p:sp>
        <p:nvSpPr>
          <p:cNvPr id="15" name="Shape 12"/>
          <p:cNvSpPr/>
          <p:nvPr/>
        </p:nvSpPr>
        <p:spPr>
          <a:xfrm>
            <a:off x="201168" y="2944368"/>
            <a:ext cx="8741664" cy="45720"/>
          </a:xfrm>
          <a:prstGeom prst="rect">
            <a:avLst/>
          </a:prstGeom>
          <a:solidFill>
            <a:srgbClr val="FF6B6B"/>
          </a:solidFill>
          <a:ln w="12700">
            <a:solidFill>
              <a:srgbClr val="FF6B6B"/>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FF6B6B"/>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¿Qué función de la Biblia —enseñar, reprender, corregir o instruir— necesitas más en tu vida ahora mismo? ¿Qué cambio concreto en tu hábito de lectura tomarás ESTA SEMANA?</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FF6B6B"/>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FF6B6B"/>
          </a:solidFill>
          <a:ln w="12700">
            <a:solidFill>
              <a:srgbClr val="FF6B6B"/>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FF6B6B"/>
          </a:solidFill>
          <a:ln w="12700">
            <a:solidFill>
              <a:srgbClr val="FF6B6B"/>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Establezco un tiempo diario específico para leer la Biblia esta semana, comenzando por 2 Timoteo 3, pidiendo primero la guía del Espíritu Santo (2 Tim. 3:16).</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FF6B6B"/>
          </a:solidFill>
          <a:ln w="12700">
            <a:solidFill>
              <a:srgbClr val="FF6B6B"/>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FF6B6B"/>
          </a:solidFill>
          <a:ln w="12700">
            <a:solidFill>
              <a:srgbClr val="FF6B6B"/>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Permito que la Biblia me reprenda y corrija esta semana en el área que he estado evitando, en lugar de leerla solo donde me da confort (Heb. 4:12).</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FF6B6B"/>
          </a:solidFill>
          <a:ln w="12700">
            <a:solidFill>
              <a:srgbClr val="FF6B6B"/>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FF6B6B"/>
          </a:solidFill>
          <a:ln w="12700">
            <a:solidFill>
              <a:srgbClr val="FF6B6B"/>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Comparto con alguien esta semana algo que la Biblia me enseñó, porque la Palabra que se queda solo en mi mente no cumple su propósito completo (2 Tim. 3:17).</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«Toda la Escritura es inspirada por Dios y útil para enseñar, para reprender, para corregir y para instruir en la justicia.» (2 Tim. 3:16)</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FF6B6B"/>
          </a:solidFill>
          <a:ln w="12700">
            <a:solidFill>
              <a:srgbClr val="FF6B6B"/>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FF6B6B"/>
          </a:solidFill>
          <a:ln w="12700">
            <a:solidFill>
              <a:srgbClr val="FF6B6B"/>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FF6B6B"/>
                </a:solidFill>
                <a:latin typeface="Trebuchet MS" pitchFamily="34" charset="0"/>
                <a:ea typeface="Trebuchet MS" pitchFamily="34" charset="-122"/>
                <a:cs typeface="Trebuchet MS" pitchFamily="34" charset="-120"/>
              </a:rPr>
              <a:t>Lección</a:t>
            </a:r>
            <a:r>
              <a:rPr lang="en-US" sz="1600" i="1">
                <a:solidFill>
                  <a:srgbClr val="FF6B6B"/>
                </a:solidFill>
                <a:latin typeface="Trebuchet MS" pitchFamily="34" charset="0"/>
                <a:ea typeface="Trebuchet MS" pitchFamily="34" charset="-122"/>
                <a:cs typeface="Trebuchet MS" pitchFamily="34" charset="-120"/>
              </a:rPr>
              <a:t> Joven 4  </a:t>
            </a:r>
            <a:r>
              <a:rPr lang="en-US" sz="1600" i="1" dirty="0">
                <a:solidFill>
                  <a:srgbClr val="FF6B6B"/>
                </a:solidFill>
                <a:latin typeface="Trebuchet MS" pitchFamily="34" charset="0"/>
                <a:ea typeface="Trebuchet MS" pitchFamily="34" charset="-122"/>
                <a:cs typeface="Trebuchet MS" pitchFamily="34" charset="-120"/>
              </a:rPr>
              <a:t>·  El rol de la Biblia</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1085</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L4 — El rol de la Biblia</dc:title>
  <dc:subject>PptxGenJS Presentation</dc:subject>
  <dc:creator>Dr. Tito Goicochea M.</dc:creator>
  <cp:lastModifiedBy>Tito Goicochea Malaver</cp:lastModifiedBy>
  <cp:revision>2</cp:revision>
  <dcterms:created xsi:type="dcterms:W3CDTF">2026-03-29T17:48:04Z</dcterms:created>
  <dcterms:modified xsi:type="dcterms:W3CDTF">2026-03-29T18:01:10Z</dcterms:modified>
</cp:coreProperties>
</file>