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2985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91440" cy="5143500"/>
          </a:xfrm>
          <a:prstGeom prst="rect">
            <a:avLst/>
          </a:prstGeom>
          <a:solidFill>
            <a:srgbClr val="FF6B6B"/>
          </a:solidFill>
          <a:ln w="12700">
            <a:solidFill>
              <a:srgbClr val="FF6B6B"/>
            </a:solidFill>
            <a:prstDash val="solid"/>
          </a:ln>
        </p:spPr>
        <p:txBody>
          <a:bodyPr/>
          <a:lstStyle/>
          <a:p>
            <a:endParaRPr lang="es-ES"/>
          </a:p>
        </p:txBody>
      </p:sp>
      <p:sp>
        <p:nvSpPr>
          <p:cNvPr id="5" name="Text 2"/>
          <p:cNvSpPr/>
          <p:nvPr/>
        </p:nvSpPr>
        <p:spPr>
          <a:xfrm>
            <a:off x="201168" y="292608"/>
            <a:ext cx="3657600" cy="457200"/>
          </a:xfrm>
          <a:prstGeom prst="rect">
            <a:avLst/>
          </a:prstGeom>
          <a:noFill/>
          <a:ln/>
        </p:spPr>
        <p:txBody>
          <a:bodyPr wrap="square" lIns="0" tIns="0" rIns="0" bIns="0" rtlCol="0" anchor="ctr"/>
          <a:lstStyle/>
          <a:p>
            <a:pPr marL="0" indent="0">
              <a:buNone/>
            </a:pPr>
            <a:r>
              <a:rPr lang="en-US" sz="1400" kern="0" spc="800" dirty="0">
                <a:solidFill>
                  <a:srgbClr val="FF6B6B"/>
                </a:solidFill>
                <a:latin typeface="Trebuchet MS" pitchFamily="34" charset="0"/>
                <a:ea typeface="Trebuchet MS" pitchFamily="34" charset="-122"/>
                <a:cs typeface="Trebuchet MS" pitchFamily="34" charset="-120"/>
              </a:rPr>
              <a:t>LECCIÓN JOVEN 9</a:t>
            </a:r>
            <a:endParaRPr lang="en-US" sz="1400" dirty="0"/>
          </a:p>
        </p:txBody>
      </p:sp>
      <p:sp>
        <p:nvSpPr>
          <p:cNvPr id="6" name="Text 3"/>
          <p:cNvSpPr/>
          <p:nvPr/>
        </p:nvSpPr>
        <p:spPr>
          <a:xfrm>
            <a:off x="182880" y="786384"/>
            <a:ext cx="7652582" cy="2286000"/>
          </a:xfrm>
          <a:prstGeom prst="rect">
            <a:avLst/>
          </a:prstGeom>
          <a:noFill/>
          <a:ln/>
        </p:spPr>
        <p:txBody>
          <a:bodyPr wrap="square" rtlCol="0" anchor="ctr"/>
          <a:lstStyle/>
          <a:p>
            <a:pPr marL="0" indent="0" algn="l">
              <a:buNone/>
            </a:pPr>
            <a:r>
              <a:rPr lang="en-US" sz="5800" b="1" dirty="0">
                <a:solidFill>
                  <a:srgbClr val="FFFFFF"/>
                </a:solidFill>
                <a:latin typeface="Arial Black" pitchFamily="34" charset="0"/>
                <a:ea typeface="Arial Black" pitchFamily="34" charset="-122"/>
                <a:cs typeface="Arial Black" pitchFamily="34" charset="-120"/>
              </a:rPr>
              <a:t>EL PECADO, EL EVANGELIO Y LA LEY</a:t>
            </a:r>
            <a:endParaRPr lang="en-US" sz="5800" dirty="0"/>
          </a:p>
        </p:txBody>
      </p:sp>
      <p:sp>
        <p:nvSpPr>
          <p:cNvPr id="7" name="Shape 4"/>
          <p:cNvSpPr/>
          <p:nvPr/>
        </p:nvSpPr>
        <p:spPr>
          <a:xfrm>
            <a:off x="182880" y="3218688"/>
            <a:ext cx="2926080" cy="475488"/>
          </a:xfrm>
          <a:prstGeom prst="rect">
            <a:avLst/>
          </a:prstGeom>
          <a:solidFill>
            <a:srgbClr val="FF6B6B"/>
          </a:solidFill>
          <a:ln w="12700">
            <a:solidFill>
              <a:srgbClr val="FF6B6B"/>
            </a:solidFill>
            <a:prstDash val="solid"/>
          </a:ln>
        </p:spPr>
        <p:txBody>
          <a:bodyPr/>
          <a:lstStyle/>
          <a:p>
            <a:endParaRPr lang="es-ES"/>
          </a:p>
        </p:txBody>
      </p:sp>
      <p:sp>
        <p:nvSpPr>
          <p:cNvPr id="8" name="Text 5"/>
          <p:cNvSpPr/>
          <p:nvPr/>
        </p:nvSpPr>
        <p:spPr>
          <a:xfrm>
            <a:off x="182880" y="3218688"/>
            <a:ext cx="2926080" cy="475488"/>
          </a:xfrm>
          <a:prstGeom prst="rect">
            <a:avLst/>
          </a:prstGeom>
          <a:noFill/>
          <a:ln/>
        </p:spPr>
        <p:txBody>
          <a:bodyPr wrap="square" lIns="0" tIns="0" rIns="0" bIns="0"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Mateo 5:17-48</a:t>
            </a:r>
            <a:endParaRPr lang="en-US" sz="1500" dirty="0"/>
          </a:p>
        </p:txBody>
      </p:sp>
      <p:sp>
        <p:nvSpPr>
          <p:cNvPr id="9" name="Text 6"/>
          <p:cNvSpPr/>
          <p:nvPr/>
        </p:nvSpPr>
        <p:spPr>
          <a:xfrm>
            <a:off x="182880" y="3822192"/>
            <a:ext cx="5486400" cy="274320"/>
          </a:xfrm>
          <a:prstGeom prst="rect">
            <a:avLst/>
          </a:prstGeom>
          <a:noFill/>
          <a:ln/>
        </p:spPr>
        <p:txBody>
          <a:bodyPr wrap="square" lIns="0" tIns="0" rIns="0" bIns="0" rtlCol="0" anchor="ctr"/>
          <a:lstStyle/>
          <a:p>
            <a:pPr marL="0" indent="0">
              <a:buNone/>
            </a:pPr>
            <a:r>
              <a:rPr lang="en-US" sz="1100" i="1" dirty="0">
                <a:solidFill>
                  <a:srgbClr val="AAAACC"/>
                </a:solidFill>
                <a:latin typeface="Calibri" pitchFamily="34" charset="0"/>
                <a:ea typeface="Calibri" pitchFamily="34" charset="-122"/>
                <a:cs typeface="Calibri" pitchFamily="34" charset="-120"/>
              </a:rPr>
              <a:t>30 de mayo de 2026  ·  II Trimestre 2026</a:t>
            </a:r>
            <a:endParaRPr lang="en-US" sz="1100" dirty="0"/>
          </a:p>
        </p:txBody>
      </p:sp>
      <p:sp>
        <p:nvSpPr>
          <p:cNvPr id="10" name="Text 7"/>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C45000"/>
          </a:solidFill>
          <a:ln w="12700">
            <a:solidFill>
              <a:srgbClr val="C4500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C45000"/>
          </a:solidFill>
          <a:ln w="12700">
            <a:solidFill>
              <a:srgbClr val="C4500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D4A0"/>
                </a:solidFill>
                <a:latin typeface="Trebuchet MS" pitchFamily="34" charset="0"/>
                <a:ea typeface="Trebuchet MS" pitchFamily="34" charset="-122"/>
                <a:cs typeface="Trebuchet MS" pitchFamily="34" charset="-120"/>
              </a:rPr>
              <a:t>FASE 1  ·  MOTIVA  (INICIA)  —  ¿Por qué es importante este estudio para mi vida?</a:t>
            </a:r>
            <a:endParaRPr lang="en-US" sz="1600" dirty="0"/>
          </a:p>
        </p:txBody>
      </p:sp>
      <p:sp>
        <p:nvSpPr>
          <p:cNvPr id="9" name="Shape 6"/>
          <p:cNvSpPr/>
          <p:nvPr/>
        </p:nvSpPr>
        <p:spPr>
          <a:xfrm>
            <a:off x="182880" y="749808"/>
            <a:ext cx="8778240" cy="475488"/>
          </a:xfrm>
          <a:prstGeom prst="rect">
            <a:avLst/>
          </a:prstGeom>
          <a:solidFill>
            <a:srgbClr val="000000">
              <a:alpha val="60000"/>
            </a:srgbClr>
          </a:solidFill>
          <a:ln w="19050">
            <a:solidFill>
              <a:srgbClr val="FF6B6B"/>
            </a:solidFill>
            <a:prstDash val="solid"/>
          </a:ln>
        </p:spPr>
        <p:txBody>
          <a:bodyPr/>
          <a:lstStyle/>
          <a:p>
            <a:endParaRPr lang="es-ES"/>
          </a:p>
        </p:txBody>
      </p:sp>
      <p:sp>
        <p:nvSpPr>
          <p:cNvPr id="10" name="Text 7"/>
          <p:cNvSpPr/>
          <p:nvPr/>
        </p:nvSpPr>
        <p:spPr>
          <a:xfrm>
            <a:off x="329184" y="749808"/>
            <a:ext cx="2560320" cy="475488"/>
          </a:xfrm>
          <a:prstGeom prst="rect">
            <a:avLst/>
          </a:prstGeom>
          <a:noFill/>
          <a:ln/>
        </p:spPr>
        <p:txBody>
          <a:bodyPr wrap="square" lIns="0" tIns="0" rIns="0" bIns="0" rtlCol="0" anchor="ctr"/>
          <a:lstStyle/>
          <a:p>
            <a:pPr marL="0" indent="0" algn="l">
              <a:buNone/>
            </a:pPr>
            <a:r>
              <a:rPr lang="en-US" sz="1000" i="1" dirty="0">
                <a:solidFill>
                  <a:srgbClr val="FFA0A0"/>
                </a:solidFill>
                <a:latin typeface="Calibri" pitchFamily="34" charset="0"/>
                <a:ea typeface="Calibri" pitchFamily="34" charset="-122"/>
                <a:cs typeface="Calibri" pitchFamily="34" charset="-120"/>
              </a:rPr>
              <a:t>Texto principal de la semana</a:t>
            </a:r>
            <a:endParaRPr lang="en-US" sz="1000" dirty="0"/>
          </a:p>
        </p:txBody>
      </p:sp>
      <p:sp>
        <p:nvSpPr>
          <p:cNvPr id="11" name="Text 8"/>
          <p:cNvSpPr/>
          <p:nvPr/>
        </p:nvSpPr>
        <p:spPr>
          <a:xfrm>
            <a:off x="2743200" y="749808"/>
            <a:ext cx="6217920" cy="475488"/>
          </a:xfrm>
          <a:prstGeom prst="rect">
            <a:avLst/>
          </a:prstGeom>
          <a:noFill/>
          <a:ln/>
        </p:spPr>
        <p:txBody>
          <a:bodyPr wrap="square" lIns="0" tIns="0" rIns="0" bIns="0" rtlCol="0" anchor="ctr"/>
          <a:lstStyle/>
          <a:p>
            <a:pPr marL="0" indent="0" algn="l">
              <a:buNone/>
            </a:pPr>
            <a:r>
              <a:rPr lang="en-US" sz="1700" b="1" dirty="0">
                <a:solidFill>
                  <a:srgbClr val="FF6B6B"/>
                </a:solidFill>
                <a:latin typeface="Arial Black" pitchFamily="34" charset="0"/>
                <a:ea typeface="Arial Black" pitchFamily="34" charset="-122"/>
                <a:cs typeface="Arial Black" pitchFamily="34" charset="-120"/>
              </a:rPr>
              <a:t>Mateo 5:17-48</a:t>
            </a:r>
            <a:endParaRPr lang="en-US" sz="1700" dirty="0"/>
          </a:p>
        </p:txBody>
      </p:sp>
      <p:sp>
        <p:nvSpPr>
          <p:cNvPr id="12" name="Shape 9"/>
          <p:cNvSpPr/>
          <p:nvPr/>
        </p:nvSpPr>
        <p:spPr>
          <a:xfrm>
            <a:off x="182880" y="1298448"/>
            <a:ext cx="8778240" cy="1536192"/>
          </a:xfrm>
          <a:prstGeom prst="rect">
            <a:avLst/>
          </a:prstGeom>
          <a:solidFill>
            <a:srgbClr val="000000">
              <a:alpha val="65000"/>
            </a:srgbClr>
          </a:solidFill>
          <a:ln w="12700">
            <a:solidFill>
              <a:srgbClr val="444466"/>
            </a:solidFill>
            <a:prstDash val="solid"/>
          </a:ln>
          <a:effectLst>
            <a:outerShdw blurRad="152400" dist="38100" dir="8100000" algn="bl" rotWithShape="0">
              <a:srgbClr val="000000">
                <a:alpha val="50000"/>
              </a:srgbClr>
            </a:outerShdw>
          </a:effectLst>
        </p:spPr>
        <p:txBody>
          <a:bodyPr/>
          <a:lstStyle/>
          <a:p>
            <a:endParaRPr lang="es-ES"/>
          </a:p>
        </p:txBody>
      </p:sp>
      <p:sp>
        <p:nvSpPr>
          <p:cNvPr id="13" name="Shape 10"/>
          <p:cNvSpPr/>
          <p:nvPr/>
        </p:nvSpPr>
        <p:spPr>
          <a:xfrm>
            <a:off x="182880" y="1298448"/>
            <a:ext cx="54864" cy="1536192"/>
          </a:xfrm>
          <a:prstGeom prst="rect">
            <a:avLst/>
          </a:prstGeom>
          <a:solidFill>
            <a:srgbClr val="5566AA"/>
          </a:solidFill>
          <a:ln w="12700">
            <a:solidFill>
              <a:srgbClr val="5566AA"/>
            </a:solidFill>
            <a:prstDash val="solid"/>
          </a:ln>
        </p:spPr>
        <p:txBody>
          <a:bodyPr/>
          <a:lstStyle/>
          <a:p>
            <a:endParaRPr lang="es-ES"/>
          </a:p>
        </p:txBody>
      </p:sp>
      <p:sp>
        <p:nvSpPr>
          <p:cNvPr id="14" name="Text 11"/>
          <p:cNvSpPr/>
          <p:nvPr/>
        </p:nvSpPr>
        <p:spPr>
          <a:xfrm>
            <a:off x="310896" y="1344168"/>
            <a:ext cx="1828800" cy="256032"/>
          </a:xfrm>
          <a:prstGeom prst="rect">
            <a:avLst/>
          </a:prstGeom>
          <a:noFill/>
          <a:ln/>
        </p:spPr>
        <p:txBody>
          <a:bodyPr wrap="square" lIns="0" tIns="0" rIns="0" bIns="0" rtlCol="0" anchor="ctr"/>
          <a:lstStyle/>
          <a:p>
            <a:pPr marL="0" indent="0">
              <a:buNone/>
            </a:pPr>
            <a:r>
              <a:rPr lang="en-US" sz="1000" b="1" dirty="0">
                <a:solidFill>
                  <a:srgbClr val="8899CC"/>
                </a:solidFill>
                <a:latin typeface="Trebuchet MS" pitchFamily="34" charset="0"/>
                <a:ea typeface="Trebuchet MS" pitchFamily="34" charset="-122"/>
                <a:cs typeface="Trebuchet MS" pitchFamily="34" charset="-120"/>
              </a:rPr>
              <a:t>Tema Central</a:t>
            </a:r>
            <a:endParaRPr lang="en-US" sz="1000" dirty="0"/>
          </a:p>
        </p:txBody>
      </p:sp>
      <p:sp>
        <p:nvSpPr>
          <p:cNvPr id="15" name="Text 12"/>
          <p:cNvSpPr/>
          <p:nvPr/>
        </p:nvSpPr>
        <p:spPr>
          <a:xfrm>
            <a:off x="310896" y="1609344"/>
            <a:ext cx="8503920" cy="1170432"/>
          </a:xfrm>
          <a:prstGeom prst="rect">
            <a:avLst/>
          </a:prstGeom>
          <a:noFill/>
          <a:ln/>
        </p:spPr>
        <p:txBody>
          <a:bodyPr wrap="square" lIns="0" tIns="0" rIns="0" bIns="0" rtlCol="0" anchor="t"/>
          <a:lstStyle/>
          <a:p>
            <a:pPr marL="0" indent="0" algn="l">
              <a:buNone/>
            </a:pPr>
            <a:r>
              <a:rPr lang="en-US" sz="1150" dirty="0">
                <a:solidFill>
                  <a:srgbClr val="DDDDEE"/>
                </a:solidFill>
                <a:latin typeface="Calibri" pitchFamily="34" charset="0"/>
                <a:ea typeface="Calibri" pitchFamily="34" charset="-122"/>
                <a:cs typeface="Calibri" pitchFamily="34" charset="-120"/>
              </a:rPr>
              <a:t>En el sermón del monte, Jesús no abolió la ley: profundizó su significado hasta el nivel del corazón, mostrando que todos somos culpables y necesitamos un Salvador. La ley revela el pecado; el evangelio lo resuelve. Ambos son necesarios: la ley sin el evangelio condena sin salida; el evangelio sin la ley vacía de sentido el arrepentimiento.</a:t>
            </a:r>
            <a:endParaRPr lang="en-US" sz="1150" dirty="0"/>
          </a:p>
        </p:txBody>
      </p:sp>
      <p:sp>
        <p:nvSpPr>
          <p:cNvPr id="16" name="Shape 13"/>
          <p:cNvSpPr/>
          <p:nvPr/>
        </p:nvSpPr>
        <p:spPr>
          <a:xfrm>
            <a:off x="182880" y="2907792"/>
            <a:ext cx="8778240" cy="1828800"/>
          </a:xfrm>
          <a:prstGeom prst="rect">
            <a:avLst/>
          </a:prstGeom>
          <a:solidFill>
            <a:srgbClr val="0A1830">
              <a:alpha val="85000"/>
            </a:srgbClr>
          </a:solidFill>
          <a:ln w="25400">
            <a:solidFill>
              <a:srgbClr val="FF6B6B"/>
            </a:solidFill>
            <a:prstDash val="solid"/>
          </a:ln>
          <a:effectLst>
            <a:outerShdw blurRad="152400" dist="38100" dir="8100000" algn="bl" rotWithShape="0">
              <a:srgbClr val="000000">
                <a:alpha val="50000"/>
              </a:srgbClr>
            </a:outerShdw>
          </a:effectLst>
        </p:spPr>
        <p:txBody>
          <a:bodyPr/>
          <a:lstStyle/>
          <a:p>
            <a:endParaRPr lang="es-ES"/>
          </a:p>
        </p:txBody>
      </p:sp>
      <p:sp>
        <p:nvSpPr>
          <p:cNvPr id="17" name="Shape 14"/>
          <p:cNvSpPr/>
          <p:nvPr/>
        </p:nvSpPr>
        <p:spPr>
          <a:xfrm>
            <a:off x="182880" y="2907792"/>
            <a:ext cx="54864" cy="1828800"/>
          </a:xfrm>
          <a:prstGeom prst="rect">
            <a:avLst/>
          </a:prstGeom>
          <a:solidFill>
            <a:srgbClr val="FF6B6B"/>
          </a:solidFill>
          <a:ln w="12700">
            <a:solidFill>
              <a:srgbClr val="FF6B6B"/>
            </a:solidFill>
            <a:prstDash val="solid"/>
          </a:ln>
        </p:spPr>
        <p:txBody>
          <a:bodyPr/>
          <a:lstStyle/>
          <a:p>
            <a:endParaRPr lang="es-ES"/>
          </a:p>
        </p:txBody>
      </p:sp>
      <p:sp>
        <p:nvSpPr>
          <p:cNvPr id="18" name="Shape 15"/>
          <p:cNvSpPr/>
          <p:nvPr/>
        </p:nvSpPr>
        <p:spPr>
          <a:xfrm>
            <a:off x="274320" y="2962656"/>
            <a:ext cx="3108960" cy="274320"/>
          </a:xfrm>
          <a:prstGeom prst="rect">
            <a:avLst/>
          </a:prstGeom>
          <a:solidFill>
            <a:srgbClr val="FF6B6B"/>
          </a:solidFill>
          <a:ln w="12700">
            <a:solidFill>
              <a:srgbClr val="FF6B6B"/>
            </a:solidFill>
            <a:prstDash val="solid"/>
          </a:ln>
        </p:spPr>
        <p:txBody>
          <a:bodyPr/>
          <a:lstStyle/>
          <a:p>
            <a:endParaRPr lang="es-ES"/>
          </a:p>
        </p:txBody>
      </p:sp>
      <p:sp>
        <p:nvSpPr>
          <p:cNvPr id="19" name="Text 16"/>
          <p:cNvSpPr/>
          <p:nvPr/>
        </p:nvSpPr>
        <p:spPr>
          <a:xfrm>
            <a:off x="274320" y="2962656"/>
            <a:ext cx="3108960" cy="27432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GPS — Gran Pregunta de la Semana</a:t>
            </a:r>
            <a:endParaRPr lang="en-US" sz="1000" dirty="0"/>
          </a:p>
        </p:txBody>
      </p:sp>
      <p:sp>
        <p:nvSpPr>
          <p:cNvPr id="20" name="Text 17"/>
          <p:cNvSpPr/>
          <p:nvPr/>
        </p:nvSpPr>
        <p:spPr>
          <a:xfrm>
            <a:off x="310896" y="3291840"/>
            <a:ext cx="8503920" cy="1371600"/>
          </a:xfrm>
          <a:prstGeom prst="rect">
            <a:avLst/>
          </a:prstGeom>
          <a:noFill/>
          <a:ln/>
        </p:spPr>
        <p:txBody>
          <a:bodyPr wrap="square" rtlCol="0" anchor="ctr"/>
          <a:lstStyle/>
          <a:p>
            <a:pPr marL="0" indent="0" algn="ctr">
              <a:buNone/>
            </a:pPr>
            <a:r>
              <a:rPr lang="en-US" sz="1400" b="1" i="1" dirty="0">
                <a:solidFill>
                  <a:srgbClr val="FFFFFF"/>
                </a:solidFill>
                <a:latin typeface="Trebuchet MS" pitchFamily="34" charset="0"/>
                <a:ea typeface="Trebuchet MS" pitchFamily="34" charset="-122"/>
                <a:cs typeface="Trebuchet MS" pitchFamily="34" charset="-120"/>
              </a:rPr>
              <a:t>¿Por qué necesitamos tanto la ley como el evangelio, y cómo el sermón del monte nos muestra que nadie puede salvarse a sí mismo y todos necesitan a Jesús como Salvador?</a:t>
            </a:r>
            <a:endParaRPr lang="en-US" sz="1400" dirty="0"/>
          </a:p>
        </p:txBody>
      </p:sp>
      <p:sp>
        <p:nvSpPr>
          <p:cNvPr id="21" name="Text 18"/>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1 de 3</a:t>
            </a:r>
            <a:endParaRPr lang="en-US" sz="1600" dirty="0"/>
          </a:p>
        </p:txBody>
      </p:sp>
      <p:sp>
        <p:nvSpPr>
          <p:cNvPr id="9" name="Shape 6"/>
          <p:cNvSpPr/>
          <p:nvPr/>
        </p:nvSpPr>
        <p:spPr>
          <a:xfrm>
            <a:off x="146304" y="749808"/>
            <a:ext cx="2633472" cy="4192524"/>
          </a:xfrm>
          <a:prstGeom prst="rect">
            <a:avLst/>
          </a:prstGeom>
          <a:solidFill>
            <a:srgbClr val="1A6B3A">
              <a:alpha val="90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7AE8A0"/>
          </a:solidFill>
          <a:ln w="12700">
            <a:solidFill>
              <a:srgbClr val="7AE8A0"/>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7AE8A0"/>
                </a:solidFill>
                <a:latin typeface="Arial Black" pitchFamily="34" charset="0"/>
                <a:ea typeface="Arial Black" pitchFamily="34" charset="-122"/>
                <a:cs typeface="Arial Black" pitchFamily="34" charset="-120"/>
              </a:rPr>
              <a:t>01</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Mateo 5:17-20</a:t>
            </a:r>
            <a:endParaRPr lang="en-US" sz="1350" dirty="0"/>
          </a:p>
        </p:txBody>
      </p:sp>
      <p:sp>
        <p:nvSpPr>
          <p:cNvPr id="13" name="Shape 10"/>
          <p:cNvSpPr/>
          <p:nvPr/>
        </p:nvSpPr>
        <p:spPr>
          <a:xfrm>
            <a:off x="292608" y="1353312"/>
            <a:ext cx="2231136" cy="20117"/>
          </a:xfrm>
          <a:prstGeom prst="rect">
            <a:avLst/>
          </a:prstGeom>
          <a:solidFill>
            <a:srgbClr val="7AE8A0">
              <a:alpha val="55000"/>
            </a:srgbClr>
          </a:solidFill>
          <a:ln w="12700">
            <a:solidFill>
              <a:srgbClr val="7AE8A0"/>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7AE8A0"/>
                </a:solidFill>
                <a:latin typeface="Trebuchet MS" pitchFamily="34" charset="0"/>
                <a:ea typeface="Trebuchet MS" pitchFamily="34" charset="-122"/>
                <a:cs typeface="Trebuchet MS" pitchFamily="34" charset="-120"/>
              </a:rPr>
              <a:t>Jesús y la ley</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significa que Jesús vino a «dar pleno cumplimiento» a la ley, y por qué esto es radicalmente diferente a abolirla?</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6B3A"/>
          </a:solidFill>
          <a:ln w="12700">
            <a:solidFill>
              <a:srgbClr val="1A6B3A"/>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7AE8A0"/>
          </a:solidFill>
          <a:ln w="12700">
            <a:solidFill>
              <a:srgbClr val="7AE8A0"/>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7AE8A0"/>
          </a:solidFill>
          <a:ln w="12700">
            <a:solidFill>
              <a:srgbClr val="7AE8A0"/>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declara que no vino a anular la ley sino a cumplirla. La muerte de Cristo no prueba que la ley era innecesaria sino que era inmutable. (Mat. 5:17-18; Rom. 3:31)</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7AE8A0"/>
          </a:solidFill>
          <a:ln w="12700">
            <a:solidFill>
              <a:srgbClr val="7AE8A0"/>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justicia de sus seguidores deberá superar la de los fariseos: no en cantidad de actos externos, sino en profundidad del corazón. (Mat. 5:20; Rom. 8:3-4)</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7AE8A0"/>
          </a:solidFill>
          <a:ln w="12700">
            <a:solidFill>
              <a:srgbClr val="7AE8A0"/>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Esto no es legalismo; es transformación genuina que llega al corazón, no solo al comportamiento. (Isa. 42:21; Gal. 5:22-23)</a:t>
            </a:r>
            <a:endParaRPr lang="en-US" sz="1200" dirty="0"/>
          </a:p>
        </p:txBody>
      </p:sp>
      <p:sp>
        <p:nvSpPr>
          <p:cNvPr id="29" name="Shape 26"/>
          <p:cNvSpPr/>
          <p:nvPr/>
        </p:nvSpPr>
        <p:spPr>
          <a:xfrm>
            <a:off x="2907792" y="3516874"/>
            <a:ext cx="6089904" cy="1425458"/>
          </a:xfrm>
          <a:prstGeom prst="rect">
            <a:avLst/>
          </a:prstGeom>
          <a:solidFill>
            <a:srgbClr val="1A6B3A">
              <a:alpha val="75000"/>
            </a:srgbClr>
          </a:solidFill>
          <a:ln w="127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7AE8A0"/>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La ley de tránsito no fue abolida porque existan los seguros de accidente. El seguro cubre las consecuencias del error pero no dice que conducir mal esté bien. La gracia cubre el pecado; no dice que no importa.</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2 de 3</a:t>
            </a:r>
            <a:endParaRPr lang="en-US" sz="1600" dirty="0"/>
          </a:p>
        </p:txBody>
      </p:sp>
      <p:sp>
        <p:nvSpPr>
          <p:cNvPr id="9" name="Shape 6"/>
          <p:cNvSpPr/>
          <p:nvPr/>
        </p:nvSpPr>
        <p:spPr>
          <a:xfrm>
            <a:off x="146304" y="749808"/>
            <a:ext cx="2633472" cy="4192524"/>
          </a:xfrm>
          <a:prstGeom prst="rect">
            <a:avLst/>
          </a:prstGeom>
          <a:solidFill>
            <a:srgbClr val="8B2B00">
              <a:alpha val="90000"/>
            </a:srgbClr>
          </a:solidFill>
          <a:ln w="254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F4A878"/>
          </a:solidFill>
          <a:ln w="12700">
            <a:solidFill>
              <a:srgbClr val="F4A87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F4A878"/>
                </a:solidFill>
                <a:latin typeface="Arial Black" pitchFamily="34" charset="0"/>
                <a:ea typeface="Arial Black" pitchFamily="34" charset="-122"/>
                <a:cs typeface="Arial Black" pitchFamily="34" charset="-120"/>
              </a:rPr>
              <a:t>02</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Mateo 5:21-48</a:t>
            </a:r>
            <a:endParaRPr lang="en-US" sz="1350" dirty="0"/>
          </a:p>
        </p:txBody>
      </p:sp>
      <p:sp>
        <p:nvSpPr>
          <p:cNvPr id="13" name="Shape 10"/>
          <p:cNvSpPr/>
          <p:nvPr/>
        </p:nvSpPr>
        <p:spPr>
          <a:xfrm>
            <a:off x="292608" y="1353312"/>
            <a:ext cx="2231136" cy="20117"/>
          </a:xfrm>
          <a:prstGeom prst="rect">
            <a:avLst/>
          </a:prstGeom>
          <a:solidFill>
            <a:srgbClr val="F4A878">
              <a:alpha val="55000"/>
            </a:srgbClr>
          </a:solidFill>
          <a:ln w="12700">
            <a:solidFill>
              <a:srgbClr val="F4A87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F4A878"/>
                </a:solidFill>
                <a:latin typeface="Trebuchet MS" pitchFamily="34" charset="0"/>
                <a:ea typeface="Trebuchet MS" pitchFamily="34" charset="-122"/>
                <a:cs typeface="Trebuchet MS" pitchFamily="34" charset="-120"/>
              </a:rPr>
              <a:t>La ley hasta el corazón</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¿Por qué Jesús radicalizó los mandamientos hasta el nivel del enojo y la lujuria, y a qué conclusión nos lleva eso sobre nuestra condición?</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8B2B00"/>
          </a:solidFill>
          <a:ln w="12700">
            <a:solidFill>
              <a:srgbClr val="8B2B00"/>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F4A878"/>
          </a:solidFill>
          <a:ln w="12700">
            <a:solidFill>
              <a:srgbClr val="F4A87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F4A878"/>
          </a:solidFill>
          <a:ln w="12700">
            <a:solidFill>
              <a:srgbClr val="F4A87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repite seis veces: «Oyeron que fue dicho… pero yo les digo…». No solo matar es asesinato: también el enojo injustificado. (Mat. 5:21-22; Rom. 3:23)</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F4A878"/>
          </a:solidFill>
          <a:ln w="12700">
            <a:solidFill>
              <a:srgbClr val="F4A87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ley espiritual revela que ninguno es inocente: todos somos culpables a nivel del corazón. (Mat. 5:27-28; Sal. 51:5)</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F4A878"/>
          </a:solidFill>
          <a:ln w="12700">
            <a:solidFill>
              <a:srgbClr val="F4A87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ley es como un espejo: no limpia, solo muestra. Cuando nos muestra el pecado, su único propósito es llevarnos a Cristo. (Gal. 3:24; Rom. 3:20; Sant. 1:23-25)</a:t>
            </a:r>
            <a:endParaRPr lang="en-US" sz="1200" dirty="0"/>
          </a:p>
        </p:txBody>
      </p:sp>
      <p:sp>
        <p:nvSpPr>
          <p:cNvPr id="29" name="Shape 26"/>
          <p:cNvSpPr/>
          <p:nvPr/>
        </p:nvSpPr>
        <p:spPr>
          <a:xfrm>
            <a:off x="2907792" y="3516874"/>
            <a:ext cx="6089904" cy="1425458"/>
          </a:xfrm>
          <a:prstGeom prst="rect">
            <a:avLst/>
          </a:prstGeom>
          <a:solidFill>
            <a:srgbClr val="8B2B00">
              <a:alpha val="75000"/>
            </a:srgbClr>
          </a:solidFill>
          <a:ln w="127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F4A87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Nicky Cruz, líder de pandilla, escuchó «Jesús te ama». La ley mostró su culpa; el evangelio mostró la salida. Esa noche, quebrado por la gracia, se arrodilló y entregó su vida a Cristo.</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6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3 de 3</a:t>
            </a:r>
            <a:endParaRPr lang="en-US" sz="1600" dirty="0"/>
          </a:p>
        </p:txBody>
      </p:sp>
      <p:sp>
        <p:nvSpPr>
          <p:cNvPr id="9" name="Shape 6"/>
          <p:cNvSpPr/>
          <p:nvPr/>
        </p:nvSpPr>
        <p:spPr>
          <a:xfrm>
            <a:off x="146304" y="749808"/>
            <a:ext cx="2633472" cy="4192524"/>
          </a:xfrm>
          <a:prstGeom prst="rect">
            <a:avLst/>
          </a:prstGeom>
          <a:solidFill>
            <a:srgbClr val="1A4A8C">
              <a:alpha val="90000"/>
            </a:srgbClr>
          </a:solidFill>
          <a:ln w="254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88C0F8"/>
          </a:solidFill>
          <a:ln w="12700">
            <a:solidFill>
              <a:srgbClr val="88C0F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88C0F8"/>
                </a:solidFill>
                <a:latin typeface="Arial Black" pitchFamily="34" charset="0"/>
                <a:ea typeface="Arial Black" pitchFamily="34" charset="-122"/>
                <a:cs typeface="Arial Black" pitchFamily="34" charset="-120"/>
              </a:rPr>
              <a:t>03</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Mateo 7:21-27</a:t>
            </a:r>
            <a:endParaRPr lang="en-US" sz="1350" dirty="0"/>
          </a:p>
        </p:txBody>
      </p:sp>
      <p:sp>
        <p:nvSpPr>
          <p:cNvPr id="13" name="Shape 10"/>
          <p:cNvSpPr/>
          <p:nvPr/>
        </p:nvSpPr>
        <p:spPr>
          <a:xfrm>
            <a:off x="292608" y="1353312"/>
            <a:ext cx="2231136" cy="20117"/>
          </a:xfrm>
          <a:prstGeom prst="rect">
            <a:avLst/>
          </a:prstGeom>
          <a:solidFill>
            <a:srgbClr val="88C0F8">
              <a:alpha val="55000"/>
            </a:srgbClr>
          </a:solidFill>
          <a:ln w="12700">
            <a:solidFill>
              <a:srgbClr val="88C0F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88C0F8"/>
                </a:solidFill>
                <a:latin typeface="Trebuchet MS" pitchFamily="34" charset="0"/>
                <a:ea typeface="Trebuchet MS" pitchFamily="34" charset="-122"/>
                <a:cs typeface="Trebuchet MS" pitchFamily="34" charset="-120"/>
              </a:rPr>
              <a:t>Conocer y hacer</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diferencia hace Jesús entre conocerlo y obedecerlo, y por qué construir sobre la roca requiere más que el conocimiento correcto?</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4A8C"/>
          </a:solidFill>
          <a:ln w="12700">
            <a:solidFill>
              <a:srgbClr val="1A4A8C"/>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88C0F8"/>
          </a:solidFill>
          <a:ln w="12700">
            <a:solidFill>
              <a:srgbClr val="88C0F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88C0F8"/>
          </a:solidFill>
          <a:ln w="12700">
            <a:solidFill>
              <a:srgbClr val="88C0F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«No todos los que me dicen: Señor, Señor, entrarán en el reino». Es posible predicar y hacer milagros sin conocer verdaderamente a Cristo. (Mat. 7:21-23; Ose. 4:6)</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88C0F8"/>
          </a:solidFill>
          <a:ln w="12700">
            <a:solidFill>
              <a:srgbClr val="88C0F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es la Roca sobre la que se edifica. El evangelio no es información sino relación que produce transformación. (Mat. 7:24-27; Juan 14:6; 1 Cor. 3:11)</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88C0F8"/>
          </a:solidFill>
          <a:ln w="12700">
            <a:solidFill>
              <a:srgbClr val="88C0F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Quien escucha y obedece sus palabras edifica sobre él y tiene estabilidad en la tormenta. (Mat. 25:12; Sant. 1:22)</a:t>
            </a:r>
            <a:endParaRPr lang="en-US" sz="1200" dirty="0"/>
          </a:p>
        </p:txBody>
      </p:sp>
      <p:sp>
        <p:nvSpPr>
          <p:cNvPr id="29" name="Shape 26"/>
          <p:cNvSpPr/>
          <p:nvPr/>
        </p:nvSpPr>
        <p:spPr>
          <a:xfrm>
            <a:off x="2907792" y="3516874"/>
            <a:ext cx="6089904" cy="1425458"/>
          </a:xfrm>
          <a:prstGeom prst="rect">
            <a:avLst/>
          </a:prstGeom>
          <a:solidFill>
            <a:srgbClr val="1A4A8C">
              <a:alpha val="75000"/>
            </a:srgbClr>
          </a:solidFill>
          <a:ln w="127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88C0F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Un joven puede saber todos los versos del sermón del monte y tratar a las personas con crueldad en su casa. La Biblia no dice que el que lo sabe se salva; dice que el que lo practica.</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0000"/>
            </a:srgbClr>
          </a:solidFill>
          <a:ln w="12700">
            <a:solidFill>
              <a:srgbClr val="000000"/>
            </a:solidFill>
            <a:prstDash val="solid"/>
          </a:ln>
        </p:spPr>
        <p:txBody>
          <a:bodyPr/>
          <a:lstStyle/>
          <a:p>
            <a:endParaRPr lang="es-ES"/>
          </a:p>
        </p:txBody>
      </p:sp>
      <p:sp>
        <p:nvSpPr>
          <p:cNvPr id="4" name="Shape 1"/>
          <p:cNvSpPr/>
          <p:nvPr/>
        </p:nvSpPr>
        <p:spPr>
          <a:xfrm>
            <a:off x="0" y="2560320"/>
            <a:ext cx="9144000" cy="2583180"/>
          </a:xfrm>
          <a:prstGeom prst="rect">
            <a:avLst/>
          </a:prstGeom>
          <a:solidFill>
            <a:srgbClr val="000000">
              <a:alpha val="62000"/>
            </a:srgbClr>
          </a:solidFill>
          <a:ln w="12700">
            <a:solidFill>
              <a:srgbClr val="000000"/>
            </a:solidFill>
            <a:prstDash val="solid"/>
          </a:ln>
        </p:spPr>
        <p:txBody>
          <a:bodyPr/>
          <a:lstStyle/>
          <a:p>
            <a:endParaRPr lang="es-ES"/>
          </a:p>
        </p:txBody>
      </p:sp>
      <p:sp>
        <p:nvSpPr>
          <p:cNvPr id="5" name="Shape 2"/>
          <p:cNvSpPr/>
          <p:nvPr/>
        </p:nvSpPr>
        <p:spPr>
          <a:xfrm>
            <a:off x="0" y="0"/>
            <a:ext cx="54864" cy="676656"/>
          </a:xfrm>
          <a:prstGeom prst="rect">
            <a:avLst/>
          </a:prstGeom>
          <a:solidFill>
            <a:srgbClr val="1A6B3A"/>
          </a:solidFill>
          <a:ln w="12700">
            <a:solidFill>
              <a:srgbClr val="1A6B3A"/>
            </a:solidFill>
            <a:prstDash val="solid"/>
          </a:ln>
        </p:spPr>
        <p:txBody>
          <a:bodyPr/>
          <a:lstStyle/>
          <a:p>
            <a:endParaRPr lang="es-ES"/>
          </a:p>
        </p:txBody>
      </p:sp>
      <p:sp>
        <p:nvSpPr>
          <p:cNvPr id="6" name="Shape 3"/>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7" name="Shape 4"/>
          <p:cNvSpPr/>
          <p:nvPr/>
        </p:nvSpPr>
        <p:spPr>
          <a:xfrm>
            <a:off x="182880" y="64008"/>
            <a:ext cx="566928" cy="548640"/>
          </a:xfrm>
          <a:prstGeom prst="rect">
            <a:avLst/>
          </a:prstGeom>
          <a:solidFill>
            <a:srgbClr val="1A6B3A"/>
          </a:solidFill>
          <a:ln w="12700">
            <a:solidFill>
              <a:srgbClr val="1A6B3A"/>
            </a:solidFill>
            <a:prstDash val="solid"/>
          </a:ln>
        </p:spPr>
        <p:txBody>
          <a:bodyPr/>
          <a:lstStyle/>
          <a:p>
            <a:endParaRPr lang="es-ES"/>
          </a:p>
        </p:txBody>
      </p:sp>
      <p:sp>
        <p:nvSpPr>
          <p:cNvPr id="8" name="Text 5"/>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9" name="Text 6"/>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F0B8"/>
                </a:solidFill>
                <a:latin typeface="Trebuchet MS" pitchFamily="34" charset="0"/>
                <a:ea typeface="Trebuchet MS" pitchFamily="34" charset="-122"/>
                <a:cs typeface="Trebuchet MS" pitchFamily="34" charset="-120"/>
              </a:rPr>
              <a:t>FASE 3  ·  APLICA  (REFLEXIONA)  —  Reflexión y aplicación a la vida</a:t>
            </a:r>
            <a:endParaRPr lang="en-US" sz="1600" dirty="0"/>
          </a:p>
        </p:txBody>
      </p:sp>
      <p:sp>
        <p:nvSpPr>
          <p:cNvPr id="10" name="Shape 7"/>
          <p:cNvSpPr/>
          <p:nvPr/>
        </p:nvSpPr>
        <p:spPr>
          <a:xfrm>
            <a:off x="201168" y="749808"/>
            <a:ext cx="8741664" cy="1920240"/>
          </a:xfrm>
          <a:prstGeom prst="rect">
            <a:avLst/>
          </a:prstGeom>
          <a:solidFill>
            <a:srgbClr val="000000">
              <a:alpha val="75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1" name="Shape 8"/>
          <p:cNvSpPr/>
          <p:nvPr/>
        </p:nvSpPr>
        <p:spPr>
          <a:xfrm>
            <a:off x="201168" y="749808"/>
            <a:ext cx="64008" cy="1920240"/>
          </a:xfrm>
          <a:prstGeom prst="rect">
            <a:avLst/>
          </a:prstGeom>
          <a:solidFill>
            <a:srgbClr val="2E8A4A"/>
          </a:solidFill>
          <a:ln w="12700">
            <a:solidFill>
              <a:srgbClr val="2E8A4A"/>
            </a:solidFill>
            <a:prstDash val="solid"/>
          </a:ln>
        </p:spPr>
        <p:txBody>
          <a:bodyPr/>
          <a:lstStyle/>
          <a:p>
            <a:endParaRPr lang="es-ES"/>
          </a:p>
        </p:txBody>
      </p:sp>
      <p:sp>
        <p:nvSpPr>
          <p:cNvPr id="12" name="Text 9"/>
          <p:cNvSpPr/>
          <p:nvPr/>
        </p:nvSpPr>
        <p:spPr>
          <a:xfrm>
            <a:off x="256032" y="694944"/>
            <a:ext cx="822960" cy="1097280"/>
          </a:xfrm>
          <a:prstGeom prst="rect">
            <a:avLst/>
          </a:prstGeom>
          <a:noFill/>
          <a:ln/>
        </p:spPr>
        <p:txBody>
          <a:bodyPr wrap="square" lIns="0" tIns="0" rIns="0" bIns="0" rtlCol="0" anchor="t"/>
          <a:lstStyle/>
          <a:p>
            <a:pPr marL="0" indent="0" algn="l">
              <a:buNone/>
            </a:pPr>
            <a:r>
              <a:rPr lang="en-US" sz="7600" b="1" dirty="0">
                <a:solidFill>
                  <a:srgbClr val="4AE89A"/>
                </a:solidFill>
                <a:latin typeface="Georgia" pitchFamily="34" charset="0"/>
                <a:ea typeface="Georgia" pitchFamily="34" charset="-122"/>
                <a:cs typeface="Georgia" pitchFamily="34" charset="-120"/>
              </a:rPr>
              <a:t>“</a:t>
            </a:r>
            <a:endParaRPr lang="en-US" sz="7600" dirty="0"/>
          </a:p>
        </p:txBody>
      </p:sp>
      <p:sp>
        <p:nvSpPr>
          <p:cNvPr id="13" name="Text 10"/>
          <p:cNvSpPr/>
          <p:nvPr/>
        </p:nvSpPr>
        <p:spPr>
          <a:xfrm>
            <a:off x="877824" y="841248"/>
            <a:ext cx="7955280" cy="1481328"/>
          </a:xfrm>
          <a:prstGeom prst="rect">
            <a:avLst/>
          </a:prstGeom>
          <a:noFill/>
          <a:ln/>
        </p:spPr>
        <p:txBody>
          <a:bodyPr wrap="square" rtlCol="0" anchor="ctr"/>
          <a:lstStyle/>
          <a:p>
            <a:pPr marL="0" indent="0" algn="just">
              <a:buNone/>
            </a:pPr>
            <a:r>
              <a:rPr lang="en-US" sz="1350" i="1" dirty="0">
                <a:solidFill>
                  <a:srgbClr val="EEFFEE"/>
                </a:solidFill>
                <a:latin typeface="Calibri" pitchFamily="34" charset="0"/>
                <a:ea typeface="Calibri" pitchFamily="34" charset="-122"/>
                <a:cs typeface="Calibri" pitchFamily="34" charset="-120"/>
              </a:rPr>
              <a:t>"El aserto de que, con su muerte, Cristo abolió la ley de su Padre no tiene fundamento. Si hubiese sido posible cambiar la ley o abolirla, entonces Cristo no habría tenido por qué morir para salvar al hombre de la penalidad del pecado. La muerte de Cristo, lejos de abolir la ley, prueba que es inmutable. El Hijo de Dios vino para engrandecer la ley y hacerla honorable."</a:t>
            </a:r>
            <a:endParaRPr lang="en-US" sz="1350" dirty="0"/>
          </a:p>
        </p:txBody>
      </p:sp>
      <p:sp>
        <p:nvSpPr>
          <p:cNvPr id="14" name="Text 11"/>
          <p:cNvSpPr/>
          <p:nvPr/>
        </p:nvSpPr>
        <p:spPr>
          <a:xfrm>
            <a:off x="877824" y="2670048"/>
            <a:ext cx="7955280" cy="201168"/>
          </a:xfrm>
          <a:prstGeom prst="rect">
            <a:avLst/>
          </a:prstGeom>
          <a:noFill/>
          <a:ln/>
        </p:spPr>
        <p:txBody>
          <a:bodyPr wrap="square" lIns="0" tIns="0" rIns="0" bIns="0" rtlCol="0" anchor="ctr"/>
          <a:lstStyle/>
          <a:p>
            <a:pPr marL="0" indent="0" algn="r">
              <a:buNone/>
            </a:pPr>
            <a:r>
              <a:rPr lang="en-US" sz="900" i="1" dirty="0">
                <a:solidFill>
                  <a:srgbClr val="6AE89A"/>
                </a:solidFill>
                <a:latin typeface="Calibri" pitchFamily="34" charset="0"/>
                <a:ea typeface="Calibri" pitchFamily="34" charset="-122"/>
                <a:cs typeface="Calibri" pitchFamily="34" charset="-120"/>
              </a:rPr>
              <a:t>— Elena G. de White, El camino a Cristo, p. 60</a:t>
            </a:r>
            <a:endParaRPr lang="en-US" sz="900" dirty="0"/>
          </a:p>
        </p:txBody>
      </p:sp>
      <p:sp>
        <p:nvSpPr>
          <p:cNvPr id="15" name="Shape 12"/>
          <p:cNvSpPr/>
          <p:nvPr/>
        </p:nvSpPr>
        <p:spPr>
          <a:xfrm>
            <a:off x="201168" y="2944368"/>
            <a:ext cx="8741664" cy="45720"/>
          </a:xfrm>
          <a:prstGeom prst="rect">
            <a:avLst/>
          </a:prstGeom>
          <a:solidFill>
            <a:srgbClr val="FF6B6B"/>
          </a:solidFill>
          <a:ln w="12700">
            <a:solidFill>
              <a:srgbClr val="FF6B6B"/>
            </a:solidFill>
            <a:prstDash val="solid"/>
          </a:ln>
        </p:spPr>
        <p:txBody>
          <a:bodyPr/>
          <a:lstStyle/>
          <a:p>
            <a:endParaRPr lang="es-ES"/>
          </a:p>
        </p:txBody>
      </p:sp>
      <p:sp>
        <p:nvSpPr>
          <p:cNvPr id="16" name="Text 13"/>
          <p:cNvSpPr/>
          <p:nvPr/>
        </p:nvSpPr>
        <p:spPr>
          <a:xfrm>
            <a:off x="329184" y="3035808"/>
            <a:ext cx="1463040" cy="274320"/>
          </a:xfrm>
          <a:prstGeom prst="rect">
            <a:avLst/>
          </a:prstGeom>
          <a:noFill/>
          <a:ln/>
        </p:spPr>
        <p:txBody>
          <a:bodyPr wrap="square" lIns="0" tIns="0" rIns="0" bIns="0" rtlCol="0" anchor="ctr"/>
          <a:lstStyle/>
          <a:p>
            <a:pPr marL="0" indent="0">
              <a:buNone/>
            </a:pPr>
            <a:r>
              <a:rPr lang="en-US" sz="1100" b="1" dirty="0">
                <a:solidFill>
                  <a:srgbClr val="FF6B6B"/>
                </a:solidFill>
                <a:latin typeface="Trebuchet MS" pitchFamily="34" charset="0"/>
                <a:ea typeface="Trebuchet MS" pitchFamily="34" charset="-122"/>
                <a:cs typeface="Trebuchet MS" pitchFamily="34" charset="-120"/>
              </a:rPr>
              <a:t>Reflexiona:</a:t>
            </a:r>
            <a:endParaRPr lang="en-US" sz="1100" dirty="0"/>
          </a:p>
        </p:txBody>
      </p:sp>
      <p:sp>
        <p:nvSpPr>
          <p:cNvPr id="17" name="Text 14"/>
          <p:cNvSpPr/>
          <p:nvPr/>
        </p:nvSpPr>
        <p:spPr>
          <a:xfrm>
            <a:off x="329184" y="3328416"/>
            <a:ext cx="8485632" cy="1444752"/>
          </a:xfrm>
          <a:prstGeom prst="rect">
            <a:avLst/>
          </a:prstGeom>
          <a:noFill/>
          <a:ln/>
          <a:effectLst>
            <a:outerShdw blurRad="177800" dist="38100" dir="8100000" algn="bl" rotWithShape="0">
              <a:srgbClr val="000000">
                <a:alpha val="80000"/>
              </a:srgbClr>
            </a:outerShdw>
          </a:effectLst>
        </p:spPr>
        <p:txBody>
          <a:bodyPr wrap="square" rtlCol="0" anchor="ctr"/>
          <a:lstStyle/>
          <a:p>
            <a:pPr marL="0" indent="0" algn="ctr">
              <a:buNone/>
            </a:pPr>
            <a:r>
              <a:rPr lang="en-US" sz="1650" b="1" dirty="0">
                <a:solidFill>
                  <a:srgbClr val="FFFFFF"/>
                </a:solidFill>
                <a:latin typeface="Arial Black" pitchFamily="34" charset="0"/>
                <a:ea typeface="Arial Black" pitchFamily="34" charset="-122"/>
                <a:cs typeface="Arial Black" pitchFamily="34" charset="-120"/>
              </a:rPr>
              <a:t>¿Qué área de tu vida el sermón del monte está desafiando esta semana —el enojo, la honestidad, la generosidad, el juicio a otros—? ¿Qué acto concreto de obediencia tomarás?</a:t>
            </a:r>
            <a:endParaRPr lang="en-US" sz="1650" dirty="0"/>
          </a:p>
        </p:txBody>
      </p:sp>
      <p:sp>
        <p:nvSpPr>
          <p:cNvPr id="18" name="Text 15"/>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7A1010"/>
          </a:solidFill>
          <a:ln w="12700">
            <a:solidFill>
              <a:srgbClr val="7A101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7A1010"/>
          </a:solidFill>
          <a:ln w="12700">
            <a:solidFill>
              <a:srgbClr val="7A101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B0B0"/>
                </a:solidFill>
                <a:latin typeface="Trebuchet MS" pitchFamily="34" charset="0"/>
                <a:ea typeface="Trebuchet MS" pitchFamily="34" charset="-122"/>
                <a:cs typeface="Trebuchet MS" pitchFamily="34" charset="-120"/>
              </a:rPr>
              <a:t>FASE 4  ·  CREA  —  MI DECISIÓN  ·  Esta semana decido...</a:t>
            </a:r>
            <a:endParaRPr lang="en-US" sz="1600" dirty="0"/>
          </a:p>
        </p:txBody>
      </p:sp>
      <p:sp>
        <p:nvSpPr>
          <p:cNvPr id="9" name="Shape 6"/>
          <p:cNvSpPr/>
          <p:nvPr/>
        </p:nvSpPr>
        <p:spPr>
          <a:xfrm>
            <a:off x="182880" y="749808"/>
            <a:ext cx="7059168" cy="347472"/>
          </a:xfrm>
          <a:prstGeom prst="rect">
            <a:avLst/>
          </a:prstGeom>
          <a:solidFill>
            <a:srgbClr val="0E1E34"/>
          </a:solidFill>
          <a:ln w="12700">
            <a:solidFill>
              <a:srgbClr val="FF6B6B"/>
            </a:solidFill>
            <a:prstDash val="solid"/>
          </a:ln>
        </p:spPr>
        <p:txBody>
          <a:bodyPr/>
          <a:lstStyle/>
          <a:p>
            <a:endParaRPr lang="es-ES"/>
          </a:p>
        </p:txBody>
      </p:sp>
      <p:sp>
        <p:nvSpPr>
          <p:cNvPr id="10" name="Text 7"/>
          <p:cNvSpPr/>
          <p:nvPr/>
        </p:nvSpPr>
        <p:spPr>
          <a:xfrm>
            <a:off x="310896" y="749808"/>
            <a:ext cx="6876288" cy="347472"/>
          </a:xfrm>
          <a:prstGeom prst="rect">
            <a:avLst/>
          </a:prstGeom>
          <a:noFill/>
          <a:ln/>
        </p:spPr>
        <p:txBody>
          <a:bodyPr wrap="square" lIns="0" tIns="0" rIns="0" bIns="0" rtlCol="0" anchor="ctr"/>
          <a:lstStyle/>
          <a:p>
            <a:pPr marL="0" indent="0" algn="l">
              <a:buNone/>
            </a:pPr>
            <a:r>
              <a:rPr lang="en-US" sz="1100" i="1" dirty="0">
                <a:solidFill>
                  <a:srgbClr val="8888AA"/>
                </a:solidFill>
                <a:latin typeface="Calibri" pitchFamily="34" charset="0"/>
                <a:ea typeface="Calibri" pitchFamily="34" charset="-122"/>
                <a:cs typeface="Calibri" pitchFamily="34" charset="-120"/>
              </a:rPr>
              <a:t>Mi decisión esta semana...</a:t>
            </a:r>
            <a:endParaRPr lang="en-US" sz="1100" dirty="0"/>
          </a:p>
        </p:txBody>
      </p:sp>
      <p:sp>
        <p:nvSpPr>
          <p:cNvPr id="11" name="Shape 8"/>
          <p:cNvSpPr/>
          <p:nvPr/>
        </p:nvSpPr>
        <p:spPr>
          <a:xfrm>
            <a:off x="7351776" y="749808"/>
            <a:ext cx="877824" cy="347472"/>
          </a:xfrm>
          <a:prstGeom prst="rect">
            <a:avLst/>
          </a:prstGeom>
          <a:solidFill>
            <a:srgbClr val="1A5C28"/>
          </a:solidFill>
          <a:ln w="12700">
            <a:solidFill>
              <a:srgbClr val="5AE07A"/>
            </a:solidFill>
            <a:prstDash val="solid"/>
          </a:ln>
        </p:spPr>
        <p:txBody>
          <a:bodyPr/>
          <a:lstStyle/>
          <a:p>
            <a:endParaRPr lang="es-ES"/>
          </a:p>
        </p:txBody>
      </p:sp>
      <p:sp>
        <p:nvSpPr>
          <p:cNvPr id="12" name="Text 9"/>
          <p:cNvSpPr/>
          <p:nvPr/>
        </p:nvSpPr>
        <p:spPr>
          <a:xfrm>
            <a:off x="7351776" y="749808"/>
            <a:ext cx="877824" cy="347472"/>
          </a:xfrm>
          <a:prstGeom prst="rect">
            <a:avLst/>
          </a:prstGeom>
          <a:noFill/>
          <a:ln/>
        </p:spPr>
        <p:txBody>
          <a:bodyPr wrap="square" lIns="0" tIns="0" rIns="0" bIns="0" rtlCol="0" anchor="ctr"/>
          <a:lstStyle/>
          <a:p>
            <a:pPr marL="0" indent="0" algn="ctr">
              <a:buNone/>
            </a:pPr>
            <a:r>
              <a:rPr lang="en-US" sz="1800" b="1" dirty="0">
                <a:solidFill>
                  <a:srgbClr val="A8F0A8"/>
                </a:solidFill>
                <a:latin typeface="Arial Black" pitchFamily="34" charset="0"/>
                <a:ea typeface="Arial Black" pitchFamily="34" charset="-122"/>
                <a:cs typeface="Arial Black" pitchFamily="34" charset="-120"/>
              </a:rPr>
              <a:t>SÍ</a:t>
            </a:r>
            <a:endParaRPr lang="en-US" sz="1800" dirty="0"/>
          </a:p>
        </p:txBody>
      </p:sp>
      <p:sp>
        <p:nvSpPr>
          <p:cNvPr id="13" name="Shape 10"/>
          <p:cNvSpPr/>
          <p:nvPr/>
        </p:nvSpPr>
        <p:spPr>
          <a:xfrm>
            <a:off x="8339328" y="749808"/>
            <a:ext cx="877824" cy="347472"/>
          </a:xfrm>
          <a:prstGeom prst="rect">
            <a:avLst/>
          </a:prstGeom>
          <a:solidFill>
            <a:srgbClr val="5C1A1A"/>
          </a:solidFill>
          <a:ln w="12700">
            <a:solidFill>
              <a:srgbClr val="E06060"/>
            </a:solidFill>
            <a:prstDash val="solid"/>
          </a:ln>
        </p:spPr>
        <p:txBody>
          <a:bodyPr/>
          <a:lstStyle/>
          <a:p>
            <a:endParaRPr lang="es-ES"/>
          </a:p>
        </p:txBody>
      </p:sp>
      <p:sp>
        <p:nvSpPr>
          <p:cNvPr id="14" name="Text 11"/>
          <p:cNvSpPr/>
          <p:nvPr/>
        </p:nvSpPr>
        <p:spPr>
          <a:xfrm>
            <a:off x="8339328" y="749808"/>
            <a:ext cx="877824" cy="347472"/>
          </a:xfrm>
          <a:prstGeom prst="rect">
            <a:avLst/>
          </a:prstGeom>
          <a:noFill/>
          <a:ln/>
        </p:spPr>
        <p:txBody>
          <a:bodyPr wrap="square" lIns="0" tIns="0" rIns="0" bIns="0" rtlCol="0" anchor="ctr"/>
          <a:lstStyle/>
          <a:p>
            <a:pPr marL="0" indent="0" algn="ctr">
              <a:buNone/>
            </a:pPr>
            <a:r>
              <a:rPr lang="en-US" sz="1800" b="1" dirty="0">
                <a:solidFill>
                  <a:srgbClr val="F0A8A8"/>
                </a:solidFill>
                <a:latin typeface="Arial Black" pitchFamily="34" charset="0"/>
                <a:ea typeface="Arial Black" pitchFamily="34" charset="-122"/>
                <a:cs typeface="Arial Black" pitchFamily="34" charset="-120"/>
              </a:rPr>
              <a:t>NO</a:t>
            </a:r>
            <a:endParaRPr lang="en-US" sz="1800" dirty="0"/>
          </a:p>
        </p:txBody>
      </p:sp>
      <p:sp>
        <p:nvSpPr>
          <p:cNvPr id="15" name="Shape 12"/>
          <p:cNvSpPr/>
          <p:nvPr/>
        </p:nvSpPr>
        <p:spPr>
          <a:xfrm>
            <a:off x="182880" y="1152144"/>
            <a:ext cx="7059168" cy="1261872"/>
          </a:xfrm>
          <a:prstGeom prst="rect">
            <a:avLst/>
          </a:prstGeom>
          <a:solidFill>
            <a:srgbClr val="0E1E34"/>
          </a:solidFill>
          <a:ln w="15240">
            <a:solidFill>
              <a:srgbClr val="FF6B6B"/>
            </a:solidFill>
            <a:prstDash val="solid"/>
          </a:ln>
          <a:effectLst>
            <a:outerShdw blurRad="152400" dist="38100" dir="8100000" algn="bl" rotWithShape="0">
              <a:srgbClr val="000000">
                <a:alpha val="50000"/>
              </a:srgbClr>
            </a:outerShdw>
          </a:effectLst>
        </p:spPr>
        <p:txBody>
          <a:bodyPr/>
          <a:lstStyle/>
          <a:p>
            <a:endParaRPr lang="es-ES"/>
          </a:p>
        </p:txBody>
      </p:sp>
      <p:sp>
        <p:nvSpPr>
          <p:cNvPr id="16" name="Shape 13"/>
          <p:cNvSpPr/>
          <p:nvPr/>
        </p:nvSpPr>
        <p:spPr>
          <a:xfrm>
            <a:off x="182880" y="1152144"/>
            <a:ext cx="64008" cy="1261872"/>
          </a:xfrm>
          <a:prstGeom prst="rect">
            <a:avLst/>
          </a:prstGeom>
          <a:solidFill>
            <a:srgbClr val="FF6B6B"/>
          </a:solidFill>
          <a:ln w="12700">
            <a:solidFill>
              <a:srgbClr val="FF6B6B"/>
            </a:solidFill>
            <a:prstDash val="solid"/>
          </a:ln>
        </p:spPr>
        <p:txBody>
          <a:bodyPr/>
          <a:lstStyle/>
          <a:p>
            <a:endParaRPr lang="es-ES"/>
          </a:p>
        </p:txBody>
      </p:sp>
      <p:sp>
        <p:nvSpPr>
          <p:cNvPr id="17" name="Shape 14"/>
          <p:cNvSpPr/>
          <p:nvPr/>
        </p:nvSpPr>
        <p:spPr>
          <a:xfrm>
            <a:off x="292608" y="1508760"/>
            <a:ext cx="548640" cy="548640"/>
          </a:xfrm>
          <a:prstGeom prst="line">
            <a:avLst/>
          </a:prstGeom>
          <a:solidFill>
            <a:srgbClr val="FF6B6B"/>
          </a:solidFill>
          <a:ln w="12700">
            <a:solidFill>
              <a:srgbClr val="FF6B6B"/>
            </a:solidFill>
            <a:prstDash val="solid"/>
          </a:ln>
        </p:spPr>
        <p:txBody>
          <a:bodyPr/>
          <a:lstStyle/>
          <a:p>
            <a:endParaRPr lang="es-ES"/>
          </a:p>
        </p:txBody>
      </p:sp>
      <p:sp>
        <p:nvSpPr>
          <p:cNvPr id="18" name="Text 15"/>
          <p:cNvSpPr/>
          <p:nvPr/>
        </p:nvSpPr>
        <p:spPr>
          <a:xfrm>
            <a:off x="292608" y="1508760"/>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1</a:t>
            </a:r>
            <a:endParaRPr lang="en-US" sz="1800" dirty="0"/>
          </a:p>
        </p:txBody>
      </p:sp>
      <p:sp>
        <p:nvSpPr>
          <p:cNvPr id="19" name="Text 16"/>
          <p:cNvSpPr/>
          <p:nvPr/>
        </p:nvSpPr>
        <p:spPr>
          <a:xfrm>
            <a:off x="969264" y="1261872"/>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Reconozco esta semana una área específica donde el sermón del monte me muestra que necesito un Salvador, no solo más esfuerzo (Mat. 5:21-28; Rom. 3:23).</a:t>
            </a:r>
            <a:endParaRPr lang="en-US" sz="1250" dirty="0"/>
          </a:p>
        </p:txBody>
      </p:sp>
      <p:sp>
        <p:nvSpPr>
          <p:cNvPr id="20" name="Shape 17"/>
          <p:cNvSpPr/>
          <p:nvPr/>
        </p:nvSpPr>
        <p:spPr>
          <a:xfrm>
            <a:off x="7351776" y="1152144"/>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21" name="Shape 18"/>
          <p:cNvSpPr/>
          <p:nvPr/>
        </p:nvSpPr>
        <p:spPr>
          <a:xfrm>
            <a:off x="7562088" y="1325880"/>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22" name="Text 19"/>
          <p:cNvSpPr/>
          <p:nvPr/>
        </p:nvSpPr>
        <p:spPr>
          <a:xfrm>
            <a:off x="7351776" y="1837944"/>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23" name="Shape 20"/>
          <p:cNvSpPr/>
          <p:nvPr/>
        </p:nvSpPr>
        <p:spPr>
          <a:xfrm>
            <a:off x="8339328" y="1152144"/>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24" name="Shape 21"/>
          <p:cNvSpPr/>
          <p:nvPr/>
        </p:nvSpPr>
        <p:spPr>
          <a:xfrm>
            <a:off x="8549640" y="1325880"/>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25" name="Text 22"/>
          <p:cNvSpPr/>
          <p:nvPr/>
        </p:nvSpPr>
        <p:spPr>
          <a:xfrm>
            <a:off x="8339328" y="1837944"/>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26" name="Shape 23"/>
          <p:cNvSpPr/>
          <p:nvPr/>
        </p:nvSpPr>
        <p:spPr>
          <a:xfrm>
            <a:off x="182880" y="2487168"/>
            <a:ext cx="7059168" cy="1261872"/>
          </a:xfrm>
          <a:prstGeom prst="rect">
            <a:avLst/>
          </a:prstGeom>
          <a:solidFill>
            <a:srgbClr val="0A1828"/>
          </a:solidFill>
          <a:ln w="15240">
            <a:solidFill>
              <a:srgbClr val="FF6B6B"/>
            </a:solidFill>
            <a:prstDash val="solid"/>
          </a:ln>
          <a:effectLst>
            <a:outerShdw blurRad="152400" dist="38100" dir="8100000" algn="bl" rotWithShape="0">
              <a:srgbClr val="000000">
                <a:alpha val="50000"/>
              </a:srgbClr>
            </a:outerShdw>
          </a:effectLst>
        </p:spPr>
        <p:txBody>
          <a:bodyPr/>
          <a:lstStyle/>
          <a:p>
            <a:endParaRPr lang="es-ES"/>
          </a:p>
        </p:txBody>
      </p:sp>
      <p:sp>
        <p:nvSpPr>
          <p:cNvPr id="27" name="Shape 24"/>
          <p:cNvSpPr/>
          <p:nvPr/>
        </p:nvSpPr>
        <p:spPr>
          <a:xfrm>
            <a:off x="182880" y="2487168"/>
            <a:ext cx="64008" cy="1261872"/>
          </a:xfrm>
          <a:prstGeom prst="rect">
            <a:avLst/>
          </a:prstGeom>
          <a:solidFill>
            <a:srgbClr val="FF6B6B"/>
          </a:solidFill>
          <a:ln w="12700">
            <a:solidFill>
              <a:srgbClr val="FF6B6B"/>
            </a:solidFill>
            <a:prstDash val="solid"/>
          </a:ln>
        </p:spPr>
        <p:txBody>
          <a:bodyPr/>
          <a:lstStyle/>
          <a:p>
            <a:endParaRPr lang="es-ES"/>
          </a:p>
        </p:txBody>
      </p:sp>
      <p:sp>
        <p:nvSpPr>
          <p:cNvPr id="28" name="Shape 25"/>
          <p:cNvSpPr/>
          <p:nvPr/>
        </p:nvSpPr>
        <p:spPr>
          <a:xfrm>
            <a:off x="292608" y="2843784"/>
            <a:ext cx="548640" cy="548640"/>
          </a:xfrm>
          <a:prstGeom prst="line">
            <a:avLst/>
          </a:prstGeom>
          <a:solidFill>
            <a:srgbClr val="FF6B6B"/>
          </a:solidFill>
          <a:ln w="12700">
            <a:solidFill>
              <a:srgbClr val="FF6B6B"/>
            </a:solidFill>
            <a:prstDash val="solid"/>
          </a:ln>
        </p:spPr>
        <p:txBody>
          <a:bodyPr/>
          <a:lstStyle/>
          <a:p>
            <a:endParaRPr lang="es-ES"/>
          </a:p>
        </p:txBody>
      </p:sp>
      <p:sp>
        <p:nvSpPr>
          <p:cNvPr id="29" name="Text 26"/>
          <p:cNvSpPr/>
          <p:nvPr/>
        </p:nvSpPr>
        <p:spPr>
          <a:xfrm>
            <a:off x="292608" y="2843784"/>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2</a:t>
            </a:r>
            <a:endParaRPr lang="en-US" sz="1800" dirty="0"/>
          </a:p>
        </p:txBody>
      </p:sp>
      <p:sp>
        <p:nvSpPr>
          <p:cNvPr id="30" name="Text 27"/>
          <p:cNvSpPr/>
          <p:nvPr/>
        </p:nvSpPr>
        <p:spPr>
          <a:xfrm>
            <a:off x="969264" y="2596896"/>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Elijo una acción concreta de obediencia a las palabras de Jesús esta semana, construyendo sobre la Roca en lugar de solo escuchar (Mat. 7:24; Sant. 1:22).</a:t>
            </a:r>
            <a:endParaRPr lang="en-US" sz="1250" dirty="0"/>
          </a:p>
        </p:txBody>
      </p:sp>
      <p:sp>
        <p:nvSpPr>
          <p:cNvPr id="31" name="Shape 28"/>
          <p:cNvSpPr/>
          <p:nvPr/>
        </p:nvSpPr>
        <p:spPr>
          <a:xfrm>
            <a:off x="7351776" y="2487168"/>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32" name="Shape 29"/>
          <p:cNvSpPr/>
          <p:nvPr/>
        </p:nvSpPr>
        <p:spPr>
          <a:xfrm>
            <a:off x="7562088" y="2660904"/>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33" name="Text 30"/>
          <p:cNvSpPr/>
          <p:nvPr/>
        </p:nvSpPr>
        <p:spPr>
          <a:xfrm>
            <a:off x="7351776" y="3172968"/>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34" name="Shape 31"/>
          <p:cNvSpPr/>
          <p:nvPr/>
        </p:nvSpPr>
        <p:spPr>
          <a:xfrm>
            <a:off x="8339328" y="2487168"/>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35" name="Shape 32"/>
          <p:cNvSpPr/>
          <p:nvPr/>
        </p:nvSpPr>
        <p:spPr>
          <a:xfrm>
            <a:off x="8549640" y="2660904"/>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36" name="Text 33"/>
          <p:cNvSpPr/>
          <p:nvPr/>
        </p:nvSpPr>
        <p:spPr>
          <a:xfrm>
            <a:off x="8339328" y="3172968"/>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37" name="Shape 34"/>
          <p:cNvSpPr/>
          <p:nvPr/>
        </p:nvSpPr>
        <p:spPr>
          <a:xfrm>
            <a:off x="182880" y="3822192"/>
            <a:ext cx="7059168" cy="1261872"/>
          </a:xfrm>
          <a:prstGeom prst="rect">
            <a:avLst/>
          </a:prstGeom>
          <a:solidFill>
            <a:srgbClr val="0E1E34"/>
          </a:solidFill>
          <a:ln w="15240">
            <a:solidFill>
              <a:srgbClr val="FF6B6B"/>
            </a:solidFill>
            <a:prstDash val="solid"/>
          </a:ln>
          <a:effectLst>
            <a:outerShdw blurRad="152400" dist="38100" dir="8100000" algn="bl" rotWithShape="0">
              <a:srgbClr val="000000">
                <a:alpha val="50000"/>
              </a:srgbClr>
            </a:outerShdw>
          </a:effectLst>
        </p:spPr>
        <p:txBody>
          <a:bodyPr/>
          <a:lstStyle/>
          <a:p>
            <a:endParaRPr lang="es-ES"/>
          </a:p>
        </p:txBody>
      </p:sp>
      <p:sp>
        <p:nvSpPr>
          <p:cNvPr id="38" name="Shape 35"/>
          <p:cNvSpPr/>
          <p:nvPr/>
        </p:nvSpPr>
        <p:spPr>
          <a:xfrm>
            <a:off x="182880" y="3822192"/>
            <a:ext cx="64008" cy="1261872"/>
          </a:xfrm>
          <a:prstGeom prst="rect">
            <a:avLst/>
          </a:prstGeom>
          <a:solidFill>
            <a:srgbClr val="FF6B6B"/>
          </a:solidFill>
          <a:ln w="12700">
            <a:solidFill>
              <a:srgbClr val="FF6B6B"/>
            </a:solidFill>
            <a:prstDash val="solid"/>
          </a:ln>
        </p:spPr>
        <p:txBody>
          <a:bodyPr/>
          <a:lstStyle/>
          <a:p>
            <a:endParaRPr lang="es-ES"/>
          </a:p>
        </p:txBody>
      </p:sp>
      <p:sp>
        <p:nvSpPr>
          <p:cNvPr id="39" name="Shape 36"/>
          <p:cNvSpPr/>
          <p:nvPr/>
        </p:nvSpPr>
        <p:spPr>
          <a:xfrm>
            <a:off x="292608" y="4178808"/>
            <a:ext cx="548640" cy="548640"/>
          </a:xfrm>
          <a:prstGeom prst="line">
            <a:avLst/>
          </a:prstGeom>
          <a:solidFill>
            <a:srgbClr val="FF6B6B"/>
          </a:solidFill>
          <a:ln w="12700">
            <a:solidFill>
              <a:srgbClr val="FF6B6B"/>
            </a:solidFill>
            <a:prstDash val="solid"/>
          </a:ln>
        </p:spPr>
        <p:txBody>
          <a:bodyPr/>
          <a:lstStyle/>
          <a:p>
            <a:endParaRPr lang="es-ES"/>
          </a:p>
        </p:txBody>
      </p:sp>
      <p:sp>
        <p:nvSpPr>
          <p:cNvPr id="40" name="Text 37"/>
          <p:cNvSpPr/>
          <p:nvPr/>
        </p:nvSpPr>
        <p:spPr>
          <a:xfrm>
            <a:off x="292608" y="4178808"/>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3</a:t>
            </a:r>
            <a:endParaRPr lang="en-US" sz="1800" dirty="0"/>
          </a:p>
        </p:txBody>
      </p:sp>
      <p:sp>
        <p:nvSpPr>
          <p:cNvPr id="41" name="Text 38"/>
          <p:cNvSpPr/>
          <p:nvPr/>
        </p:nvSpPr>
        <p:spPr>
          <a:xfrm>
            <a:off x="969264" y="3931920"/>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Pido al Espíritu Santo que ponga la ley de Dios en mi corazón, no solo en mi mente, para que la obediencia fluya de la relación y no del miedo (Eze. 36:26-27; Juan 14:15).</a:t>
            </a:r>
            <a:endParaRPr lang="en-US" sz="1250" dirty="0"/>
          </a:p>
        </p:txBody>
      </p:sp>
      <p:sp>
        <p:nvSpPr>
          <p:cNvPr id="42" name="Shape 39"/>
          <p:cNvSpPr/>
          <p:nvPr/>
        </p:nvSpPr>
        <p:spPr>
          <a:xfrm>
            <a:off x="7351776" y="3822192"/>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43" name="Shape 40"/>
          <p:cNvSpPr/>
          <p:nvPr/>
        </p:nvSpPr>
        <p:spPr>
          <a:xfrm>
            <a:off x="7562088" y="3995928"/>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44" name="Text 41"/>
          <p:cNvSpPr/>
          <p:nvPr/>
        </p:nvSpPr>
        <p:spPr>
          <a:xfrm>
            <a:off x="7351776" y="4507992"/>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45" name="Shape 42"/>
          <p:cNvSpPr/>
          <p:nvPr/>
        </p:nvSpPr>
        <p:spPr>
          <a:xfrm>
            <a:off x="8339328" y="3822192"/>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46" name="Shape 43"/>
          <p:cNvSpPr/>
          <p:nvPr/>
        </p:nvSpPr>
        <p:spPr>
          <a:xfrm>
            <a:off x="8549640" y="3995928"/>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47" name="Text 44"/>
          <p:cNvSpPr/>
          <p:nvPr/>
        </p:nvSpPr>
        <p:spPr>
          <a:xfrm>
            <a:off x="8339328" y="4507992"/>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48" name="Text 45"/>
          <p:cNvSpPr/>
          <p:nvPr/>
        </p:nvSpPr>
        <p:spPr>
          <a:xfrm>
            <a:off x="182880" y="4686300"/>
            <a:ext cx="8778240" cy="256032"/>
          </a:xfrm>
          <a:prstGeom prst="rect">
            <a:avLst/>
          </a:prstGeom>
          <a:noFill/>
          <a:ln/>
        </p:spPr>
        <p:txBody>
          <a:bodyPr wrap="square" lIns="0" tIns="0" rIns="0" bIns="0" rtlCol="0" anchor="ctr"/>
          <a:lstStyle/>
          <a:p>
            <a:pPr marL="0" indent="0" algn="ctr">
              <a:buNone/>
            </a:pPr>
            <a:r>
              <a:rPr lang="en-US" sz="800" i="1" dirty="0">
                <a:solidFill>
                  <a:srgbClr val="9999BB"/>
                </a:solidFill>
                <a:latin typeface="Calibri" pitchFamily="34" charset="0"/>
                <a:ea typeface="Calibri" pitchFamily="34" charset="-122"/>
                <a:cs typeface="Calibri" pitchFamily="34" charset="-120"/>
              </a:rPr>
              <a:t>«No piensen que he venido a anular la ley o los profetas; no he venido a anularlos sino a darles pleno cumplimiento.» (Mat. 5:17)</a:t>
            </a:r>
            <a:endParaRPr lang="en-US" sz="800" dirty="0"/>
          </a:p>
        </p:txBody>
      </p:sp>
      <p:sp>
        <p:nvSpPr>
          <p:cNvPr id="49" name="Text 4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8000"/>
            </a:srgbClr>
          </a:solidFill>
          <a:ln w="12700">
            <a:solidFill>
              <a:srgbClr val="000000"/>
            </a:solidFill>
            <a:prstDash val="solid"/>
          </a:ln>
        </p:spPr>
        <p:txBody>
          <a:bodyPr/>
          <a:lstStyle/>
          <a:p>
            <a:endParaRPr lang="es-ES"/>
          </a:p>
        </p:txBody>
      </p:sp>
      <p:sp>
        <p:nvSpPr>
          <p:cNvPr id="4" name="Shape 1"/>
          <p:cNvSpPr/>
          <p:nvPr/>
        </p:nvSpPr>
        <p:spPr>
          <a:xfrm>
            <a:off x="0" y="0"/>
            <a:ext cx="9144000" cy="54864"/>
          </a:xfrm>
          <a:prstGeom prst="rect">
            <a:avLst/>
          </a:prstGeom>
          <a:solidFill>
            <a:srgbClr val="FF6B6B"/>
          </a:solidFill>
          <a:ln w="12700">
            <a:solidFill>
              <a:srgbClr val="FF6B6B"/>
            </a:solidFill>
            <a:prstDash val="solid"/>
          </a:ln>
        </p:spPr>
        <p:txBody>
          <a:bodyPr/>
          <a:lstStyle/>
          <a:p>
            <a:endParaRPr lang="es-ES"/>
          </a:p>
        </p:txBody>
      </p:sp>
      <p:sp>
        <p:nvSpPr>
          <p:cNvPr id="5" name="Shape 2"/>
          <p:cNvSpPr/>
          <p:nvPr/>
        </p:nvSpPr>
        <p:spPr>
          <a:xfrm>
            <a:off x="0" y="5070348"/>
            <a:ext cx="9144000" cy="73152"/>
          </a:xfrm>
          <a:prstGeom prst="rect">
            <a:avLst/>
          </a:prstGeom>
          <a:solidFill>
            <a:srgbClr val="FF6B6B"/>
          </a:solidFill>
          <a:ln w="12700">
            <a:solidFill>
              <a:srgbClr val="FF6B6B"/>
            </a:solidFill>
            <a:prstDash val="solid"/>
          </a:ln>
        </p:spPr>
        <p:txBody>
          <a:bodyPr/>
          <a:lstStyle/>
          <a:p>
            <a:endParaRPr lang="es-ES"/>
          </a:p>
        </p:txBody>
      </p:sp>
      <p:sp>
        <p:nvSpPr>
          <p:cNvPr id="6" name="Text 3"/>
          <p:cNvSpPr/>
          <p:nvPr/>
        </p:nvSpPr>
        <p:spPr>
          <a:xfrm>
            <a:off x="274320" y="621792"/>
            <a:ext cx="8595360" cy="2240280"/>
          </a:xfrm>
          <a:prstGeom prst="rect">
            <a:avLst/>
          </a:prstGeom>
          <a:noFill/>
          <a:ln/>
        </p:spPr>
        <p:txBody>
          <a:bodyPr wrap="square" rtlCol="0" anchor="ctr"/>
          <a:lstStyle/>
          <a:p>
            <a:pPr marL="0" indent="0" algn="ctr">
              <a:buNone/>
            </a:pPr>
            <a:r>
              <a:rPr lang="en-US" sz="7800" b="1" dirty="0">
                <a:solidFill>
                  <a:srgbClr val="FFFFFF"/>
                </a:solidFill>
                <a:latin typeface="Arial Black" pitchFamily="34" charset="0"/>
                <a:ea typeface="Arial Black" pitchFamily="34" charset="-122"/>
                <a:cs typeface="Arial Black" pitchFamily="34" charset="-120"/>
              </a:rPr>
              <a:t>¡Gracias!</a:t>
            </a:r>
            <a:endParaRPr lang="en-US" sz="7800" dirty="0"/>
          </a:p>
        </p:txBody>
      </p:sp>
      <p:sp>
        <p:nvSpPr>
          <p:cNvPr id="7" name="Text 4"/>
          <p:cNvSpPr/>
          <p:nvPr/>
        </p:nvSpPr>
        <p:spPr>
          <a:xfrm>
            <a:off x="274320" y="2907792"/>
            <a:ext cx="8595360" cy="402336"/>
          </a:xfrm>
          <a:prstGeom prst="rect">
            <a:avLst/>
          </a:prstGeom>
          <a:noFill/>
          <a:ln/>
        </p:spPr>
        <p:txBody>
          <a:bodyPr wrap="square" rtlCol="0" anchor="ctr"/>
          <a:lstStyle/>
          <a:p>
            <a:pPr marL="0" indent="0" algn="ctr">
              <a:buNone/>
            </a:pPr>
            <a:r>
              <a:rPr lang="en-US" sz="1600" i="1" dirty="0" err="1">
                <a:solidFill>
                  <a:srgbClr val="FF6B6B"/>
                </a:solidFill>
                <a:latin typeface="Trebuchet MS" pitchFamily="34" charset="0"/>
                <a:ea typeface="Trebuchet MS" pitchFamily="34" charset="-122"/>
                <a:cs typeface="Trebuchet MS" pitchFamily="34" charset="-120"/>
              </a:rPr>
              <a:t>Lección</a:t>
            </a:r>
            <a:r>
              <a:rPr lang="en-US" sz="1600" i="1" dirty="0">
                <a:solidFill>
                  <a:srgbClr val="FF6B6B"/>
                </a:solidFill>
                <a:latin typeface="Trebuchet MS" pitchFamily="34" charset="0"/>
                <a:ea typeface="Trebuchet MS" pitchFamily="34" charset="-122"/>
                <a:cs typeface="Trebuchet MS" pitchFamily="34" charset="-120"/>
              </a:rPr>
              <a:t> Joven 9  ·  El pecado, el evangelio y la ley</a:t>
            </a:r>
            <a:endParaRPr lang="en-US" sz="1600" dirty="0"/>
          </a:p>
        </p:txBody>
      </p:sp>
      <p:sp>
        <p:nvSpPr>
          <p:cNvPr id="8" name="Text 5"/>
          <p:cNvSpPr/>
          <p:nvPr/>
        </p:nvSpPr>
        <p:spPr>
          <a:xfrm>
            <a:off x="274320" y="3401568"/>
            <a:ext cx="8595360" cy="804672"/>
          </a:xfrm>
          <a:prstGeom prst="rect">
            <a:avLst/>
          </a:prstGeom>
          <a:noFill/>
          <a:ln/>
        </p:spPr>
        <p:txBody>
          <a:bodyPr wrap="square" rtlCol="0" anchor="ctr"/>
          <a:lstStyle/>
          <a:p>
            <a:pPr marL="0" indent="0" algn="ctr">
              <a:buNone/>
            </a:pPr>
            <a:r>
              <a:rPr lang="en-US" sz="1400" b="1" dirty="0">
                <a:solidFill>
                  <a:srgbClr val="DDDDEE"/>
                </a:solidFill>
                <a:latin typeface="Calibri" pitchFamily="34" charset="0"/>
                <a:ea typeface="Calibri" pitchFamily="34" charset="-122"/>
                <a:cs typeface="Calibri" pitchFamily="34" charset="-120"/>
              </a:rPr>
              <a:t>Dr. Tito Goicochea M.</a:t>
            </a:r>
            <a:endParaRPr lang="en-US" sz="1400" dirty="0"/>
          </a:p>
          <a:p>
            <a:pPr marL="0" indent="0" algn="ctr">
              <a:buNone/>
            </a:pPr>
            <a:r>
              <a:rPr lang="en-US" sz="1400" i="1" dirty="0">
                <a:solidFill>
                  <a:srgbClr val="DDDDEE"/>
                </a:solidFill>
                <a:latin typeface="Calibri" pitchFamily="34" charset="0"/>
                <a:ea typeface="Calibri" pitchFamily="34" charset="-122"/>
                <a:cs typeface="Calibri" pitchFamily="34" charset="-120"/>
              </a:rPr>
              <a:t>NEED - DSA  ·  II Trimestre 2026</a:t>
            </a:r>
            <a:endParaRPr lang="en-US" sz="1400" dirty="0"/>
          </a:p>
        </p:txBody>
      </p:sp>
      <p:sp>
        <p:nvSpPr>
          <p:cNvPr id="9" name="Text 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1179</Words>
  <Application>Microsoft Macintosh PowerPoint</Application>
  <PresentationFormat>Presentación en pantalla (16:9)</PresentationFormat>
  <Paragraphs>93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Black</vt:lpstr>
      <vt:lpstr>Calibri</vt:lpstr>
      <vt:lpstr>Georgia</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Bosquejo LES Joven L9 — El pecado, el evangelio y la ley</dc:title>
  <dc:subject>PptxGenJS Presentation</dc:subject>
  <dc:creator>Dr. Tito Goicochea M.</dc:creator>
  <cp:lastModifiedBy>Tito Goicochea Malaver</cp:lastModifiedBy>
  <cp:revision>2</cp:revision>
  <dcterms:created xsi:type="dcterms:W3CDTF">2026-03-29T17:48:04Z</dcterms:created>
  <dcterms:modified xsi:type="dcterms:W3CDTF">2026-03-29T18:04:35Z</dcterms:modified>
</cp:coreProperties>
</file>