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005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91440" cy="5143500"/>
          </a:xfrm>
          <a:prstGeom prst="rect">
            <a:avLst/>
          </a:prstGeom>
          <a:solidFill>
            <a:srgbClr val="C9A84C"/>
          </a:solidFill>
          <a:ln w="12700">
            <a:solidFill>
              <a:srgbClr val="C9A84C"/>
            </a:solidFill>
            <a:prstDash val="solid"/>
          </a:ln>
        </p:spPr>
        <p:txBody>
          <a:bodyPr/>
          <a:lstStyle/>
          <a:p>
            <a:endParaRPr lang="es-ES"/>
          </a:p>
        </p:txBody>
      </p:sp>
      <p:sp>
        <p:nvSpPr>
          <p:cNvPr id="5" name="Text 2"/>
          <p:cNvSpPr/>
          <p:nvPr/>
        </p:nvSpPr>
        <p:spPr>
          <a:xfrm>
            <a:off x="201168" y="292608"/>
            <a:ext cx="3657600" cy="457200"/>
          </a:xfrm>
          <a:prstGeom prst="rect">
            <a:avLst/>
          </a:prstGeom>
          <a:noFill/>
          <a:ln/>
        </p:spPr>
        <p:txBody>
          <a:bodyPr wrap="square" lIns="0" tIns="0" rIns="0" bIns="0" rtlCol="0" anchor="ctr"/>
          <a:lstStyle/>
          <a:p>
            <a:pPr marL="0" indent="0">
              <a:buNone/>
            </a:pPr>
            <a:r>
              <a:rPr lang="en-US" sz="1400" kern="0" spc="800" dirty="0">
                <a:solidFill>
                  <a:srgbClr val="C9A84C"/>
                </a:solidFill>
                <a:latin typeface="Trebuchet MS" pitchFamily="34" charset="0"/>
                <a:ea typeface="Trebuchet MS" pitchFamily="34" charset="-122"/>
                <a:cs typeface="Trebuchet MS" pitchFamily="34" charset="-120"/>
              </a:rPr>
              <a:t>LECCIÓN JOVEN 12</a:t>
            </a:r>
            <a:endParaRPr lang="en-US" sz="1400" dirty="0"/>
          </a:p>
        </p:txBody>
      </p:sp>
      <p:sp>
        <p:nvSpPr>
          <p:cNvPr id="6" name="Text 3"/>
          <p:cNvSpPr/>
          <p:nvPr/>
        </p:nvSpPr>
        <p:spPr>
          <a:xfrm>
            <a:off x="182880" y="786384"/>
            <a:ext cx="6217920" cy="2286000"/>
          </a:xfrm>
          <a:prstGeom prst="rect">
            <a:avLst/>
          </a:prstGeom>
          <a:noFill/>
          <a:ln/>
        </p:spPr>
        <p:txBody>
          <a:bodyPr wrap="square" rtlCol="0" anchor="ctr"/>
          <a:lstStyle/>
          <a:p>
            <a:pPr marL="0" indent="0" algn="l">
              <a:buNone/>
            </a:pPr>
            <a:r>
              <a:rPr lang="en-US" sz="5800" b="1" dirty="0">
                <a:solidFill>
                  <a:srgbClr val="FFFFFF"/>
                </a:solidFill>
                <a:latin typeface="Arial Black" pitchFamily="34" charset="0"/>
                <a:ea typeface="Arial Black" pitchFamily="34" charset="-122"/>
                <a:cs typeface="Arial Black" pitchFamily="34" charset="-120"/>
              </a:rPr>
              <a:t>COMPÁRTELO</a:t>
            </a:r>
            <a:endParaRPr lang="en-US" sz="5800" dirty="0"/>
          </a:p>
        </p:txBody>
      </p:sp>
      <p:sp>
        <p:nvSpPr>
          <p:cNvPr id="7" name="Shape 4"/>
          <p:cNvSpPr/>
          <p:nvPr/>
        </p:nvSpPr>
        <p:spPr>
          <a:xfrm>
            <a:off x="182880" y="3218688"/>
            <a:ext cx="2926080" cy="475488"/>
          </a:xfrm>
          <a:prstGeom prst="rect">
            <a:avLst/>
          </a:prstGeom>
          <a:solidFill>
            <a:srgbClr val="C9A84C"/>
          </a:solidFill>
          <a:ln w="12700">
            <a:solidFill>
              <a:srgbClr val="C9A84C"/>
            </a:solidFill>
            <a:prstDash val="solid"/>
          </a:ln>
        </p:spPr>
        <p:txBody>
          <a:bodyPr/>
          <a:lstStyle/>
          <a:p>
            <a:endParaRPr lang="es-ES"/>
          </a:p>
        </p:txBody>
      </p:sp>
      <p:sp>
        <p:nvSpPr>
          <p:cNvPr id="8" name="Text 5"/>
          <p:cNvSpPr/>
          <p:nvPr/>
        </p:nvSpPr>
        <p:spPr>
          <a:xfrm>
            <a:off x="182880" y="3218688"/>
            <a:ext cx="2926080" cy="475488"/>
          </a:xfrm>
          <a:prstGeom prst="rect">
            <a:avLst/>
          </a:prstGeom>
          <a:noFill/>
          <a:ln/>
        </p:spPr>
        <p:txBody>
          <a:bodyPr wrap="square" lIns="0" tIns="0" rIns="0" bIns="0" rtlCol="0" anchor="ctr"/>
          <a:lstStyle/>
          <a:p>
            <a:pPr marL="0" indent="0" algn="ctr">
              <a:buNone/>
            </a:pPr>
            <a:r>
              <a:rPr lang="en-US" sz="1500" b="1" dirty="0">
                <a:solidFill>
                  <a:srgbClr val="000000"/>
                </a:solidFill>
                <a:latin typeface="Trebuchet MS" pitchFamily="34" charset="0"/>
                <a:ea typeface="Trebuchet MS" pitchFamily="34" charset="-122"/>
                <a:cs typeface="Trebuchet MS" pitchFamily="34" charset="-120"/>
              </a:rPr>
              <a:t>Hechos 4</a:t>
            </a:r>
            <a:endParaRPr lang="en-US" sz="1500" dirty="0"/>
          </a:p>
        </p:txBody>
      </p:sp>
      <p:sp>
        <p:nvSpPr>
          <p:cNvPr id="9" name="Text 6"/>
          <p:cNvSpPr/>
          <p:nvPr/>
        </p:nvSpPr>
        <p:spPr>
          <a:xfrm>
            <a:off x="182880" y="3822192"/>
            <a:ext cx="5486400" cy="274320"/>
          </a:xfrm>
          <a:prstGeom prst="rect">
            <a:avLst/>
          </a:prstGeom>
          <a:noFill/>
          <a:ln/>
        </p:spPr>
        <p:txBody>
          <a:bodyPr wrap="square" lIns="0" tIns="0" rIns="0" bIns="0" rtlCol="0" anchor="ctr"/>
          <a:lstStyle/>
          <a:p>
            <a:pPr marL="0" indent="0">
              <a:buNone/>
            </a:pPr>
            <a:r>
              <a:rPr lang="en-US" sz="1100" i="1" dirty="0">
                <a:solidFill>
                  <a:srgbClr val="AAAACC"/>
                </a:solidFill>
                <a:latin typeface="Calibri" pitchFamily="34" charset="0"/>
                <a:ea typeface="Calibri" pitchFamily="34" charset="-122"/>
                <a:cs typeface="Calibri" pitchFamily="34" charset="-120"/>
              </a:rPr>
              <a:t>20 de junio de 2026  ·  II Trimestre 2026</a:t>
            </a:r>
            <a:endParaRPr lang="en-US" sz="1100" dirty="0"/>
          </a:p>
        </p:txBody>
      </p:sp>
      <p:sp>
        <p:nvSpPr>
          <p:cNvPr id="10" name="Text 7"/>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C45000"/>
          </a:solidFill>
          <a:ln w="12700">
            <a:solidFill>
              <a:srgbClr val="C4500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C45000"/>
          </a:solidFill>
          <a:ln w="12700">
            <a:solidFill>
              <a:srgbClr val="C4500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D4A0"/>
                </a:solidFill>
                <a:latin typeface="Trebuchet MS" pitchFamily="34" charset="0"/>
                <a:ea typeface="Trebuchet MS" pitchFamily="34" charset="-122"/>
                <a:cs typeface="Trebuchet MS" pitchFamily="34" charset="-120"/>
              </a:rPr>
              <a:t>FASE 1  ·  MOTIVA  (INICIA)  —  ¿Por qué es importante este estudio para mi vida?</a:t>
            </a:r>
            <a:endParaRPr lang="en-US" sz="1600" dirty="0"/>
          </a:p>
        </p:txBody>
      </p:sp>
      <p:sp>
        <p:nvSpPr>
          <p:cNvPr id="9" name="Shape 6"/>
          <p:cNvSpPr/>
          <p:nvPr/>
        </p:nvSpPr>
        <p:spPr>
          <a:xfrm>
            <a:off x="182880" y="749808"/>
            <a:ext cx="8778240" cy="475488"/>
          </a:xfrm>
          <a:prstGeom prst="rect">
            <a:avLst/>
          </a:prstGeom>
          <a:solidFill>
            <a:srgbClr val="000000">
              <a:alpha val="60000"/>
            </a:srgbClr>
          </a:solidFill>
          <a:ln w="19050">
            <a:solidFill>
              <a:srgbClr val="C9A84C"/>
            </a:solidFill>
            <a:prstDash val="solid"/>
          </a:ln>
        </p:spPr>
        <p:txBody>
          <a:bodyPr/>
          <a:lstStyle/>
          <a:p>
            <a:endParaRPr lang="es-ES"/>
          </a:p>
        </p:txBody>
      </p:sp>
      <p:sp>
        <p:nvSpPr>
          <p:cNvPr id="10" name="Text 7"/>
          <p:cNvSpPr/>
          <p:nvPr/>
        </p:nvSpPr>
        <p:spPr>
          <a:xfrm>
            <a:off x="329184" y="749808"/>
            <a:ext cx="2560320" cy="475488"/>
          </a:xfrm>
          <a:prstGeom prst="rect">
            <a:avLst/>
          </a:prstGeom>
          <a:noFill/>
          <a:ln/>
        </p:spPr>
        <p:txBody>
          <a:bodyPr wrap="square" lIns="0" tIns="0" rIns="0" bIns="0" rtlCol="0" anchor="ctr"/>
          <a:lstStyle/>
          <a:p>
            <a:pPr marL="0" indent="0" algn="l">
              <a:buNone/>
            </a:pPr>
            <a:r>
              <a:rPr lang="en-US" sz="1000" i="1" dirty="0">
                <a:solidFill>
                  <a:srgbClr val="E8CC80"/>
                </a:solidFill>
                <a:latin typeface="Calibri" pitchFamily="34" charset="0"/>
                <a:ea typeface="Calibri" pitchFamily="34" charset="-122"/>
                <a:cs typeface="Calibri" pitchFamily="34" charset="-120"/>
              </a:rPr>
              <a:t>Texto principal de la semana</a:t>
            </a:r>
            <a:endParaRPr lang="en-US" sz="1000" dirty="0"/>
          </a:p>
        </p:txBody>
      </p:sp>
      <p:sp>
        <p:nvSpPr>
          <p:cNvPr id="11" name="Text 8"/>
          <p:cNvSpPr/>
          <p:nvPr/>
        </p:nvSpPr>
        <p:spPr>
          <a:xfrm>
            <a:off x="2743200" y="749808"/>
            <a:ext cx="6217920" cy="475488"/>
          </a:xfrm>
          <a:prstGeom prst="rect">
            <a:avLst/>
          </a:prstGeom>
          <a:noFill/>
          <a:ln/>
        </p:spPr>
        <p:txBody>
          <a:bodyPr wrap="square" lIns="0" tIns="0" rIns="0" bIns="0" rtlCol="0" anchor="ctr"/>
          <a:lstStyle/>
          <a:p>
            <a:pPr marL="0" indent="0" algn="l">
              <a:buNone/>
            </a:pPr>
            <a:r>
              <a:rPr lang="en-US" sz="1700" b="1" dirty="0">
                <a:solidFill>
                  <a:srgbClr val="C9A84C"/>
                </a:solidFill>
                <a:latin typeface="Arial Black" pitchFamily="34" charset="0"/>
                <a:ea typeface="Arial Black" pitchFamily="34" charset="-122"/>
                <a:cs typeface="Arial Black" pitchFamily="34" charset="-120"/>
              </a:rPr>
              <a:t>Hechos 4</a:t>
            </a:r>
            <a:endParaRPr lang="en-US" sz="1700" dirty="0"/>
          </a:p>
        </p:txBody>
      </p:sp>
      <p:sp>
        <p:nvSpPr>
          <p:cNvPr id="12" name="Shape 9"/>
          <p:cNvSpPr/>
          <p:nvPr/>
        </p:nvSpPr>
        <p:spPr>
          <a:xfrm>
            <a:off x="182880" y="1298448"/>
            <a:ext cx="8778240" cy="1536192"/>
          </a:xfrm>
          <a:prstGeom prst="rect">
            <a:avLst/>
          </a:prstGeom>
          <a:solidFill>
            <a:srgbClr val="000000">
              <a:alpha val="65000"/>
            </a:srgbClr>
          </a:solidFill>
          <a:ln w="12700">
            <a:solidFill>
              <a:srgbClr val="444466"/>
            </a:solidFill>
            <a:prstDash val="solid"/>
          </a:ln>
          <a:effectLst>
            <a:outerShdw blurRad="152400" dist="38100" dir="8100000" algn="bl" rotWithShape="0">
              <a:srgbClr val="000000">
                <a:alpha val="50000"/>
              </a:srgbClr>
            </a:outerShdw>
          </a:effectLst>
        </p:spPr>
        <p:txBody>
          <a:bodyPr/>
          <a:lstStyle/>
          <a:p>
            <a:endParaRPr lang="es-ES"/>
          </a:p>
        </p:txBody>
      </p:sp>
      <p:sp>
        <p:nvSpPr>
          <p:cNvPr id="13" name="Shape 10"/>
          <p:cNvSpPr/>
          <p:nvPr/>
        </p:nvSpPr>
        <p:spPr>
          <a:xfrm>
            <a:off x="182880" y="1298448"/>
            <a:ext cx="54864" cy="1536192"/>
          </a:xfrm>
          <a:prstGeom prst="rect">
            <a:avLst/>
          </a:prstGeom>
          <a:solidFill>
            <a:srgbClr val="5566AA"/>
          </a:solidFill>
          <a:ln w="12700">
            <a:solidFill>
              <a:srgbClr val="5566AA"/>
            </a:solidFill>
            <a:prstDash val="solid"/>
          </a:ln>
        </p:spPr>
        <p:txBody>
          <a:bodyPr/>
          <a:lstStyle/>
          <a:p>
            <a:endParaRPr lang="es-ES"/>
          </a:p>
        </p:txBody>
      </p:sp>
      <p:sp>
        <p:nvSpPr>
          <p:cNvPr id="14" name="Text 11"/>
          <p:cNvSpPr/>
          <p:nvPr/>
        </p:nvSpPr>
        <p:spPr>
          <a:xfrm>
            <a:off x="310896" y="1344168"/>
            <a:ext cx="1828800" cy="256032"/>
          </a:xfrm>
          <a:prstGeom prst="rect">
            <a:avLst/>
          </a:prstGeom>
          <a:noFill/>
          <a:ln/>
        </p:spPr>
        <p:txBody>
          <a:bodyPr wrap="square" lIns="0" tIns="0" rIns="0" bIns="0" rtlCol="0" anchor="ctr"/>
          <a:lstStyle/>
          <a:p>
            <a:pPr marL="0" indent="0">
              <a:buNone/>
            </a:pPr>
            <a:r>
              <a:rPr lang="en-US" sz="1000" b="1" dirty="0">
                <a:solidFill>
                  <a:srgbClr val="8899CC"/>
                </a:solidFill>
                <a:latin typeface="Trebuchet MS" pitchFamily="34" charset="0"/>
                <a:ea typeface="Trebuchet MS" pitchFamily="34" charset="-122"/>
                <a:cs typeface="Trebuchet MS" pitchFamily="34" charset="-120"/>
              </a:rPr>
              <a:t>Tema Central</a:t>
            </a:r>
            <a:endParaRPr lang="en-US" sz="1000" dirty="0"/>
          </a:p>
        </p:txBody>
      </p:sp>
      <p:sp>
        <p:nvSpPr>
          <p:cNvPr id="15" name="Text 12"/>
          <p:cNvSpPr/>
          <p:nvPr/>
        </p:nvSpPr>
        <p:spPr>
          <a:xfrm>
            <a:off x="310896" y="1609344"/>
            <a:ext cx="8503920" cy="1170432"/>
          </a:xfrm>
          <a:prstGeom prst="rect">
            <a:avLst/>
          </a:prstGeom>
          <a:noFill/>
          <a:ln/>
        </p:spPr>
        <p:txBody>
          <a:bodyPr wrap="square" lIns="0" tIns="0" rIns="0" bIns="0" rtlCol="0" anchor="t"/>
          <a:lstStyle/>
          <a:p>
            <a:pPr marL="0" indent="0" algn="l">
              <a:buNone/>
            </a:pPr>
            <a:r>
              <a:rPr lang="en-US" sz="1150" dirty="0">
                <a:solidFill>
                  <a:srgbClr val="DDDDEE"/>
                </a:solidFill>
                <a:latin typeface="Calibri" pitchFamily="34" charset="0"/>
                <a:ea typeface="Calibri" pitchFamily="34" charset="-122"/>
                <a:cs typeface="Calibri" pitchFamily="34" charset="-120"/>
              </a:rPr>
              <a:t>Hechos 4 muestra a Pedro y Juan —pescadores sin preparación académica— dando testimonio con una valentía que asombró al sanedrín. El secreto no era elocuencia sino haber «estado con Jesús». Dar testimonio no es una habilidad especial para extrovertidos; es la consecuencia natural de una relación real con Cristo.</a:t>
            </a:r>
            <a:endParaRPr lang="en-US" sz="1150" dirty="0"/>
          </a:p>
        </p:txBody>
      </p:sp>
      <p:sp>
        <p:nvSpPr>
          <p:cNvPr id="16" name="Shape 13"/>
          <p:cNvSpPr/>
          <p:nvPr/>
        </p:nvSpPr>
        <p:spPr>
          <a:xfrm>
            <a:off x="182880" y="2907792"/>
            <a:ext cx="8778240" cy="1828800"/>
          </a:xfrm>
          <a:prstGeom prst="rect">
            <a:avLst/>
          </a:prstGeom>
          <a:solidFill>
            <a:srgbClr val="0A1830">
              <a:alpha val="85000"/>
            </a:srgbClr>
          </a:solidFill>
          <a:ln w="2540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17" name="Shape 14"/>
          <p:cNvSpPr/>
          <p:nvPr/>
        </p:nvSpPr>
        <p:spPr>
          <a:xfrm>
            <a:off x="182880" y="2907792"/>
            <a:ext cx="54864" cy="1828800"/>
          </a:xfrm>
          <a:prstGeom prst="rect">
            <a:avLst/>
          </a:prstGeom>
          <a:solidFill>
            <a:srgbClr val="C9A84C"/>
          </a:solidFill>
          <a:ln w="12700">
            <a:solidFill>
              <a:srgbClr val="C9A84C"/>
            </a:solidFill>
            <a:prstDash val="solid"/>
          </a:ln>
        </p:spPr>
        <p:txBody>
          <a:bodyPr/>
          <a:lstStyle/>
          <a:p>
            <a:endParaRPr lang="es-ES"/>
          </a:p>
        </p:txBody>
      </p:sp>
      <p:sp>
        <p:nvSpPr>
          <p:cNvPr id="18" name="Shape 15"/>
          <p:cNvSpPr/>
          <p:nvPr/>
        </p:nvSpPr>
        <p:spPr>
          <a:xfrm>
            <a:off x="274320" y="2962656"/>
            <a:ext cx="3108960" cy="274320"/>
          </a:xfrm>
          <a:prstGeom prst="rect">
            <a:avLst/>
          </a:prstGeom>
          <a:solidFill>
            <a:srgbClr val="C9A84C"/>
          </a:solidFill>
          <a:ln w="12700">
            <a:solidFill>
              <a:srgbClr val="C9A84C"/>
            </a:solidFill>
            <a:prstDash val="solid"/>
          </a:ln>
        </p:spPr>
        <p:txBody>
          <a:bodyPr/>
          <a:lstStyle/>
          <a:p>
            <a:endParaRPr lang="es-ES"/>
          </a:p>
        </p:txBody>
      </p:sp>
      <p:sp>
        <p:nvSpPr>
          <p:cNvPr id="19" name="Text 16"/>
          <p:cNvSpPr/>
          <p:nvPr/>
        </p:nvSpPr>
        <p:spPr>
          <a:xfrm>
            <a:off x="274320" y="2962656"/>
            <a:ext cx="3108960" cy="27432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GPS — Gran Pregunta de la Semana</a:t>
            </a:r>
            <a:endParaRPr lang="en-US" sz="1000" dirty="0"/>
          </a:p>
        </p:txBody>
      </p:sp>
      <p:sp>
        <p:nvSpPr>
          <p:cNvPr id="20" name="Text 17"/>
          <p:cNvSpPr/>
          <p:nvPr/>
        </p:nvSpPr>
        <p:spPr>
          <a:xfrm>
            <a:off x="310896" y="3291840"/>
            <a:ext cx="8503920" cy="1371600"/>
          </a:xfrm>
          <a:prstGeom prst="rect">
            <a:avLst/>
          </a:prstGeom>
          <a:noFill/>
          <a:ln/>
        </p:spPr>
        <p:txBody>
          <a:bodyPr wrap="square" rtlCol="0" anchor="ctr"/>
          <a:lstStyle/>
          <a:p>
            <a:pPr marL="0" indent="0" algn="ctr">
              <a:buNone/>
            </a:pPr>
            <a:r>
              <a:rPr lang="en-US" sz="1400" b="1" i="1" dirty="0">
                <a:solidFill>
                  <a:srgbClr val="FFFFFF"/>
                </a:solidFill>
                <a:latin typeface="Trebuchet MS" pitchFamily="34" charset="0"/>
                <a:ea typeface="Trebuchet MS" pitchFamily="34" charset="-122"/>
                <a:cs typeface="Trebuchet MS" pitchFamily="34" charset="-120"/>
              </a:rPr>
              <a:t>¿Qué hace posible que personas ordinarias testifiquen con valentía y efectividad, y qué relación existe entre la vida interior con Dios y la capacidad de compartir a Cristo con los demás?</a:t>
            </a:r>
            <a:endParaRPr lang="en-US" sz="1400" dirty="0"/>
          </a:p>
        </p:txBody>
      </p:sp>
      <p:sp>
        <p:nvSpPr>
          <p:cNvPr id="21" name="Text 18"/>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1 de 3</a:t>
            </a:r>
            <a:endParaRPr lang="en-US" sz="1600" dirty="0"/>
          </a:p>
        </p:txBody>
      </p:sp>
      <p:sp>
        <p:nvSpPr>
          <p:cNvPr id="9" name="Shape 6"/>
          <p:cNvSpPr/>
          <p:nvPr/>
        </p:nvSpPr>
        <p:spPr>
          <a:xfrm>
            <a:off x="146304" y="749808"/>
            <a:ext cx="2633472" cy="4192524"/>
          </a:xfrm>
          <a:prstGeom prst="rect">
            <a:avLst/>
          </a:prstGeom>
          <a:solidFill>
            <a:srgbClr val="1A6B3A">
              <a:alpha val="90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7AE8A0"/>
          </a:solidFill>
          <a:ln w="12700">
            <a:solidFill>
              <a:srgbClr val="7AE8A0"/>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7AE8A0"/>
                </a:solidFill>
                <a:latin typeface="Arial Black" pitchFamily="34" charset="0"/>
                <a:ea typeface="Arial Black" pitchFamily="34" charset="-122"/>
                <a:cs typeface="Arial Black" pitchFamily="34" charset="-120"/>
              </a:rPr>
              <a:t>01</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Hechos 4:1-12</a:t>
            </a:r>
            <a:endParaRPr lang="en-US" sz="1350" dirty="0"/>
          </a:p>
        </p:txBody>
      </p:sp>
      <p:sp>
        <p:nvSpPr>
          <p:cNvPr id="13" name="Shape 10"/>
          <p:cNvSpPr/>
          <p:nvPr/>
        </p:nvSpPr>
        <p:spPr>
          <a:xfrm>
            <a:off x="292608" y="1353312"/>
            <a:ext cx="2231136" cy="20117"/>
          </a:xfrm>
          <a:prstGeom prst="rect">
            <a:avLst/>
          </a:prstGeom>
          <a:solidFill>
            <a:srgbClr val="7AE8A0">
              <a:alpha val="55000"/>
            </a:srgbClr>
          </a:solidFill>
          <a:ln w="12700">
            <a:solidFill>
              <a:srgbClr val="7AE8A0"/>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7AE8A0"/>
                </a:solidFill>
                <a:latin typeface="Trebuchet MS" pitchFamily="34" charset="0"/>
                <a:ea typeface="Trebuchet MS" pitchFamily="34" charset="-122"/>
                <a:cs typeface="Trebuchet MS" pitchFamily="34" charset="-120"/>
              </a:rPr>
              <a:t>Testigos ante el poder</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le da a Pedro la valentía para hablar ante el mismo sanedrín que condenó a Jesús, y cómo ese poder es accesible a cada creyente hoy?</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6B3A"/>
          </a:solidFill>
          <a:ln w="12700">
            <a:solidFill>
              <a:srgbClr val="1A6B3A"/>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7AE8A0"/>
          </a:solidFill>
          <a:ln w="12700">
            <a:solidFill>
              <a:srgbClr val="7AE8A0"/>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7AE8A0"/>
          </a:solidFill>
          <a:ln w="12700">
            <a:solidFill>
              <a:srgbClr val="7AE8A0"/>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Pedro, que meses antes negó a Jesús por miedo a una sirvienta, ahora declara ante el sanedrín: «No hay salvación en ningún otro» (v. 12). La diferencia fue el Espíritu Santo. (Hech. 4:8-12; Hech. 1:8)</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7AE8A0"/>
          </a:solidFill>
          <a:ln w="12700">
            <a:solidFill>
              <a:srgbClr val="7AE8A0"/>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testimonio de Pedro no comenzó con argumentos sino con un hecho: un hombre cojo caminaba. La experiencia vivida con Jesús es el testimonio más irrefutable. (Hech. 4:9-10; Juan 9:25)</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7AE8A0"/>
          </a:solidFill>
          <a:ln w="12700">
            <a:solidFill>
              <a:srgbClr val="7AE8A0"/>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Nadie puede debatir lo que alguien vivió personalmente. El testimonio experiencial es el más poderoso. (Apoc. 12:11; Luc. 12:11-12)</a:t>
            </a:r>
            <a:endParaRPr lang="en-US" sz="1200" dirty="0"/>
          </a:p>
        </p:txBody>
      </p:sp>
      <p:sp>
        <p:nvSpPr>
          <p:cNvPr id="29" name="Shape 26"/>
          <p:cNvSpPr/>
          <p:nvPr/>
        </p:nvSpPr>
        <p:spPr>
          <a:xfrm>
            <a:off x="2907792" y="3516874"/>
            <a:ext cx="6089904" cy="1425458"/>
          </a:xfrm>
          <a:prstGeom prst="rect">
            <a:avLst/>
          </a:prstGeom>
          <a:solidFill>
            <a:srgbClr val="1A6B3A">
              <a:alpha val="75000"/>
            </a:srgbClr>
          </a:solidFill>
          <a:ln w="127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7AE8A0"/>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Un pastor salió corriendo hacia la iglesia, molesto con el tráfico, y levantó el puño contra un conductor. Alguien que lo vio estaba en la clase de Hechos 4 ese día. Nuestro testimonio ocurre todo el tiempo, queramos o no.</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0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2 de 3</a:t>
            </a:r>
            <a:endParaRPr lang="en-US" sz="1600" dirty="0"/>
          </a:p>
        </p:txBody>
      </p:sp>
      <p:sp>
        <p:nvSpPr>
          <p:cNvPr id="9" name="Shape 6"/>
          <p:cNvSpPr/>
          <p:nvPr/>
        </p:nvSpPr>
        <p:spPr>
          <a:xfrm>
            <a:off x="146304" y="749808"/>
            <a:ext cx="2633472" cy="4192524"/>
          </a:xfrm>
          <a:prstGeom prst="rect">
            <a:avLst/>
          </a:prstGeom>
          <a:solidFill>
            <a:srgbClr val="8B2B00">
              <a:alpha val="90000"/>
            </a:srgbClr>
          </a:solidFill>
          <a:ln w="254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F4A878"/>
          </a:solidFill>
          <a:ln w="12700">
            <a:solidFill>
              <a:srgbClr val="F4A87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F4A878"/>
                </a:solidFill>
                <a:latin typeface="Arial Black" pitchFamily="34" charset="0"/>
                <a:ea typeface="Arial Black" pitchFamily="34" charset="-122"/>
                <a:cs typeface="Arial Black" pitchFamily="34" charset="-120"/>
              </a:rPr>
              <a:t>02</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Hechos 4:13-22</a:t>
            </a:r>
            <a:endParaRPr lang="en-US" sz="1350" dirty="0"/>
          </a:p>
        </p:txBody>
      </p:sp>
      <p:sp>
        <p:nvSpPr>
          <p:cNvPr id="13" name="Shape 10"/>
          <p:cNvSpPr/>
          <p:nvPr/>
        </p:nvSpPr>
        <p:spPr>
          <a:xfrm>
            <a:off x="292608" y="1353312"/>
            <a:ext cx="2231136" cy="20117"/>
          </a:xfrm>
          <a:prstGeom prst="rect">
            <a:avLst/>
          </a:prstGeom>
          <a:solidFill>
            <a:srgbClr val="F4A878">
              <a:alpha val="55000"/>
            </a:srgbClr>
          </a:solidFill>
          <a:ln w="12700">
            <a:solidFill>
              <a:srgbClr val="F4A87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F4A878"/>
                </a:solidFill>
                <a:latin typeface="Trebuchet MS" pitchFamily="34" charset="0"/>
                <a:ea typeface="Trebuchet MS" pitchFamily="34" charset="-122"/>
                <a:cs typeface="Trebuchet MS" pitchFamily="34" charset="-120"/>
              </a:rPr>
              <a:t>El asombro ante los transformados</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es lo que más asombraba al sanedrín de Pedro y Juan, y qué nos enseña eso sobre la fuente real del testimonio efectivo?</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8B2B00"/>
          </a:solidFill>
          <a:ln w="12700">
            <a:solidFill>
              <a:srgbClr val="8B2B00"/>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F4A878"/>
          </a:solidFill>
          <a:ln w="12700">
            <a:solidFill>
              <a:srgbClr val="F4A87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F4A878"/>
          </a:solidFill>
          <a:ln w="12700">
            <a:solidFill>
              <a:srgbClr val="F4A87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Reconocieron que eran «gente del pueblo» sin instrucción académica, pero notaron que habían «estado con Jesús». Estar con Jesús produce algo que el mundo reconoce. (Hech. 4:13; 2 Cor. 3:18)</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F4A878"/>
          </a:solidFill>
          <a:ln w="12700">
            <a:solidFill>
              <a:srgbClr val="F4A87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Nadie podía negar el milagro: el hombre cojo estaba allí, caminando. El testimonio más poderoso es una vida transformada. (Hech. 4:14; 1 Cor. 1:27; 2 Cor. 12:9)</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F4A878"/>
          </a:solidFill>
          <a:ln w="12700">
            <a:solidFill>
              <a:srgbClr val="F4A87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Nuestras aparentes limitaciones son las mayores oportunidades de Dios. (Mat. 5:14-16; 2 Cor. 12:9)</a:t>
            </a:r>
            <a:endParaRPr lang="en-US" sz="1200" dirty="0"/>
          </a:p>
        </p:txBody>
      </p:sp>
      <p:sp>
        <p:nvSpPr>
          <p:cNvPr id="29" name="Shape 26"/>
          <p:cNvSpPr/>
          <p:nvPr/>
        </p:nvSpPr>
        <p:spPr>
          <a:xfrm>
            <a:off x="2907792" y="3516874"/>
            <a:ext cx="6089904" cy="1425458"/>
          </a:xfrm>
          <a:prstGeom prst="rect">
            <a:avLst/>
          </a:prstGeom>
          <a:solidFill>
            <a:srgbClr val="8B2B00">
              <a:alpha val="75000"/>
            </a:srgbClr>
          </a:solidFill>
          <a:ln w="127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F4A87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Erick Weihenmayer, alpinista ciego, llegó a la cima del Everest. Le preguntaron cómo lo logró: «Aprendí a confiar en la voz correcta». El testimonio efectivo no requiere elocuencia; requiere que se note que confías en una voz que otros no escuchan.</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6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3 de 3</a:t>
            </a:r>
            <a:endParaRPr lang="en-US" sz="1600" dirty="0"/>
          </a:p>
        </p:txBody>
      </p:sp>
      <p:sp>
        <p:nvSpPr>
          <p:cNvPr id="9" name="Shape 6"/>
          <p:cNvSpPr/>
          <p:nvPr/>
        </p:nvSpPr>
        <p:spPr>
          <a:xfrm>
            <a:off x="146304" y="749808"/>
            <a:ext cx="2633472" cy="4192524"/>
          </a:xfrm>
          <a:prstGeom prst="rect">
            <a:avLst/>
          </a:prstGeom>
          <a:solidFill>
            <a:srgbClr val="1A4A8C">
              <a:alpha val="90000"/>
            </a:srgbClr>
          </a:solidFill>
          <a:ln w="254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88C0F8"/>
          </a:solidFill>
          <a:ln w="12700">
            <a:solidFill>
              <a:srgbClr val="88C0F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88C0F8"/>
                </a:solidFill>
                <a:latin typeface="Arial Black" pitchFamily="34" charset="0"/>
                <a:ea typeface="Arial Black" pitchFamily="34" charset="-122"/>
                <a:cs typeface="Arial Black" pitchFamily="34" charset="-120"/>
              </a:rPr>
              <a:t>03</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Hechos 4:23-31</a:t>
            </a:r>
            <a:endParaRPr lang="en-US" sz="1350" dirty="0"/>
          </a:p>
        </p:txBody>
      </p:sp>
      <p:sp>
        <p:nvSpPr>
          <p:cNvPr id="13" name="Shape 10"/>
          <p:cNvSpPr/>
          <p:nvPr/>
        </p:nvSpPr>
        <p:spPr>
          <a:xfrm>
            <a:off x="292608" y="1353312"/>
            <a:ext cx="2231136" cy="20117"/>
          </a:xfrm>
          <a:prstGeom prst="rect">
            <a:avLst/>
          </a:prstGeom>
          <a:solidFill>
            <a:srgbClr val="88C0F8">
              <a:alpha val="55000"/>
            </a:srgbClr>
          </a:solidFill>
          <a:ln w="12700">
            <a:solidFill>
              <a:srgbClr val="88C0F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88C0F8"/>
                </a:solidFill>
                <a:latin typeface="Trebuchet MS" pitchFamily="34" charset="0"/>
                <a:ea typeface="Trebuchet MS" pitchFamily="34" charset="-122"/>
                <a:cs typeface="Trebuchet MS" pitchFamily="34" charset="-120"/>
              </a:rPr>
              <a:t>La oración que da valentía</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pidieron los discípulos en su oración después de ser liberados, y qué nos enseña sobre la relación entre la vida de oración y la valentía para testificar?</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4A8C"/>
          </a:solidFill>
          <a:ln w="12700">
            <a:solidFill>
              <a:srgbClr val="1A4A8C"/>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88C0F8"/>
          </a:solidFill>
          <a:ln w="12700">
            <a:solidFill>
              <a:srgbClr val="88C0F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88C0F8"/>
          </a:solidFill>
          <a:ln w="12700">
            <a:solidFill>
              <a:srgbClr val="88C0F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Los discípulos no oraron para que la persecución parara: oraron para tener valentía en medio de ella. (Hech. 4:29; Efe. 6:19-20; Fil. 1:20)</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88C0F8"/>
          </a:solidFill>
          <a:ln w="12700">
            <a:solidFill>
              <a:srgbClr val="88C0F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resultado: el lugar fue sacudido y fueron llenos del Espíritu Santo y hablaron con valentía la Palabra de Dios. (Hech. 4:29-31)</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88C0F8"/>
          </a:solidFill>
          <a:ln w="12700">
            <a:solidFill>
              <a:srgbClr val="88C0F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amor de Cristo en el corazón es el motor del testimonio. «El amor de Cristo nos impulsa» (2 Cor. 5:14): cuando el amor de Dios llena el corazón, el silencio se vuelve imposible. (1 Juan 4:7)</a:t>
            </a:r>
            <a:endParaRPr lang="en-US" sz="1200" dirty="0"/>
          </a:p>
        </p:txBody>
      </p:sp>
      <p:sp>
        <p:nvSpPr>
          <p:cNvPr id="29" name="Shape 26"/>
          <p:cNvSpPr/>
          <p:nvPr/>
        </p:nvSpPr>
        <p:spPr>
          <a:xfrm>
            <a:off x="2907792" y="3516874"/>
            <a:ext cx="6089904" cy="1425458"/>
          </a:xfrm>
          <a:prstGeom prst="rect">
            <a:avLst/>
          </a:prstGeom>
          <a:solidFill>
            <a:srgbClr val="1A4A8C">
              <a:alpha val="75000"/>
            </a:srgbClr>
          </a:solidFill>
          <a:ln w="127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88C0F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El verdadero testimonio es el resultado de ser testigo ocular de lo que Dios está haciendo en tu vida. No necesitas un discurso preparado: necesitas algo que hayas visto u oído que no puedas callar.</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0000"/>
            </a:srgbClr>
          </a:solidFill>
          <a:ln w="12700">
            <a:solidFill>
              <a:srgbClr val="000000"/>
            </a:solidFill>
            <a:prstDash val="solid"/>
          </a:ln>
        </p:spPr>
        <p:txBody>
          <a:bodyPr/>
          <a:lstStyle/>
          <a:p>
            <a:endParaRPr lang="es-ES"/>
          </a:p>
        </p:txBody>
      </p:sp>
      <p:sp>
        <p:nvSpPr>
          <p:cNvPr id="4" name="Shape 1"/>
          <p:cNvSpPr/>
          <p:nvPr/>
        </p:nvSpPr>
        <p:spPr>
          <a:xfrm>
            <a:off x="0" y="2560320"/>
            <a:ext cx="9144000" cy="2583180"/>
          </a:xfrm>
          <a:prstGeom prst="rect">
            <a:avLst/>
          </a:prstGeom>
          <a:solidFill>
            <a:srgbClr val="000000">
              <a:alpha val="62000"/>
            </a:srgbClr>
          </a:solidFill>
          <a:ln w="12700">
            <a:solidFill>
              <a:srgbClr val="000000"/>
            </a:solidFill>
            <a:prstDash val="solid"/>
          </a:ln>
        </p:spPr>
        <p:txBody>
          <a:bodyPr/>
          <a:lstStyle/>
          <a:p>
            <a:endParaRPr lang="es-ES"/>
          </a:p>
        </p:txBody>
      </p:sp>
      <p:sp>
        <p:nvSpPr>
          <p:cNvPr id="5" name="Shape 2"/>
          <p:cNvSpPr/>
          <p:nvPr/>
        </p:nvSpPr>
        <p:spPr>
          <a:xfrm>
            <a:off x="0" y="0"/>
            <a:ext cx="54864" cy="676656"/>
          </a:xfrm>
          <a:prstGeom prst="rect">
            <a:avLst/>
          </a:prstGeom>
          <a:solidFill>
            <a:srgbClr val="1A6B3A"/>
          </a:solidFill>
          <a:ln w="12700">
            <a:solidFill>
              <a:srgbClr val="1A6B3A"/>
            </a:solidFill>
            <a:prstDash val="solid"/>
          </a:ln>
        </p:spPr>
        <p:txBody>
          <a:bodyPr/>
          <a:lstStyle/>
          <a:p>
            <a:endParaRPr lang="es-ES"/>
          </a:p>
        </p:txBody>
      </p:sp>
      <p:sp>
        <p:nvSpPr>
          <p:cNvPr id="6" name="Shape 3"/>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7" name="Shape 4"/>
          <p:cNvSpPr/>
          <p:nvPr/>
        </p:nvSpPr>
        <p:spPr>
          <a:xfrm>
            <a:off x="182880" y="64008"/>
            <a:ext cx="566928" cy="548640"/>
          </a:xfrm>
          <a:prstGeom prst="rect">
            <a:avLst/>
          </a:prstGeom>
          <a:solidFill>
            <a:srgbClr val="1A6B3A"/>
          </a:solidFill>
          <a:ln w="12700">
            <a:solidFill>
              <a:srgbClr val="1A6B3A"/>
            </a:solidFill>
            <a:prstDash val="solid"/>
          </a:ln>
        </p:spPr>
        <p:txBody>
          <a:bodyPr/>
          <a:lstStyle/>
          <a:p>
            <a:endParaRPr lang="es-ES"/>
          </a:p>
        </p:txBody>
      </p:sp>
      <p:sp>
        <p:nvSpPr>
          <p:cNvPr id="8" name="Text 5"/>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9" name="Text 6"/>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F0B8"/>
                </a:solidFill>
                <a:latin typeface="Trebuchet MS" pitchFamily="34" charset="0"/>
                <a:ea typeface="Trebuchet MS" pitchFamily="34" charset="-122"/>
                <a:cs typeface="Trebuchet MS" pitchFamily="34" charset="-120"/>
              </a:rPr>
              <a:t>FASE 3  ·  APLICA  (REFLEXIONA)  —  Reflexión y aplicación a la vida</a:t>
            </a:r>
            <a:endParaRPr lang="en-US" sz="1600" dirty="0"/>
          </a:p>
        </p:txBody>
      </p:sp>
      <p:sp>
        <p:nvSpPr>
          <p:cNvPr id="10" name="Shape 7"/>
          <p:cNvSpPr/>
          <p:nvPr/>
        </p:nvSpPr>
        <p:spPr>
          <a:xfrm>
            <a:off x="201168" y="749808"/>
            <a:ext cx="8741664" cy="1920240"/>
          </a:xfrm>
          <a:prstGeom prst="rect">
            <a:avLst/>
          </a:prstGeom>
          <a:solidFill>
            <a:srgbClr val="000000">
              <a:alpha val="75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1" name="Shape 8"/>
          <p:cNvSpPr/>
          <p:nvPr/>
        </p:nvSpPr>
        <p:spPr>
          <a:xfrm>
            <a:off x="201168" y="749808"/>
            <a:ext cx="64008" cy="1920240"/>
          </a:xfrm>
          <a:prstGeom prst="rect">
            <a:avLst/>
          </a:prstGeom>
          <a:solidFill>
            <a:srgbClr val="2E8A4A"/>
          </a:solidFill>
          <a:ln w="12700">
            <a:solidFill>
              <a:srgbClr val="2E8A4A"/>
            </a:solidFill>
            <a:prstDash val="solid"/>
          </a:ln>
        </p:spPr>
        <p:txBody>
          <a:bodyPr/>
          <a:lstStyle/>
          <a:p>
            <a:endParaRPr lang="es-ES"/>
          </a:p>
        </p:txBody>
      </p:sp>
      <p:sp>
        <p:nvSpPr>
          <p:cNvPr id="12" name="Text 9"/>
          <p:cNvSpPr/>
          <p:nvPr/>
        </p:nvSpPr>
        <p:spPr>
          <a:xfrm>
            <a:off x="256032" y="694944"/>
            <a:ext cx="822960" cy="1097280"/>
          </a:xfrm>
          <a:prstGeom prst="rect">
            <a:avLst/>
          </a:prstGeom>
          <a:noFill/>
          <a:ln/>
        </p:spPr>
        <p:txBody>
          <a:bodyPr wrap="square" lIns="0" tIns="0" rIns="0" bIns="0" rtlCol="0" anchor="t"/>
          <a:lstStyle/>
          <a:p>
            <a:pPr marL="0" indent="0" algn="l">
              <a:buNone/>
            </a:pPr>
            <a:r>
              <a:rPr lang="en-US" sz="7600" b="1" dirty="0">
                <a:solidFill>
                  <a:srgbClr val="4AE89A"/>
                </a:solidFill>
                <a:latin typeface="Georgia" pitchFamily="34" charset="0"/>
                <a:ea typeface="Georgia" pitchFamily="34" charset="-122"/>
                <a:cs typeface="Georgia" pitchFamily="34" charset="-120"/>
              </a:rPr>
              <a:t>“</a:t>
            </a:r>
            <a:endParaRPr lang="en-US" sz="7600" dirty="0"/>
          </a:p>
        </p:txBody>
      </p:sp>
      <p:sp>
        <p:nvSpPr>
          <p:cNvPr id="13" name="Text 10"/>
          <p:cNvSpPr/>
          <p:nvPr/>
        </p:nvSpPr>
        <p:spPr>
          <a:xfrm>
            <a:off x="877824" y="841248"/>
            <a:ext cx="7955280" cy="1481328"/>
          </a:xfrm>
          <a:prstGeom prst="rect">
            <a:avLst/>
          </a:prstGeom>
          <a:noFill/>
          <a:ln/>
        </p:spPr>
        <p:txBody>
          <a:bodyPr wrap="square" rtlCol="0" anchor="ctr"/>
          <a:lstStyle/>
          <a:p>
            <a:pPr marL="0" indent="0" algn="just">
              <a:buNone/>
            </a:pPr>
            <a:r>
              <a:rPr lang="en-US" sz="1350" i="1" dirty="0">
                <a:solidFill>
                  <a:srgbClr val="EEFFEE"/>
                </a:solidFill>
                <a:latin typeface="Calibri" pitchFamily="34" charset="0"/>
                <a:ea typeface="Calibri" pitchFamily="34" charset="-122"/>
                <a:cs typeface="Calibri" pitchFamily="34" charset="-120"/>
              </a:rPr>
              <a:t>"Cualquiera que sea la profesión que se haga, nadie tiene amor puro para con Dios a menos que tenga amor abnegado para con su hermano. Pero nunca podemos entrar en posesión de este espíritu si tratamos de amar a otros. Lo que se necesita es el amor de Cristo en el corazón. Cuando el yo está sumergido en Cristo, el amor brota espontáneamente."</a:t>
            </a:r>
            <a:endParaRPr lang="en-US" sz="1350" dirty="0"/>
          </a:p>
        </p:txBody>
      </p:sp>
      <p:sp>
        <p:nvSpPr>
          <p:cNvPr id="14" name="Text 11"/>
          <p:cNvSpPr/>
          <p:nvPr/>
        </p:nvSpPr>
        <p:spPr>
          <a:xfrm>
            <a:off x="877824" y="2670048"/>
            <a:ext cx="7955280" cy="201168"/>
          </a:xfrm>
          <a:prstGeom prst="rect">
            <a:avLst/>
          </a:prstGeom>
          <a:noFill/>
          <a:ln/>
        </p:spPr>
        <p:txBody>
          <a:bodyPr wrap="square" lIns="0" tIns="0" rIns="0" bIns="0" rtlCol="0" anchor="ctr"/>
          <a:lstStyle/>
          <a:p>
            <a:pPr marL="0" indent="0" algn="r">
              <a:buNone/>
            </a:pPr>
            <a:r>
              <a:rPr lang="en-US" sz="900" i="1" dirty="0">
                <a:solidFill>
                  <a:srgbClr val="6AE89A"/>
                </a:solidFill>
                <a:latin typeface="Calibri" pitchFamily="34" charset="0"/>
                <a:ea typeface="Calibri" pitchFamily="34" charset="-122"/>
                <a:cs typeface="Calibri" pitchFamily="34" charset="-120"/>
              </a:rPr>
              <a:t>— Elena G. de White, Palabras de vida del gran Maestro</a:t>
            </a:r>
            <a:endParaRPr lang="en-US" sz="900" dirty="0"/>
          </a:p>
        </p:txBody>
      </p:sp>
      <p:sp>
        <p:nvSpPr>
          <p:cNvPr id="15" name="Shape 12"/>
          <p:cNvSpPr/>
          <p:nvPr/>
        </p:nvSpPr>
        <p:spPr>
          <a:xfrm>
            <a:off x="201168" y="2944368"/>
            <a:ext cx="8741664" cy="45720"/>
          </a:xfrm>
          <a:prstGeom prst="rect">
            <a:avLst/>
          </a:prstGeom>
          <a:solidFill>
            <a:srgbClr val="C9A84C"/>
          </a:solidFill>
          <a:ln w="12700">
            <a:solidFill>
              <a:srgbClr val="C9A84C"/>
            </a:solidFill>
            <a:prstDash val="solid"/>
          </a:ln>
        </p:spPr>
        <p:txBody>
          <a:bodyPr/>
          <a:lstStyle/>
          <a:p>
            <a:endParaRPr lang="es-ES"/>
          </a:p>
        </p:txBody>
      </p:sp>
      <p:sp>
        <p:nvSpPr>
          <p:cNvPr id="16" name="Text 13"/>
          <p:cNvSpPr/>
          <p:nvPr/>
        </p:nvSpPr>
        <p:spPr>
          <a:xfrm>
            <a:off x="329184" y="3035808"/>
            <a:ext cx="1463040" cy="274320"/>
          </a:xfrm>
          <a:prstGeom prst="rect">
            <a:avLst/>
          </a:prstGeom>
          <a:noFill/>
          <a:ln/>
        </p:spPr>
        <p:txBody>
          <a:bodyPr wrap="square" lIns="0" tIns="0" rIns="0" bIns="0" rtlCol="0" anchor="ctr"/>
          <a:lstStyle/>
          <a:p>
            <a:pPr marL="0" indent="0">
              <a:buNone/>
            </a:pPr>
            <a:r>
              <a:rPr lang="en-US" sz="1100" b="1" dirty="0">
                <a:solidFill>
                  <a:srgbClr val="C9A84C"/>
                </a:solidFill>
                <a:latin typeface="Trebuchet MS" pitchFamily="34" charset="0"/>
                <a:ea typeface="Trebuchet MS" pitchFamily="34" charset="-122"/>
                <a:cs typeface="Trebuchet MS" pitchFamily="34" charset="-120"/>
              </a:rPr>
              <a:t>Reflexiona:</a:t>
            </a:r>
            <a:endParaRPr lang="en-US" sz="1100" dirty="0"/>
          </a:p>
        </p:txBody>
      </p:sp>
      <p:sp>
        <p:nvSpPr>
          <p:cNvPr id="17" name="Text 14"/>
          <p:cNvSpPr/>
          <p:nvPr/>
        </p:nvSpPr>
        <p:spPr>
          <a:xfrm>
            <a:off x="329184" y="3328416"/>
            <a:ext cx="8485632" cy="1444752"/>
          </a:xfrm>
          <a:prstGeom prst="rect">
            <a:avLst/>
          </a:prstGeom>
          <a:noFill/>
          <a:ln/>
          <a:effectLst>
            <a:outerShdw blurRad="177800" dist="38100" dir="8100000" algn="bl" rotWithShape="0">
              <a:srgbClr val="000000">
                <a:alpha val="80000"/>
              </a:srgbClr>
            </a:outerShdw>
          </a:effectLst>
        </p:spPr>
        <p:txBody>
          <a:bodyPr wrap="square" rtlCol="0" anchor="ctr"/>
          <a:lstStyle/>
          <a:p>
            <a:pPr marL="0" indent="0" algn="ctr">
              <a:buNone/>
            </a:pPr>
            <a:r>
              <a:rPr lang="en-US" sz="1650" b="1" dirty="0">
                <a:solidFill>
                  <a:srgbClr val="FFFFFF"/>
                </a:solidFill>
                <a:latin typeface="Arial Black" pitchFamily="34" charset="0"/>
                <a:ea typeface="Arial Black" pitchFamily="34" charset="-122"/>
                <a:cs typeface="Arial Black" pitchFamily="34" charset="-120"/>
              </a:rPr>
              <a:t>¿Con quién Dios te ha puesto en contacto esta semana con quien puedes compartir algo de lo que él ha hecho en tu vida? ¿Qué paso concreto darás para ser testigo intencional?</a:t>
            </a:r>
            <a:endParaRPr lang="en-US" sz="1650" dirty="0"/>
          </a:p>
        </p:txBody>
      </p:sp>
      <p:sp>
        <p:nvSpPr>
          <p:cNvPr id="18" name="Text 15"/>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7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7A1010"/>
          </a:solidFill>
          <a:ln w="12700">
            <a:solidFill>
              <a:srgbClr val="7A101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7A1010"/>
          </a:solidFill>
          <a:ln w="12700">
            <a:solidFill>
              <a:srgbClr val="7A101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B0B0"/>
                </a:solidFill>
                <a:latin typeface="Trebuchet MS" pitchFamily="34" charset="0"/>
                <a:ea typeface="Trebuchet MS" pitchFamily="34" charset="-122"/>
                <a:cs typeface="Trebuchet MS" pitchFamily="34" charset="-120"/>
              </a:rPr>
              <a:t>FASE 4  ·  CREA  —  MI DECISIÓN  ·  Esta semana decido...</a:t>
            </a:r>
            <a:endParaRPr lang="en-US" sz="1600" dirty="0"/>
          </a:p>
        </p:txBody>
      </p:sp>
      <p:sp>
        <p:nvSpPr>
          <p:cNvPr id="9" name="Shape 6"/>
          <p:cNvSpPr/>
          <p:nvPr/>
        </p:nvSpPr>
        <p:spPr>
          <a:xfrm>
            <a:off x="182880" y="749808"/>
            <a:ext cx="7059168" cy="347472"/>
          </a:xfrm>
          <a:prstGeom prst="rect">
            <a:avLst/>
          </a:prstGeom>
          <a:solidFill>
            <a:srgbClr val="0E1E34"/>
          </a:solidFill>
          <a:ln w="12700">
            <a:solidFill>
              <a:srgbClr val="C9A84C"/>
            </a:solidFill>
            <a:prstDash val="solid"/>
          </a:ln>
        </p:spPr>
        <p:txBody>
          <a:bodyPr/>
          <a:lstStyle/>
          <a:p>
            <a:endParaRPr lang="es-ES"/>
          </a:p>
        </p:txBody>
      </p:sp>
      <p:sp>
        <p:nvSpPr>
          <p:cNvPr id="10" name="Text 7"/>
          <p:cNvSpPr/>
          <p:nvPr/>
        </p:nvSpPr>
        <p:spPr>
          <a:xfrm>
            <a:off x="310896" y="749808"/>
            <a:ext cx="6876288" cy="347472"/>
          </a:xfrm>
          <a:prstGeom prst="rect">
            <a:avLst/>
          </a:prstGeom>
          <a:noFill/>
          <a:ln/>
        </p:spPr>
        <p:txBody>
          <a:bodyPr wrap="square" lIns="0" tIns="0" rIns="0" bIns="0" rtlCol="0" anchor="ctr"/>
          <a:lstStyle/>
          <a:p>
            <a:pPr marL="0" indent="0" algn="l">
              <a:buNone/>
            </a:pPr>
            <a:r>
              <a:rPr lang="en-US" sz="1100" i="1" dirty="0">
                <a:solidFill>
                  <a:srgbClr val="8888AA"/>
                </a:solidFill>
                <a:latin typeface="Calibri" pitchFamily="34" charset="0"/>
                <a:ea typeface="Calibri" pitchFamily="34" charset="-122"/>
                <a:cs typeface="Calibri" pitchFamily="34" charset="-120"/>
              </a:rPr>
              <a:t>Mi decisión esta semana...</a:t>
            </a:r>
            <a:endParaRPr lang="en-US" sz="1100" dirty="0"/>
          </a:p>
        </p:txBody>
      </p:sp>
      <p:sp>
        <p:nvSpPr>
          <p:cNvPr id="11" name="Shape 8"/>
          <p:cNvSpPr/>
          <p:nvPr/>
        </p:nvSpPr>
        <p:spPr>
          <a:xfrm>
            <a:off x="7351776" y="749808"/>
            <a:ext cx="877824" cy="347472"/>
          </a:xfrm>
          <a:prstGeom prst="rect">
            <a:avLst/>
          </a:prstGeom>
          <a:solidFill>
            <a:srgbClr val="1A5C28"/>
          </a:solidFill>
          <a:ln w="12700">
            <a:solidFill>
              <a:srgbClr val="5AE07A"/>
            </a:solidFill>
            <a:prstDash val="solid"/>
          </a:ln>
        </p:spPr>
        <p:txBody>
          <a:bodyPr/>
          <a:lstStyle/>
          <a:p>
            <a:endParaRPr lang="es-ES"/>
          </a:p>
        </p:txBody>
      </p:sp>
      <p:sp>
        <p:nvSpPr>
          <p:cNvPr id="12" name="Text 9"/>
          <p:cNvSpPr/>
          <p:nvPr/>
        </p:nvSpPr>
        <p:spPr>
          <a:xfrm>
            <a:off x="7351776" y="749808"/>
            <a:ext cx="877824" cy="347472"/>
          </a:xfrm>
          <a:prstGeom prst="rect">
            <a:avLst/>
          </a:prstGeom>
          <a:noFill/>
          <a:ln/>
        </p:spPr>
        <p:txBody>
          <a:bodyPr wrap="square" lIns="0" tIns="0" rIns="0" bIns="0" rtlCol="0" anchor="ctr"/>
          <a:lstStyle/>
          <a:p>
            <a:pPr marL="0" indent="0" algn="ctr">
              <a:buNone/>
            </a:pPr>
            <a:r>
              <a:rPr lang="en-US" sz="1800" b="1" dirty="0">
                <a:solidFill>
                  <a:srgbClr val="A8F0A8"/>
                </a:solidFill>
                <a:latin typeface="Arial Black" pitchFamily="34" charset="0"/>
                <a:ea typeface="Arial Black" pitchFamily="34" charset="-122"/>
                <a:cs typeface="Arial Black" pitchFamily="34" charset="-120"/>
              </a:rPr>
              <a:t>SÍ</a:t>
            </a:r>
            <a:endParaRPr lang="en-US" sz="1800" dirty="0"/>
          </a:p>
        </p:txBody>
      </p:sp>
      <p:sp>
        <p:nvSpPr>
          <p:cNvPr id="13" name="Shape 10"/>
          <p:cNvSpPr/>
          <p:nvPr/>
        </p:nvSpPr>
        <p:spPr>
          <a:xfrm>
            <a:off x="8339328" y="749808"/>
            <a:ext cx="877824" cy="347472"/>
          </a:xfrm>
          <a:prstGeom prst="rect">
            <a:avLst/>
          </a:prstGeom>
          <a:solidFill>
            <a:srgbClr val="5C1A1A"/>
          </a:solidFill>
          <a:ln w="12700">
            <a:solidFill>
              <a:srgbClr val="E06060"/>
            </a:solidFill>
            <a:prstDash val="solid"/>
          </a:ln>
        </p:spPr>
        <p:txBody>
          <a:bodyPr/>
          <a:lstStyle/>
          <a:p>
            <a:endParaRPr lang="es-ES"/>
          </a:p>
        </p:txBody>
      </p:sp>
      <p:sp>
        <p:nvSpPr>
          <p:cNvPr id="14" name="Text 11"/>
          <p:cNvSpPr/>
          <p:nvPr/>
        </p:nvSpPr>
        <p:spPr>
          <a:xfrm>
            <a:off x="8339328" y="749808"/>
            <a:ext cx="877824" cy="347472"/>
          </a:xfrm>
          <a:prstGeom prst="rect">
            <a:avLst/>
          </a:prstGeom>
          <a:noFill/>
          <a:ln/>
        </p:spPr>
        <p:txBody>
          <a:bodyPr wrap="square" lIns="0" tIns="0" rIns="0" bIns="0" rtlCol="0" anchor="ctr"/>
          <a:lstStyle/>
          <a:p>
            <a:pPr marL="0" indent="0" algn="ctr">
              <a:buNone/>
            </a:pPr>
            <a:r>
              <a:rPr lang="en-US" sz="1800" b="1" dirty="0">
                <a:solidFill>
                  <a:srgbClr val="F0A8A8"/>
                </a:solidFill>
                <a:latin typeface="Arial Black" pitchFamily="34" charset="0"/>
                <a:ea typeface="Arial Black" pitchFamily="34" charset="-122"/>
                <a:cs typeface="Arial Black" pitchFamily="34" charset="-120"/>
              </a:rPr>
              <a:t>NO</a:t>
            </a:r>
            <a:endParaRPr lang="en-US" sz="1800" dirty="0"/>
          </a:p>
        </p:txBody>
      </p:sp>
      <p:sp>
        <p:nvSpPr>
          <p:cNvPr id="15" name="Shape 12"/>
          <p:cNvSpPr/>
          <p:nvPr/>
        </p:nvSpPr>
        <p:spPr>
          <a:xfrm>
            <a:off x="182880" y="1152144"/>
            <a:ext cx="7059168" cy="1261872"/>
          </a:xfrm>
          <a:prstGeom prst="rect">
            <a:avLst/>
          </a:prstGeom>
          <a:solidFill>
            <a:srgbClr val="0E1E34"/>
          </a:solidFill>
          <a:ln w="1524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16" name="Shape 13"/>
          <p:cNvSpPr/>
          <p:nvPr/>
        </p:nvSpPr>
        <p:spPr>
          <a:xfrm>
            <a:off x="182880" y="1152144"/>
            <a:ext cx="64008" cy="1261872"/>
          </a:xfrm>
          <a:prstGeom prst="rect">
            <a:avLst/>
          </a:prstGeom>
          <a:solidFill>
            <a:srgbClr val="C9A84C"/>
          </a:solidFill>
          <a:ln w="12700">
            <a:solidFill>
              <a:srgbClr val="C9A84C"/>
            </a:solidFill>
            <a:prstDash val="solid"/>
          </a:ln>
        </p:spPr>
        <p:txBody>
          <a:bodyPr/>
          <a:lstStyle/>
          <a:p>
            <a:endParaRPr lang="es-ES"/>
          </a:p>
        </p:txBody>
      </p:sp>
      <p:sp>
        <p:nvSpPr>
          <p:cNvPr id="17" name="Shape 14"/>
          <p:cNvSpPr/>
          <p:nvPr/>
        </p:nvSpPr>
        <p:spPr>
          <a:xfrm>
            <a:off x="292608" y="1508760"/>
            <a:ext cx="548640" cy="548640"/>
          </a:xfrm>
          <a:prstGeom prst="line">
            <a:avLst/>
          </a:prstGeom>
          <a:solidFill>
            <a:srgbClr val="C9A84C"/>
          </a:solidFill>
          <a:ln w="12700">
            <a:solidFill>
              <a:srgbClr val="C9A84C"/>
            </a:solidFill>
            <a:prstDash val="solid"/>
          </a:ln>
        </p:spPr>
        <p:txBody>
          <a:bodyPr/>
          <a:lstStyle/>
          <a:p>
            <a:endParaRPr lang="es-ES"/>
          </a:p>
        </p:txBody>
      </p:sp>
      <p:sp>
        <p:nvSpPr>
          <p:cNvPr id="18" name="Text 15"/>
          <p:cNvSpPr/>
          <p:nvPr/>
        </p:nvSpPr>
        <p:spPr>
          <a:xfrm>
            <a:off x="292608" y="1508760"/>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1</a:t>
            </a:r>
            <a:endParaRPr lang="en-US" sz="1800" dirty="0"/>
          </a:p>
        </p:txBody>
      </p:sp>
      <p:sp>
        <p:nvSpPr>
          <p:cNvPr id="19" name="Text 16"/>
          <p:cNvSpPr/>
          <p:nvPr/>
        </p:nvSpPr>
        <p:spPr>
          <a:xfrm>
            <a:off x="969264" y="1261872"/>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Esta semana identifico a una persona en mi entorno y oro específicamente por ella, pidiéndole a Dios una oportunidad para compartir algo de lo que él ha hecho en mi vida (Hech. 1:8; Isa. 50:4).</a:t>
            </a:r>
            <a:endParaRPr lang="en-US" sz="1250" dirty="0"/>
          </a:p>
        </p:txBody>
      </p:sp>
      <p:sp>
        <p:nvSpPr>
          <p:cNvPr id="20" name="Shape 17"/>
          <p:cNvSpPr/>
          <p:nvPr/>
        </p:nvSpPr>
        <p:spPr>
          <a:xfrm>
            <a:off x="7351776" y="1152144"/>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21" name="Shape 18"/>
          <p:cNvSpPr/>
          <p:nvPr/>
        </p:nvSpPr>
        <p:spPr>
          <a:xfrm>
            <a:off x="7562088" y="1325880"/>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22" name="Text 19"/>
          <p:cNvSpPr/>
          <p:nvPr/>
        </p:nvSpPr>
        <p:spPr>
          <a:xfrm>
            <a:off x="7351776" y="1837944"/>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23" name="Shape 20"/>
          <p:cNvSpPr/>
          <p:nvPr/>
        </p:nvSpPr>
        <p:spPr>
          <a:xfrm>
            <a:off x="8339328" y="1152144"/>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24" name="Shape 21"/>
          <p:cNvSpPr/>
          <p:nvPr/>
        </p:nvSpPr>
        <p:spPr>
          <a:xfrm>
            <a:off x="8549640" y="1325880"/>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25" name="Text 22"/>
          <p:cNvSpPr/>
          <p:nvPr/>
        </p:nvSpPr>
        <p:spPr>
          <a:xfrm>
            <a:off x="8339328" y="1837944"/>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26" name="Shape 23"/>
          <p:cNvSpPr/>
          <p:nvPr/>
        </p:nvSpPr>
        <p:spPr>
          <a:xfrm>
            <a:off x="182880" y="2487168"/>
            <a:ext cx="7059168" cy="1261872"/>
          </a:xfrm>
          <a:prstGeom prst="rect">
            <a:avLst/>
          </a:prstGeom>
          <a:solidFill>
            <a:srgbClr val="0A1828"/>
          </a:solidFill>
          <a:ln w="1524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27" name="Shape 24"/>
          <p:cNvSpPr/>
          <p:nvPr/>
        </p:nvSpPr>
        <p:spPr>
          <a:xfrm>
            <a:off x="182880" y="2487168"/>
            <a:ext cx="64008" cy="1261872"/>
          </a:xfrm>
          <a:prstGeom prst="rect">
            <a:avLst/>
          </a:prstGeom>
          <a:solidFill>
            <a:srgbClr val="C9A84C"/>
          </a:solidFill>
          <a:ln w="12700">
            <a:solidFill>
              <a:srgbClr val="C9A84C"/>
            </a:solidFill>
            <a:prstDash val="solid"/>
          </a:ln>
        </p:spPr>
        <p:txBody>
          <a:bodyPr/>
          <a:lstStyle/>
          <a:p>
            <a:endParaRPr lang="es-ES"/>
          </a:p>
        </p:txBody>
      </p:sp>
      <p:sp>
        <p:nvSpPr>
          <p:cNvPr id="28" name="Shape 25"/>
          <p:cNvSpPr/>
          <p:nvPr/>
        </p:nvSpPr>
        <p:spPr>
          <a:xfrm>
            <a:off x="292608" y="2843784"/>
            <a:ext cx="548640" cy="548640"/>
          </a:xfrm>
          <a:prstGeom prst="line">
            <a:avLst/>
          </a:prstGeom>
          <a:solidFill>
            <a:srgbClr val="C9A84C"/>
          </a:solidFill>
          <a:ln w="12700">
            <a:solidFill>
              <a:srgbClr val="C9A84C"/>
            </a:solidFill>
            <a:prstDash val="solid"/>
          </a:ln>
        </p:spPr>
        <p:txBody>
          <a:bodyPr/>
          <a:lstStyle/>
          <a:p>
            <a:endParaRPr lang="es-ES"/>
          </a:p>
        </p:txBody>
      </p:sp>
      <p:sp>
        <p:nvSpPr>
          <p:cNvPr id="29" name="Text 26"/>
          <p:cNvSpPr/>
          <p:nvPr/>
        </p:nvSpPr>
        <p:spPr>
          <a:xfrm>
            <a:off x="292608" y="2843784"/>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2</a:t>
            </a:r>
            <a:endParaRPr lang="en-US" sz="1800" dirty="0"/>
          </a:p>
        </p:txBody>
      </p:sp>
      <p:sp>
        <p:nvSpPr>
          <p:cNvPr id="30" name="Text 27"/>
          <p:cNvSpPr/>
          <p:nvPr/>
        </p:nvSpPr>
        <p:spPr>
          <a:xfrm>
            <a:off x="969264" y="2596896"/>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Cuido que mi vida diaria sea coherente con mi testimonio: en el tráfico, en casa, en las redes sociales; porque testificar ocurre todo el tiempo (Hech. 4:13; Mat. 5:16; Fil. 1:27).</a:t>
            </a:r>
            <a:endParaRPr lang="en-US" sz="1250" dirty="0"/>
          </a:p>
        </p:txBody>
      </p:sp>
      <p:sp>
        <p:nvSpPr>
          <p:cNvPr id="31" name="Shape 28"/>
          <p:cNvSpPr/>
          <p:nvPr/>
        </p:nvSpPr>
        <p:spPr>
          <a:xfrm>
            <a:off x="7351776" y="2487168"/>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32" name="Shape 29"/>
          <p:cNvSpPr/>
          <p:nvPr/>
        </p:nvSpPr>
        <p:spPr>
          <a:xfrm>
            <a:off x="7562088" y="2660904"/>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33" name="Text 30"/>
          <p:cNvSpPr/>
          <p:nvPr/>
        </p:nvSpPr>
        <p:spPr>
          <a:xfrm>
            <a:off x="7351776" y="3172968"/>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34" name="Shape 31"/>
          <p:cNvSpPr/>
          <p:nvPr/>
        </p:nvSpPr>
        <p:spPr>
          <a:xfrm>
            <a:off x="8339328" y="2487168"/>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35" name="Shape 32"/>
          <p:cNvSpPr/>
          <p:nvPr/>
        </p:nvSpPr>
        <p:spPr>
          <a:xfrm>
            <a:off x="8549640" y="2660904"/>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36" name="Text 33"/>
          <p:cNvSpPr/>
          <p:nvPr/>
        </p:nvSpPr>
        <p:spPr>
          <a:xfrm>
            <a:off x="8339328" y="3172968"/>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37" name="Shape 34"/>
          <p:cNvSpPr/>
          <p:nvPr/>
        </p:nvSpPr>
        <p:spPr>
          <a:xfrm>
            <a:off x="182880" y="3822192"/>
            <a:ext cx="7059168" cy="1261872"/>
          </a:xfrm>
          <a:prstGeom prst="rect">
            <a:avLst/>
          </a:prstGeom>
          <a:solidFill>
            <a:srgbClr val="0E1E34"/>
          </a:solidFill>
          <a:ln w="15240">
            <a:solidFill>
              <a:srgbClr val="C9A84C"/>
            </a:solidFill>
            <a:prstDash val="solid"/>
          </a:ln>
          <a:effectLst>
            <a:outerShdw blurRad="152400" dist="38100" dir="8100000" algn="bl" rotWithShape="0">
              <a:srgbClr val="000000">
                <a:alpha val="50000"/>
              </a:srgbClr>
            </a:outerShdw>
          </a:effectLst>
        </p:spPr>
        <p:txBody>
          <a:bodyPr/>
          <a:lstStyle/>
          <a:p>
            <a:endParaRPr lang="es-ES"/>
          </a:p>
        </p:txBody>
      </p:sp>
      <p:sp>
        <p:nvSpPr>
          <p:cNvPr id="38" name="Shape 35"/>
          <p:cNvSpPr/>
          <p:nvPr/>
        </p:nvSpPr>
        <p:spPr>
          <a:xfrm>
            <a:off x="182880" y="3822192"/>
            <a:ext cx="64008" cy="1261872"/>
          </a:xfrm>
          <a:prstGeom prst="rect">
            <a:avLst/>
          </a:prstGeom>
          <a:solidFill>
            <a:srgbClr val="C9A84C"/>
          </a:solidFill>
          <a:ln w="12700">
            <a:solidFill>
              <a:srgbClr val="C9A84C"/>
            </a:solidFill>
            <a:prstDash val="solid"/>
          </a:ln>
        </p:spPr>
        <p:txBody>
          <a:bodyPr/>
          <a:lstStyle/>
          <a:p>
            <a:endParaRPr lang="es-ES"/>
          </a:p>
        </p:txBody>
      </p:sp>
      <p:sp>
        <p:nvSpPr>
          <p:cNvPr id="39" name="Shape 36"/>
          <p:cNvSpPr/>
          <p:nvPr/>
        </p:nvSpPr>
        <p:spPr>
          <a:xfrm>
            <a:off x="292608" y="4178808"/>
            <a:ext cx="548640" cy="548640"/>
          </a:xfrm>
          <a:prstGeom prst="line">
            <a:avLst/>
          </a:prstGeom>
          <a:solidFill>
            <a:srgbClr val="C9A84C"/>
          </a:solidFill>
          <a:ln w="12700">
            <a:solidFill>
              <a:srgbClr val="C9A84C"/>
            </a:solidFill>
            <a:prstDash val="solid"/>
          </a:ln>
        </p:spPr>
        <p:txBody>
          <a:bodyPr/>
          <a:lstStyle/>
          <a:p>
            <a:endParaRPr lang="es-ES"/>
          </a:p>
        </p:txBody>
      </p:sp>
      <p:sp>
        <p:nvSpPr>
          <p:cNvPr id="40" name="Text 37"/>
          <p:cNvSpPr/>
          <p:nvPr/>
        </p:nvSpPr>
        <p:spPr>
          <a:xfrm>
            <a:off x="292608" y="4178808"/>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3</a:t>
            </a:r>
            <a:endParaRPr lang="en-US" sz="1800" dirty="0"/>
          </a:p>
        </p:txBody>
      </p:sp>
      <p:sp>
        <p:nvSpPr>
          <p:cNvPr id="41" name="Text 38"/>
          <p:cNvSpPr/>
          <p:nvPr/>
        </p:nvSpPr>
        <p:spPr>
          <a:xfrm>
            <a:off x="969264" y="3931920"/>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Pido al Espíritu Santo que me llene con el amor de Cristo esta semana, porque sin ese amor el testimonio se convierte en ruido que los demás aprenden a ignorar (1 Cor. 13:1-3; 2 Cor. 5:14).</a:t>
            </a:r>
            <a:endParaRPr lang="en-US" sz="1250" dirty="0"/>
          </a:p>
        </p:txBody>
      </p:sp>
      <p:sp>
        <p:nvSpPr>
          <p:cNvPr id="42" name="Shape 39"/>
          <p:cNvSpPr/>
          <p:nvPr/>
        </p:nvSpPr>
        <p:spPr>
          <a:xfrm>
            <a:off x="7351776" y="3822192"/>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43" name="Shape 40"/>
          <p:cNvSpPr/>
          <p:nvPr/>
        </p:nvSpPr>
        <p:spPr>
          <a:xfrm>
            <a:off x="7562088" y="3995928"/>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44" name="Text 41"/>
          <p:cNvSpPr/>
          <p:nvPr/>
        </p:nvSpPr>
        <p:spPr>
          <a:xfrm>
            <a:off x="7351776" y="4507992"/>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45" name="Shape 42"/>
          <p:cNvSpPr/>
          <p:nvPr/>
        </p:nvSpPr>
        <p:spPr>
          <a:xfrm>
            <a:off x="8339328" y="3822192"/>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46" name="Shape 43"/>
          <p:cNvSpPr/>
          <p:nvPr/>
        </p:nvSpPr>
        <p:spPr>
          <a:xfrm>
            <a:off x="8549640" y="3995928"/>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47" name="Text 44"/>
          <p:cNvSpPr/>
          <p:nvPr/>
        </p:nvSpPr>
        <p:spPr>
          <a:xfrm>
            <a:off x="8339328" y="4507992"/>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48" name="Text 45"/>
          <p:cNvSpPr/>
          <p:nvPr/>
        </p:nvSpPr>
        <p:spPr>
          <a:xfrm>
            <a:off x="182880" y="4686300"/>
            <a:ext cx="8778240" cy="256032"/>
          </a:xfrm>
          <a:prstGeom prst="rect">
            <a:avLst/>
          </a:prstGeom>
          <a:noFill/>
          <a:ln/>
        </p:spPr>
        <p:txBody>
          <a:bodyPr wrap="square" lIns="0" tIns="0" rIns="0" bIns="0" rtlCol="0" anchor="ctr"/>
          <a:lstStyle/>
          <a:p>
            <a:pPr marL="0" indent="0" algn="ctr">
              <a:buNone/>
            </a:pPr>
            <a:r>
              <a:rPr lang="en-US" sz="800" i="1" dirty="0">
                <a:solidFill>
                  <a:srgbClr val="9999BB"/>
                </a:solidFill>
                <a:latin typeface="Calibri" pitchFamily="34" charset="0"/>
                <a:ea typeface="Calibri" pitchFamily="34" charset="-122"/>
                <a:cs typeface="Calibri" pitchFamily="34" charset="-120"/>
              </a:rPr>
              <a:t>«No podemos dejar de decir lo que hemos visto y oído.» (Hech. 4:20)</a:t>
            </a:r>
            <a:endParaRPr lang="en-US" sz="800" dirty="0"/>
          </a:p>
        </p:txBody>
      </p:sp>
      <p:sp>
        <p:nvSpPr>
          <p:cNvPr id="49" name="Text 4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8000"/>
            </a:srgbClr>
          </a:solidFill>
          <a:ln w="12700">
            <a:solidFill>
              <a:srgbClr val="000000"/>
            </a:solidFill>
            <a:prstDash val="solid"/>
          </a:ln>
        </p:spPr>
        <p:txBody>
          <a:bodyPr/>
          <a:lstStyle/>
          <a:p>
            <a:endParaRPr lang="es-ES"/>
          </a:p>
        </p:txBody>
      </p:sp>
      <p:sp>
        <p:nvSpPr>
          <p:cNvPr id="4" name="Shape 1"/>
          <p:cNvSpPr/>
          <p:nvPr/>
        </p:nvSpPr>
        <p:spPr>
          <a:xfrm>
            <a:off x="0" y="0"/>
            <a:ext cx="9144000" cy="54864"/>
          </a:xfrm>
          <a:prstGeom prst="rect">
            <a:avLst/>
          </a:prstGeom>
          <a:solidFill>
            <a:srgbClr val="C9A84C"/>
          </a:solidFill>
          <a:ln w="12700">
            <a:solidFill>
              <a:srgbClr val="C9A84C"/>
            </a:solidFill>
            <a:prstDash val="solid"/>
          </a:ln>
        </p:spPr>
        <p:txBody>
          <a:bodyPr/>
          <a:lstStyle/>
          <a:p>
            <a:endParaRPr lang="es-ES"/>
          </a:p>
        </p:txBody>
      </p:sp>
      <p:sp>
        <p:nvSpPr>
          <p:cNvPr id="5" name="Shape 2"/>
          <p:cNvSpPr/>
          <p:nvPr/>
        </p:nvSpPr>
        <p:spPr>
          <a:xfrm>
            <a:off x="0" y="5070348"/>
            <a:ext cx="9144000" cy="73152"/>
          </a:xfrm>
          <a:prstGeom prst="rect">
            <a:avLst/>
          </a:prstGeom>
          <a:solidFill>
            <a:srgbClr val="C9A84C"/>
          </a:solidFill>
          <a:ln w="12700">
            <a:solidFill>
              <a:srgbClr val="C9A84C"/>
            </a:solidFill>
            <a:prstDash val="solid"/>
          </a:ln>
        </p:spPr>
        <p:txBody>
          <a:bodyPr/>
          <a:lstStyle/>
          <a:p>
            <a:endParaRPr lang="es-ES"/>
          </a:p>
        </p:txBody>
      </p:sp>
      <p:sp>
        <p:nvSpPr>
          <p:cNvPr id="6" name="Text 3"/>
          <p:cNvSpPr/>
          <p:nvPr/>
        </p:nvSpPr>
        <p:spPr>
          <a:xfrm>
            <a:off x="274320" y="621792"/>
            <a:ext cx="8595360" cy="2240280"/>
          </a:xfrm>
          <a:prstGeom prst="rect">
            <a:avLst/>
          </a:prstGeom>
          <a:noFill/>
          <a:ln/>
        </p:spPr>
        <p:txBody>
          <a:bodyPr wrap="square" rtlCol="0" anchor="ctr"/>
          <a:lstStyle/>
          <a:p>
            <a:pPr marL="0" indent="0" algn="ctr">
              <a:buNone/>
            </a:pPr>
            <a:r>
              <a:rPr lang="en-US" sz="7800" b="1" dirty="0">
                <a:solidFill>
                  <a:srgbClr val="FFFFFF"/>
                </a:solidFill>
                <a:latin typeface="Arial Black" pitchFamily="34" charset="0"/>
                <a:ea typeface="Arial Black" pitchFamily="34" charset="-122"/>
                <a:cs typeface="Arial Black" pitchFamily="34" charset="-120"/>
              </a:rPr>
              <a:t>¡Gracias!</a:t>
            </a:r>
            <a:endParaRPr lang="en-US" sz="7800" dirty="0"/>
          </a:p>
        </p:txBody>
      </p:sp>
      <p:sp>
        <p:nvSpPr>
          <p:cNvPr id="7" name="Text 4"/>
          <p:cNvSpPr/>
          <p:nvPr/>
        </p:nvSpPr>
        <p:spPr>
          <a:xfrm>
            <a:off x="274320" y="2907792"/>
            <a:ext cx="8595360" cy="402336"/>
          </a:xfrm>
          <a:prstGeom prst="rect">
            <a:avLst/>
          </a:prstGeom>
          <a:noFill/>
          <a:ln/>
        </p:spPr>
        <p:txBody>
          <a:bodyPr wrap="square" rtlCol="0" anchor="ctr"/>
          <a:lstStyle/>
          <a:p>
            <a:pPr marL="0" indent="0" algn="ctr">
              <a:buNone/>
            </a:pPr>
            <a:r>
              <a:rPr lang="en-US" sz="1600" i="1" dirty="0" err="1">
                <a:solidFill>
                  <a:srgbClr val="C9A84C"/>
                </a:solidFill>
                <a:latin typeface="Trebuchet MS" pitchFamily="34" charset="0"/>
                <a:ea typeface="Trebuchet MS" pitchFamily="34" charset="-122"/>
                <a:cs typeface="Trebuchet MS" pitchFamily="34" charset="-120"/>
              </a:rPr>
              <a:t>Lección</a:t>
            </a:r>
            <a:r>
              <a:rPr lang="en-US" sz="1600" i="1">
                <a:solidFill>
                  <a:srgbClr val="C9A84C"/>
                </a:solidFill>
                <a:latin typeface="Trebuchet MS" pitchFamily="34" charset="0"/>
                <a:ea typeface="Trebuchet MS" pitchFamily="34" charset="-122"/>
                <a:cs typeface="Trebuchet MS" pitchFamily="34" charset="-120"/>
              </a:rPr>
              <a:t> Joven 12  </a:t>
            </a:r>
            <a:r>
              <a:rPr lang="en-US" sz="1600" i="1" dirty="0">
                <a:solidFill>
                  <a:srgbClr val="C9A84C"/>
                </a:solidFill>
                <a:latin typeface="Trebuchet MS" pitchFamily="34" charset="0"/>
                <a:ea typeface="Trebuchet MS" pitchFamily="34" charset="-122"/>
                <a:cs typeface="Trebuchet MS" pitchFamily="34" charset="-120"/>
              </a:rPr>
              <a:t>·  Compártelo</a:t>
            </a:r>
            <a:endParaRPr lang="en-US" sz="1600" dirty="0"/>
          </a:p>
        </p:txBody>
      </p:sp>
      <p:sp>
        <p:nvSpPr>
          <p:cNvPr id="8" name="Text 5"/>
          <p:cNvSpPr/>
          <p:nvPr/>
        </p:nvSpPr>
        <p:spPr>
          <a:xfrm>
            <a:off x="274320" y="3401568"/>
            <a:ext cx="8595360" cy="804672"/>
          </a:xfrm>
          <a:prstGeom prst="rect">
            <a:avLst/>
          </a:prstGeom>
          <a:noFill/>
          <a:ln/>
        </p:spPr>
        <p:txBody>
          <a:bodyPr wrap="square" rtlCol="0" anchor="ctr"/>
          <a:lstStyle/>
          <a:p>
            <a:pPr marL="0" indent="0" algn="ctr">
              <a:buNone/>
            </a:pPr>
            <a:r>
              <a:rPr lang="en-US" sz="1400" b="1" dirty="0">
                <a:solidFill>
                  <a:srgbClr val="DDDDEE"/>
                </a:solidFill>
                <a:latin typeface="Calibri" pitchFamily="34" charset="0"/>
                <a:ea typeface="Calibri" pitchFamily="34" charset="-122"/>
                <a:cs typeface="Calibri" pitchFamily="34" charset="-120"/>
              </a:rPr>
              <a:t>Dr. Tito Goicochea M.</a:t>
            </a:r>
            <a:endParaRPr lang="en-US" sz="1400" dirty="0"/>
          </a:p>
          <a:p>
            <a:pPr marL="0" indent="0" algn="ctr">
              <a:buNone/>
            </a:pPr>
            <a:r>
              <a:rPr lang="en-US" sz="1400" i="1" dirty="0">
                <a:solidFill>
                  <a:srgbClr val="DDDDEE"/>
                </a:solidFill>
                <a:latin typeface="Calibri" pitchFamily="34" charset="0"/>
                <a:ea typeface="Calibri" pitchFamily="34" charset="-122"/>
                <a:cs typeface="Calibri" pitchFamily="34" charset="-120"/>
              </a:rPr>
              <a:t>NEED - DSA  ·  II Trimestre 2026</a:t>
            </a:r>
            <a:endParaRPr lang="en-US" sz="1400" dirty="0"/>
          </a:p>
        </p:txBody>
      </p:sp>
      <p:sp>
        <p:nvSpPr>
          <p:cNvPr id="9" name="Text 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1194</Words>
  <Application>Microsoft Macintosh PowerPoint</Application>
  <PresentationFormat>Presentación en pantalla (16:9)</PresentationFormat>
  <Paragraphs>93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Black</vt:lpstr>
      <vt:lpstr>Calibri</vt:lpstr>
      <vt:lpstr>Georgia</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Bosquejo LES Joven L12 — Compártelo</dc:title>
  <dc:subject>PptxGenJS Presentation</dc:subject>
  <dc:creator>Dr. Tito Goicochea M.</dc:creator>
  <cp:lastModifiedBy>Tito Goicochea Malaver</cp:lastModifiedBy>
  <cp:revision>2</cp:revision>
  <dcterms:created xsi:type="dcterms:W3CDTF">2026-03-29T17:48:04Z</dcterms:created>
  <dcterms:modified xsi:type="dcterms:W3CDTF">2026-03-29T18:06:59Z</dcterms:modified>
</cp:coreProperties>
</file>