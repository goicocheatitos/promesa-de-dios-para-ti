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62" d="100"/>
          <a:sy n="162" d="100"/>
        </p:scale>
        <p:origin x="22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255220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alpha val="48000"/>
            </a:srgbClr>
          </a:solidFill>
          <a:ln w="12700">
            <a:solidFill>
              <a:srgbClr val="000000"/>
            </a:solidFill>
            <a:prstDash val="solid"/>
          </a:ln>
        </p:spPr>
        <p:txBody>
          <a:bodyPr/>
          <a:lstStyle/>
          <a:p>
            <a:endParaRPr lang="es-ES"/>
          </a:p>
        </p:txBody>
      </p:sp>
      <p:sp>
        <p:nvSpPr>
          <p:cNvPr id="4" name="Shape 1"/>
          <p:cNvSpPr/>
          <p:nvPr/>
        </p:nvSpPr>
        <p:spPr>
          <a:xfrm>
            <a:off x="0" y="0"/>
            <a:ext cx="91440" cy="5143500"/>
          </a:xfrm>
          <a:prstGeom prst="rect">
            <a:avLst/>
          </a:prstGeom>
          <a:solidFill>
            <a:srgbClr val="C9A84C"/>
          </a:solidFill>
          <a:ln w="12700">
            <a:solidFill>
              <a:srgbClr val="C9A84C"/>
            </a:solidFill>
            <a:prstDash val="solid"/>
          </a:ln>
        </p:spPr>
        <p:txBody>
          <a:bodyPr/>
          <a:lstStyle/>
          <a:p>
            <a:endParaRPr lang="es-ES"/>
          </a:p>
        </p:txBody>
      </p:sp>
      <p:sp>
        <p:nvSpPr>
          <p:cNvPr id="5" name="Text 2"/>
          <p:cNvSpPr/>
          <p:nvPr/>
        </p:nvSpPr>
        <p:spPr>
          <a:xfrm>
            <a:off x="201168" y="292608"/>
            <a:ext cx="3657600" cy="457200"/>
          </a:xfrm>
          <a:prstGeom prst="rect">
            <a:avLst/>
          </a:prstGeom>
          <a:noFill/>
          <a:ln/>
        </p:spPr>
        <p:txBody>
          <a:bodyPr wrap="square" lIns="0" tIns="0" rIns="0" bIns="0" rtlCol="0" anchor="ctr"/>
          <a:lstStyle/>
          <a:p>
            <a:pPr marL="0" indent="0">
              <a:buNone/>
            </a:pPr>
            <a:r>
              <a:rPr lang="en-US" sz="1400" kern="0" spc="800" dirty="0">
                <a:solidFill>
                  <a:srgbClr val="C9A84C"/>
                </a:solidFill>
                <a:latin typeface="Trebuchet MS" pitchFamily="34" charset="0"/>
                <a:ea typeface="Trebuchet MS" pitchFamily="34" charset="-122"/>
                <a:cs typeface="Trebuchet MS" pitchFamily="34" charset="-120"/>
              </a:rPr>
              <a:t>LECCIÓNJOVEN 2</a:t>
            </a:r>
            <a:endParaRPr lang="en-US" sz="1400" dirty="0"/>
          </a:p>
        </p:txBody>
      </p:sp>
      <p:sp>
        <p:nvSpPr>
          <p:cNvPr id="6" name="Text 3"/>
          <p:cNvSpPr/>
          <p:nvPr/>
        </p:nvSpPr>
        <p:spPr>
          <a:xfrm>
            <a:off x="182880" y="786384"/>
            <a:ext cx="6217920" cy="2286000"/>
          </a:xfrm>
          <a:prstGeom prst="rect">
            <a:avLst/>
          </a:prstGeom>
          <a:noFill/>
          <a:ln/>
        </p:spPr>
        <p:txBody>
          <a:bodyPr wrap="square" rtlCol="0" anchor="ctr"/>
          <a:lstStyle/>
          <a:p>
            <a:pPr marL="0" indent="0" algn="l">
              <a:buNone/>
            </a:pPr>
            <a:r>
              <a:rPr lang="en-US" sz="5800" b="1" dirty="0">
                <a:solidFill>
                  <a:srgbClr val="FFFFFF"/>
                </a:solidFill>
                <a:latin typeface="Arial Black" pitchFamily="34" charset="0"/>
                <a:ea typeface="Arial Black" pitchFamily="34" charset="-122"/>
                <a:cs typeface="Arial Black" pitchFamily="34" charset="-120"/>
              </a:rPr>
              <a:t>CONOCIENDO A DIOS</a:t>
            </a:r>
            <a:endParaRPr lang="en-US" sz="5800" dirty="0"/>
          </a:p>
        </p:txBody>
      </p:sp>
      <p:sp>
        <p:nvSpPr>
          <p:cNvPr id="7" name="Shape 4"/>
          <p:cNvSpPr/>
          <p:nvPr/>
        </p:nvSpPr>
        <p:spPr>
          <a:xfrm>
            <a:off x="182880" y="3218688"/>
            <a:ext cx="2926080" cy="475488"/>
          </a:xfrm>
          <a:prstGeom prst="rect">
            <a:avLst/>
          </a:prstGeom>
          <a:solidFill>
            <a:srgbClr val="C9A84C"/>
          </a:solidFill>
          <a:ln w="12700">
            <a:solidFill>
              <a:srgbClr val="C9A84C"/>
            </a:solidFill>
            <a:prstDash val="solid"/>
          </a:ln>
        </p:spPr>
        <p:txBody>
          <a:bodyPr/>
          <a:lstStyle/>
          <a:p>
            <a:endParaRPr lang="es-ES"/>
          </a:p>
        </p:txBody>
      </p:sp>
      <p:sp>
        <p:nvSpPr>
          <p:cNvPr id="8" name="Text 5"/>
          <p:cNvSpPr/>
          <p:nvPr/>
        </p:nvSpPr>
        <p:spPr>
          <a:xfrm>
            <a:off x="182880" y="3218688"/>
            <a:ext cx="2926080" cy="475488"/>
          </a:xfrm>
          <a:prstGeom prst="rect">
            <a:avLst/>
          </a:prstGeom>
          <a:noFill/>
          <a:ln/>
        </p:spPr>
        <p:txBody>
          <a:bodyPr wrap="square" lIns="0" tIns="0" rIns="0" bIns="0" rtlCol="0" anchor="ctr"/>
          <a:lstStyle/>
          <a:p>
            <a:pPr marL="0" indent="0" algn="ctr">
              <a:buNone/>
            </a:pPr>
            <a:r>
              <a:rPr lang="en-US" sz="1500" b="1" dirty="0">
                <a:solidFill>
                  <a:srgbClr val="000000"/>
                </a:solidFill>
                <a:latin typeface="Trebuchet MS" pitchFamily="34" charset="0"/>
                <a:ea typeface="Trebuchet MS" pitchFamily="34" charset="-122"/>
                <a:cs typeface="Trebuchet MS" pitchFamily="34" charset="-120"/>
              </a:rPr>
              <a:t>Juan 17</a:t>
            </a:r>
            <a:endParaRPr lang="en-US" sz="1500" dirty="0"/>
          </a:p>
        </p:txBody>
      </p:sp>
      <p:sp>
        <p:nvSpPr>
          <p:cNvPr id="9" name="Text 6"/>
          <p:cNvSpPr/>
          <p:nvPr/>
        </p:nvSpPr>
        <p:spPr>
          <a:xfrm>
            <a:off x="182880" y="3822192"/>
            <a:ext cx="5486400" cy="274320"/>
          </a:xfrm>
          <a:prstGeom prst="rect">
            <a:avLst/>
          </a:prstGeom>
          <a:noFill/>
          <a:ln/>
        </p:spPr>
        <p:txBody>
          <a:bodyPr wrap="square" lIns="0" tIns="0" rIns="0" bIns="0" rtlCol="0" anchor="ctr"/>
          <a:lstStyle/>
          <a:p>
            <a:pPr marL="0" indent="0">
              <a:buNone/>
            </a:pPr>
            <a:r>
              <a:rPr lang="en-US" sz="1100" i="1" dirty="0">
                <a:solidFill>
                  <a:srgbClr val="AAAACC"/>
                </a:solidFill>
                <a:latin typeface="Calibri" pitchFamily="34" charset="0"/>
                <a:ea typeface="Calibri" pitchFamily="34" charset="-122"/>
                <a:cs typeface="Calibri" pitchFamily="34" charset="-120"/>
              </a:rPr>
              <a:t>11 de abril de 2026  ·  II Trimestre 2026</a:t>
            </a:r>
            <a:endParaRPr lang="en-US" sz="1100" dirty="0"/>
          </a:p>
        </p:txBody>
      </p:sp>
      <p:sp>
        <p:nvSpPr>
          <p:cNvPr id="10" name="Text 7"/>
          <p:cNvSpPr/>
          <p:nvPr/>
        </p:nvSpPr>
        <p:spPr>
          <a:xfrm>
            <a:off x="0" y="4960620"/>
            <a:ext cx="9144000" cy="164592"/>
          </a:xfrm>
          <a:prstGeom prst="rect">
            <a:avLst/>
          </a:prstGeom>
          <a:noFill/>
          <a:ln/>
        </p:spPr>
        <p:txBody>
          <a:bodyPr wrap="square" lIns="0" tIns="0" rIns="0" bIns="0" rtlCol="0" anchor="ctr"/>
          <a:lstStyle/>
          <a:p>
            <a:pPr marL="0" indent="0" algn="ctr">
              <a:buNone/>
            </a:pPr>
            <a:r>
              <a:rPr lang="en-US" sz="700" i="1" dirty="0">
                <a:solidFill>
                  <a:srgbClr val="777799"/>
                </a:solidFill>
                <a:latin typeface="Calibri" pitchFamily="34" charset="0"/>
                <a:ea typeface="Calibri" pitchFamily="34" charset="-122"/>
                <a:cs typeface="Calibri" pitchFamily="34" charset="-120"/>
              </a:rPr>
              <a:t>Dr. Tito Goicochea M.  ·  NEED - DSA  ·  II Trimestre 2026</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alpha val="45000"/>
            </a:srgbClr>
          </a:solidFill>
          <a:ln w="12700">
            <a:solidFill>
              <a:srgbClr val="000000"/>
            </a:solidFill>
            <a:prstDash val="solid"/>
          </a:ln>
        </p:spPr>
        <p:txBody>
          <a:bodyPr/>
          <a:lstStyle/>
          <a:p>
            <a:endParaRPr lang="es-ES"/>
          </a:p>
        </p:txBody>
      </p:sp>
      <p:sp>
        <p:nvSpPr>
          <p:cNvPr id="4" name="Shape 1"/>
          <p:cNvSpPr/>
          <p:nvPr/>
        </p:nvSpPr>
        <p:spPr>
          <a:xfrm>
            <a:off x="0" y="0"/>
            <a:ext cx="54864" cy="676656"/>
          </a:xfrm>
          <a:prstGeom prst="rect">
            <a:avLst/>
          </a:prstGeom>
          <a:solidFill>
            <a:srgbClr val="C45000"/>
          </a:solidFill>
          <a:ln w="12700">
            <a:solidFill>
              <a:srgbClr val="C45000"/>
            </a:solidFill>
            <a:prstDash val="solid"/>
          </a:ln>
        </p:spPr>
        <p:txBody>
          <a:bodyPr/>
          <a:lstStyle/>
          <a:p>
            <a:endParaRPr lang="es-ES"/>
          </a:p>
        </p:txBody>
      </p:sp>
      <p:sp>
        <p:nvSpPr>
          <p:cNvPr id="5" name="Shape 2"/>
          <p:cNvSpPr/>
          <p:nvPr/>
        </p:nvSpPr>
        <p:spPr>
          <a:xfrm>
            <a:off x="128016" y="18288"/>
            <a:ext cx="9144000" cy="640080"/>
          </a:xfrm>
          <a:prstGeom prst="rect">
            <a:avLst/>
          </a:prstGeom>
          <a:solidFill>
            <a:srgbClr val="000000">
              <a:alpha val="65000"/>
            </a:srgbClr>
          </a:solidFill>
          <a:ln w="12700">
            <a:solidFill>
              <a:srgbClr val="000000"/>
            </a:solidFill>
            <a:prstDash val="solid"/>
          </a:ln>
        </p:spPr>
        <p:txBody>
          <a:bodyPr/>
          <a:lstStyle/>
          <a:p>
            <a:endParaRPr lang="es-ES"/>
          </a:p>
        </p:txBody>
      </p:sp>
      <p:sp>
        <p:nvSpPr>
          <p:cNvPr id="6" name="Shape 3"/>
          <p:cNvSpPr/>
          <p:nvPr/>
        </p:nvSpPr>
        <p:spPr>
          <a:xfrm>
            <a:off x="182880" y="64008"/>
            <a:ext cx="566928" cy="548640"/>
          </a:xfrm>
          <a:prstGeom prst="rect">
            <a:avLst/>
          </a:prstGeom>
          <a:solidFill>
            <a:srgbClr val="C45000"/>
          </a:solidFill>
          <a:ln w="12700">
            <a:solidFill>
              <a:srgbClr val="C45000"/>
            </a:solidFill>
            <a:prstDash val="solid"/>
          </a:ln>
        </p:spPr>
        <p:txBody>
          <a:bodyPr/>
          <a:lstStyle/>
          <a:p>
            <a:endParaRPr lang="es-ES"/>
          </a:p>
        </p:txBody>
      </p:sp>
      <p:sp>
        <p:nvSpPr>
          <p:cNvPr id="7" name="Text 4"/>
          <p:cNvSpPr/>
          <p:nvPr/>
        </p:nvSpPr>
        <p:spPr>
          <a:xfrm>
            <a:off x="182880" y="64008"/>
            <a:ext cx="566928"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1</a:t>
            </a:r>
            <a:endParaRPr lang="en-US" sz="2200" dirty="0"/>
          </a:p>
        </p:txBody>
      </p:sp>
      <p:sp>
        <p:nvSpPr>
          <p:cNvPr id="8" name="Text 5"/>
          <p:cNvSpPr/>
          <p:nvPr/>
        </p:nvSpPr>
        <p:spPr>
          <a:xfrm>
            <a:off x="877824" y="118872"/>
            <a:ext cx="8138160" cy="438912"/>
          </a:xfrm>
          <a:prstGeom prst="rect">
            <a:avLst/>
          </a:prstGeom>
          <a:noFill/>
          <a:ln/>
        </p:spPr>
        <p:txBody>
          <a:bodyPr wrap="square" lIns="0" tIns="0" rIns="0" bIns="0" rtlCol="0" anchor="ctr"/>
          <a:lstStyle/>
          <a:p>
            <a:pPr marL="0" indent="0" algn="l">
              <a:buNone/>
            </a:pPr>
            <a:r>
              <a:rPr lang="en-US" sz="1600" b="1" dirty="0">
                <a:solidFill>
                  <a:srgbClr val="FFD4A0"/>
                </a:solidFill>
                <a:latin typeface="Trebuchet MS" pitchFamily="34" charset="0"/>
                <a:ea typeface="Trebuchet MS" pitchFamily="34" charset="-122"/>
                <a:cs typeface="Trebuchet MS" pitchFamily="34" charset="-120"/>
              </a:rPr>
              <a:t>FASE 1  ·  MOTIVA  (INICIA)  —  ¿Por qué es importante este estudio para mi vida?</a:t>
            </a:r>
            <a:endParaRPr lang="en-US" sz="1600" dirty="0"/>
          </a:p>
        </p:txBody>
      </p:sp>
      <p:sp>
        <p:nvSpPr>
          <p:cNvPr id="9" name="Shape 6"/>
          <p:cNvSpPr/>
          <p:nvPr/>
        </p:nvSpPr>
        <p:spPr>
          <a:xfrm>
            <a:off x="182880" y="749808"/>
            <a:ext cx="8778240" cy="475488"/>
          </a:xfrm>
          <a:prstGeom prst="rect">
            <a:avLst/>
          </a:prstGeom>
          <a:solidFill>
            <a:srgbClr val="000000">
              <a:alpha val="60000"/>
            </a:srgbClr>
          </a:solidFill>
          <a:ln w="19050">
            <a:solidFill>
              <a:srgbClr val="C9A84C"/>
            </a:solidFill>
            <a:prstDash val="solid"/>
          </a:ln>
        </p:spPr>
        <p:txBody>
          <a:bodyPr/>
          <a:lstStyle/>
          <a:p>
            <a:endParaRPr lang="es-ES"/>
          </a:p>
        </p:txBody>
      </p:sp>
      <p:sp>
        <p:nvSpPr>
          <p:cNvPr id="10" name="Text 7"/>
          <p:cNvSpPr/>
          <p:nvPr/>
        </p:nvSpPr>
        <p:spPr>
          <a:xfrm>
            <a:off x="329184" y="749808"/>
            <a:ext cx="2560320" cy="475488"/>
          </a:xfrm>
          <a:prstGeom prst="rect">
            <a:avLst/>
          </a:prstGeom>
          <a:noFill/>
          <a:ln/>
        </p:spPr>
        <p:txBody>
          <a:bodyPr wrap="square" lIns="0" tIns="0" rIns="0" bIns="0" rtlCol="0" anchor="ctr"/>
          <a:lstStyle/>
          <a:p>
            <a:pPr marL="0" indent="0" algn="l">
              <a:buNone/>
            </a:pPr>
            <a:r>
              <a:rPr lang="en-US" sz="1000" i="1" dirty="0">
                <a:solidFill>
                  <a:srgbClr val="E8CC80"/>
                </a:solidFill>
                <a:latin typeface="Calibri" pitchFamily="34" charset="0"/>
                <a:ea typeface="Calibri" pitchFamily="34" charset="-122"/>
                <a:cs typeface="Calibri" pitchFamily="34" charset="-120"/>
              </a:rPr>
              <a:t>Texto principal de la semana</a:t>
            </a:r>
            <a:endParaRPr lang="en-US" sz="1000" dirty="0"/>
          </a:p>
        </p:txBody>
      </p:sp>
      <p:sp>
        <p:nvSpPr>
          <p:cNvPr id="11" name="Text 8"/>
          <p:cNvSpPr/>
          <p:nvPr/>
        </p:nvSpPr>
        <p:spPr>
          <a:xfrm>
            <a:off x="2743200" y="749808"/>
            <a:ext cx="6217920" cy="475488"/>
          </a:xfrm>
          <a:prstGeom prst="rect">
            <a:avLst/>
          </a:prstGeom>
          <a:noFill/>
          <a:ln/>
        </p:spPr>
        <p:txBody>
          <a:bodyPr wrap="square" lIns="0" tIns="0" rIns="0" bIns="0" rtlCol="0" anchor="ctr"/>
          <a:lstStyle/>
          <a:p>
            <a:pPr marL="0" indent="0" algn="l">
              <a:buNone/>
            </a:pPr>
            <a:r>
              <a:rPr lang="en-US" sz="1700" b="1" dirty="0">
                <a:solidFill>
                  <a:srgbClr val="C9A84C"/>
                </a:solidFill>
                <a:latin typeface="Arial Black" pitchFamily="34" charset="0"/>
                <a:ea typeface="Arial Black" pitchFamily="34" charset="-122"/>
                <a:cs typeface="Arial Black" pitchFamily="34" charset="-120"/>
              </a:rPr>
              <a:t>Juan 17</a:t>
            </a:r>
            <a:endParaRPr lang="en-US" sz="1700" dirty="0"/>
          </a:p>
        </p:txBody>
      </p:sp>
      <p:sp>
        <p:nvSpPr>
          <p:cNvPr id="12" name="Shape 9"/>
          <p:cNvSpPr/>
          <p:nvPr/>
        </p:nvSpPr>
        <p:spPr>
          <a:xfrm>
            <a:off x="182880" y="1298448"/>
            <a:ext cx="8778240" cy="1536192"/>
          </a:xfrm>
          <a:prstGeom prst="rect">
            <a:avLst/>
          </a:prstGeom>
          <a:solidFill>
            <a:srgbClr val="000000">
              <a:alpha val="65000"/>
            </a:srgbClr>
          </a:solidFill>
          <a:ln w="12700">
            <a:solidFill>
              <a:srgbClr val="444466"/>
            </a:solidFill>
            <a:prstDash val="solid"/>
          </a:ln>
          <a:effectLst>
            <a:outerShdw blurRad="152400" dist="38100" dir="8100000" algn="bl" rotWithShape="0">
              <a:srgbClr val="000000">
                <a:alpha val="50000"/>
              </a:srgbClr>
            </a:outerShdw>
          </a:effectLst>
        </p:spPr>
        <p:txBody>
          <a:bodyPr/>
          <a:lstStyle/>
          <a:p>
            <a:endParaRPr lang="es-ES"/>
          </a:p>
        </p:txBody>
      </p:sp>
      <p:sp>
        <p:nvSpPr>
          <p:cNvPr id="13" name="Shape 10"/>
          <p:cNvSpPr/>
          <p:nvPr/>
        </p:nvSpPr>
        <p:spPr>
          <a:xfrm>
            <a:off x="182880" y="1298448"/>
            <a:ext cx="54864" cy="1536192"/>
          </a:xfrm>
          <a:prstGeom prst="rect">
            <a:avLst/>
          </a:prstGeom>
          <a:solidFill>
            <a:srgbClr val="5566AA"/>
          </a:solidFill>
          <a:ln w="12700">
            <a:solidFill>
              <a:srgbClr val="5566AA"/>
            </a:solidFill>
            <a:prstDash val="solid"/>
          </a:ln>
        </p:spPr>
        <p:txBody>
          <a:bodyPr/>
          <a:lstStyle/>
          <a:p>
            <a:endParaRPr lang="es-ES"/>
          </a:p>
        </p:txBody>
      </p:sp>
      <p:sp>
        <p:nvSpPr>
          <p:cNvPr id="14" name="Text 11"/>
          <p:cNvSpPr/>
          <p:nvPr/>
        </p:nvSpPr>
        <p:spPr>
          <a:xfrm>
            <a:off x="310896" y="1344168"/>
            <a:ext cx="1828800" cy="256032"/>
          </a:xfrm>
          <a:prstGeom prst="rect">
            <a:avLst/>
          </a:prstGeom>
          <a:noFill/>
          <a:ln/>
        </p:spPr>
        <p:txBody>
          <a:bodyPr wrap="square" lIns="0" tIns="0" rIns="0" bIns="0" rtlCol="0" anchor="ctr"/>
          <a:lstStyle/>
          <a:p>
            <a:pPr marL="0" indent="0">
              <a:buNone/>
            </a:pPr>
            <a:r>
              <a:rPr lang="en-US" sz="1000" b="1" dirty="0">
                <a:solidFill>
                  <a:srgbClr val="8899CC"/>
                </a:solidFill>
                <a:latin typeface="Trebuchet MS" pitchFamily="34" charset="0"/>
                <a:ea typeface="Trebuchet MS" pitchFamily="34" charset="-122"/>
                <a:cs typeface="Trebuchet MS" pitchFamily="34" charset="-120"/>
              </a:rPr>
              <a:t>Tema Central</a:t>
            </a:r>
            <a:endParaRPr lang="en-US" sz="1000" dirty="0"/>
          </a:p>
        </p:txBody>
      </p:sp>
      <p:sp>
        <p:nvSpPr>
          <p:cNvPr id="15" name="Text 12"/>
          <p:cNvSpPr/>
          <p:nvPr/>
        </p:nvSpPr>
        <p:spPr>
          <a:xfrm>
            <a:off x="310896" y="1609344"/>
            <a:ext cx="8503920" cy="1170432"/>
          </a:xfrm>
          <a:prstGeom prst="rect">
            <a:avLst/>
          </a:prstGeom>
          <a:noFill/>
          <a:ln/>
        </p:spPr>
        <p:txBody>
          <a:bodyPr wrap="square" lIns="0" tIns="0" rIns="0" bIns="0" rtlCol="0" anchor="t"/>
          <a:lstStyle/>
          <a:p>
            <a:pPr marL="0" indent="0" algn="l">
              <a:buNone/>
            </a:pPr>
            <a:r>
              <a:rPr lang="en-US" sz="1150" dirty="0">
                <a:solidFill>
                  <a:srgbClr val="DDDDEE"/>
                </a:solidFill>
                <a:latin typeface="Calibri" pitchFamily="34" charset="0"/>
                <a:ea typeface="Calibri" pitchFamily="34" charset="-122"/>
                <a:cs typeface="Calibri" pitchFamily="34" charset="-120"/>
              </a:rPr>
              <a:t>Juan 17 revela el carácter de Dios a través de la oración más íntima de Jesús: él es santo, justo y amante. Conocerlo genuinamente —no solo saber sobre él— es la base de la vida eterna y el mayor propósito de la existencia del joven creyente (Juan 17:3).</a:t>
            </a:r>
            <a:endParaRPr lang="en-US" sz="1150" dirty="0"/>
          </a:p>
        </p:txBody>
      </p:sp>
      <p:sp>
        <p:nvSpPr>
          <p:cNvPr id="16" name="Shape 13"/>
          <p:cNvSpPr/>
          <p:nvPr/>
        </p:nvSpPr>
        <p:spPr>
          <a:xfrm>
            <a:off x="182880" y="2907792"/>
            <a:ext cx="8778240" cy="1828800"/>
          </a:xfrm>
          <a:prstGeom prst="rect">
            <a:avLst/>
          </a:prstGeom>
          <a:solidFill>
            <a:srgbClr val="0A1830">
              <a:alpha val="85000"/>
            </a:srgbClr>
          </a:solidFill>
          <a:ln w="25400">
            <a:solidFill>
              <a:srgbClr val="C9A84C"/>
            </a:solidFill>
            <a:prstDash val="solid"/>
          </a:ln>
          <a:effectLst>
            <a:outerShdw blurRad="152400" dist="38100" dir="8100000" algn="bl" rotWithShape="0">
              <a:srgbClr val="000000">
                <a:alpha val="50000"/>
              </a:srgbClr>
            </a:outerShdw>
          </a:effectLst>
        </p:spPr>
        <p:txBody>
          <a:bodyPr/>
          <a:lstStyle/>
          <a:p>
            <a:endParaRPr lang="es-ES"/>
          </a:p>
        </p:txBody>
      </p:sp>
      <p:sp>
        <p:nvSpPr>
          <p:cNvPr id="17" name="Shape 14"/>
          <p:cNvSpPr/>
          <p:nvPr/>
        </p:nvSpPr>
        <p:spPr>
          <a:xfrm>
            <a:off x="182880" y="2907792"/>
            <a:ext cx="54864" cy="1828800"/>
          </a:xfrm>
          <a:prstGeom prst="rect">
            <a:avLst/>
          </a:prstGeom>
          <a:solidFill>
            <a:srgbClr val="C9A84C"/>
          </a:solidFill>
          <a:ln w="12700">
            <a:solidFill>
              <a:srgbClr val="C9A84C"/>
            </a:solidFill>
            <a:prstDash val="solid"/>
          </a:ln>
        </p:spPr>
        <p:txBody>
          <a:bodyPr/>
          <a:lstStyle/>
          <a:p>
            <a:endParaRPr lang="es-ES"/>
          </a:p>
        </p:txBody>
      </p:sp>
      <p:sp>
        <p:nvSpPr>
          <p:cNvPr id="18" name="Shape 15"/>
          <p:cNvSpPr/>
          <p:nvPr/>
        </p:nvSpPr>
        <p:spPr>
          <a:xfrm>
            <a:off x="274320" y="2962656"/>
            <a:ext cx="3108960" cy="274320"/>
          </a:xfrm>
          <a:prstGeom prst="rect">
            <a:avLst/>
          </a:prstGeom>
          <a:solidFill>
            <a:srgbClr val="C9A84C"/>
          </a:solidFill>
          <a:ln w="12700">
            <a:solidFill>
              <a:srgbClr val="C9A84C"/>
            </a:solidFill>
            <a:prstDash val="solid"/>
          </a:ln>
        </p:spPr>
        <p:txBody>
          <a:bodyPr/>
          <a:lstStyle/>
          <a:p>
            <a:endParaRPr lang="es-ES"/>
          </a:p>
        </p:txBody>
      </p:sp>
      <p:sp>
        <p:nvSpPr>
          <p:cNvPr id="19" name="Text 16"/>
          <p:cNvSpPr/>
          <p:nvPr/>
        </p:nvSpPr>
        <p:spPr>
          <a:xfrm>
            <a:off x="274320" y="2962656"/>
            <a:ext cx="3108960" cy="274320"/>
          </a:xfrm>
          <a:prstGeom prst="rect">
            <a:avLst/>
          </a:prstGeom>
          <a:noFill/>
          <a:ln/>
        </p:spPr>
        <p:txBody>
          <a:bodyPr wrap="square" lIns="0" tIns="0" rIns="0" bIns="0" rtlCol="0" anchor="ctr"/>
          <a:lstStyle/>
          <a:p>
            <a:pPr marL="0" indent="0" algn="ctr">
              <a:buNone/>
            </a:pPr>
            <a:r>
              <a:rPr lang="en-US" sz="1000" b="1" dirty="0">
                <a:solidFill>
                  <a:srgbClr val="000000"/>
                </a:solidFill>
                <a:latin typeface="Trebuchet MS" pitchFamily="34" charset="0"/>
                <a:ea typeface="Trebuchet MS" pitchFamily="34" charset="-122"/>
                <a:cs typeface="Trebuchet MS" pitchFamily="34" charset="-120"/>
              </a:rPr>
              <a:t>GPS — Gran Pregunta de la Semana</a:t>
            </a:r>
            <a:endParaRPr lang="en-US" sz="1000" dirty="0"/>
          </a:p>
        </p:txBody>
      </p:sp>
      <p:sp>
        <p:nvSpPr>
          <p:cNvPr id="20" name="Text 17"/>
          <p:cNvSpPr/>
          <p:nvPr/>
        </p:nvSpPr>
        <p:spPr>
          <a:xfrm>
            <a:off x="310896" y="3291840"/>
            <a:ext cx="8503920" cy="1371600"/>
          </a:xfrm>
          <a:prstGeom prst="rect">
            <a:avLst/>
          </a:prstGeom>
          <a:noFill/>
          <a:ln/>
        </p:spPr>
        <p:txBody>
          <a:bodyPr wrap="square" rtlCol="0" anchor="ctr"/>
          <a:lstStyle/>
          <a:p>
            <a:pPr marL="0" indent="0" algn="ctr">
              <a:buNone/>
            </a:pPr>
            <a:r>
              <a:rPr lang="en-US" sz="1400" b="1" i="1" dirty="0">
                <a:solidFill>
                  <a:srgbClr val="FFFFFF"/>
                </a:solidFill>
                <a:latin typeface="Trebuchet MS" pitchFamily="34" charset="0"/>
                <a:ea typeface="Trebuchet MS" pitchFamily="34" charset="-122"/>
                <a:cs typeface="Trebuchet MS" pitchFamily="34" charset="-120"/>
              </a:rPr>
              <a:t>¿Qué revela la oración de Jesús en Juan 17 sobre el carácter de Dios, y cómo cambia conocerlo verdaderamente nuestra relación con él?</a:t>
            </a:r>
            <a:endParaRPr lang="en-US" sz="1400" dirty="0"/>
          </a:p>
        </p:txBody>
      </p:sp>
      <p:sp>
        <p:nvSpPr>
          <p:cNvPr id="21" name="Text 18"/>
          <p:cNvSpPr/>
          <p:nvPr/>
        </p:nvSpPr>
        <p:spPr>
          <a:xfrm>
            <a:off x="0" y="4960620"/>
            <a:ext cx="9144000" cy="164592"/>
          </a:xfrm>
          <a:prstGeom prst="rect">
            <a:avLst/>
          </a:prstGeom>
          <a:noFill/>
          <a:ln/>
        </p:spPr>
        <p:txBody>
          <a:bodyPr wrap="square" lIns="0" tIns="0" rIns="0" bIns="0" rtlCol="0" anchor="ctr"/>
          <a:lstStyle/>
          <a:p>
            <a:pPr marL="0" indent="0" algn="ctr">
              <a:buNone/>
            </a:pPr>
            <a:r>
              <a:rPr lang="en-US" sz="700" i="1" dirty="0">
                <a:solidFill>
                  <a:srgbClr val="777799"/>
                </a:solidFill>
                <a:latin typeface="Calibri" pitchFamily="34" charset="0"/>
                <a:ea typeface="Calibri" pitchFamily="34" charset="-122"/>
                <a:cs typeface="Calibri" pitchFamily="34" charset="-120"/>
              </a:rPr>
              <a:t>Dr. Tito Goicochea M.  ·  NEED - DSA  ·  II Trimestre 2026</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alpha val="48000"/>
            </a:srgbClr>
          </a:solidFill>
          <a:ln w="12700">
            <a:solidFill>
              <a:srgbClr val="000000"/>
            </a:solidFill>
            <a:prstDash val="solid"/>
          </a:ln>
        </p:spPr>
        <p:txBody>
          <a:bodyPr/>
          <a:lstStyle/>
          <a:p>
            <a:endParaRPr lang="es-ES"/>
          </a:p>
        </p:txBody>
      </p:sp>
      <p:sp>
        <p:nvSpPr>
          <p:cNvPr id="4" name="Shape 1"/>
          <p:cNvSpPr/>
          <p:nvPr/>
        </p:nvSpPr>
        <p:spPr>
          <a:xfrm>
            <a:off x="0" y="0"/>
            <a:ext cx="54864" cy="676656"/>
          </a:xfrm>
          <a:prstGeom prst="rect">
            <a:avLst/>
          </a:prstGeom>
          <a:solidFill>
            <a:srgbClr val="0E4A8C"/>
          </a:solidFill>
          <a:ln w="12700">
            <a:solidFill>
              <a:srgbClr val="0E4A8C"/>
            </a:solidFill>
            <a:prstDash val="solid"/>
          </a:ln>
        </p:spPr>
        <p:txBody>
          <a:bodyPr/>
          <a:lstStyle/>
          <a:p>
            <a:endParaRPr lang="es-ES"/>
          </a:p>
        </p:txBody>
      </p:sp>
      <p:sp>
        <p:nvSpPr>
          <p:cNvPr id="5" name="Shape 2"/>
          <p:cNvSpPr/>
          <p:nvPr/>
        </p:nvSpPr>
        <p:spPr>
          <a:xfrm>
            <a:off x="128016" y="18288"/>
            <a:ext cx="9144000" cy="640080"/>
          </a:xfrm>
          <a:prstGeom prst="rect">
            <a:avLst/>
          </a:prstGeom>
          <a:solidFill>
            <a:srgbClr val="000000">
              <a:alpha val="65000"/>
            </a:srgbClr>
          </a:solidFill>
          <a:ln w="12700">
            <a:solidFill>
              <a:srgbClr val="000000"/>
            </a:solidFill>
            <a:prstDash val="solid"/>
          </a:ln>
        </p:spPr>
        <p:txBody>
          <a:bodyPr/>
          <a:lstStyle/>
          <a:p>
            <a:endParaRPr lang="es-ES"/>
          </a:p>
        </p:txBody>
      </p:sp>
      <p:sp>
        <p:nvSpPr>
          <p:cNvPr id="6" name="Shape 3"/>
          <p:cNvSpPr/>
          <p:nvPr/>
        </p:nvSpPr>
        <p:spPr>
          <a:xfrm>
            <a:off x="182880" y="64008"/>
            <a:ext cx="566928" cy="548640"/>
          </a:xfrm>
          <a:prstGeom prst="rect">
            <a:avLst/>
          </a:prstGeom>
          <a:solidFill>
            <a:srgbClr val="0E4A8C"/>
          </a:solidFill>
          <a:ln w="12700">
            <a:solidFill>
              <a:srgbClr val="0E4A8C"/>
            </a:solidFill>
            <a:prstDash val="solid"/>
          </a:ln>
        </p:spPr>
        <p:txBody>
          <a:bodyPr/>
          <a:lstStyle/>
          <a:p>
            <a:endParaRPr lang="es-ES"/>
          </a:p>
        </p:txBody>
      </p:sp>
      <p:sp>
        <p:nvSpPr>
          <p:cNvPr id="7" name="Text 4"/>
          <p:cNvSpPr/>
          <p:nvPr/>
        </p:nvSpPr>
        <p:spPr>
          <a:xfrm>
            <a:off x="182880" y="64008"/>
            <a:ext cx="566928"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2</a:t>
            </a:r>
            <a:endParaRPr lang="en-US" sz="2200" dirty="0"/>
          </a:p>
        </p:txBody>
      </p:sp>
      <p:sp>
        <p:nvSpPr>
          <p:cNvPr id="8" name="Text 5"/>
          <p:cNvSpPr/>
          <p:nvPr/>
        </p:nvSpPr>
        <p:spPr>
          <a:xfrm>
            <a:off x="877824" y="118872"/>
            <a:ext cx="8138160" cy="438912"/>
          </a:xfrm>
          <a:prstGeom prst="rect">
            <a:avLst/>
          </a:prstGeom>
          <a:noFill/>
          <a:ln/>
        </p:spPr>
        <p:txBody>
          <a:bodyPr wrap="square" lIns="0" tIns="0" rIns="0" bIns="0" rtlCol="0" anchor="ctr"/>
          <a:lstStyle/>
          <a:p>
            <a:pPr marL="0" indent="0" algn="l">
              <a:buNone/>
            </a:pPr>
            <a:r>
              <a:rPr lang="en-US" sz="1600" b="1" dirty="0">
                <a:solidFill>
                  <a:srgbClr val="A0C8FF"/>
                </a:solidFill>
                <a:latin typeface="Trebuchet MS" pitchFamily="34" charset="0"/>
                <a:ea typeface="Trebuchet MS" pitchFamily="34" charset="-122"/>
                <a:cs typeface="Trebuchet MS" pitchFamily="34" charset="-120"/>
              </a:rPr>
              <a:t>FASE 2  ·  EXPLORA  —  Tópico 1 de 3</a:t>
            </a:r>
            <a:endParaRPr lang="en-US" sz="1600" dirty="0"/>
          </a:p>
        </p:txBody>
      </p:sp>
      <p:sp>
        <p:nvSpPr>
          <p:cNvPr id="9" name="Shape 6"/>
          <p:cNvSpPr/>
          <p:nvPr/>
        </p:nvSpPr>
        <p:spPr>
          <a:xfrm>
            <a:off x="146304" y="749808"/>
            <a:ext cx="2633472" cy="4192524"/>
          </a:xfrm>
          <a:prstGeom prst="rect">
            <a:avLst/>
          </a:prstGeom>
          <a:solidFill>
            <a:srgbClr val="1A6B3A">
              <a:alpha val="90000"/>
            </a:srgbClr>
          </a:solidFill>
          <a:ln w="25400">
            <a:solidFill>
              <a:srgbClr val="2E8A4A"/>
            </a:solidFill>
            <a:prstDash val="solid"/>
          </a:ln>
          <a:effectLst>
            <a:outerShdw blurRad="152400" dist="38100" dir="8100000" algn="bl" rotWithShape="0">
              <a:srgbClr val="000000">
                <a:alpha val="50000"/>
              </a:srgbClr>
            </a:outerShdw>
          </a:effectLst>
        </p:spPr>
        <p:txBody>
          <a:bodyPr/>
          <a:lstStyle/>
          <a:p>
            <a:endParaRPr lang="es-ES"/>
          </a:p>
        </p:txBody>
      </p:sp>
      <p:sp>
        <p:nvSpPr>
          <p:cNvPr id="10" name="Shape 7"/>
          <p:cNvSpPr/>
          <p:nvPr/>
        </p:nvSpPr>
        <p:spPr>
          <a:xfrm>
            <a:off x="146304" y="749808"/>
            <a:ext cx="64008" cy="4192524"/>
          </a:xfrm>
          <a:prstGeom prst="rect">
            <a:avLst/>
          </a:prstGeom>
          <a:solidFill>
            <a:srgbClr val="7AE8A0"/>
          </a:solidFill>
          <a:ln w="12700">
            <a:solidFill>
              <a:srgbClr val="7AE8A0"/>
            </a:solidFill>
            <a:prstDash val="solid"/>
          </a:ln>
        </p:spPr>
        <p:txBody>
          <a:bodyPr/>
          <a:lstStyle/>
          <a:p>
            <a:endParaRPr lang="es-ES"/>
          </a:p>
        </p:txBody>
      </p:sp>
      <p:sp>
        <p:nvSpPr>
          <p:cNvPr id="11" name="Text 8"/>
          <p:cNvSpPr/>
          <p:nvPr/>
        </p:nvSpPr>
        <p:spPr>
          <a:xfrm>
            <a:off x="146304" y="804672"/>
            <a:ext cx="2633472" cy="640080"/>
          </a:xfrm>
          <a:prstGeom prst="rect">
            <a:avLst/>
          </a:prstGeom>
          <a:noFill/>
          <a:ln/>
        </p:spPr>
        <p:txBody>
          <a:bodyPr wrap="square" rtlCol="0" anchor="t"/>
          <a:lstStyle/>
          <a:p>
            <a:pPr marL="0" indent="0" algn="r">
              <a:buNone/>
            </a:pPr>
            <a:r>
              <a:rPr lang="en-US" sz="3800" b="1" dirty="0">
                <a:solidFill>
                  <a:srgbClr val="7AE8A0"/>
                </a:solidFill>
                <a:latin typeface="Arial Black" pitchFamily="34" charset="0"/>
                <a:ea typeface="Arial Black" pitchFamily="34" charset="-122"/>
                <a:cs typeface="Arial Black" pitchFamily="34" charset="-120"/>
              </a:rPr>
              <a:t>01</a:t>
            </a:r>
            <a:endParaRPr lang="en-US" sz="3800" dirty="0"/>
          </a:p>
        </p:txBody>
      </p:sp>
      <p:sp>
        <p:nvSpPr>
          <p:cNvPr id="12" name="Text 9"/>
          <p:cNvSpPr/>
          <p:nvPr/>
        </p:nvSpPr>
        <p:spPr>
          <a:xfrm>
            <a:off x="292608" y="877824"/>
            <a:ext cx="2231136" cy="402336"/>
          </a:xfrm>
          <a:prstGeom prst="rect">
            <a:avLst/>
          </a:prstGeom>
          <a:noFill/>
          <a:ln/>
        </p:spPr>
        <p:txBody>
          <a:bodyPr wrap="square" lIns="0" tIns="0" rIns="0" bIns="0" rtlCol="0" anchor="ctr"/>
          <a:lstStyle/>
          <a:p>
            <a:pPr marL="0" indent="0" algn="l">
              <a:buNone/>
            </a:pPr>
            <a:r>
              <a:rPr lang="en-US" sz="1350" b="1" dirty="0">
                <a:solidFill>
                  <a:srgbClr val="FFFFFF"/>
                </a:solidFill>
                <a:latin typeface="Arial Black" pitchFamily="34" charset="0"/>
                <a:ea typeface="Arial Black" pitchFamily="34" charset="-122"/>
                <a:cs typeface="Arial Black" pitchFamily="34" charset="-120"/>
              </a:rPr>
              <a:t>Juan 17:1-5</a:t>
            </a:r>
            <a:endParaRPr lang="en-US" sz="1350" dirty="0"/>
          </a:p>
        </p:txBody>
      </p:sp>
      <p:sp>
        <p:nvSpPr>
          <p:cNvPr id="13" name="Shape 10"/>
          <p:cNvSpPr/>
          <p:nvPr/>
        </p:nvSpPr>
        <p:spPr>
          <a:xfrm>
            <a:off x="292608" y="1353312"/>
            <a:ext cx="2231136" cy="20117"/>
          </a:xfrm>
          <a:prstGeom prst="rect">
            <a:avLst/>
          </a:prstGeom>
          <a:solidFill>
            <a:srgbClr val="7AE8A0">
              <a:alpha val="55000"/>
            </a:srgbClr>
          </a:solidFill>
          <a:ln w="12700">
            <a:solidFill>
              <a:srgbClr val="7AE8A0"/>
            </a:solidFill>
            <a:prstDash val="solid"/>
          </a:ln>
        </p:spPr>
        <p:txBody>
          <a:bodyPr/>
          <a:lstStyle/>
          <a:p>
            <a:endParaRPr lang="es-ES"/>
          </a:p>
        </p:txBody>
      </p:sp>
      <p:sp>
        <p:nvSpPr>
          <p:cNvPr id="14" name="Text 11"/>
          <p:cNvSpPr/>
          <p:nvPr/>
        </p:nvSpPr>
        <p:spPr>
          <a:xfrm>
            <a:off x="292608" y="1444752"/>
            <a:ext cx="2395728" cy="804672"/>
          </a:xfrm>
          <a:prstGeom prst="rect">
            <a:avLst/>
          </a:prstGeom>
          <a:noFill/>
          <a:ln/>
        </p:spPr>
        <p:txBody>
          <a:bodyPr wrap="square" rtlCol="0" anchor="t"/>
          <a:lstStyle/>
          <a:p>
            <a:pPr marL="0" indent="0" algn="l">
              <a:buNone/>
            </a:pPr>
            <a:r>
              <a:rPr lang="en-US" sz="1500" b="1" dirty="0">
                <a:solidFill>
                  <a:srgbClr val="7AE8A0"/>
                </a:solidFill>
                <a:latin typeface="Trebuchet MS" pitchFamily="34" charset="0"/>
                <a:ea typeface="Trebuchet MS" pitchFamily="34" charset="-122"/>
                <a:cs typeface="Trebuchet MS" pitchFamily="34" charset="-120"/>
              </a:rPr>
              <a:t>La vida eterna es conocer a Dios</a:t>
            </a:r>
            <a:endParaRPr lang="en-US" sz="1500" dirty="0"/>
          </a:p>
        </p:txBody>
      </p:sp>
      <p:sp>
        <p:nvSpPr>
          <p:cNvPr id="15" name="Shape 12"/>
          <p:cNvSpPr/>
          <p:nvPr/>
        </p:nvSpPr>
        <p:spPr>
          <a:xfrm>
            <a:off x="292608" y="2322576"/>
            <a:ext cx="2231136" cy="20117"/>
          </a:xfrm>
          <a:prstGeom prst="rect">
            <a:avLst/>
          </a:prstGeom>
          <a:solidFill>
            <a:srgbClr val="FFFFFF">
              <a:alpha val="32000"/>
            </a:srgbClr>
          </a:solidFill>
          <a:ln w="12700">
            <a:solidFill>
              <a:srgbClr val="FFFFFF"/>
            </a:solidFill>
            <a:prstDash val="solid"/>
          </a:ln>
        </p:spPr>
        <p:txBody>
          <a:bodyPr/>
          <a:lstStyle/>
          <a:p>
            <a:endParaRPr lang="es-ES"/>
          </a:p>
        </p:txBody>
      </p:sp>
      <p:sp>
        <p:nvSpPr>
          <p:cNvPr id="16" name="Text 13"/>
          <p:cNvSpPr/>
          <p:nvPr/>
        </p:nvSpPr>
        <p:spPr>
          <a:xfrm>
            <a:off x="292608" y="2432304"/>
            <a:ext cx="2395728" cy="2400300"/>
          </a:xfrm>
          <a:prstGeom prst="rect">
            <a:avLst/>
          </a:prstGeom>
          <a:noFill/>
          <a:ln/>
        </p:spPr>
        <p:txBody>
          <a:bodyPr wrap="square" rtlCol="0" anchor="t"/>
          <a:lstStyle/>
          <a:p>
            <a:pPr marL="0" indent="0" algn="l">
              <a:buNone/>
            </a:pPr>
            <a:r>
              <a:rPr lang="en-US" sz="1100" i="1" dirty="0">
                <a:solidFill>
                  <a:srgbClr val="D8D8EE"/>
                </a:solidFill>
                <a:latin typeface="Calibri" pitchFamily="34" charset="0"/>
                <a:ea typeface="Calibri" pitchFamily="34" charset="-122"/>
                <a:cs typeface="Calibri" pitchFamily="34" charset="-120"/>
              </a:rPr>
              <a:t>¿Qué define Jesús como vida eterna, y por qué ese conocimiento debe comenzar ahora y no al morir?</a:t>
            </a:r>
            <a:endParaRPr lang="en-US" sz="1100" dirty="0"/>
          </a:p>
        </p:txBody>
      </p:sp>
      <p:sp>
        <p:nvSpPr>
          <p:cNvPr id="17" name="Shape 14"/>
          <p:cNvSpPr/>
          <p:nvPr/>
        </p:nvSpPr>
        <p:spPr>
          <a:xfrm>
            <a:off x="2907792" y="749808"/>
            <a:ext cx="6089904" cy="2515514"/>
          </a:xfrm>
          <a:prstGeom prst="rect">
            <a:avLst/>
          </a:prstGeom>
          <a:solidFill>
            <a:srgbClr val="000000">
              <a:alpha val="58000"/>
            </a:srgbClr>
          </a:solidFill>
          <a:ln w="15240">
            <a:solidFill>
              <a:srgbClr val="2E8A4A"/>
            </a:solidFill>
            <a:prstDash val="solid"/>
          </a:ln>
          <a:effectLst>
            <a:outerShdw blurRad="152400" dist="38100" dir="8100000" algn="bl" rotWithShape="0">
              <a:srgbClr val="000000">
                <a:alpha val="50000"/>
              </a:srgbClr>
            </a:outerShdw>
          </a:effectLst>
        </p:spPr>
        <p:txBody>
          <a:bodyPr/>
          <a:lstStyle/>
          <a:p>
            <a:endParaRPr lang="es-ES"/>
          </a:p>
        </p:txBody>
      </p:sp>
      <p:sp>
        <p:nvSpPr>
          <p:cNvPr id="18" name="Shape 15"/>
          <p:cNvSpPr/>
          <p:nvPr/>
        </p:nvSpPr>
        <p:spPr>
          <a:xfrm>
            <a:off x="2907792" y="749808"/>
            <a:ext cx="6089904" cy="310896"/>
          </a:xfrm>
          <a:prstGeom prst="rect">
            <a:avLst/>
          </a:prstGeom>
          <a:solidFill>
            <a:srgbClr val="1A6B3A"/>
          </a:solidFill>
          <a:ln w="12700">
            <a:solidFill>
              <a:srgbClr val="1A6B3A"/>
            </a:solidFill>
            <a:prstDash val="solid"/>
          </a:ln>
        </p:spPr>
        <p:txBody>
          <a:bodyPr/>
          <a:lstStyle/>
          <a:p>
            <a:endParaRPr lang="es-ES"/>
          </a:p>
        </p:txBody>
      </p:sp>
      <p:sp>
        <p:nvSpPr>
          <p:cNvPr id="19" name="Shape 16"/>
          <p:cNvSpPr/>
          <p:nvPr/>
        </p:nvSpPr>
        <p:spPr>
          <a:xfrm>
            <a:off x="2907792" y="749808"/>
            <a:ext cx="64008" cy="310896"/>
          </a:xfrm>
          <a:prstGeom prst="rect">
            <a:avLst/>
          </a:prstGeom>
          <a:solidFill>
            <a:srgbClr val="7AE8A0"/>
          </a:solidFill>
          <a:ln w="12700">
            <a:solidFill>
              <a:srgbClr val="7AE8A0"/>
            </a:solidFill>
            <a:prstDash val="solid"/>
          </a:ln>
        </p:spPr>
        <p:txBody>
          <a:bodyPr/>
          <a:lstStyle/>
          <a:p>
            <a:endParaRPr lang="es-ES"/>
          </a:p>
        </p:txBody>
      </p:sp>
      <p:sp>
        <p:nvSpPr>
          <p:cNvPr id="20" name="Text 17"/>
          <p:cNvSpPr/>
          <p:nvPr/>
        </p:nvSpPr>
        <p:spPr>
          <a:xfrm>
            <a:off x="3035808" y="749808"/>
            <a:ext cx="5907024" cy="310896"/>
          </a:xfrm>
          <a:prstGeom prst="rect">
            <a:avLst/>
          </a:prstGeom>
          <a:noFill/>
          <a:ln/>
        </p:spPr>
        <p:txBody>
          <a:bodyPr wrap="square" lIns="0" tIns="0" rIns="0" bIns="0" rtlCol="0" anchor="ctr"/>
          <a:lstStyle/>
          <a:p>
            <a:pPr marL="0" indent="0" algn="l">
              <a:buNone/>
            </a:pPr>
            <a:r>
              <a:rPr lang="en-US" sz="950" b="1" kern="0" spc="200" dirty="0">
                <a:solidFill>
                  <a:srgbClr val="FFFFFF"/>
                </a:solidFill>
                <a:latin typeface="Trebuchet MS" pitchFamily="34" charset="0"/>
                <a:ea typeface="Trebuchet MS" pitchFamily="34" charset="-122"/>
                <a:cs typeface="Trebuchet MS" pitchFamily="34" charset="-120"/>
              </a:rPr>
              <a:t>IDEAS PRINCIPALES</a:t>
            </a:r>
            <a:endParaRPr lang="en-US" sz="950" dirty="0"/>
          </a:p>
        </p:txBody>
      </p:sp>
      <p:sp>
        <p:nvSpPr>
          <p:cNvPr id="21" name="Shape 18"/>
          <p:cNvSpPr/>
          <p:nvPr/>
        </p:nvSpPr>
        <p:spPr>
          <a:xfrm>
            <a:off x="3054096" y="1409852"/>
            <a:ext cx="128016" cy="128016"/>
          </a:xfrm>
          <a:prstGeom prst="line">
            <a:avLst/>
          </a:prstGeom>
          <a:solidFill>
            <a:srgbClr val="7AE8A0"/>
          </a:solidFill>
          <a:ln w="12700">
            <a:solidFill>
              <a:srgbClr val="7AE8A0"/>
            </a:solidFill>
            <a:prstDash val="solid"/>
          </a:ln>
        </p:spPr>
        <p:txBody>
          <a:bodyPr/>
          <a:lstStyle/>
          <a:p>
            <a:endParaRPr lang="es-ES"/>
          </a:p>
        </p:txBody>
      </p:sp>
      <p:sp>
        <p:nvSpPr>
          <p:cNvPr id="22" name="Text 19"/>
          <p:cNvSpPr/>
          <p:nvPr/>
        </p:nvSpPr>
        <p:spPr>
          <a:xfrm>
            <a:off x="3255264" y="1115568"/>
            <a:ext cx="5614416" cy="716585"/>
          </a:xfrm>
          <a:prstGeom prst="rect">
            <a:avLst/>
          </a:prstGeom>
          <a:noFill/>
          <a:ln/>
        </p:spPr>
        <p:txBody>
          <a:bodyPr wrap="square" rtlCol="0" anchor="ctr"/>
          <a:lstStyle/>
          <a:p>
            <a:pPr marL="0" indent="0" algn="l">
              <a:buNone/>
            </a:pPr>
            <a:r>
              <a:rPr lang="en-US" sz="1200" dirty="0">
                <a:solidFill>
                  <a:srgbClr val="EEEEFF"/>
                </a:solidFill>
                <a:latin typeface="Calibri" pitchFamily="34" charset="0"/>
                <a:ea typeface="Calibri" pitchFamily="34" charset="-122"/>
                <a:cs typeface="Calibri" pitchFamily="34" charset="-120"/>
              </a:rPr>
              <a:t>Jesús identifica la vida eterna con conocer al único Dios verdadero: no duración futura sino calidad de relación presente. (Juan 17:3)</a:t>
            </a:r>
            <a:endParaRPr lang="en-US" sz="1200" dirty="0"/>
          </a:p>
        </p:txBody>
      </p:sp>
      <p:sp>
        <p:nvSpPr>
          <p:cNvPr id="23" name="Shape 20"/>
          <p:cNvSpPr/>
          <p:nvPr/>
        </p:nvSpPr>
        <p:spPr>
          <a:xfrm>
            <a:off x="3035808" y="1823009"/>
            <a:ext cx="5833872" cy="16459"/>
          </a:xfrm>
          <a:prstGeom prst="rect">
            <a:avLst/>
          </a:prstGeom>
          <a:solidFill>
            <a:srgbClr val="FFFFFF">
              <a:alpha val="18000"/>
            </a:srgbClr>
          </a:solidFill>
          <a:ln w="12700">
            <a:solidFill>
              <a:srgbClr val="FFFFFF"/>
            </a:solidFill>
            <a:prstDash val="solid"/>
          </a:ln>
        </p:spPr>
        <p:txBody>
          <a:bodyPr/>
          <a:lstStyle/>
          <a:p>
            <a:endParaRPr lang="es-ES"/>
          </a:p>
        </p:txBody>
      </p:sp>
      <p:sp>
        <p:nvSpPr>
          <p:cNvPr id="24" name="Shape 21"/>
          <p:cNvSpPr/>
          <p:nvPr/>
        </p:nvSpPr>
        <p:spPr>
          <a:xfrm>
            <a:off x="3054096" y="2126437"/>
            <a:ext cx="128016" cy="128016"/>
          </a:xfrm>
          <a:prstGeom prst="line">
            <a:avLst/>
          </a:prstGeom>
          <a:solidFill>
            <a:srgbClr val="7AE8A0"/>
          </a:solidFill>
          <a:ln w="12700">
            <a:solidFill>
              <a:srgbClr val="7AE8A0"/>
            </a:solidFill>
            <a:prstDash val="solid"/>
          </a:ln>
        </p:spPr>
        <p:txBody>
          <a:bodyPr/>
          <a:lstStyle/>
          <a:p>
            <a:endParaRPr lang="es-ES"/>
          </a:p>
        </p:txBody>
      </p:sp>
      <p:sp>
        <p:nvSpPr>
          <p:cNvPr id="25" name="Text 22"/>
          <p:cNvSpPr/>
          <p:nvPr/>
        </p:nvSpPr>
        <p:spPr>
          <a:xfrm>
            <a:off x="3255264" y="1832153"/>
            <a:ext cx="5614416" cy="716585"/>
          </a:xfrm>
          <a:prstGeom prst="rect">
            <a:avLst/>
          </a:prstGeom>
          <a:noFill/>
          <a:ln/>
        </p:spPr>
        <p:txBody>
          <a:bodyPr wrap="square" rtlCol="0" anchor="ctr"/>
          <a:lstStyle/>
          <a:p>
            <a:pPr marL="0" indent="0" algn="l">
              <a:buNone/>
            </a:pPr>
            <a:r>
              <a:rPr lang="en-US" sz="1200" dirty="0">
                <a:solidFill>
                  <a:srgbClr val="EEEEFF"/>
                </a:solidFill>
                <a:latin typeface="Calibri" pitchFamily="34" charset="0"/>
                <a:ea typeface="Calibri" pitchFamily="34" charset="-122"/>
                <a:cs typeface="Calibri" pitchFamily="34" charset="-120"/>
              </a:rPr>
              <a:t>Esta vida fluye de la relación con el Padre, no de un sistema de reglas o doctrinas. (Juan 17:1-2; Juan 5:26)</a:t>
            </a:r>
            <a:endParaRPr lang="en-US" sz="1200" dirty="0"/>
          </a:p>
        </p:txBody>
      </p:sp>
      <p:sp>
        <p:nvSpPr>
          <p:cNvPr id="26" name="Shape 23"/>
          <p:cNvSpPr/>
          <p:nvPr/>
        </p:nvSpPr>
        <p:spPr>
          <a:xfrm>
            <a:off x="3035808" y="2539594"/>
            <a:ext cx="5833872" cy="16459"/>
          </a:xfrm>
          <a:prstGeom prst="rect">
            <a:avLst/>
          </a:prstGeom>
          <a:solidFill>
            <a:srgbClr val="FFFFFF">
              <a:alpha val="18000"/>
            </a:srgbClr>
          </a:solidFill>
          <a:ln w="12700">
            <a:solidFill>
              <a:srgbClr val="FFFFFF"/>
            </a:solidFill>
            <a:prstDash val="solid"/>
          </a:ln>
        </p:spPr>
        <p:txBody>
          <a:bodyPr/>
          <a:lstStyle/>
          <a:p>
            <a:endParaRPr lang="es-ES"/>
          </a:p>
        </p:txBody>
      </p:sp>
      <p:sp>
        <p:nvSpPr>
          <p:cNvPr id="27" name="Shape 24"/>
          <p:cNvSpPr/>
          <p:nvPr/>
        </p:nvSpPr>
        <p:spPr>
          <a:xfrm>
            <a:off x="3054096" y="2843022"/>
            <a:ext cx="128016" cy="128016"/>
          </a:xfrm>
          <a:prstGeom prst="line">
            <a:avLst/>
          </a:prstGeom>
          <a:solidFill>
            <a:srgbClr val="7AE8A0"/>
          </a:solidFill>
          <a:ln w="12700">
            <a:solidFill>
              <a:srgbClr val="7AE8A0"/>
            </a:solidFill>
            <a:prstDash val="solid"/>
          </a:ln>
        </p:spPr>
        <p:txBody>
          <a:bodyPr/>
          <a:lstStyle/>
          <a:p>
            <a:endParaRPr lang="es-ES"/>
          </a:p>
        </p:txBody>
      </p:sp>
      <p:sp>
        <p:nvSpPr>
          <p:cNvPr id="28" name="Text 25"/>
          <p:cNvSpPr/>
          <p:nvPr/>
        </p:nvSpPr>
        <p:spPr>
          <a:xfrm>
            <a:off x="3255264" y="2548738"/>
            <a:ext cx="5614416" cy="716585"/>
          </a:xfrm>
          <a:prstGeom prst="rect">
            <a:avLst/>
          </a:prstGeom>
          <a:noFill/>
          <a:ln/>
        </p:spPr>
        <p:txBody>
          <a:bodyPr wrap="square" rtlCol="0" anchor="ctr"/>
          <a:lstStyle/>
          <a:p>
            <a:pPr marL="0" indent="0" algn="l">
              <a:buNone/>
            </a:pPr>
            <a:r>
              <a:rPr lang="en-US" sz="1200" dirty="0">
                <a:solidFill>
                  <a:srgbClr val="EEEEFF"/>
                </a:solidFill>
                <a:latin typeface="Calibri" pitchFamily="34" charset="0"/>
                <a:ea typeface="Calibri" pitchFamily="34" charset="-122"/>
                <a:cs typeface="Calibri" pitchFamily="34" charset="-120"/>
              </a:rPr>
              <a:t>Conocer a Dios transforma el ahora, no solo el después. (1 Juan 5:20)</a:t>
            </a:r>
            <a:endParaRPr lang="en-US" sz="1200" dirty="0"/>
          </a:p>
        </p:txBody>
      </p:sp>
      <p:sp>
        <p:nvSpPr>
          <p:cNvPr id="29" name="Shape 26"/>
          <p:cNvSpPr/>
          <p:nvPr/>
        </p:nvSpPr>
        <p:spPr>
          <a:xfrm>
            <a:off x="2907792" y="3516874"/>
            <a:ext cx="6089904" cy="1425458"/>
          </a:xfrm>
          <a:prstGeom prst="rect">
            <a:avLst/>
          </a:prstGeom>
          <a:solidFill>
            <a:srgbClr val="1A6B3A">
              <a:alpha val="75000"/>
            </a:srgbClr>
          </a:solidFill>
          <a:ln w="12700">
            <a:solidFill>
              <a:srgbClr val="2E8A4A"/>
            </a:solidFill>
            <a:prstDash val="solid"/>
          </a:ln>
          <a:effectLst>
            <a:outerShdw blurRad="152400" dist="38100" dir="8100000" algn="bl" rotWithShape="0">
              <a:srgbClr val="000000">
                <a:alpha val="50000"/>
              </a:srgbClr>
            </a:outerShdw>
          </a:effectLst>
        </p:spPr>
        <p:txBody>
          <a:bodyPr/>
          <a:lstStyle/>
          <a:p>
            <a:endParaRPr lang="es-ES"/>
          </a:p>
        </p:txBody>
      </p:sp>
      <p:sp>
        <p:nvSpPr>
          <p:cNvPr id="30" name="Shape 27"/>
          <p:cNvSpPr/>
          <p:nvPr/>
        </p:nvSpPr>
        <p:spPr>
          <a:xfrm>
            <a:off x="2907792" y="3516874"/>
            <a:ext cx="6089904" cy="274320"/>
          </a:xfrm>
          <a:prstGeom prst="rect">
            <a:avLst/>
          </a:prstGeom>
          <a:solidFill>
            <a:srgbClr val="000000">
              <a:alpha val="52000"/>
            </a:srgbClr>
          </a:solidFill>
          <a:ln w="12700">
            <a:solidFill>
              <a:srgbClr val="000000"/>
            </a:solidFill>
            <a:prstDash val="solid"/>
          </a:ln>
        </p:spPr>
        <p:txBody>
          <a:bodyPr/>
          <a:lstStyle/>
          <a:p>
            <a:endParaRPr lang="es-ES"/>
          </a:p>
        </p:txBody>
      </p:sp>
      <p:sp>
        <p:nvSpPr>
          <p:cNvPr id="31" name="Text 28"/>
          <p:cNvSpPr/>
          <p:nvPr/>
        </p:nvSpPr>
        <p:spPr>
          <a:xfrm>
            <a:off x="3017520" y="3516874"/>
            <a:ext cx="5925312" cy="274320"/>
          </a:xfrm>
          <a:prstGeom prst="rect">
            <a:avLst/>
          </a:prstGeom>
          <a:noFill/>
          <a:ln/>
        </p:spPr>
        <p:txBody>
          <a:bodyPr wrap="square" lIns="0" tIns="0" rIns="0" bIns="0" rtlCol="0" anchor="ctr"/>
          <a:lstStyle/>
          <a:p>
            <a:pPr marL="0" indent="0" algn="l">
              <a:buNone/>
            </a:pPr>
            <a:r>
              <a:rPr lang="en-US" sz="900" b="1" kern="0" spc="100" dirty="0">
                <a:solidFill>
                  <a:srgbClr val="7AE8A0"/>
                </a:solidFill>
                <a:latin typeface="Trebuchet MS" pitchFamily="34" charset="0"/>
                <a:ea typeface="Trebuchet MS" pitchFamily="34" charset="-122"/>
                <a:cs typeface="Trebuchet MS" pitchFamily="34" charset="-120"/>
              </a:rPr>
              <a:t>💡  ILUSTRACIÓN</a:t>
            </a:r>
            <a:endParaRPr lang="en-US" sz="900" dirty="0"/>
          </a:p>
        </p:txBody>
      </p:sp>
      <p:sp>
        <p:nvSpPr>
          <p:cNvPr id="32" name="Text 29"/>
          <p:cNvSpPr/>
          <p:nvPr/>
        </p:nvSpPr>
        <p:spPr>
          <a:xfrm>
            <a:off x="3054096" y="3809482"/>
            <a:ext cx="5833872" cy="1077986"/>
          </a:xfrm>
          <a:prstGeom prst="rect">
            <a:avLst/>
          </a:prstGeom>
          <a:noFill/>
          <a:ln/>
        </p:spPr>
        <p:txBody>
          <a:bodyPr wrap="square" rtlCol="0" anchor="t"/>
          <a:lstStyle/>
          <a:p>
            <a:pPr marL="0" indent="0" algn="l">
              <a:buNone/>
            </a:pPr>
            <a:r>
              <a:rPr lang="en-US" sz="1100" i="1" dirty="0">
                <a:solidFill>
                  <a:srgbClr val="D8D8E8"/>
                </a:solidFill>
                <a:latin typeface="Calibri" pitchFamily="34" charset="0"/>
                <a:ea typeface="Calibri" pitchFamily="34" charset="-122"/>
                <a:cs typeface="Calibri" pitchFamily="34" charset="-120"/>
              </a:rPr>
              <a:t>Puedes saber todo sobre alguien leyendo su biografía, pero no lo conoces hasta que convives con él. Un joven puede aprobar todos los exámenes de teología sin haber hablado con Dios.</a:t>
            </a:r>
            <a:endParaRPr lang="en-US" sz="1100" dirty="0"/>
          </a:p>
        </p:txBody>
      </p:sp>
      <p:sp>
        <p:nvSpPr>
          <p:cNvPr id="33" name="Text 30"/>
          <p:cNvSpPr/>
          <p:nvPr/>
        </p:nvSpPr>
        <p:spPr>
          <a:xfrm>
            <a:off x="0" y="4960620"/>
            <a:ext cx="9144000" cy="164592"/>
          </a:xfrm>
          <a:prstGeom prst="rect">
            <a:avLst/>
          </a:prstGeom>
          <a:noFill/>
          <a:ln/>
        </p:spPr>
        <p:txBody>
          <a:bodyPr wrap="square" lIns="0" tIns="0" rIns="0" bIns="0" rtlCol="0" anchor="ctr"/>
          <a:lstStyle/>
          <a:p>
            <a:pPr marL="0" indent="0" algn="ctr">
              <a:buNone/>
            </a:pPr>
            <a:r>
              <a:rPr lang="en-US" sz="700" i="1" dirty="0">
                <a:solidFill>
                  <a:srgbClr val="777799"/>
                </a:solidFill>
                <a:latin typeface="Calibri" pitchFamily="34" charset="0"/>
                <a:ea typeface="Calibri" pitchFamily="34" charset="-122"/>
                <a:cs typeface="Calibri" pitchFamily="34" charset="-120"/>
              </a:rPr>
              <a:t>Dr. Tito Goicochea M.  ·  NEED - DSA  ·  II Trimestre 2026</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alpha val="40000"/>
            </a:srgbClr>
          </a:solidFill>
          <a:ln w="12700">
            <a:solidFill>
              <a:srgbClr val="000000"/>
            </a:solidFill>
            <a:prstDash val="solid"/>
          </a:ln>
        </p:spPr>
        <p:txBody>
          <a:bodyPr/>
          <a:lstStyle/>
          <a:p>
            <a:endParaRPr lang="es-ES"/>
          </a:p>
        </p:txBody>
      </p:sp>
      <p:sp>
        <p:nvSpPr>
          <p:cNvPr id="4" name="Shape 1"/>
          <p:cNvSpPr/>
          <p:nvPr/>
        </p:nvSpPr>
        <p:spPr>
          <a:xfrm>
            <a:off x="0" y="0"/>
            <a:ext cx="54864" cy="676656"/>
          </a:xfrm>
          <a:prstGeom prst="rect">
            <a:avLst/>
          </a:prstGeom>
          <a:solidFill>
            <a:srgbClr val="0E4A8C"/>
          </a:solidFill>
          <a:ln w="12700">
            <a:solidFill>
              <a:srgbClr val="0E4A8C"/>
            </a:solidFill>
            <a:prstDash val="solid"/>
          </a:ln>
        </p:spPr>
        <p:txBody>
          <a:bodyPr/>
          <a:lstStyle/>
          <a:p>
            <a:endParaRPr lang="es-ES"/>
          </a:p>
        </p:txBody>
      </p:sp>
      <p:sp>
        <p:nvSpPr>
          <p:cNvPr id="5" name="Shape 2"/>
          <p:cNvSpPr/>
          <p:nvPr/>
        </p:nvSpPr>
        <p:spPr>
          <a:xfrm>
            <a:off x="128016" y="18288"/>
            <a:ext cx="9144000" cy="640080"/>
          </a:xfrm>
          <a:prstGeom prst="rect">
            <a:avLst/>
          </a:prstGeom>
          <a:solidFill>
            <a:srgbClr val="000000">
              <a:alpha val="65000"/>
            </a:srgbClr>
          </a:solidFill>
          <a:ln w="12700">
            <a:solidFill>
              <a:srgbClr val="000000"/>
            </a:solidFill>
            <a:prstDash val="solid"/>
          </a:ln>
        </p:spPr>
        <p:txBody>
          <a:bodyPr/>
          <a:lstStyle/>
          <a:p>
            <a:endParaRPr lang="es-ES"/>
          </a:p>
        </p:txBody>
      </p:sp>
      <p:sp>
        <p:nvSpPr>
          <p:cNvPr id="6" name="Shape 3"/>
          <p:cNvSpPr/>
          <p:nvPr/>
        </p:nvSpPr>
        <p:spPr>
          <a:xfrm>
            <a:off x="182880" y="64008"/>
            <a:ext cx="566928" cy="548640"/>
          </a:xfrm>
          <a:prstGeom prst="rect">
            <a:avLst/>
          </a:prstGeom>
          <a:solidFill>
            <a:srgbClr val="0E4A8C"/>
          </a:solidFill>
          <a:ln w="12700">
            <a:solidFill>
              <a:srgbClr val="0E4A8C"/>
            </a:solidFill>
            <a:prstDash val="solid"/>
          </a:ln>
        </p:spPr>
        <p:txBody>
          <a:bodyPr/>
          <a:lstStyle/>
          <a:p>
            <a:endParaRPr lang="es-ES"/>
          </a:p>
        </p:txBody>
      </p:sp>
      <p:sp>
        <p:nvSpPr>
          <p:cNvPr id="7" name="Text 4"/>
          <p:cNvSpPr/>
          <p:nvPr/>
        </p:nvSpPr>
        <p:spPr>
          <a:xfrm>
            <a:off x="182880" y="64008"/>
            <a:ext cx="566928"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2</a:t>
            </a:r>
            <a:endParaRPr lang="en-US" sz="2200" dirty="0"/>
          </a:p>
        </p:txBody>
      </p:sp>
      <p:sp>
        <p:nvSpPr>
          <p:cNvPr id="8" name="Text 5"/>
          <p:cNvSpPr/>
          <p:nvPr/>
        </p:nvSpPr>
        <p:spPr>
          <a:xfrm>
            <a:off x="877824" y="118872"/>
            <a:ext cx="8138160" cy="438912"/>
          </a:xfrm>
          <a:prstGeom prst="rect">
            <a:avLst/>
          </a:prstGeom>
          <a:noFill/>
          <a:ln/>
        </p:spPr>
        <p:txBody>
          <a:bodyPr wrap="square" lIns="0" tIns="0" rIns="0" bIns="0" rtlCol="0" anchor="ctr"/>
          <a:lstStyle/>
          <a:p>
            <a:pPr marL="0" indent="0" algn="l">
              <a:buNone/>
            </a:pPr>
            <a:r>
              <a:rPr lang="en-US" sz="1600" b="1" dirty="0">
                <a:solidFill>
                  <a:srgbClr val="A0C8FF"/>
                </a:solidFill>
                <a:latin typeface="Trebuchet MS" pitchFamily="34" charset="0"/>
                <a:ea typeface="Trebuchet MS" pitchFamily="34" charset="-122"/>
                <a:cs typeface="Trebuchet MS" pitchFamily="34" charset="-120"/>
              </a:rPr>
              <a:t>FASE 2  ·  EXPLORA  —  Tópico 2 de 3</a:t>
            </a:r>
            <a:endParaRPr lang="en-US" sz="1600" dirty="0"/>
          </a:p>
        </p:txBody>
      </p:sp>
      <p:sp>
        <p:nvSpPr>
          <p:cNvPr id="9" name="Shape 6"/>
          <p:cNvSpPr/>
          <p:nvPr/>
        </p:nvSpPr>
        <p:spPr>
          <a:xfrm>
            <a:off x="146304" y="749808"/>
            <a:ext cx="2633472" cy="4192524"/>
          </a:xfrm>
          <a:prstGeom prst="rect">
            <a:avLst/>
          </a:prstGeom>
          <a:solidFill>
            <a:srgbClr val="8B2B00">
              <a:alpha val="90000"/>
            </a:srgbClr>
          </a:solidFill>
          <a:ln w="25400">
            <a:solidFill>
              <a:srgbClr val="C04010"/>
            </a:solidFill>
            <a:prstDash val="solid"/>
          </a:ln>
          <a:effectLst>
            <a:outerShdw blurRad="152400" dist="38100" dir="8100000" algn="bl" rotWithShape="0">
              <a:srgbClr val="000000">
                <a:alpha val="50000"/>
              </a:srgbClr>
            </a:outerShdw>
          </a:effectLst>
        </p:spPr>
        <p:txBody>
          <a:bodyPr/>
          <a:lstStyle/>
          <a:p>
            <a:endParaRPr lang="es-ES"/>
          </a:p>
        </p:txBody>
      </p:sp>
      <p:sp>
        <p:nvSpPr>
          <p:cNvPr id="10" name="Shape 7"/>
          <p:cNvSpPr/>
          <p:nvPr/>
        </p:nvSpPr>
        <p:spPr>
          <a:xfrm>
            <a:off x="146304" y="749808"/>
            <a:ext cx="64008" cy="4192524"/>
          </a:xfrm>
          <a:prstGeom prst="rect">
            <a:avLst/>
          </a:prstGeom>
          <a:solidFill>
            <a:srgbClr val="F4A878"/>
          </a:solidFill>
          <a:ln w="12700">
            <a:solidFill>
              <a:srgbClr val="F4A878"/>
            </a:solidFill>
            <a:prstDash val="solid"/>
          </a:ln>
        </p:spPr>
        <p:txBody>
          <a:bodyPr/>
          <a:lstStyle/>
          <a:p>
            <a:endParaRPr lang="es-ES"/>
          </a:p>
        </p:txBody>
      </p:sp>
      <p:sp>
        <p:nvSpPr>
          <p:cNvPr id="11" name="Text 8"/>
          <p:cNvSpPr/>
          <p:nvPr/>
        </p:nvSpPr>
        <p:spPr>
          <a:xfrm>
            <a:off x="146304" y="804672"/>
            <a:ext cx="2633472" cy="640080"/>
          </a:xfrm>
          <a:prstGeom prst="rect">
            <a:avLst/>
          </a:prstGeom>
          <a:noFill/>
          <a:ln/>
        </p:spPr>
        <p:txBody>
          <a:bodyPr wrap="square" rtlCol="0" anchor="t"/>
          <a:lstStyle/>
          <a:p>
            <a:pPr marL="0" indent="0" algn="r">
              <a:buNone/>
            </a:pPr>
            <a:r>
              <a:rPr lang="en-US" sz="3800" b="1" dirty="0">
                <a:solidFill>
                  <a:srgbClr val="F4A878"/>
                </a:solidFill>
                <a:latin typeface="Arial Black" pitchFamily="34" charset="0"/>
                <a:ea typeface="Arial Black" pitchFamily="34" charset="-122"/>
                <a:cs typeface="Arial Black" pitchFamily="34" charset="-120"/>
              </a:rPr>
              <a:t>02</a:t>
            </a:r>
            <a:endParaRPr lang="en-US" sz="3800" dirty="0"/>
          </a:p>
        </p:txBody>
      </p:sp>
      <p:sp>
        <p:nvSpPr>
          <p:cNvPr id="12" name="Text 9"/>
          <p:cNvSpPr/>
          <p:nvPr/>
        </p:nvSpPr>
        <p:spPr>
          <a:xfrm>
            <a:off x="292608" y="877824"/>
            <a:ext cx="2231136" cy="402336"/>
          </a:xfrm>
          <a:prstGeom prst="rect">
            <a:avLst/>
          </a:prstGeom>
          <a:noFill/>
          <a:ln/>
        </p:spPr>
        <p:txBody>
          <a:bodyPr wrap="square" lIns="0" tIns="0" rIns="0" bIns="0" rtlCol="0" anchor="ctr"/>
          <a:lstStyle/>
          <a:p>
            <a:pPr marL="0" indent="0" algn="l">
              <a:buNone/>
            </a:pPr>
            <a:r>
              <a:rPr lang="en-US" sz="1350" b="1" dirty="0">
                <a:solidFill>
                  <a:srgbClr val="FFFFFF"/>
                </a:solidFill>
                <a:latin typeface="Arial Black" pitchFamily="34" charset="0"/>
                <a:ea typeface="Arial Black" pitchFamily="34" charset="-122"/>
                <a:cs typeface="Arial Black" pitchFamily="34" charset="-120"/>
              </a:rPr>
              <a:t>Juan 17:6-19</a:t>
            </a:r>
            <a:endParaRPr lang="en-US" sz="1350" dirty="0"/>
          </a:p>
        </p:txBody>
      </p:sp>
      <p:sp>
        <p:nvSpPr>
          <p:cNvPr id="13" name="Shape 10"/>
          <p:cNvSpPr/>
          <p:nvPr/>
        </p:nvSpPr>
        <p:spPr>
          <a:xfrm>
            <a:off x="292608" y="1353312"/>
            <a:ext cx="2231136" cy="20117"/>
          </a:xfrm>
          <a:prstGeom prst="rect">
            <a:avLst/>
          </a:prstGeom>
          <a:solidFill>
            <a:srgbClr val="F4A878">
              <a:alpha val="55000"/>
            </a:srgbClr>
          </a:solidFill>
          <a:ln w="12700">
            <a:solidFill>
              <a:srgbClr val="F4A878"/>
            </a:solidFill>
            <a:prstDash val="solid"/>
          </a:ln>
        </p:spPr>
        <p:txBody>
          <a:bodyPr/>
          <a:lstStyle/>
          <a:p>
            <a:endParaRPr lang="es-ES"/>
          </a:p>
        </p:txBody>
      </p:sp>
      <p:sp>
        <p:nvSpPr>
          <p:cNvPr id="14" name="Text 11"/>
          <p:cNvSpPr/>
          <p:nvPr/>
        </p:nvSpPr>
        <p:spPr>
          <a:xfrm>
            <a:off x="292608" y="1444752"/>
            <a:ext cx="2395728" cy="804672"/>
          </a:xfrm>
          <a:prstGeom prst="rect">
            <a:avLst/>
          </a:prstGeom>
          <a:noFill/>
          <a:ln/>
        </p:spPr>
        <p:txBody>
          <a:bodyPr wrap="square" rtlCol="0" anchor="t"/>
          <a:lstStyle/>
          <a:p>
            <a:pPr marL="0" indent="0" algn="l">
              <a:buNone/>
            </a:pPr>
            <a:r>
              <a:rPr lang="en-US" sz="1500" b="1" dirty="0">
                <a:solidFill>
                  <a:srgbClr val="F4A878"/>
                </a:solidFill>
                <a:latin typeface="Trebuchet MS" pitchFamily="34" charset="0"/>
                <a:ea typeface="Trebuchet MS" pitchFamily="34" charset="-122"/>
                <a:cs typeface="Trebuchet MS" pitchFamily="34" charset="-120"/>
              </a:rPr>
              <a:t>El Padre Santo</a:t>
            </a:r>
            <a:endParaRPr lang="en-US" sz="1500" dirty="0"/>
          </a:p>
        </p:txBody>
      </p:sp>
      <p:sp>
        <p:nvSpPr>
          <p:cNvPr id="15" name="Shape 12"/>
          <p:cNvSpPr/>
          <p:nvPr/>
        </p:nvSpPr>
        <p:spPr>
          <a:xfrm>
            <a:off x="292608" y="2322576"/>
            <a:ext cx="2231136" cy="20117"/>
          </a:xfrm>
          <a:prstGeom prst="rect">
            <a:avLst/>
          </a:prstGeom>
          <a:solidFill>
            <a:srgbClr val="FFFFFF">
              <a:alpha val="32000"/>
            </a:srgbClr>
          </a:solidFill>
          <a:ln w="12700">
            <a:solidFill>
              <a:srgbClr val="FFFFFF"/>
            </a:solidFill>
            <a:prstDash val="solid"/>
          </a:ln>
        </p:spPr>
        <p:txBody>
          <a:bodyPr/>
          <a:lstStyle/>
          <a:p>
            <a:endParaRPr lang="es-ES"/>
          </a:p>
        </p:txBody>
      </p:sp>
      <p:sp>
        <p:nvSpPr>
          <p:cNvPr id="16" name="Text 13"/>
          <p:cNvSpPr/>
          <p:nvPr/>
        </p:nvSpPr>
        <p:spPr>
          <a:xfrm>
            <a:off x="292608" y="2432304"/>
            <a:ext cx="2395728" cy="2400300"/>
          </a:xfrm>
          <a:prstGeom prst="rect">
            <a:avLst/>
          </a:prstGeom>
          <a:noFill/>
          <a:ln/>
        </p:spPr>
        <p:txBody>
          <a:bodyPr wrap="square" rtlCol="0" anchor="t"/>
          <a:lstStyle/>
          <a:p>
            <a:pPr marL="0" indent="0" algn="l">
              <a:buNone/>
            </a:pPr>
            <a:r>
              <a:rPr lang="en-US" sz="1100" i="1" dirty="0">
                <a:solidFill>
                  <a:srgbClr val="D8D8EE"/>
                </a:solidFill>
                <a:latin typeface="Calibri" pitchFamily="34" charset="0"/>
                <a:ea typeface="Calibri" pitchFamily="34" charset="-122"/>
                <a:cs typeface="Calibri" pitchFamily="34" charset="-120"/>
              </a:rPr>
              <a:t>¿Por qué Jesús llama al Padre «Padre Santo», y qué implica la santidad de Dios para quienes desean conocerlo de verdad?</a:t>
            </a:r>
            <a:endParaRPr lang="en-US" sz="1100" dirty="0"/>
          </a:p>
        </p:txBody>
      </p:sp>
      <p:sp>
        <p:nvSpPr>
          <p:cNvPr id="17" name="Shape 14"/>
          <p:cNvSpPr/>
          <p:nvPr/>
        </p:nvSpPr>
        <p:spPr>
          <a:xfrm>
            <a:off x="2907792" y="749808"/>
            <a:ext cx="6089904" cy="2515514"/>
          </a:xfrm>
          <a:prstGeom prst="rect">
            <a:avLst/>
          </a:prstGeom>
          <a:solidFill>
            <a:srgbClr val="000000">
              <a:alpha val="58000"/>
            </a:srgbClr>
          </a:solidFill>
          <a:ln w="15240">
            <a:solidFill>
              <a:srgbClr val="C04010"/>
            </a:solidFill>
            <a:prstDash val="solid"/>
          </a:ln>
          <a:effectLst>
            <a:outerShdw blurRad="152400" dist="38100" dir="8100000" algn="bl" rotWithShape="0">
              <a:srgbClr val="000000">
                <a:alpha val="50000"/>
              </a:srgbClr>
            </a:outerShdw>
          </a:effectLst>
        </p:spPr>
        <p:txBody>
          <a:bodyPr/>
          <a:lstStyle/>
          <a:p>
            <a:endParaRPr lang="es-ES"/>
          </a:p>
        </p:txBody>
      </p:sp>
      <p:sp>
        <p:nvSpPr>
          <p:cNvPr id="18" name="Shape 15"/>
          <p:cNvSpPr/>
          <p:nvPr/>
        </p:nvSpPr>
        <p:spPr>
          <a:xfrm>
            <a:off x="2907792" y="749808"/>
            <a:ext cx="6089904" cy="310896"/>
          </a:xfrm>
          <a:prstGeom prst="rect">
            <a:avLst/>
          </a:prstGeom>
          <a:solidFill>
            <a:srgbClr val="8B2B00"/>
          </a:solidFill>
          <a:ln w="12700">
            <a:solidFill>
              <a:srgbClr val="8B2B00"/>
            </a:solidFill>
            <a:prstDash val="solid"/>
          </a:ln>
        </p:spPr>
        <p:txBody>
          <a:bodyPr/>
          <a:lstStyle/>
          <a:p>
            <a:endParaRPr lang="es-ES"/>
          </a:p>
        </p:txBody>
      </p:sp>
      <p:sp>
        <p:nvSpPr>
          <p:cNvPr id="19" name="Shape 16"/>
          <p:cNvSpPr/>
          <p:nvPr/>
        </p:nvSpPr>
        <p:spPr>
          <a:xfrm>
            <a:off x="2907792" y="749808"/>
            <a:ext cx="64008" cy="310896"/>
          </a:xfrm>
          <a:prstGeom prst="rect">
            <a:avLst/>
          </a:prstGeom>
          <a:solidFill>
            <a:srgbClr val="F4A878"/>
          </a:solidFill>
          <a:ln w="12700">
            <a:solidFill>
              <a:srgbClr val="F4A878"/>
            </a:solidFill>
            <a:prstDash val="solid"/>
          </a:ln>
        </p:spPr>
        <p:txBody>
          <a:bodyPr/>
          <a:lstStyle/>
          <a:p>
            <a:endParaRPr lang="es-ES"/>
          </a:p>
        </p:txBody>
      </p:sp>
      <p:sp>
        <p:nvSpPr>
          <p:cNvPr id="20" name="Text 17"/>
          <p:cNvSpPr/>
          <p:nvPr/>
        </p:nvSpPr>
        <p:spPr>
          <a:xfrm>
            <a:off x="3035808" y="749808"/>
            <a:ext cx="5907024" cy="310896"/>
          </a:xfrm>
          <a:prstGeom prst="rect">
            <a:avLst/>
          </a:prstGeom>
          <a:noFill/>
          <a:ln/>
        </p:spPr>
        <p:txBody>
          <a:bodyPr wrap="square" lIns="0" tIns="0" rIns="0" bIns="0" rtlCol="0" anchor="ctr"/>
          <a:lstStyle/>
          <a:p>
            <a:pPr marL="0" indent="0" algn="l">
              <a:buNone/>
            </a:pPr>
            <a:r>
              <a:rPr lang="en-US" sz="950" b="1" kern="0" spc="200" dirty="0">
                <a:solidFill>
                  <a:srgbClr val="FFFFFF"/>
                </a:solidFill>
                <a:latin typeface="Trebuchet MS" pitchFamily="34" charset="0"/>
                <a:ea typeface="Trebuchet MS" pitchFamily="34" charset="-122"/>
                <a:cs typeface="Trebuchet MS" pitchFamily="34" charset="-120"/>
              </a:rPr>
              <a:t>IDEAS PRINCIPALES</a:t>
            </a:r>
            <a:endParaRPr lang="en-US" sz="950" dirty="0"/>
          </a:p>
        </p:txBody>
      </p:sp>
      <p:sp>
        <p:nvSpPr>
          <p:cNvPr id="21" name="Shape 18"/>
          <p:cNvSpPr/>
          <p:nvPr/>
        </p:nvSpPr>
        <p:spPr>
          <a:xfrm>
            <a:off x="3054096" y="1409852"/>
            <a:ext cx="128016" cy="128016"/>
          </a:xfrm>
          <a:prstGeom prst="line">
            <a:avLst/>
          </a:prstGeom>
          <a:solidFill>
            <a:srgbClr val="F4A878"/>
          </a:solidFill>
          <a:ln w="12700">
            <a:solidFill>
              <a:srgbClr val="F4A878"/>
            </a:solidFill>
            <a:prstDash val="solid"/>
          </a:ln>
        </p:spPr>
        <p:txBody>
          <a:bodyPr/>
          <a:lstStyle/>
          <a:p>
            <a:endParaRPr lang="es-ES"/>
          </a:p>
        </p:txBody>
      </p:sp>
      <p:sp>
        <p:nvSpPr>
          <p:cNvPr id="22" name="Text 19"/>
          <p:cNvSpPr/>
          <p:nvPr/>
        </p:nvSpPr>
        <p:spPr>
          <a:xfrm>
            <a:off x="3255264" y="1115568"/>
            <a:ext cx="5614416" cy="716585"/>
          </a:xfrm>
          <a:prstGeom prst="rect">
            <a:avLst/>
          </a:prstGeom>
          <a:noFill/>
          <a:ln/>
        </p:spPr>
        <p:txBody>
          <a:bodyPr wrap="square" rtlCol="0" anchor="ctr"/>
          <a:lstStyle/>
          <a:p>
            <a:pPr marL="0" indent="0" algn="l">
              <a:buNone/>
            </a:pPr>
            <a:r>
              <a:rPr lang="en-US" sz="1200" dirty="0">
                <a:solidFill>
                  <a:srgbClr val="EEEEFF"/>
                </a:solidFill>
                <a:latin typeface="Calibri" pitchFamily="34" charset="0"/>
                <a:ea typeface="Calibri" pitchFamily="34" charset="-122"/>
                <a:cs typeface="Calibri" pitchFamily="34" charset="-120"/>
              </a:rPr>
              <a:t>La santidad es la faceta más importante y menos comprendida de Dios; su presencia expone nuestra condición real. (Juan 17:11; Isa. 6:1-5)</a:t>
            </a:r>
            <a:endParaRPr lang="en-US" sz="1200" dirty="0"/>
          </a:p>
        </p:txBody>
      </p:sp>
      <p:sp>
        <p:nvSpPr>
          <p:cNvPr id="23" name="Shape 20"/>
          <p:cNvSpPr/>
          <p:nvPr/>
        </p:nvSpPr>
        <p:spPr>
          <a:xfrm>
            <a:off x="3035808" y="1823009"/>
            <a:ext cx="5833872" cy="16459"/>
          </a:xfrm>
          <a:prstGeom prst="rect">
            <a:avLst/>
          </a:prstGeom>
          <a:solidFill>
            <a:srgbClr val="FFFFFF">
              <a:alpha val="18000"/>
            </a:srgbClr>
          </a:solidFill>
          <a:ln w="12700">
            <a:solidFill>
              <a:srgbClr val="FFFFFF"/>
            </a:solidFill>
            <a:prstDash val="solid"/>
          </a:ln>
        </p:spPr>
        <p:txBody>
          <a:bodyPr/>
          <a:lstStyle/>
          <a:p>
            <a:endParaRPr lang="es-ES"/>
          </a:p>
        </p:txBody>
      </p:sp>
      <p:sp>
        <p:nvSpPr>
          <p:cNvPr id="24" name="Shape 21"/>
          <p:cNvSpPr/>
          <p:nvPr/>
        </p:nvSpPr>
        <p:spPr>
          <a:xfrm>
            <a:off x="3054096" y="2126437"/>
            <a:ext cx="128016" cy="128016"/>
          </a:xfrm>
          <a:prstGeom prst="line">
            <a:avLst/>
          </a:prstGeom>
          <a:solidFill>
            <a:srgbClr val="F4A878"/>
          </a:solidFill>
          <a:ln w="12700">
            <a:solidFill>
              <a:srgbClr val="F4A878"/>
            </a:solidFill>
            <a:prstDash val="solid"/>
          </a:ln>
        </p:spPr>
        <p:txBody>
          <a:bodyPr/>
          <a:lstStyle/>
          <a:p>
            <a:endParaRPr lang="es-ES"/>
          </a:p>
        </p:txBody>
      </p:sp>
      <p:sp>
        <p:nvSpPr>
          <p:cNvPr id="25" name="Text 22"/>
          <p:cNvSpPr/>
          <p:nvPr/>
        </p:nvSpPr>
        <p:spPr>
          <a:xfrm>
            <a:off x="3255264" y="1832153"/>
            <a:ext cx="5614416" cy="716585"/>
          </a:xfrm>
          <a:prstGeom prst="rect">
            <a:avLst/>
          </a:prstGeom>
          <a:noFill/>
          <a:ln/>
        </p:spPr>
        <p:txBody>
          <a:bodyPr wrap="square" rtlCol="0" anchor="ctr"/>
          <a:lstStyle/>
          <a:p>
            <a:pPr marL="0" indent="0" algn="l">
              <a:buNone/>
            </a:pPr>
            <a:r>
              <a:rPr lang="en-US" sz="1200" dirty="0">
                <a:solidFill>
                  <a:srgbClr val="EEEEFF"/>
                </a:solidFill>
                <a:latin typeface="Calibri" pitchFamily="34" charset="0"/>
                <a:ea typeface="Calibri" pitchFamily="34" charset="-122"/>
                <a:cs typeface="Calibri" pitchFamily="34" charset="-120"/>
              </a:rPr>
              <a:t>Jesús ora para que los discípulos sean santificados en la verdad: la Palabra es el agente de esa santificación. (Juan 17:17)</a:t>
            </a:r>
            <a:endParaRPr lang="en-US" sz="1200" dirty="0"/>
          </a:p>
        </p:txBody>
      </p:sp>
      <p:sp>
        <p:nvSpPr>
          <p:cNvPr id="26" name="Shape 23"/>
          <p:cNvSpPr/>
          <p:nvPr/>
        </p:nvSpPr>
        <p:spPr>
          <a:xfrm>
            <a:off x="3035808" y="2539594"/>
            <a:ext cx="5833872" cy="16459"/>
          </a:xfrm>
          <a:prstGeom prst="rect">
            <a:avLst/>
          </a:prstGeom>
          <a:solidFill>
            <a:srgbClr val="FFFFFF">
              <a:alpha val="18000"/>
            </a:srgbClr>
          </a:solidFill>
          <a:ln w="12700">
            <a:solidFill>
              <a:srgbClr val="FFFFFF"/>
            </a:solidFill>
            <a:prstDash val="solid"/>
          </a:ln>
        </p:spPr>
        <p:txBody>
          <a:bodyPr/>
          <a:lstStyle/>
          <a:p>
            <a:endParaRPr lang="es-ES"/>
          </a:p>
        </p:txBody>
      </p:sp>
      <p:sp>
        <p:nvSpPr>
          <p:cNvPr id="27" name="Shape 24"/>
          <p:cNvSpPr/>
          <p:nvPr/>
        </p:nvSpPr>
        <p:spPr>
          <a:xfrm>
            <a:off x="3054096" y="2843022"/>
            <a:ext cx="128016" cy="128016"/>
          </a:xfrm>
          <a:prstGeom prst="line">
            <a:avLst/>
          </a:prstGeom>
          <a:solidFill>
            <a:srgbClr val="F4A878"/>
          </a:solidFill>
          <a:ln w="12700">
            <a:solidFill>
              <a:srgbClr val="F4A878"/>
            </a:solidFill>
            <a:prstDash val="solid"/>
          </a:ln>
        </p:spPr>
        <p:txBody>
          <a:bodyPr/>
          <a:lstStyle/>
          <a:p>
            <a:endParaRPr lang="es-ES"/>
          </a:p>
        </p:txBody>
      </p:sp>
      <p:sp>
        <p:nvSpPr>
          <p:cNvPr id="28" name="Text 25"/>
          <p:cNvSpPr/>
          <p:nvPr/>
        </p:nvSpPr>
        <p:spPr>
          <a:xfrm>
            <a:off x="3255264" y="2548738"/>
            <a:ext cx="5614416" cy="716585"/>
          </a:xfrm>
          <a:prstGeom prst="rect">
            <a:avLst/>
          </a:prstGeom>
          <a:noFill/>
          <a:ln/>
        </p:spPr>
        <p:txBody>
          <a:bodyPr wrap="square" rtlCol="0" anchor="ctr"/>
          <a:lstStyle/>
          <a:p>
            <a:pPr marL="0" indent="0" algn="l">
              <a:buNone/>
            </a:pPr>
            <a:r>
              <a:rPr lang="en-US" sz="1200" dirty="0">
                <a:solidFill>
                  <a:srgbClr val="EEEEFF"/>
                </a:solidFill>
                <a:latin typeface="Calibri" pitchFamily="34" charset="0"/>
                <a:ea typeface="Calibri" pitchFamily="34" charset="-122"/>
                <a:cs typeface="Calibri" pitchFamily="34" charset="-120"/>
              </a:rPr>
              <a:t>No podemos acercarnos a un Dios santo sin que su Palabra nos revele quiénes somos realmente. (1 Ped. 1:15-16; Sal. 24:3-4)</a:t>
            </a:r>
            <a:endParaRPr lang="en-US" sz="1200" dirty="0"/>
          </a:p>
        </p:txBody>
      </p:sp>
      <p:sp>
        <p:nvSpPr>
          <p:cNvPr id="29" name="Shape 26"/>
          <p:cNvSpPr/>
          <p:nvPr/>
        </p:nvSpPr>
        <p:spPr>
          <a:xfrm>
            <a:off x="2907792" y="3516874"/>
            <a:ext cx="6089904" cy="1425458"/>
          </a:xfrm>
          <a:prstGeom prst="rect">
            <a:avLst/>
          </a:prstGeom>
          <a:solidFill>
            <a:srgbClr val="8B2B00">
              <a:alpha val="75000"/>
            </a:srgbClr>
          </a:solidFill>
          <a:ln w="12700">
            <a:solidFill>
              <a:srgbClr val="C04010"/>
            </a:solidFill>
            <a:prstDash val="solid"/>
          </a:ln>
          <a:effectLst>
            <a:outerShdw blurRad="152400" dist="38100" dir="8100000" algn="bl" rotWithShape="0">
              <a:srgbClr val="000000">
                <a:alpha val="50000"/>
              </a:srgbClr>
            </a:outerShdw>
          </a:effectLst>
        </p:spPr>
        <p:txBody>
          <a:bodyPr/>
          <a:lstStyle/>
          <a:p>
            <a:endParaRPr lang="es-ES"/>
          </a:p>
        </p:txBody>
      </p:sp>
      <p:sp>
        <p:nvSpPr>
          <p:cNvPr id="30" name="Shape 27"/>
          <p:cNvSpPr/>
          <p:nvPr/>
        </p:nvSpPr>
        <p:spPr>
          <a:xfrm>
            <a:off x="2907792" y="3516874"/>
            <a:ext cx="6089904" cy="274320"/>
          </a:xfrm>
          <a:prstGeom prst="rect">
            <a:avLst/>
          </a:prstGeom>
          <a:solidFill>
            <a:srgbClr val="000000">
              <a:alpha val="52000"/>
            </a:srgbClr>
          </a:solidFill>
          <a:ln w="12700">
            <a:solidFill>
              <a:srgbClr val="000000"/>
            </a:solidFill>
            <a:prstDash val="solid"/>
          </a:ln>
        </p:spPr>
        <p:txBody>
          <a:bodyPr/>
          <a:lstStyle/>
          <a:p>
            <a:endParaRPr lang="es-ES"/>
          </a:p>
        </p:txBody>
      </p:sp>
      <p:sp>
        <p:nvSpPr>
          <p:cNvPr id="31" name="Text 28"/>
          <p:cNvSpPr/>
          <p:nvPr/>
        </p:nvSpPr>
        <p:spPr>
          <a:xfrm>
            <a:off x="3017520" y="3516874"/>
            <a:ext cx="5925312" cy="274320"/>
          </a:xfrm>
          <a:prstGeom prst="rect">
            <a:avLst/>
          </a:prstGeom>
          <a:noFill/>
          <a:ln/>
        </p:spPr>
        <p:txBody>
          <a:bodyPr wrap="square" lIns="0" tIns="0" rIns="0" bIns="0" rtlCol="0" anchor="ctr"/>
          <a:lstStyle/>
          <a:p>
            <a:pPr marL="0" indent="0" algn="l">
              <a:buNone/>
            </a:pPr>
            <a:r>
              <a:rPr lang="en-US" sz="900" b="1" kern="0" spc="100" dirty="0">
                <a:solidFill>
                  <a:srgbClr val="F4A878"/>
                </a:solidFill>
                <a:latin typeface="Trebuchet MS" pitchFamily="34" charset="0"/>
                <a:ea typeface="Trebuchet MS" pitchFamily="34" charset="-122"/>
                <a:cs typeface="Trebuchet MS" pitchFamily="34" charset="-120"/>
              </a:rPr>
              <a:t>💡  ILUSTRACIÓN</a:t>
            </a:r>
            <a:endParaRPr lang="en-US" sz="900" dirty="0"/>
          </a:p>
        </p:txBody>
      </p:sp>
      <p:sp>
        <p:nvSpPr>
          <p:cNvPr id="32" name="Text 29"/>
          <p:cNvSpPr/>
          <p:nvPr/>
        </p:nvSpPr>
        <p:spPr>
          <a:xfrm>
            <a:off x="3054096" y="3809482"/>
            <a:ext cx="5833872" cy="1077986"/>
          </a:xfrm>
          <a:prstGeom prst="rect">
            <a:avLst/>
          </a:prstGeom>
          <a:noFill/>
          <a:ln/>
        </p:spPr>
        <p:txBody>
          <a:bodyPr wrap="square" rtlCol="0" anchor="t"/>
          <a:lstStyle/>
          <a:p>
            <a:pPr marL="0" indent="0" algn="l">
              <a:buNone/>
            </a:pPr>
            <a:r>
              <a:rPr lang="en-US" sz="1100" i="1" dirty="0">
                <a:solidFill>
                  <a:srgbClr val="D8D8E8"/>
                </a:solidFill>
                <a:latin typeface="Calibri" pitchFamily="34" charset="0"/>
                <a:ea typeface="Calibri" pitchFamily="34" charset="-122"/>
                <a:cs typeface="Calibri" pitchFamily="34" charset="-120"/>
              </a:rPr>
              <a:t>La santidad de Dios es como la luz del sol: vital, pero expone todo lo que hay en la habitación. Los que huyen de la Biblia sienten que esa luz revelaría algo que prefieren no ver.</a:t>
            </a:r>
            <a:endParaRPr lang="en-US" sz="1100" dirty="0"/>
          </a:p>
        </p:txBody>
      </p:sp>
      <p:sp>
        <p:nvSpPr>
          <p:cNvPr id="33" name="Text 30"/>
          <p:cNvSpPr/>
          <p:nvPr/>
        </p:nvSpPr>
        <p:spPr>
          <a:xfrm>
            <a:off x="0" y="4960620"/>
            <a:ext cx="9144000" cy="164592"/>
          </a:xfrm>
          <a:prstGeom prst="rect">
            <a:avLst/>
          </a:prstGeom>
          <a:noFill/>
          <a:ln/>
        </p:spPr>
        <p:txBody>
          <a:bodyPr wrap="square" lIns="0" tIns="0" rIns="0" bIns="0" rtlCol="0" anchor="ctr"/>
          <a:lstStyle/>
          <a:p>
            <a:pPr marL="0" indent="0" algn="ctr">
              <a:buNone/>
            </a:pPr>
            <a:r>
              <a:rPr lang="en-US" sz="700" i="1" dirty="0">
                <a:solidFill>
                  <a:srgbClr val="777799"/>
                </a:solidFill>
                <a:latin typeface="Calibri" pitchFamily="34" charset="0"/>
                <a:ea typeface="Calibri" pitchFamily="34" charset="-122"/>
                <a:cs typeface="Calibri" pitchFamily="34" charset="-120"/>
              </a:rPr>
              <a:t>Dr. Tito Goicochea M.  ·  NEED - DSA  ·  II Trimestre 2026</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alpha val="46000"/>
            </a:srgbClr>
          </a:solidFill>
          <a:ln w="12700">
            <a:solidFill>
              <a:srgbClr val="000000"/>
            </a:solidFill>
            <a:prstDash val="solid"/>
          </a:ln>
        </p:spPr>
        <p:txBody>
          <a:bodyPr/>
          <a:lstStyle/>
          <a:p>
            <a:endParaRPr lang="es-ES"/>
          </a:p>
        </p:txBody>
      </p:sp>
      <p:sp>
        <p:nvSpPr>
          <p:cNvPr id="4" name="Shape 1"/>
          <p:cNvSpPr/>
          <p:nvPr/>
        </p:nvSpPr>
        <p:spPr>
          <a:xfrm>
            <a:off x="0" y="0"/>
            <a:ext cx="54864" cy="676656"/>
          </a:xfrm>
          <a:prstGeom prst="rect">
            <a:avLst/>
          </a:prstGeom>
          <a:solidFill>
            <a:srgbClr val="0E4A8C"/>
          </a:solidFill>
          <a:ln w="12700">
            <a:solidFill>
              <a:srgbClr val="0E4A8C"/>
            </a:solidFill>
            <a:prstDash val="solid"/>
          </a:ln>
        </p:spPr>
        <p:txBody>
          <a:bodyPr/>
          <a:lstStyle/>
          <a:p>
            <a:endParaRPr lang="es-ES"/>
          </a:p>
        </p:txBody>
      </p:sp>
      <p:sp>
        <p:nvSpPr>
          <p:cNvPr id="5" name="Shape 2"/>
          <p:cNvSpPr/>
          <p:nvPr/>
        </p:nvSpPr>
        <p:spPr>
          <a:xfrm>
            <a:off x="128016" y="18288"/>
            <a:ext cx="9144000" cy="640080"/>
          </a:xfrm>
          <a:prstGeom prst="rect">
            <a:avLst/>
          </a:prstGeom>
          <a:solidFill>
            <a:srgbClr val="000000">
              <a:alpha val="65000"/>
            </a:srgbClr>
          </a:solidFill>
          <a:ln w="12700">
            <a:solidFill>
              <a:srgbClr val="000000"/>
            </a:solidFill>
            <a:prstDash val="solid"/>
          </a:ln>
        </p:spPr>
        <p:txBody>
          <a:bodyPr/>
          <a:lstStyle/>
          <a:p>
            <a:endParaRPr lang="es-ES"/>
          </a:p>
        </p:txBody>
      </p:sp>
      <p:sp>
        <p:nvSpPr>
          <p:cNvPr id="6" name="Shape 3"/>
          <p:cNvSpPr/>
          <p:nvPr/>
        </p:nvSpPr>
        <p:spPr>
          <a:xfrm>
            <a:off x="182880" y="64008"/>
            <a:ext cx="566928" cy="548640"/>
          </a:xfrm>
          <a:prstGeom prst="rect">
            <a:avLst/>
          </a:prstGeom>
          <a:solidFill>
            <a:srgbClr val="0E4A8C"/>
          </a:solidFill>
          <a:ln w="12700">
            <a:solidFill>
              <a:srgbClr val="0E4A8C"/>
            </a:solidFill>
            <a:prstDash val="solid"/>
          </a:ln>
        </p:spPr>
        <p:txBody>
          <a:bodyPr/>
          <a:lstStyle/>
          <a:p>
            <a:endParaRPr lang="es-ES"/>
          </a:p>
        </p:txBody>
      </p:sp>
      <p:sp>
        <p:nvSpPr>
          <p:cNvPr id="7" name="Text 4"/>
          <p:cNvSpPr/>
          <p:nvPr/>
        </p:nvSpPr>
        <p:spPr>
          <a:xfrm>
            <a:off x="182880" y="64008"/>
            <a:ext cx="566928"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2</a:t>
            </a:r>
            <a:endParaRPr lang="en-US" sz="2200" dirty="0"/>
          </a:p>
        </p:txBody>
      </p:sp>
      <p:sp>
        <p:nvSpPr>
          <p:cNvPr id="8" name="Text 5"/>
          <p:cNvSpPr/>
          <p:nvPr/>
        </p:nvSpPr>
        <p:spPr>
          <a:xfrm>
            <a:off x="877824" y="118872"/>
            <a:ext cx="8138160" cy="438912"/>
          </a:xfrm>
          <a:prstGeom prst="rect">
            <a:avLst/>
          </a:prstGeom>
          <a:noFill/>
          <a:ln/>
        </p:spPr>
        <p:txBody>
          <a:bodyPr wrap="square" lIns="0" tIns="0" rIns="0" bIns="0" rtlCol="0" anchor="ctr"/>
          <a:lstStyle/>
          <a:p>
            <a:pPr marL="0" indent="0" algn="l">
              <a:buNone/>
            </a:pPr>
            <a:r>
              <a:rPr lang="en-US" sz="1600" b="1" dirty="0">
                <a:solidFill>
                  <a:srgbClr val="A0C8FF"/>
                </a:solidFill>
                <a:latin typeface="Trebuchet MS" pitchFamily="34" charset="0"/>
                <a:ea typeface="Trebuchet MS" pitchFamily="34" charset="-122"/>
                <a:cs typeface="Trebuchet MS" pitchFamily="34" charset="-120"/>
              </a:rPr>
              <a:t>FASE 2  ·  EXPLORA  —  Tópico 3 de 3</a:t>
            </a:r>
            <a:endParaRPr lang="en-US" sz="1600" dirty="0"/>
          </a:p>
        </p:txBody>
      </p:sp>
      <p:sp>
        <p:nvSpPr>
          <p:cNvPr id="9" name="Shape 6"/>
          <p:cNvSpPr/>
          <p:nvPr/>
        </p:nvSpPr>
        <p:spPr>
          <a:xfrm>
            <a:off x="146304" y="749808"/>
            <a:ext cx="2633472" cy="4192524"/>
          </a:xfrm>
          <a:prstGeom prst="rect">
            <a:avLst/>
          </a:prstGeom>
          <a:solidFill>
            <a:srgbClr val="1A4A8C">
              <a:alpha val="90000"/>
            </a:srgbClr>
          </a:solidFill>
          <a:ln w="25400">
            <a:solidFill>
              <a:srgbClr val="2A6ACC"/>
            </a:solidFill>
            <a:prstDash val="solid"/>
          </a:ln>
          <a:effectLst>
            <a:outerShdw blurRad="152400" dist="38100" dir="8100000" algn="bl" rotWithShape="0">
              <a:srgbClr val="000000">
                <a:alpha val="50000"/>
              </a:srgbClr>
            </a:outerShdw>
          </a:effectLst>
        </p:spPr>
        <p:txBody>
          <a:bodyPr/>
          <a:lstStyle/>
          <a:p>
            <a:endParaRPr lang="es-ES"/>
          </a:p>
        </p:txBody>
      </p:sp>
      <p:sp>
        <p:nvSpPr>
          <p:cNvPr id="10" name="Shape 7"/>
          <p:cNvSpPr/>
          <p:nvPr/>
        </p:nvSpPr>
        <p:spPr>
          <a:xfrm>
            <a:off x="146304" y="749808"/>
            <a:ext cx="64008" cy="4192524"/>
          </a:xfrm>
          <a:prstGeom prst="rect">
            <a:avLst/>
          </a:prstGeom>
          <a:solidFill>
            <a:srgbClr val="88C0F8"/>
          </a:solidFill>
          <a:ln w="12700">
            <a:solidFill>
              <a:srgbClr val="88C0F8"/>
            </a:solidFill>
            <a:prstDash val="solid"/>
          </a:ln>
        </p:spPr>
        <p:txBody>
          <a:bodyPr/>
          <a:lstStyle/>
          <a:p>
            <a:endParaRPr lang="es-ES"/>
          </a:p>
        </p:txBody>
      </p:sp>
      <p:sp>
        <p:nvSpPr>
          <p:cNvPr id="11" name="Text 8"/>
          <p:cNvSpPr/>
          <p:nvPr/>
        </p:nvSpPr>
        <p:spPr>
          <a:xfrm>
            <a:off x="146304" y="804672"/>
            <a:ext cx="2633472" cy="640080"/>
          </a:xfrm>
          <a:prstGeom prst="rect">
            <a:avLst/>
          </a:prstGeom>
          <a:noFill/>
          <a:ln/>
        </p:spPr>
        <p:txBody>
          <a:bodyPr wrap="square" rtlCol="0" anchor="t"/>
          <a:lstStyle/>
          <a:p>
            <a:pPr marL="0" indent="0" algn="r">
              <a:buNone/>
            </a:pPr>
            <a:r>
              <a:rPr lang="en-US" sz="3800" b="1" dirty="0">
                <a:solidFill>
                  <a:srgbClr val="88C0F8"/>
                </a:solidFill>
                <a:latin typeface="Arial Black" pitchFamily="34" charset="0"/>
                <a:ea typeface="Arial Black" pitchFamily="34" charset="-122"/>
                <a:cs typeface="Arial Black" pitchFamily="34" charset="-120"/>
              </a:rPr>
              <a:t>03</a:t>
            </a:r>
            <a:endParaRPr lang="en-US" sz="3800" dirty="0"/>
          </a:p>
        </p:txBody>
      </p:sp>
      <p:sp>
        <p:nvSpPr>
          <p:cNvPr id="12" name="Text 9"/>
          <p:cNvSpPr/>
          <p:nvPr/>
        </p:nvSpPr>
        <p:spPr>
          <a:xfrm>
            <a:off x="292608" y="877824"/>
            <a:ext cx="2231136" cy="402336"/>
          </a:xfrm>
          <a:prstGeom prst="rect">
            <a:avLst/>
          </a:prstGeom>
          <a:noFill/>
          <a:ln/>
        </p:spPr>
        <p:txBody>
          <a:bodyPr wrap="square" lIns="0" tIns="0" rIns="0" bIns="0" rtlCol="0" anchor="ctr"/>
          <a:lstStyle/>
          <a:p>
            <a:pPr marL="0" indent="0" algn="l">
              <a:buNone/>
            </a:pPr>
            <a:r>
              <a:rPr lang="en-US" sz="1350" b="1" dirty="0">
                <a:solidFill>
                  <a:srgbClr val="FFFFFF"/>
                </a:solidFill>
                <a:latin typeface="Arial Black" pitchFamily="34" charset="0"/>
                <a:ea typeface="Arial Black" pitchFamily="34" charset="-122"/>
                <a:cs typeface="Arial Black" pitchFamily="34" charset="-120"/>
              </a:rPr>
              <a:t>Juan 17:20-26</a:t>
            </a:r>
            <a:endParaRPr lang="en-US" sz="1350" dirty="0"/>
          </a:p>
        </p:txBody>
      </p:sp>
      <p:sp>
        <p:nvSpPr>
          <p:cNvPr id="13" name="Shape 10"/>
          <p:cNvSpPr/>
          <p:nvPr/>
        </p:nvSpPr>
        <p:spPr>
          <a:xfrm>
            <a:off x="292608" y="1353312"/>
            <a:ext cx="2231136" cy="20117"/>
          </a:xfrm>
          <a:prstGeom prst="rect">
            <a:avLst/>
          </a:prstGeom>
          <a:solidFill>
            <a:srgbClr val="88C0F8">
              <a:alpha val="55000"/>
            </a:srgbClr>
          </a:solidFill>
          <a:ln w="12700">
            <a:solidFill>
              <a:srgbClr val="88C0F8"/>
            </a:solidFill>
            <a:prstDash val="solid"/>
          </a:ln>
        </p:spPr>
        <p:txBody>
          <a:bodyPr/>
          <a:lstStyle/>
          <a:p>
            <a:endParaRPr lang="es-ES"/>
          </a:p>
        </p:txBody>
      </p:sp>
      <p:sp>
        <p:nvSpPr>
          <p:cNvPr id="14" name="Text 11"/>
          <p:cNvSpPr/>
          <p:nvPr/>
        </p:nvSpPr>
        <p:spPr>
          <a:xfrm>
            <a:off x="292608" y="1444752"/>
            <a:ext cx="2395728" cy="804672"/>
          </a:xfrm>
          <a:prstGeom prst="rect">
            <a:avLst/>
          </a:prstGeom>
          <a:noFill/>
          <a:ln/>
        </p:spPr>
        <p:txBody>
          <a:bodyPr wrap="square" rtlCol="0" anchor="t"/>
          <a:lstStyle/>
          <a:p>
            <a:pPr marL="0" indent="0" algn="l">
              <a:buNone/>
            </a:pPr>
            <a:r>
              <a:rPr lang="en-US" sz="1500" b="1" dirty="0">
                <a:solidFill>
                  <a:srgbClr val="88C0F8"/>
                </a:solidFill>
                <a:latin typeface="Trebuchet MS" pitchFamily="34" charset="0"/>
                <a:ea typeface="Trebuchet MS" pitchFamily="34" charset="-122"/>
                <a:cs typeface="Trebuchet MS" pitchFamily="34" charset="-120"/>
              </a:rPr>
              <a:t>El amor que nos define</a:t>
            </a:r>
            <a:endParaRPr lang="en-US" sz="1500" dirty="0"/>
          </a:p>
        </p:txBody>
      </p:sp>
      <p:sp>
        <p:nvSpPr>
          <p:cNvPr id="15" name="Shape 12"/>
          <p:cNvSpPr/>
          <p:nvPr/>
        </p:nvSpPr>
        <p:spPr>
          <a:xfrm>
            <a:off x="292608" y="2322576"/>
            <a:ext cx="2231136" cy="20117"/>
          </a:xfrm>
          <a:prstGeom prst="rect">
            <a:avLst/>
          </a:prstGeom>
          <a:solidFill>
            <a:srgbClr val="FFFFFF">
              <a:alpha val="32000"/>
            </a:srgbClr>
          </a:solidFill>
          <a:ln w="12700">
            <a:solidFill>
              <a:srgbClr val="FFFFFF"/>
            </a:solidFill>
            <a:prstDash val="solid"/>
          </a:ln>
        </p:spPr>
        <p:txBody>
          <a:bodyPr/>
          <a:lstStyle/>
          <a:p>
            <a:endParaRPr lang="es-ES"/>
          </a:p>
        </p:txBody>
      </p:sp>
      <p:sp>
        <p:nvSpPr>
          <p:cNvPr id="16" name="Text 13"/>
          <p:cNvSpPr/>
          <p:nvPr/>
        </p:nvSpPr>
        <p:spPr>
          <a:xfrm>
            <a:off x="292608" y="2432304"/>
            <a:ext cx="2395728" cy="2400300"/>
          </a:xfrm>
          <a:prstGeom prst="rect">
            <a:avLst/>
          </a:prstGeom>
          <a:noFill/>
          <a:ln/>
        </p:spPr>
        <p:txBody>
          <a:bodyPr wrap="square" rtlCol="0" anchor="t"/>
          <a:lstStyle/>
          <a:p>
            <a:pPr marL="0" indent="0" algn="l">
              <a:buNone/>
            </a:pPr>
            <a:r>
              <a:rPr lang="en-US" sz="1100" i="1" dirty="0">
                <a:solidFill>
                  <a:srgbClr val="D8D8EE"/>
                </a:solidFill>
                <a:latin typeface="Calibri" pitchFamily="34" charset="0"/>
                <a:ea typeface="Calibri" pitchFamily="34" charset="-122"/>
                <a:cs typeface="Calibri" pitchFamily="34" charset="-120"/>
              </a:rPr>
              <a:t>¿Por qué Jesús termina su oración hablando del amor del Padre, y cómo ese amor debe reflejarse en la comunidad?</a:t>
            </a:r>
            <a:endParaRPr lang="en-US" sz="1100" dirty="0"/>
          </a:p>
        </p:txBody>
      </p:sp>
      <p:sp>
        <p:nvSpPr>
          <p:cNvPr id="17" name="Shape 14"/>
          <p:cNvSpPr/>
          <p:nvPr/>
        </p:nvSpPr>
        <p:spPr>
          <a:xfrm>
            <a:off x="2907792" y="749808"/>
            <a:ext cx="6089904" cy="2515514"/>
          </a:xfrm>
          <a:prstGeom prst="rect">
            <a:avLst/>
          </a:prstGeom>
          <a:solidFill>
            <a:srgbClr val="000000">
              <a:alpha val="58000"/>
            </a:srgbClr>
          </a:solidFill>
          <a:ln w="15240">
            <a:solidFill>
              <a:srgbClr val="2A6ACC"/>
            </a:solidFill>
            <a:prstDash val="solid"/>
          </a:ln>
          <a:effectLst>
            <a:outerShdw blurRad="152400" dist="38100" dir="8100000" algn="bl" rotWithShape="0">
              <a:srgbClr val="000000">
                <a:alpha val="50000"/>
              </a:srgbClr>
            </a:outerShdw>
          </a:effectLst>
        </p:spPr>
        <p:txBody>
          <a:bodyPr/>
          <a:lstStyle/>
          <a:p>
            <a:endParaRPr lang="es-ES"/>
          </a:p>
        </p:txBody>
      </p:sp>
      <p:sp>
        <p:nvSpPr>
          <p:cNvPr id="18" name="Shape 15"/>
          <p:cNvSpPr/>
          <p:nvPr/>
        </p:nvSpPr>
        <p:spPr>
          <a:xfrm>
            <a:off x="2907792" y="749808"/>
            <a:ext cx="6089904" cy="310896"/>
          </a:xfrm>
          <a:prstGeom prst="rect">
            <a:avLst/>
          </a:prstGeom>
          <a:solidFill>
            <a:srgbClr val="1A4A8C"/>
          </a:solidFill>
          <a:ln w="12700">
            <a:solidFill>
              <a:srgbClr val="1A4A8C"/>
            </a:solidFill>
            <a:prstDash val="solid"/>
          </a:ln>
        </p:spPr>
        <p:txBody>
          <a:bodyPr/>
          <a:lstStyle/>
          <a:p>
            <a:endParaRPr lang="es-ES"/>
          </a:p>
        </p:txBody>
      </p:sp>
      <p:sp>
        <p:nvSpPr>
          <p:cNvPr id="19" name="Shape 16"/>
          <p:cNvSpPr/>
          <p:nvPr/>
        </p:nvSpPr>
        <p:spPr>
          <a:xfrm>
            <a:off x="2907792" y="749808"/>
            <a:ext cx="64008" cy="310896"/>
          </a:xfrm>
          <a:prstGeom prst="rect">
            <a:avLst/>
          </a:prstGeom>
          <a:solidFill>
            <a:srgbClr val="88C0F8"/>
          </a:solidFill>
          <a:ln w="12700">
            <a:solidFill>
              <a:srgbClr val="88C0F8"/>
            </a:solidFill>
            <a:prstDash val="solid"/>
          </a:ln>
        </p:spPr>
        <p:txBody>
          <a:bodyPr/>
          <a:lstStyle/>
          <a:p>
            <a:endParaRPr lang="es-ES"/>
          </a:p>
        </p:txBody>
      </p:sp>
      <p:sp>
        <p:nvSpPr>
          <p:cNvPr id="20" name="Text 17"/>
          <p:cNvSpPr/>
          <p:nvPr/>
        </p:nvSpPr>
        <p:spPr>
          <a:xfrm>
            <a:off x="3035808" y="749808"/>
            <a:ext cx="5907024" cy="310896"/>
          </a:xfrm>
          <a:prstGeom prst="rect">
            <a:avLst/>
          </a:prstGeom>
          <a:noFill/>
          <a:ln/>
        </p:spPr>
        <p:txBody>
          <a:bodyPr wrap="square" lIns="0" tIns="0" rIns="0" bIns="0" rtlCol="0" anchor="ctr"/>
          <a:lstStyle/>
          <a:p>
            <a:pPr marL="0" indent="0" algn="l">
              <a:buNone/>
            </a:pPr>
            <a:r>
              <a:rPr lang="en-US" sz="950" b="1" kern="0" spc="200" dirty="0">
                <a:solidFill>
                  <a:srgbClr val="FFFFFF"/>
                </a:solidFill>
                <a:latin typeface="Trebuchet MS" pitchFamily="34" charset="0"/>
                <a:ea typeface="Trebuchet MS" pitchFamily="34" charset="-122"/>
                <a:cs typeface="Trebuchet MS" pitchFamily="34" charset="-120"/>
              </a:rPr>
              <a:t>IDEAS PRINCIPALES</a:t>
            </a:r>
            <a:endParaRPr lang="en-US" sz="950" dirty="0"/>
          </a:p>
        </p:txBody>
      </p:sp>
      <p:sp>
        <p:nvSpPr>
          <p:cNvPr id="21" name="Shape 18"/>
          <p:cNvSpPr/>
          <p:nvPr/>
        </p:nvSpPr>
        <p:spPr>
          <a:xfrm>
            <a:off x="3054096" y="1409852"/>
            <a:ext cx="128016" cy="128016"/>
          </a:xfrm>
          <a:prstGeom prst="line">
            <a:avLst/>
          </a:prstGeom>
          <a:solidFill>
            <a:srgbClr val="88C0F8"/>
          </a:solidFill>
          <a:ln w="12700">
            <a:solidFill>
              <a:srgbClr val="88C0F8"/>
            </a:solidFill>
            <a:prstDash val="solid"/>
          </a:ln>
        </p:spPr>
        <p:txBody>
          <a:bodyPr/>
          <a:lstStyle/>
          <a:p>
            <a:endParaRPr lang="es-ES"/>
          </a:p>
        </p:txBody>
      </p:sp>
      <p:sp>
        <p:nvSpPr>
          <p:cNvPr id="22" name="Text 19"/>
          <p:cNvSpPr/>
          <p:nvPr/>
        </p:nvSpPr>
        <p:spPr>
          <a:xfrm>
            <a:off x="3255264" y="1115568"/>
            <a:ext cx="5614416" cy="716585"/>
          </a:xfrm>
          <a:prstGeom prst="rect">
            <a:avLst/>
          </a:prstGeom>
          <a:noFill/>
          <a:ln/>
        </p:spPr>
        <p:txBody>
          <a:bodyPr wrap="square" rtlCol="0" anchor="ctr"/>
          <a:lstStyle/>
          <a:p>
            <a:pPr marL="0" indent="0" algn="l">
              <a:buNone/>
            </a:pPr>
            <a:r>
              <a:rPr lang="en-US" sz="1200" dirty="0">
                <a:solidFill>
                  <a:srgbClr val="EEEEFF"/>
                </a:solidFill>
                <a:latin typeface="Calibri" pitchFamily="34" charset="0"/>
                <a:ea typeface="Calibri" pitchFamily="34" charset="-122"/>
                <a:cs typeface="Calibri" pitchFamily="34" charset="-120"/>
              </a:rPr>
              <a:t>Dios es amor (1 Juan 4:8): conocer a Dios significa experimentar ese amor, no solo definirlo teológicamente. (Juan 17:26)</a:t>
            </a:r>
            <a:endParaRPr lang="en-US" sz="1200" dirty="0"/>
          </a:p>
        </p:txBody>
      </p:sp>
      <p:sp>
        <p:nvSpPr>
          <p:cNvPr id="23" name="Shape 20"/>
          <p:cNvSpPr/>
          <p:nvPr/>
        </p:nvSpPr>
        <p:spPr>
          <a:xfrm>
            <a:off x="3035808" y="1823009"/>
            <a:ext cx="5833872" cy="16459"/>
          </a:xfrm>
          <a:prstGeom prst="rect">
            <a:avLst/>
          </a:prstGeom>
          <a:solidFill>
            <a:srgbClr val="FFFFFF">
              <a:alpha val="18000"/>
            </a:srgbClr>
          </a:solidFill>
          <a:ln w="12700">
            <a:solidFill>
              <a:srgbClr val="FFFFFF"/>
            </a:solidFill>
            <a:prstDash val="solid"/>
          </a:ln>
        </p:spPr>
        <p:txBody>
          <a:bodyPr/>
          <a:lstStyle/>
          <a:p>
            <a:endParaRPr lang="es-ES"/>
          </a:p>
        </p:txBody>
      </p:sp>
      <p:sp>
        <p:nvSpPr>
          <p:cNvPr id="24" name="Shape 21"/>
          <p:cNvSpPr/>
          <p:nvPr/>
        </p:nvSpPr>
        <p:spPr>
          <a:xfrm>
            <a:off x="3054096" y="2126437"/>
            <a:ext cx="128016" cy="128016"/>
          </a:xfrm>
          <a:prstGeom prst="line">
            <a:avLst/>
          </a:prstGeom>
          <a:solidFill>
            <a:srgbClr val="88C0F8"/>
          </a:solidFill>
          <a:ln w="12700">
            <a:solidFill>
              <a:srgbClr val="88C0F8"/>
            </a:solidFill>
            <a:prstDash val="solid"/>
          </a:ln>
        </p:spPr>
        <p:txBody>
          <a:bodyPr/>
          <a:lstStyle/>
          <a:p>
            <a:endParaRPr lang="es-ES"/>
          </a:p>
        </p:txBody>
      </p:sp>
      <p:sp>
        <p:nvSpPr>
          <p:cNvPr id="25" name="Text 22"/>
          <p:cNvSpPr/>
          <p:nvPr/>
        </p:nvSpPr>
        <p:spPr>
          <a:xfrm>
            <a:off x="3255264" y="1832153"/>
            <a:ext cx="5614416" cy="716585"/>
          </a:xfrm>
          <a:prstGeom prst="rect">
            <a:avLst/>
          </a:prstGeom>
          <a:noFill/>
          <a:ln/>
        </p:spPr>
        <p:txBody>
          <a:bodyPr wrap="square" rtlCol="0" anchor="ctr"/>
          <a:lstStyle/>
          <a:p>
            <a:pPr marL="0" indent="0" algn="l">
              <a:buNone/>
            </a:pPr>
            <a:r>
              <a:rPr lang="en-US" sz="1200" dirty="0">
                <a:solidFill>
                  <a:srgbClr val="EEEEFF"/>
                </a:solidFill>
                <a:latin typeface="Calibri" pitchFamily="34" charset="0"/>
                <a:ea typeface="Calibri" pitchFamily="34" charset="-122"/>
                <a:cs typeface="Calibri" pitchFamily="34" charset="-120"/>
              </a:rPr>
              <a:t>Jesús ora por la unidad de sus seguidores como evidencia del amor de Dios ante el mundo. (Juan 17:21-23)</a:t>
            </a:r>
            <a:endParaRPr lang="en-US" sz="1200" dirty="0"/>
          </a:p>
        </p:txBody>
      </p:sp>
      <p:sp>
        <p:nvSpPr>
          <p:cNvPr id="26" name="Shape 23"/>
          <p:cNvSpPr/>
          <p:nvPr/>
        </p:nvSpPr>
        <p:spPr>
          <a:xfrm>
            <a:off x="3035808" y="2539594"/>
            <a:ext cx="5833872" cy="16459"/>
          </a:xfrm>
          <a:prstGeom prst="rect">
            <a:avLst/>
          </a:prstGeom>
          <a:solidFill>
            <a:srgbClr val="FFFFFF">
              <a:alpha val="18000"/>
            </a:srgbClr>
          </a:solidFill>
          <a:ln w="12700">
            <a:solidFill>
              <a:srgbClr val="FFFFFF"/>
            </a:solidFill>
            <a:prstDash val="solid"/>
          </a:ln>
        </p:spPr>
        <p:txBody>
          <a:bodyPr/>
          <a:lstStyle/>
          <a:p>
            <a:endParaRPr lang="es-ES"/>
          </a:p>
        </p:txBody>
      </p:sp>
      <p:sp>
        <p:nvSpPr>
          <p:cNvPr id="27" name="Shape 24"/>
          <p:cNvSpPr/>
          <p:nvPr/>
        </p:nvSpPr>
        <p:spPr>
          <a:xfrm>
            <a:off x="3054096" y="2843022"/>
            <a:ext cx="128016" cy="128016"/>
          </a:xfrm>
          <a:prstGeom prst="line">
            <a:avLst/>
          </a:prstGeom>
          <a:solidFill>
            <a:srgbClr val="88C0F8"/>
          </a:solidFill>
          <a:ln w="12700">
            <a:solidFill>
              <a:srgbClr val="88C0F8"/>
            </a:solidFill>
            <a:prstDash val="solid"/>
          </a:ln>
        </p:spPr>
        <p:txBody>
          <a:bodyPr/>
          <a:lstStyle/>
          <a:p>
            <a:endParaRPr lang="es-ES"/>
          </a:p>
        </p:txBody>
      </p:sp>
      <p:sp>
        <p:nvSpPr>
          <p:cNvPr id="28" name="Text 25"/>
          <p:cNvSpPr/>
          <p:nvPr/>
        </p:nvSpPr>
        <p:spPr>
          <a:xfrm>
            <a:off x="3255264" y="2548738"/>
            <a:ext cx="5614416" cy="716585"/>
          </a:xfrm>
          <a:prstGeom prst="rect">
            <a:avLst/>
          </a:prstGeom>
          <a:noFill/>
          <a:ln/>
        </p:spPr>
        <p:txBody>
          <a:bodyPr wrap="square" rtlCol="0" anchor="ctr"/>
          <a:lstStyle/>
          <a:p>
            <a:pPr marL="0" indent="0" algn="l">
              <a:buNone/>
            </a:pPr>
            <a:r>
              <a:rPr lang="en-US" sz="1200" dirty="0">
                <a:solidFill>
                  <a:srgbClr val="EEEEFF"/>
                </a:solidFill>
                <a:latin typeface="Calibri" pitchFamily="34" charset="0"/>
                <a:ea typeface="Calibri" pitchFamily="34" charset="-122"/>
                <a:cs typeface="Calibri" pitchFamily="34" charset="-120"/>
              </a:rPr>
              <a:t>El testimonio más poderoso del carácter de Dios no es un argumento sino una comunidad que vive en amor genuino. (Juan 13:34-35)</a:t>
            </a:r>
            <a:endParaRPr lang="en-US" sz="1200" dirty="0"/>
          </a:p>
        </p:txBody>
      </p:sp>
      <p:sp>
        <p:nvSpPr>
          <p:cNvPr id="29" name="Shape 26"/>
          <p:cNvSpPr/>
          <p:nvPr/>
        </p:nvSpPr>
        <p:spPr>
          <a:xfrm>
            <a:off x="2907792" y="3516874"/>
            <a:ext cx="6089904" cy="1425458"/>
          </a:xfrm>
          <a:prstGeom prst="rect">
            <a:avLst/>
          </a:prstGeom>
          <a:solidFill>
            <a:srgbClr val="1A4A8C">
              <a:alpha val="75000"/>
            </a:srgbClr>
          </a:solidFill>
          <a:ln w="12700">
            <a:solidFill>
              <a:srgbClr val="2A6ACC"/>
            </a:solidFill>
            <a:prstDash val="solid"/>
          </a:ln>
          <a:effectLst>
            <a:outerShdw blurRad="152400" dist="38100" dir="8100000" algn="bl" rotWithShape="0">
              <a:srgbClr val="000000">
                <a:alpha val="50000"/>
              </a:srgbClr>
            </a:outerShdw>
          </a:effectLst>
        </p:spPr>
        <p:txBody>
          <a:bodyPr/>
          <a:lstStyle/>
          <a:p>
            <a:endParaRPr lang="es-ES"/>
          </a:p>
        </p:txBody>
      </p:sp>
      <p:sp>
        <p:nvSpPr>
          <p:cNvPr id="30" name="Shape 27"/>
          <p:cNvSpPr/>
          <p:nvPr/>
        </p:nvSpPr>
        <p:spPr>
          <a:xfrm>
            <a:off x="2907792" y="3516874"/>
            <a:ext cx="6089904" cy="274320"/>
          </a:xfrm>
          <a:prstGeom prst="rect">
            <a:avLst/>
          </a:prstGeom>
          <a:solidFill>
            <a:srgbClr val="000000">
              <a:alpha val="52000"/>
            </a:srgbClr>
          </a:solidFill>
          <a:ln w="12700">
            <a:solidFill>
              <a:srgbClr val="000000"/>
            </a:solidFill>
            <a:prstDash val="solid"/>
          </a:ln>
        </p:spPr>
        <p:txBody>
          <a:bodyPr/>
          <a:lstStyle/>
          <a:p>
            <a:endParaRPr lang="es-ES"/>
          </a:p>
        </p:txBody>
      </p:sp>
      <p:sp>
        <p:nvSpPr>
          <p:cNvPr id="31" name="Text 28"/>
          <p:cNvSpPr/>
          <p:nvPr/>
        </p:nvSpPr>
        <p:spPr>
          <a:xfrm>
            <a:off x="3017520" y="3516874"/>
            <a:ext cx="5925312" cy="274320"/>
          </a:xfrm>
          <a:prstGeom prst="rect">
            <a:avLst/>
          </a:prstGeom>
          <a:noFill/>
          <a:ln/>
        </p:spPr>
        <p:txBody>
          <a:bodyPr wrap="square" lIns="0" tIns="0" rIns="0" bIns="0" rtlCol="0" anchor="ctr"/>
          <a:lstStyle/>
          <a:p>
            <a:pPr marL="0" indent="0" algn="l">
              <a:buNone/>
            </a:pPr>
            <a:r>
              <a:rPr lang="en-US" sz="900" b="1" kern="0" spc="100" dirty="0">
                <a:solidFill>
                  <a:srgbClr val="88C0F8"/>
                </a:solidFill>
                <a:latin typeface="Trebuchet MS" pitchFamily="34" charset="0"/>
                <a:ea typeface="Trebuchet MS" pitchFamily="34" charset="-122"/>
                <a:cs typeface="Trebuchet MS" pitchFamily="34" charset="-120"/>
              </a:rPr>
              <a:t>💡  ILUSTRACIÓN</a:t>
            </a:r>
            <a:endParaRPr lang="en-US" sz="900" dirty="0"/>
          </a:p>
        </p:txBody>
      </p:sp>
      <p:sp>
        <p:nvSpPr>
          <p:cNvPr id="32" name="Text 29"/>
          <p:cNvSpPr/>
          <p:nvPr/>
        </p:nvSpPr>
        <p:spPr>
          <a:xfrm>
            <a:off x="3054096" y="3809482"/>
            <a:ext cx="5833872" cy="1077986"/>
          </a:xfrm>
          <a:prstGeom prst="rect">
            <a:avLst/>
          </a:prstGeom>
          <a:noFill/>
          <a:ln/>
        </p:spPr>
        <p:txBody>
          <a:bodyPr wrap="square" rtlCol="0" anchor="t"/>
          <a:lstStyle/>
          <a:p>
            <a:pPr marL="0" indent="0" algn="l">
              <a:buNone/>
            </a:pPr>
            <a:r>
              <a:rPr lang="en-US" sz="1100" i="1" dirty="0">
                <a:solidFill>
                  <a:srgbClr val="D8D8E8"/>
                </a:solidFill>
                <a:latin typeface="Calibri" pitchFamily="34" charset="0"/>
                <a:ea typeface="Calibri" pitchFamily="34" charset="-122"/>
                <a:cs typeface="Calibri" pitchFamily="34" charset="-120"/>
              </a:rPr>
              <a:t>Cuando una iglesia joven se divide por chismes, sin importar cuán correcta sea su doctrina, le dice al mundo que el Dios que predica no transforma a quienes lo conocen.</a:t>
            </a:r>
            <a:endParaRPr lang="en-US" sz="1100" dirty="0"/>
          </a:p>
        </p:txBody>
      </p:sp>
      <p:sp>
        <p:nvSpPr>
          <p:cNvPr id="33" name="Text 30"/>
          <p:cNvSpPr/>
          <p:nvPr/>
        </p:nvSpPr>
        <p:spPr>
          <a:xfrm>
            <a:off x="0" y="4960620"/>
            <a:ext cx="9144000" cy="164592"/>
          </a:xfrm>
          <a:prstGeom prst="rect">
            <a:avLst/>
          </a:prstGeom>
          <a:noFill/>
          <a:ln/>
        </p:spPr>
        <p:txBody>
          <a:bodyPr wrap="square" lIns="0" tIns="0" rIns="0" bIns="0" rtlCol="0" anchor="ctr"/>
          <a:lstStyle/>
          <a:p>
            <a:pPr marL="0" indent="0" algn="ctr">
              <a:buNone/>
            </a:pPr>
            <a:r>
              <a:rPr lang="en-US" sz="700" i="1" dirty="0">
                <a:solidFill>
                  <a:srgbClr val="777799"/>
                </a:solidFill>
                <a:latin typeface="Calibri" pitchFamily="34" charset="0"/>
                <a:ea typeface="Calibri" pitchFamily="34" charset="-122"/>
                <a:cs typeface="Calibri" pitchFamily="34" charset="-120"/>
              </a:rPr>
              <a:t>Dr. Tito Goicochea M.  ·  NEED - DSA  ·  II Trimestre 2026</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alpha val="30000"/>
            </a:srgbClr>
          </a:solidFill>
          <a:ln w="12700">
            <a:solidFill>
              <a:srgbClr val="000000"/>
            </a:solidFill>
            <a:prstDash val="solid"/>
          </a:ln>
        </p:spPr>
        <p:txBody>
          <a:bodyPr/>
          <a:lstStyle/>
          <a:p>
            <a:endParaRPr lang="es-ES"/>
          </a:p>
        </p:txBody>
      </p:sp>
      <p:sp>
        <p:nvSpPr>
          <p:cNvPr id="4" name="Shape 1"/>
          <p:cNvSpPr/>
          <p:nvPr/>
        </p:nvSpPr>
        <p:spPr>
          <a:xfrm>
            <a:off x="0" y="2560320"/>
            <a:ext cx="9144000" cy="2583180"/>
          </a:xfrm>
          <a:prstGeom prst="rect">
            <a:avLst/>
          </a:prstGeom>
          <a:solidFill>
            <a:srgbClr val="000000">
              <a:alpha val="62000"/>
            </a:srgbClr>
          </a:solidFill>
          <a:ln w="12700">
            <a:solidFill>
              <a:srgbClr val="000000"/>
            </a:solidFill>
            <a:prstDash val="solid"/>
          </a:ln>
        </p:spPr>
        <p:txBody>
          <a:bodyPr/>
          <a:lstStyle/>
          <a:p>
            <a:endParaRPr lang="es-ES"/>
          </a:p>
        </p:txBody>
      </p:sp>
      <p:sp>
        <p:nvSpPr>
          <p:cNvPr id="5" name="Shape 2"/>
          <p:cNvSpPr/>
          <p:nvPr/>
        </p:nvSpPr>
        <p:spPr>
          <a:xfrm>
            <a:off x="0" y="0"/>
            <a:ext cx="54864" cy="676656"/>
          </a:xfrm>
          <a:prstGeom prst="rect">
            <a:avLst/>
          </a:prstGeom>
          <a:solidFill>
            <a:srgbClr val="1A6B3A"/>
          </a:solidFill>
          <a:ln w="12700">
            <a:solidFill>
              <a:srgbClr val="1A6B3A"/>
            </a:solidFill>
            <a:prstDash val="solid"/>
          </a:ln>
        </p:spPr>
        <p:txBody>
          <a:bodyPr/>
          <a:lstStyle/>
          <a:p>
            <a:endParaRPr lang="es-ES"/>
          </a:p>
        </p:txBody>
      </p:sp>
      <p:sp>
        <p:nvSpPr>
          <p:cNvPr id="6" name="Shape 3"/>
          <p:cNvSpPr/>
          <p:nvPr/>
        </p:nvSpPr>
        <p:spPr>
          <a:xfrm>
            <a:off x="128016" y="18288"/>
            <a:ext cx="9144000" cy="640080"/>
          </a:xfrm>
          <a:prstGeom prst="rect">
            <a:avLst/>
          </a:prstGeom>
          <a:solidFill>
            <a:srgbClr val="000000">
              <a:alpha val="65000"/>
            </a:srgbClr>
          </a:solidFill>
          <a:ln w="12700">
            <a:solidFill>
              <a:srgbClr val="000000"/>
            </a:solidFill>
            <a:prstDash val="solid"/>
          </a:ln>
        </p:spPr>
        <p:txBody>
          <a:bodyPr/>
          <a:lstStyle/>
          <a:p>
            <a:endParaRPr lang="es-ES"/>
          </a:p>
        </p:txBody>
      </p:sp>
      <p:sp>
        <p:nvSpPr>
          <p:cNvPr id="7" name="Shape 4"/>
          <p:cNvSpPr/>
          <p:nvPr/>
        </p:nvSpPr>
        <p:spPr>
          <a:xfrm>
            <a:off x="182880" y="64008"/>
            <a:ext cx="566928" cy="548640"/>
          </a:xfrm>
          <a:prstGeom prst="rect">
            <a:avLst/>
          </a:prstGeom>
          <a:solidFill>
            <a:srgbClr val="1A6B3A"/>
          </a:solidFill>
          <a:ln w="12700">
            <a:solidFill>
              <a:srgbClr val="1A6B3A"/>
            </a:solidFill>
            <a:prstDash val="solid"/>
          </a:ln>
        </p:spPr>
        <p:txBody>
          <a:bodyPr/>
          <a:lstStyle/>
          <a:p>
            <a:endParaRPr lang="es-ES"/>
          </a:p>
        </p:txBody>
      </p:sp>
      <p:sp>
        <p:nvSpPr>
          <p:cNvPr id="8" name="Text 5"/>
          <p:cNvSpPr/>
          <p:nvPr/>
        </p:nvSpPr>
        <p:spPr>
          <a:xfrm>
            <a:off x="182880" y="64008"/>
            <a:ext cx="566928"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3</a:t>
            </a:r>
            <a:endParaRPr lang="en-US" sz="2200" dirty="0"/>
          </a:p>
        </p:txBody>
      </p:sp>
      <p:sp>
        <p:nvSpPr>
          <p:cNvPr id="9" name="Text 6"/>
          <p:cNvSpPr/>
          <p:nvPr/>
        </p:nvSpPr>
        <p:spPr>
          <a:xfrm>
            <a:off x="877824" y="118872"/>
            <a:ext cx="8138160" cy="438912"/>
          </a:xfrm>
          <a:prstGeom prst="rect">
            <a:avLst/>
          </a:prstGeom>
          <a:noFill/>
          <a:ln/>
        </p:spPr>
        <p:txBody>
          <a:bodyPr wrap="square" lIns="0" tIns="0" rIns="0" bIns="0" rtlCol="0" anchor="ctr"/>
          <a:lstStyle/>
          <a:p>
            <a:pPr marL="0" indent="0" algn="l">
              <a:buNone/>
            </a:pPr>
            <a:r>
              <a:rPr lang="en-US" sz="1600" b="1" dirty="0">
                <a:solidFill>
                  <a:srgbClr val="A0F0B8"/>
                </a:solidFill>
                <a:latin typeface="Trebuchet MS" pitchFamily="34" charset="0"/>
                <a:ea typeface="Trebuchet MS" pitchFamily="34" charset="-122"/>
                <a:cs typeface="Trebuchet MS" pitchFamily="34" charset="-120"/>
              </a:rPr>
              <a:t>FASE 3  ·  APLICA  (REFLEXIONA)  —  Reflexión y aplicación a la vida</a:t>
            </a:r>
            <a:endParaRPr lang="en-US" sz="1600" dirty="0"/>
          </a:p>
        </p:txBody>
      </p:sp>
      <p:sp>
        <p:nvSpPr>
          <p:cNvPr id="10" name="Shape 7"/>
          <p:cNvSpPr/>
          <p:nvPr/>
        </p:nvSpPr>
        <p:spPr>
          <a:xfrm>
            <a:off x="201168" y="749808"/>
            <a:ext cx="8741664" cy="1920240"/>
          </a:xfrm>
          <a:prstGeom prst="rect">
            <a:avLst/>
          </a:prstGeom>
          <a:solidFill>
            <a:srgbClr val="000000">
              <a:alpha val="75000"/>
            </a:srgbClr>
          </a:solidFill>
          <a:ln w="25400">
            <a:solidFill>
              <a:srgbClr val="2E8A4A"/>
            </a:solidFill>
            <a:prstDash val="solid"/>
          </a:ln>
          <a:effectLst>
            <a:outerShdw blurRad="152400" dist="38100" dir="8100000" algn="bl" rotWithShape="0">
              <a:srgbClr val="000000">
                <a:alpha val="50000"/>
              </a:srgbClr>
            </a:outerShdw>
          </a:effectLst>
        </p:spPr>
        <p:txBody>
          <a:bodyPr/>
          <a:lstStyle/>
          <a:p>
            <a:endParaRPr lang="es-ES"/>
          </a:p>
        </p:txBody>
      </p:sp>
      <p:sp>
        <p:nvSpPr>
          <p:cNvPr id="11" name="Shape 8"/>
          <p:cNvSpPr/>
          <p:nvPr/>
        </p:nvSpPr>
        <p:spPr>
          <a:xfrm>
            <a:off x="201168" y="749808"/>
            <a:ext cx="64008" cy="1920240"/>
          </a:xfrm>
          <a:prstGeom prst="rect">
            <a:avLst/>
          </a:prstGeom>
          <a:solidFill>
            <a:srgbClr val="2E8A4A"/>
          </a:solidFill>
          <a:ln w="12700">
            <a:solidFill>
              <a:srgbClr val="2E8A4A"/>
            </a:solidFill>
            <a:prstDash val="solid"/>
          </a:ln>
        </p:spPr>
        <p:txBody>
          <a:bodyPr/>
          <a:lstStyle/>
          <a:p>
            <a:endParaRPr lang="es-ES"/>
          </a:p>
        </p:txBody>
      </p:sp>
      <p:sp>
        <p:nvSpPr>
          <p:cNvPr id="12" name="Text 9"/>
          <p:cNvSpPr/>
          <p:nvPr/>
        </p:nvSpPr>
        <p:spPr>
          <a:xfrm>
            <a:off x="256032" y="694944"/>
            <a:ext cx="822960" cy="1097280"/>
          </a:xfrm>
          <a:prstGeom prst="rect">
            <a:avLst/>
          </a:prstGeom>
          <a:noFill/>
          <a:ln/>
        </p:spPr>
        <p:txBody>
          <a:bodyPr wrap="square" lIns="0" tIns="0" rIns="0" bIns="0" rtlCol="0" anchor="t"/>
          <a:lstStyle/>
          <a:p>
            <a:pPr marL="0" indent="0" algn="l">
              <a:buNone/>
            </a:pPr>
            <a:r>
              <a:rPr lang="en-US" sz="7600" b="1" dirty="0">
                <a:solidFill>
                  <a:srgbClr val="4AE89A"/>
                </a:solidFill>
                <a:latin typeface="Georgia" pitchFamily="34" charset="0"/>
                <a:ea typeface="Georgia" pitchFamily="34" charset="-122"/>
                <a:cs typeface="Georgia" pitchFamily="34" charset="-120"/>
              </a:rPr>
              <a:t>“</a:t>
            </a:r>
            <a:endParaRPr lang="en-US" sz="7600" dirty="0"/>
          </a:p>
        </p:txBody>
      </p:sp>
      <p:sp>
        <p:nvSpPr>
          <p:cNvPr id="13" name="Text 10"/>
          <p:cNvSpPr/>
          <p:nvPr/>
        </p:nvSpPr>
        <p:spPr>
          <a:xfrm>
            <a:off x="877824" y="841248"/>
            <a:ext cx="7955280" cy="1481328"/>
          </a:xfrm>
          <a:prstGeom prst="rect">
            <a:avLst/>
          </a:prstGeom>
          <a:noFill/>
          <a:ln/>
        </p:spPr>
        <p:txBody>
          <a:bodyPr wrap="square" rtlCol="0" anchor="ctr"/>
          <a:lstStyle/>
          <a:p>
            <a:pPr marL="0" indent="0" algn="just">
              <a:buNone/>
            </a:pPr>
            <a:r>
              <a:rPr lang="en-US" sz="1350" i="1" dirty="0">
                <a:solidFill>
                  <a:srgbClr val="EEFFEE"/>
                </a:solidFill>
                <a:latin typeface="Calibri" pitchFamily="34" charset="0"/>
                <a:ea typeface="Calibri" pitchFamily="34" charset="-122"/>
                <a:cs typeface="Calibri" pitchFamily="34" charset="-120"/>
              </a:rPr>
              <a:t>"Todo el amor paterno que se haya transmitido de generación en generación por medio de los corazones humanos, todos los manantiales de ternura que se hayan abierto en las almas de los hombres, son tan solo como una gota del ilimitado océano, cuando se comparan con el amor infinito e inagotable de Dios."</a:t>
            </a:r>
            <a:endParaRPr lang="en-US" sz="1350" dirty="0"/>
          </a:p>
        </p:txBody>
      </p:sp>
      <p:sp>
        <p:nvSpPr>
          <p:cNvPr id="14" name="Text 11"/>
          <p:cNvSpPr/>
          <p:nvPr/>
        </p:nvSpPr>
        <p:spPr>
          <a:xfrm>
            <a:off x="877824" y="2670048"/>
            <a:ext cx="7955280" cy="201168"/>
          </a:xfrm>
          <a:prstGeom prst="rect">
            <a:avLst/>
          </a:prstGeom>
          <a:noFill/>
          <a:ln/>
        </p:spPr>
        <p:txBody>
          <a:bodyPr wrap="square" lIns="0" tIns="0" rIns="0" bIns="0" rtlCol="0" anchor="ctr"/>
          <a:lstStyle/>
          <a:p>
            <a:pPr marL="0" indent="0" algn="r">
              <a:buNone/>
            </a:pPr>
            <a:r>
              <a:rPr lang="en-US" sz="900" i="1" dirty="0">
                <a:solidFill>
                  <a:srgbClr val="6AE89A"/>
                </a:solidFill>
                <a:latin typeface="Calibri" pitchFamily="34" charset="0"/>
                <a:ea typeface="Calibri" pitchFamily="34" charset="-122"/>
                <a:cs typeface="Calibri" pitchFamily="34" charset="-120"/>
              </a:rPr>
              <a:t>— Elena G. de White, El camino a Cristo, p. 13</a:t>
            </a:r>
            <a:endParaRPr lang="en-US" sz="900" dirty="0"/>
          </a:p>
        </p:txBody>
      </p:sp>
      <p:sp>
        <p:nvSpPr>
          <p:cNvPr id="15" name="Shape 12"/>
          <p:cNvSpPr/>
          <p:nvPr/>
        </p:nvSpPr>
        <p:spPr>
          <a:xfrm>
            <a:off x="201168" y="2944368"/>
            <a:ext cx="8741664" cy="45720"/>
          </a:xfrm>
          <a:prstGeom prst="rect">
            <a:avLst/>
          </a:prstGeom>
          <a:solidFill>
            <a:srgbClr val="C9A84C"/>
          </a:solidFill>
          <a:ln w="12700">
            <a:solidFill>
              <a:srgbClr val="C9A84C"/>
            </a:solidFill>
            <a:prstDash val="solid"/>
          </a:ln>
        </p:spPr>
        <p:txBody>
          <a:bodyPr/>
          <a:lstStyle/>
          <a:p>
            <a:endParaRPr lang="es-ES"/>
          </a:p>
        </p:txBody>
      </p:sp>
      <p:sp>
        <p:nvSpPr>
          <p:cNvPr id="16" name="Text 13"/>
          <p:cNvSpPr/>
          <p:nvPr/>
        </p:nvSpPr>
        <p:spPr>
          <a:xfrm>
            <a:off x="329184" y="3035808"/>
            <a:ext cx="1463040" cy="274320"/>
          </a:xfrm>
          <a:prstGeom prst="rect">
            <a:avLst/>
          </a:prstGeom>
          <a:noFill/>
          <a:ln/>
        </p:spPr>
        <p:txBody>
          <a:bodyPr wrap="square" lIns="0" tIns="0" rIns="0" bIns="0" rtlCol="0" anchor="ctr"/>
          <a:lstStyle/>
          <a:p>
            <a:pPr marL="0" indent="0">
              <a:buNone/>
            </a:pPr>
            <a:r>
              <a:rPr lang="en-US" sz="1100" b="1" dirty="0">
                <a:solidFill>
                  <a:srgbClr val="C9A84C"/>
                </a:solidFill>
                <a:latin typeface="Trebuchet MS" pitchFamily="34" charset="0"/>
                <a:ea typeface="Trebuchet MS" pitchFamily="34" charset="-122"/>
                <a:cs typeface="Trebuchet MS" pitchFamily="34" charset="-120"/>
              </a:rPr>
              <a:t>Reflexiona:</a:t>
            </a:r>
            <a:endParaRPr lang="en-US" sz="1100" dirty="0"/>
          </a:p>
        </p:txBody>
      </p:sp>
      <p:sp>
        <p:nvSpPr>
          <p:cNvPr id="17" name="Text 14"/>
          <p:cNvSpPr/>
          <p:nvPr/>
        </p:nvSpPr>
        <p:spPr>
          <a:xfrm>
            <a:off x="329184" y="3328416"/>
            <a:ext cx="8485632" cy="1444752"/>
          </a:xfrm>
          <a:prstGeom prst="rect">
            <a:avLst/>
          </a:prstGeom>
          <a:noFill/>
          <a:ln/>
          <a:effectLst>
            <a:outerShdw blurRad="177800" dist="38100" dir="8100000" algn="bl" rotWithShape="0">
              <a:srgbClr val="000000">
                <a:alpha val="80000"/>
              </a:srgbClr>
            </a:outerShdw>
          </a:effectLst>
        </p:spPr>
        <p:txBody>
          <a:bodyPr wrap="square" rtlCol="0" anchor="ctr"/>
          <a:lstStyle/>
          <a:p>
            <a:pPr marL="0" indent="0" algn="ctr">
              <a:buNone/>
            </a:pPr>
            <a:r>
              <a:rPr lang="en-US" sz="1650" b="1" dirty="0">
                <a:solidFill>
                  <a:srgbClr val="FFFFFF"/>
                </a:solidFill>
                <a:latin typeface="Arial Black" pitchFamily="34" charset="0"/>
                <a:ea typeface="Arial Black" pitchFamily="34" charset="-122"/>
                <a:cs typeface="Arial Black" pitchFamily="34" charset="-120"/>
              </a:rPr>
              <a:t>¿Qué aspecto del carácter de Dios —su santidad o su amor— te cuesta más comprender? ¿Qué harás ESTA SEMANA para conocerlo más profundamente a través de Juan 17?</a:t>
            </a:r>
            <a:endParaRPr lang="en-US" sz="1650" dirty="0"/>
          </a:p>
        </p:txBody>
      </p:sp>
      <p:sp>
        <p:nvSpPr>
          <p:cNvPr id="18" name="Text 15"/>
          <p:cNvSpPr/>
          <p:nvPr/>
        </p:nvSpPr>
        <p:spPr>
          <a:xfrm>
            <a:off x="0" y="4960620"/>
            <a:ext cx="9144000" cy="164592"/>
          </a:xfrm>
          <a:prstGeom prst="rect">
            <a:avLst/>
          </a:prstGeom>
          <a:noFill/>
          <a:ln/>
        </p:spPr>
        <p:txBody>
          <a:bodyPr wrap="square" lIns="0" tIns="0" rIns="0" bIns="0" rtlCol="0" anchor="ctr"/>
          <a:lstStyle/>
          <a:p>
            <a:pPr marL="0" indent="0" algn="ctr">
              <a:buNone/>
            </a:pPr>
            <a:r>
              <a:rPr lang="en-US" sz="700" i="1" dirty="0">
                <a:solidFill>
                  <a:srgbClr val="777799"/>
                </a:solidFill>
                <a:latin typeface="Calibri" pitchFamily="34" charset="0"/>
                <a:ea typeface="Calibri" pitchFamily="34" charset="-122"/>
                <a:cs typeface="Calibri" pitchFamily="34" charset="-120"/>
              </a:rPr>
              <a:t>Dr. Tito Goicochea M.  ·  NEED - DSA  ·  II Trimestre 2026</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alpha val="75000"/>
            </a:srgbClr>
          </a:solidFill>
          <a:ln w="12700">
            <a:solidFill>
              <a:srgbClr val="000000"/>
            </a:solidFill>
            <a:prstDash val="solid"/>
          </a:ln>
        </p:spPr>
        <p:txBody>
          <a:bodyPr/>
          <a:lstStyle/>
          <a:p>
            <a:endParaRPr lang="es-ES"/>
          </a:p>
        </p:txBody>
      </p:sp>
      <p:sp>
        <p:nvSpPr>
          <p:cNvPr id="4" name="Shape 1"/>
          <p:cNvSpPr/>
          <p:nvPr/>
        </p:nvSpPr>
        <p:spPr>
          <a:xfrm>
            <a:off x="0" y="0"/>
            <a:ext cx="54864" cy="676656"/>
          </a:xfrm>
          <a:prstGeom prst="rect">
            <a:avLst/>
          </a:prstGeom>
          <a:solidFill>
            <a:srgbClr val="7A1010"/>
          </a:solidFill>
          <a:ln w="12700">
            <a:solidFill>
              <a:srgbClr val="7A1010"/>
            </a:solidFill>
            <a:prstDash val="solid"/>
          </a:ln>
        </p:spPr>
        <p:txBody>
          <a:bodyPr/>
          <a:lstStyle/>
          <a:p>
            <a:endParaRPr lang="es-ES"/>
          </a:p>
        </p:txBody>
      </p:sp>
      <p:sp>
        <p:nvSpPr>
          <p:cNvPr id="5" name="Shape 2"/>
          <p:cNvSpPr/>
          <p:nvPr/>
        </p:nvSpPr>
        <p:spPr>
          <a:xfrm>
            <a:off x="128016" y="18288"/>
            <a:ext cx="9144000" cy="640080"/>
          </a:xfrm>
          <a:prstGeom prst="rect">
            <a:avLst/>
          </a:prstGeom>
          <a:solidFill>
            <a:srgbClr val="000000">
              <a:alpha val="65000"/>
            </a:srgbClr>
          </a:solidFill>
          <a:ln w="12700">
            <a:solidFill>
              <a:srgbClr val="000000"/>
            </a:solidFill>
            <a:prstDash val="solid"/>
          </a:ln>
        </p:spPr>
        <p:txBody>
          <a:bodyPr/>
          <a:lstStyle/>
          <a:p>
            <a:endParaRPr lang="es-ES"/>
          </a:p>
        </p:txBody>
      </p:sp>
      <p:sp>
        <p:nvSpPr>
          <p:cNvPr id="6" name="Shape 3"/>
          <p:cNvSpPr/>
          <p:nvPr/>
        </p:nvSpPr>
        <p:spPr>
          <a:xfrm>
            <a:off x="182880" y="64008"/>
            <a:ext cx="566928" cy="548640"/>
          </a:xfrm>
          <a:prstGeom prst="rect">
            <a:avLst/>
          </a:prstGeom>
          <a:solidFill>
            <a:srgbClr val="7A1010"/>
          </a:solidFill>
          <a:ln w="12700">
            <a:solidFill>
              <a:srgbClr val="7A1010"/>
            </a:solidFill>
            <a:prstDash val="solid"/>
          </a:ln>
        </p:spPr>
        <p:txBody>
          <a:bodyPr/>
          <a:lstStyle/>
          <a:p>
            <a:endParaRPr lang="es-ES"/>
          </a:p>
        </p:txBody>
      </p:sp>
      <p:sp>
        <p:nvSpPr>
          <p:cNvPr id="7" name="Text 4"/>
          <p:cNvSpPr/>
          <p:nvPr/>
        </p:nvSpPr>
        <p:spPr>
          <a:xfrm>
            <a:off x="182880" y="64008"/>
            <a:ext cx="566928"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4</a:t>
            </a:r>
            <a:endParaRPr lang="en-US" sz="2200" dirty="0"/>
          </a:p>
        </p:txBody>
      </p:sp>
      <p:sp>
        <p:nvSpPr>
          <p:cNvPr id="8" name="Text 5"/>
          <p:cNvSpPr/>
          <p:nvPr/>
        </p:nvSpPr>
        <p:spPr>
          <a:xfrm>
            <a:off x="877824" y="118872"/>
            <a:ext cx="8138160" cy="438912"/>
          </a:xfrm>
          <a:prstGeom prst="rect">
            <a:avLst/>
          </a:prstGeom>
          <a:noFill/>
          <a:ln/>
        </p:spPr>
        <p:txBody>
          <a:bodyPr wrap="square" lIns="0" tIns="0" rIns="0" bIns="0" rtlCol="0" anchor="ctr"/>
          <a:lstStyle/>
          <a:p>
            <a:pPr marL="0" indent="0" algn="l">
              <a:buNone/>
            </a:pPr>
            <a:r>
              <a:rPr lang="en-US" sz="1600" b="1" dirty="0">
                <a:solidFill>
                  <a:srgbClr val="FFB0B0"/>
                </a:solidFill>
                <a:latin typeface="Trebuchet MS" pitchFamily="34" charset="0"/>
                <a:ea typeface="Trebuchet MS" pitchFamily="34" charset="-122"/>
                <a:cs typeface="Trebuchet MS" pitchFamily="34" charset="-120"/>
              </a:rPr>
              <a:t>FASE 4  ·  CREA  —  MI DECISIÓN  ·  Esta semana decido...</a:t>
            </a:r>
            <a:endParaRPr lang="en-US" sz="1600" dirty="0"/>
          </a:p>
        </p:txBody>
      </p:sp>
      <p:sp>
        <p:nvSpPr>
          <p:cNvPr id="9" name="Shape 6"/>
          <p:cNvSpPr/>
          <p:nvPr/>
        </p:nvSpPr>
        <p:spPr>
          <a:xfrm>
            <a:off x="182880" y="749808"/>
            <a:ext cx="7059168" cy="347472"/>
          </a:xfrm>
          <a:prstGeom prst="rect">
            <a:avLst/>
          </a:prstGeom>
          <a:solidFill>
            <a:srgbClr val="0E1E34"/>
          </a:solidFill>
          <a:ln w="12700">
            <a:solidFill>
              <a:srgbClr val="C9A84C"/>
            </a:solidFill>
            <a:prstDash val="solid"/>
          </a:ln>
        </p:spPr>
        <p:txBody>
          <a:bodyPr/>
          <a:lstStyle/>
          <a:p>
            <a:endParaRPr lang="es-ES"/>
          </a:p>
        </p:txBody>
      </p:sp>
      <p:sp>
        <p:nvSpPr>
          <p:cNvPr id="10" name="Text 7"/>
          <p:cNvSpPr/>
          <p:nvPr/>
        </p:nvSpPr>
        <p:spPr>
          <a:xfrm>
            <a:off x="310896" y="749808"/>
            <a:ext cx="6876288" cy="347472"/>
          </a:xfrm>
          <a:prstGeom prst="rect">
            <a:avLst/>
          </a:prstGeom>
          <a:noFill/>
          <a:ln/>
        </p:spPr>
        <p:txBody>
          <a:bodyPr wrap="square" lIns="0" tIns="0" rIns="0" bIns="0" rtlCol="0" anchor="ctr"/>
          <a:lstStyle/>
          <a:p>
            <a:pPr marL="0" indent="0" algn="l">
              <a:buNone/>
            </a:pPr>
            <a:r>
              <a:rPr lang="en-US" sz="1100" i="1" dirty="0">
                <a:solidFill>
                  <a:srgbClr val="8888AA"/>
                </a:solidFill>
                <a:latin typeface="Calibri" pitchFamily="34" charset="0"/>
                <a:ea typeface="Calibri" pitchFamily="34" charset="-122"/>
                <a:cs typeface="Calibri" pitchFamily="34" charset="-120"/>
              </a:rPr>
              <a:t>Mi decisión esta semana...</a:t>
            </a:r>
            <a:endParaRPr lang="en-US" sz="1100" dirty="0"/>
          </a:p>
        </p:txBody>
      </p:sp>
      <p:sp>
        <p:nvSpPr>
          <p:cNvPr id="11" name="Shape 8"/>
          <p:cNvSpPr/>
          <p:nvPr/>
        </p:nvSpPr>
        <p:spPr>
          <a:xfrm>
            <a:off x="7351776" y="749808"/>
            <a:ext cx="877824" cy="347472"/>
          </a:xfrm>
          <a:prstGeom prst="rect">
            <a:avLst/>
          </a:prstGeom>
          <a:solidFill>
            <a:srgbClr val="1A5C28"/>
          </a:solidFill>
          <a:ln w="12700">
            <a:solidFill>
              <a:srgbClr val="5AE07A"/>
            </a:solidFill>
            <a:prstDash val="solid"/>
          </a:ln>
        </p:spPr>
        <p:txBody>
          <a:bodyPr/>
          <a:lstStyle/>
          <a:p>
            <a:endParaRPr lang="es-ES"/>
          </a:p>
        </p:txBody>
      </p:sp>
      <p:sp>
        <p:nvSpPr>
          <p:cNvPr id="12" name="Text 9"/>
          <p:cNvSpPr/>
          <p:nvPr/>
        </p:nvSpPr>
        <p:spPr>
          <a:xfrm>
            <a:off x="7351776" y="749808"/>
            <a:ext cx="877824" cy="347472"/>
          </a:xfrm>
          <a:prstGeom prst="rect">
            <a:avLst/>
          </a:prstGeom>
          <a:noFill/>
          <a:ln/>
        </p:spPr>
        <p:txBody>
          <a:bodyPr wrap="square" lIns="0" tIns="0" rIns="0" bIns="0" rtlCol="0" anchor="ctr"/>
          <a:lstStyle/>
          <a:p>
            <a:pPr marL="0" indent="0" algn="ctr">
              <a:buNone/>
            </a:pPr>
            <a:r>
              <a:rPr lang="en-US" sz="1800" b="1" dirty="0">
                <a:solidFill>
                  <a:srgbClr val="A8F0A8"/>
                </a:solidFill>
                <a:latin typeface="Arial Black" pitchFamily="34" charset="0"/>
                <a:ea typeface="Arial Black" pitchFamily="34" charset="-122"/>
                <a:cs typeface="Arial Black" pitchFamily="34" charset="-120"/>
              </a:rPr>
              <a:t>SÍ</a:t>
            </a:r>
            <a:endParaRPr lang="en-US" sz="1800" dirty="0"/>
          </a:p>
        </p:txBody>
      </p:sp>
      <p:sp>
        <p:nvSpPr>
          <p:cNvPr id="13" name="Shape 10"/>
          <p:cNvSpPr/>
          <p:nvPr/>
        </p:nvSpPr>
        <p:spPr>
          <a:xfrm>
            <a:off x="8339328" y="749808"/>
            <a:ext cx="877824" cy="347472"/>
          </a:xfrm>
          <a:prstGeom prst="rect">
            <a:avLst/>
          </a:prstGeom>
          <a:solidFill>
            <a:srgbClr val="5C1A1A"/>
          </a:solidFill>
          <a:ln w="12700">
            <a:solidFill>
              <a:srgbClr val="E06060"/>
            </a:solidFill>
            <a:prstDash val="solid"/>
          </a:ln>
        </p:spPr>
        <p:txBody>
          <a:bodyPr/>
          <a:lstStyle/>
          <a:p>
            <a:endParaRPr lang="es-ES"/>
          </a:p>
        </p:txBody>
      </p:sp>
      <p:sp>
        <p:nvSpPr>
          <p:cNvPr id="14" name="Text 11"/>
          <p:cNvSpPr/>
          <p:nvPr/>
        </p:nvSpPr>
        <p:spPr>
          <a:xfrm>
            <a:off x="8339328" y="749808"/>
            <a:ext cx="877824" cy="347472"/>
          </a:xfrm>
          <a:prstGeom prst="rect">
            <a:avLst/>
          </a:prstGeom>
          <a:noFill/>
          <a:ln/>
        </p:spPr>
        <p:txBody>
          <a:bodyPr wrap="square" lIns="0" tIns="0" rIns="0" bIns="0" rtlCol="0" anchor="ctr"/>
          <a:lstStyle/>
          <a:p>
            <a:pPr marL="0" indent="0" algn="ctr">
              <a:buNone/>
            </a:pPr>
            <a:r>
              <a:rPr lang="en-US" sz="1800" b="1" dirty="0">
                <a:solidFill>
                  <a:srgbClr val="F0A8A8"/>
                </a:solidFill>
                <a:latin typeface="Arial Black" pitchFamily="34" charset="0"/>
                <a:ea typeface="Arial Black" pitchFamily="34" charset="-122"/>
                <a:cs typeface="Arial Black" pitchFamily="34" charset="-120"/>
              </a:rPr>
              <a:t>NO</a:t>
            </a:r>
            <a:endParaRPr lang="en-US" sz="1800" dirty="0"/>
          </a:p>
        </p:txBody>
      </p:sp>
      <p:sp>
        <p:nvSpPr>
          <p:cNvPr id="15" name="Shape 12"/>
          <p:cNvSpPr/>
          <p:nvPr/>
        </p:nvSpPr>
        <p:spPr>
          <a:xfrm>
            <a:off x="182880" y="1152144"/>
            <a:ext cx="7059168" cy="1261872"/>
          </a:xfrm>
          <a:prstGeom prst="rect">
            <a:avLst/>
          </a:prstGeom>
          <a:solidFill>
            <a:srgbClr val="0E1E34"/>
          </a:solidFill>
          <a:ln w="15240">
            <a:solidFill>
              <a:srgbClr val="C9A84C"/>
            </a:solidFill>
            <a:prstDash val="solid"/>
          </a:ln>
          <a:effectLst>
            <a:outerShdw blurRad="152400" dist="38100" dir="8100000" algn="bl" rotWithShape="0">
              <a:srgbClr val="000000">
                <a:alpha val="50000"/>
              </a:srgbClr>
            </a:outerShdw>
          </a:effectLst>
        </p:spPr>
        <p:txBody>
          <a:bodyPr/>
          <a:lstStyle/>
          <a:p>
            <a:endParaRPr lang="es-ES"/>
          </a:p>
        </p:txBody>
      </p:sp>
      <p:sp>
        <p:nvSpPr>
          <p:cNvPr id="16" name="Shape 13"/>
          <p:cNvSpPr/>
          <p:nvPr/>
        </p:nvSpPr>
        <p:spPr>
          <a:xfrm>
            <a:off x="182880" y="1152144"/>
            <a:ext cx="64008" cy="1261872"/>
          </a:xfrm>
          <a:prstGeom prst="rect">
            <a:avLst/>
          </a:prstGeom>
          <a:solidFill>
            <a:srgbClr val="C9A84C"/>
          </a:solidFill>
          <a:ln w="12700">
            <a:solidFill>
              <a:srgbClr val="C9A84C"/>
            </a:solidFill>
            <a:prstDash val="solid"/>
          </a:ln>
        </p:spPr>
        <p:txBody>
          <a:bodyPr/>
          <a:lstStyle/>
          <a:p>
            <a:endParaRPr lang="es-ES"/>
          </a:p>
        </p:txBody>
      </p:sp>
      <p:sp>
        <p:nvSpPr>
          <p:cNvPr id="17" name="Shape 14"/>
          <p:cNvSpPr/>
          <p:nvPr/>
        </p:nvSpPr>
        <p:spPr>
          <a:xfrm>
            <a:off x="292608" y="1508760"/>
            <a:ext cx="548640" cy="548640"/>
          </a:xfrm>
          <a:prstGeom prst="line">
            <a:avLst/>
          </a:prstGeom>
          <a:solidFill>
            <a:srgbClr val="C9A84C"/>
          </a:solidFill>
          <a:ln w="12700">
            <a:solidFill>
              <a:srgbClr val="C9A84C"/>
            </a:solidFill>
            <a:prstDash val="solid"/>
          </a:ln>
        </p:spPr>
        <p:txBody>
          <a:bodyPr/>
          <a:lstStyle/>
          <a:p>
            <a:endParaRPr lang="es-ES"/>
          </a:p>
        </p:txBody>
      </p:sp>
      <p:sp>
        <p:nvSpPr>
          <p:cNvPr id="18" name="Text 15"/>
          <p:cNvSpPr/>
          <p:nvPr/>
        </p:nvSpPr>
        <p:spPr>
          <a:xfrm>
            <a:off x="292608" y="1508760"/>
            <a:ext cx="548640" cy="548640"/>
          </a:xfrm>
          <a:prstGeom prst="rect">
            <a:avLst/>
          </a:prstGeom>
          <a:noFill/>
          <a:ln/>
        </p:spPr>
        <p:txBody>
          <a:bodyPr wrap="square" lIns="0" tIns="0" rIns="0" bIns="0" rtlCol="0" anchor="ctr"/>
          <a:lstStyle/>
          <a:p>
            <a:pPr marL="0" indent="0" algn="ctr">
              <a:buNone/>
            </a:pPr>
            <a:r>
              <a:rPr lang="en-US" sz="1800" b="1" dirty="0">
                <a:solidFill>
                  <a:srgbClr val="000000"/>
                </a:solidFill>
                <a:latin typeface="Arial Black" pitchFamily="34" charset="0"/>
                <a:ea typeface="Arial Black" pitchFamily="34" charset="-122"/>
                <a:cs typeface="Arial Black" pitchFamily="34" charset="-120"/>
              </a:rPr>
              <a:t>1</a:t>
            </a:r>
            <a:endParaRPr lang="en-US" sz="1800" dirty="0"/>
          </a:p>
        </p:txBody>
      </p:sp>
      <p:sp>
        <p:nvSpPr>
          <p:cNvPr id="19" name="Text 16"/>
          <p:cNvSpPr/>
          <p:nvPr/>
        </p:nvSpPr>
        <p:spPr>
          <a:xfrm>
            <a:off x="969264" y="1261872"/>
            <a:ext cx="6144768" cy="1042416"/>
          </a:xfrm>
          <a:prstGeom prst="rect">
            <a:avLst/>
          </a:prstGeom>
          <a:noFill/>
          <a:ln/>
        </p:spPr>
        <p:txBody>
          <a:bodyPr wrap="square" rtlCol="0" anchor="ctr"/>
          <a:lstStyle/>
          <a:p>
            <a:pPr marL="0" indent="0" algn="l">
              <a:buNone/>
            </a:pPr>
            <a:r>
              <a:rPr lang="en-US" sz="1250" dirty="0">
                <a:solidFill>
                  <a:srgbClr val="FFFFFF"/>
                </a:solidFill>
                <a:latin typeface="Trebuchet MS" pitchFamily="34" charset="0"/>
                <a:ea typeface="Trebuchet MS" pitchFamily="34" charset="-122"/>
                <a:cs typeface="Trebuchet MS" pitchFamily="34" charset="-120"/>
              </a:rPr>
              <a:t>Esta semana dedico tiempo diario a leer Juan 17 como mi propia oración, dejando que Dios me revele quién es él realmente (Juan 17:3).</a:t>
            </a:r>
            <a:endParaRPr lang="en-US" sz="1250" dirty="0"/>
          </a:p>
        </p:txBody>
      </p:sp>
      <p:sp>
        <p:nvSpPr>
          <p:cNvPr id="20" name="Shape 17"/>
          <p:cNvSpPr/>
          <p:nvPr/>
        </p:nvSpPr>
        <p:spPr>
          <a:xfrm>
            <a:off x="7351776" y="1152144"/>
            <a:ext cx="877824" cy="1261872"/>
          </a:xfrm>
          <a:prstGeom prst="rect">
            <a:avLst/>
          </a:prstGeom>
          <a:solidFill>
            <a:srgbClr val="0A2014"/>
          </a:solidFill>
          <a:ln w="25400">
            <a:solidFill>
              <a:srgbClr val="4AE06A"/>
            </a:solidFill>
            <a:prstDash val="solid"/>
          </a:ln>
          <a:effectLst>
            <a:outerShdw blurRad="152400" dist="38100" dir="8100000" algn="bl" rotWithShape="0">
              <a:srgbClr val="000000">
                <a:alpha val="50000"/>
              </a:srgbClr>
            </a:outerShdw>
          </a:effectLst>
        </p:spPr>
        <p:txBody>
          <a:bodyPr/>
          <a:lstStyle/>
          <a:p>
            <a:endParaRPr lang="es-ES"/>
          </a:p>
        </p:txBody>
      </p:sp>
      <p:sp>
        <p:nvSpPr>
          <p:cNvPr id="21" name="Shape 18"/>
          <p:cNvSpPr/>
          <p:nvPr/>
        </p:nvSpPr>
        <p:spPr>
          <a:xfrm>
            <a:off x="7562088" y="1325880"/>
            <a:ext cx="457200" cy="457200"/>
          </a:xfrm>
          <a:prstGeom prst="rect">
            <a:avLst/>
          </a:prstGeom>
          <a:solidFill>
            <a:srgbClr val="000000">
              <a:alpha val="45000"/>
            </a:srgbClr>
          </a:solidFill>
          <a:ln w="31750">
            <a:solidFill>
              <a:srgbClr val="4AE06A"/>
            </a:solidFill>
            <a:prstDash val="solid"/>
          </a:ln>
        </p:spPr>
        <p:txBody>
          <a:bodyPr/>
          <a:lstStyle/>
          <a:p>
            <a:endParaRPr lang="es-ES"/>
          </a:p>
        </p:txBody>
      </p:sp>
      <p:sp>
        <p:nvSpPr>
          <p:cNvPr id="22" name="Text 19"/>
          <p:cNvSpPr/>
          <p:nvPr/>
        </p:nvSpPr>
        <p:spPr>
          <a:xfrm>
            <a:off x="7351776" y="1837944"/>
            <a:ext cx="877824" cy="329184"/>
          </a:xfrm>
          <a:prstGeom prst="rect">
            <a:avLst/>
          </a:prstGeom>
          <a:noFill/>
          <a:ln/>
        </p:spPr>
        <p:txBody>
          <a:bodyPr wrap="square" lIns="0" tIns="0" rIns="0" bIns="0" rtlCol="0" anchor="ctr"/>
          <a:lstStyle/>
          <a:p>
            <a:pPr marL="0" indent="0" algn="ctr">
              <a:buNone/>
            </a:pPr>
            <a:r>
              <a:rPr lang="en-US" sz="1500" b="1" dirty="0">
                <a:solidFill>
                  <a:srgbClr val="A8F0A8"/>
                </a:solidFill>
                <a:latin typeface="Arial Black" pitchFamily="34" charset="0"/>
                <a:ea typeface="Arial Black" pitchFamily="34" charset="-122"/>
                <a:cs typeface="Arial Black" pitchFamily="34" charset="-120"/>
              </a:rPr>
              <a:t>SÍ</a:t>
            </a:r>
            <a:endParaRPr lang="en-US" sz="1500" dirty="0"/>
          </a:p>
        </p:txBody>
      </p:sp>
      <p:sp>
        <p:nvSpPr>
          <p:cNvPr id="23" name="Shape 20"/>
          <p:cNvSpPr/>
          <p:nvPr/>
        </p:nvSpPr>
        <p:spPr>
          <a:xfrm>
            <a:off x="8339328" y="1152144"/>
            <a:ext cx="877824" cy="1261872"/>
          </a:xfrm>
          <a:prstGeom prst="rect">
            <a:avLst/>
          </a:prstGeom>
          <a:solidFill>
            <a:srgbClr val="200A0A"/>
          </a:solidFill>
          <a:ln w="25400">
            <a:solidFill>
              <a:srgbClr val="E06060"/>
            </a:solidFill>
            <a:prstDash val="solid"/>
          </a:ln>
          <a:effectLst>
            <a:outerShdw blurRad="152400" dist="38100" dir="8100000" algn="bl" rotWithShape="0">
              <a:srgbClr val="000000">
                <a:alpha val="50000"/>
              </a:srgbClr>
            </a:outerShdw>
          </a:effectLst>
        </p:spPr>
        <p:txBody>
          <a:bodyPr/>
          <a:lstStyle/>
          <a:p>
            <a:endParaRPr lang="es-ES"/>
          </a:p>
        </p:txBody>
      </p:sp>
      <p:sp>
        <p:nvSpPr>
          <p:cNvPr id="24" name="Shape 21"/>
          <p:cNvSpPr/>
          <p:nvPr/>
        </p:nvSpPr>
        <p:spPr>
          <a:xfrm>
            <a:off x="8549640" y="1325880"/>
            <a:ext cx="457200" cy="457200"/>
          </a:xfrm>
          <a:prstGeom prst="rect">
            <a:avLst/>
          </a:prstGeom>
          <a:solidFill>
            <a:srgbClr val="000000">
              <a:alpha val="45000"/>
            </a:srgbClr>
          </a:solidFill>
          <a:ln w="31750">
            <a:solidFill>
              <a:srgbClr val="E06060"/>
            </a:solidFill>
            <a:prstDash val="solid"/>
          </a:ln>
        </p:spPr>
        <p:txBody>
          <a:bodyPr/>
          <a:lstStyle/>
          <a:p>
            <a:endParaRPr lang="es-ES"/>
          </a:p>
        </p:txBody>
      </p:sp>
      <p:sp>
        <p:nvSpPr>
          <p:cNvPr id="25" name="Text 22"/>
          <p:cNvSpPr/>
          <p:nvPr/>
        </p:nvSpPr>
        <p:spPr>
          <a:xfrm>
            <a:off x="8339328" y="1837944"/>
            <a:ext cx="877824" cy="329184"/>
          </a:xfrm>
          <a:prstGeom prst="rect">
            <a:avLst/>
          </a:prstGeom>
          <a:noFill/>
          <a:ln/>
        </p:spPr>
        <p:txBody>
          <a:bodyPr wrap="square" lIns="0" tIns="0" rIns="0" bIns="0" rtlCol="0" anchor="ctr"/>
          <a:lstStyle/>
          <a:p>
            <a:pPr marL="0" indent="0" algn="ctr">
              <a:buNone/>
            </a:pPr>
            <a:r>
              <a:rPr lang="en-US" sz="1500" b="1" dirty="0">
                <a:solidFill>
                  <a:srgbClr val="F0A8A8"/>
                </a:solidFill>
                <a:latin typeface="Arial Black" pitchFamily="34" charset="0"/>
                <a:ea typeface="Arial Black" pitchFamily="34" charset="-122"/>
                <a:cs typeface="Arial Black" pitchFamily="34" charset="-120"/>
              </a:rPr>
              <a:t>NO</a:t>
            </a:r>
            <a:endParaRPr lang="en-US" sz="1500" dirty="0"/>
          </a:p>
        </p:txBody>
      </p:sp>
      <p:sp>
        <p:nvSpPr>
          <p:cNvPr id="26" name="Shape 23"/>
          <p:cNvSpPr/>
          <p:nvPr/>
        </p:nvSpPr>
        <p:spPr>
          <a:xfrm>
            <a:off x="182880" y="2487168"/>
            <a:ext cx="7059168" cy="1261872"/>
          </a:xfrm>
          <a:prstGeom prst="rect">
            <a:avLst/>
          </a:prstGeom>
          <a:solidFill>
            <a:srgbClr val="0A1828"/>
          </a:solidFill>
          <a:ln w="15240">
            <a:solidFill>
              <a:srgbClr val="C9A84C"/>
            </a:solidFill>
            <a:prstDash val="solid"/>
          </a:ln>
          <a:effectLst>
            <a:outerShdw blurRad="152400" dist="38100" dir="8100000" algn="bl" rotWithShape="0">
              <a:srgbClr val="000000">
                <a:alpha val="50000"/>
              </a:srgbClr>
            </a:outerShdw>
          </a:effectLst>
        </p:spPr>
        <p:txBody>
          <a:bodyPr/>
          <a:lstStyle/>
          <a:p>
            <a:endParaRPr lang="es-ES"/>
          </a:p>
        </p:txBody>
      </p:sp>
      <p:sp>
        <p:nvSpPr>
          <p:cNvPr id="27" name="Shape 24"/>
          <p:cNvSpPr/>
          <p:nvPr/>
        </p:nvSpPr>
        <p:spPr>
          <a:xfrm>
            <a:off x="182880" y="2487168"/>
            <a:ext cx="64008" cy="1261872"/>
          </a:xfrm>
          <a:prstGeom prst="rect">
            <a:avLst/>
          </a:prstGeom>
          <a:solidFill>
            <a:srgbClr val="C9A84C"/>
          </a:solidFill>
          <a:ln w="12700">
            <a:solidFill>
              <a:srgbClr val="C9A84C"/>
            </a:solidFill>
            <a:prstDash val="solid"/>
          </a:ln>
        </p:spPr>
        <p:txBody>
          <a:bodyPr/>
          <a:lstStyle/>
          <a:p>
            <a:endParaRPr lang="es-ES"/>
          </a:p>
        </p:txBody>
      </p:sp>
      <p:sp>
        <p:nvSpPr>
          <p:cNvPr id="28" name="Shape 25"/>
          <p:cNvSpPr/>
          <p:nvPr/>
        </p:nvSpPr>
        <p:spPr>
          <a:xfrm>
            <a:off x="292608" y="2843784"/>
            <a:ext cx="548640" cy="548640"/>
          </a:xfrm>
          <a:prstGeom prst="line">
            <a:avLst/>
          </a:prstGeom>
          <a:solidFill>
            <a:srgbClr val="C9A84C"/>
          </a:solidFill>
          <a:ln w="12700">
            <a:solidFill>
              <a:srgbClr val="C9A84C"/>
            </a:solidFill>
            <a:prstDash val="solid"/>
          </a:ln>
        </p:spPr>
        <p:txBody>
          <a:bodyPr/>
          <a:lstStyle/>
          <a:p>
            <a:endParaRPr lang="es-ES"/>
          </a:p>
        </p:txBody>
      </p:sp>
      <p:sp>
        <p:nvSpPr>
          <p:cNvPr id="29" name="Text 26"/>
          <p:cNvSpPr/>
          <p:nvPr/>
        </p:nvSpPr>
        <p:spPr>
          <a:xfrm>
            <a:off x="292608" y="2843784"/>
            <a:ext cx="548640" cy="548640"/>
          </a:xfrm>
          <a:prstGeom prst="rect">
            <a:avLst/>
          </a:prstGeom>
          <a:noFill/>
          <a:ln/>
        </p:spPr>
        <p:txBody>
          <a:bodyPr wrap="square" lIns="0" tIns="0" rIns="0" bIns="0" rtlCol="0" anchor="ctr"/>
          <a:lstStyle/>
          <a:p>
            <a:pPr marL="0" indent="0" algn="ctr">
              <a:buNone/>
            </a:pPr>
            <a:r>
              <a:rPr lang="en-US" sz="1800" b="1" dirty="0">
                <a:solidFill>
                  <a:srgbClr val="000000"/>
                </a:solidFill>
                <a:latin typeface="Arial Black" pitchFamily="34" charset="0"/>
                <a:ea typeface="Arial Black" pitchFamily="34" charset="-122"/>
                <a:cs typeface="Arial Black" pitchFamily="34" charset="-120"/>
              </a:rPr>
              <a:t>2</a:t>
            </a:r>
            <a:endParaRPr lang="en-US" sz="1800" dirty="0"/>
          </a:p>
        </p:txBody>
      </p:sp>
      <p:sp>
        <p:nvSpPr>
          <p:cNvPr id="30" name="Text 27"/>
          <p:cNvSpPr/>
          <p:nvPr/>
        </p:nvSpPr>
        <p:spPr>
          <a:xfrm>
            <a:off x="969264" y="2596896"/>
            <a:ext cx="6144768" cy="1042416"/>
          </a:xfrm>
          <a:prstGeom prst="rect">
            <a:avLst/>
          </a:prstGeom>
          <a:noFill/>
          <a:ln/>
        </p:spPr>
        <p:txBody>
          <a:bodyPr wrap="square" rtlCol="0" anchor="ctr"/>
          <a:lstStyle/>
          <a:p>
            <a:pPr marL="0" indent="0" algn="l">
              <a:buNone/>
            </a:pPr>
            <a:r>
              <a:rPr lang="en-US" sz="1250" dirty="0">
                <a:solidFill>
                  <a:srgbClr val="FFFFFF"/>
                </a:solidFill>
                <a:latin typeface="Trebuchet MS" pitchFamily="34" charset="0"/>
                <a:ea typeface="Trebuchet MS" pitchFamily="34" charset="-122"/>
                <a:cs typeface="Trebuchet MS" pitchFamily="34" charset="-120"/>
              </a:rPr>
              <a:t>Pido al Espíritu Santo que me sensibilice a la santidad de Dios y que su Palabra me santifique en la verdad esta semana (Juan 17:17).</a:t>
            </a:r>
            <a:endParaRPr lang="en-US" sz="1250" dirty="0"/>
          </a:p>
        </p:txBody>
      </p:sp>
      <p:sp>
        <p:nvSpPr>
          <p:cNvPr id="31" name="Shape 28"/>
          <p:cNvSpPr/>
          <p:nvPr/>
        </p:nvSpPr>
        <p:spPr>
          <a:xfrm>
            <a:off x="7351776" y="2487168"/>
            <a:ext cx="877824" cy="1261872"/>
          </a:xfrm>
          <a:prstGeom prst="rect">
            <a:avLst/>
          </a:prstGeom>
          <a:solidFill>
            <a:srgbClr val="0A2014"/>
          </a:solidFill>
          <a:ln w="25400">
            <a:solidFill>
              <a:srgbClr val="4AE06A"/>
            </a:solidFill>
            <a:prstDash val="solid"/>
          </a:ln>
          <a:effectLst>
            <a:outerShdw blurRad="152400" dist="38100" dir="8100000" algn="bl" rotWithShape="0">
              <a:srgbClr val="000000">
                <a:alpha val="50000"/>
              </a:srgbClr>
            </a:outerShdw>
          </a:effectLst>
        </p:spPr>
        <p:txBody>
          <a:bodyPr/>
          <a:lstStyle/>
          <a:p>
            <a:endParaRPr lang="es-ES"/>
          </a:p>
        </p:txBody>
      </p:sp>
      <p:sp>
        <p:nvSpPr>
          <p:cNvPr id="32" name="Shape 29"/>
          <p:cNvSpPr/>
          <p:nvPr/>
        </p:nvSpPr>
        <p:spPr>
          <a:xfrm>
            <a:off x="7562088" y="2660904"/>
            <a:ext cx="457200" cy="457200"/>
          </a:xfrm>
          <a:prstGeom prst="rect">
            <a:avLst/>
          </a:prstGeom>
          <a:solidFill>
            <a:srgbClr val="000000">
              <a:alpha val="45000"/>
            </a:srgbClr>
          </a:solidFill>
          <a:ln w="31750">
            <a:solidFill>
              <a:srgbClr val="4AE06A"/>
            </a:solidFill>
            <a:prstDash val="solid"/>
          </a:ln>
        </p:spPr>
        <p:txBody>
          <a:bodyPr/>
          <a:lstStyle/>
          <a:p>
            <a:endParaRPr lang="es-ES"/>
          </a:p>
        </p:txBody>
      </p:sp>
      <p:sp>
        <p:nvSpPr>
          <p:cNvPr id="33" name="Text 30"/>
          <p:cNvSpPr/>
          <p:nvPr/>
        </p:nvSpPr>
        <p:spPr>
          <a:xfrm>
            <a:off x="7351776" y="3172968"/>
            <a:ext cx="877824" cy="329184"/>
          </a:xfrm>
          <a:prstGeom prst="rect">
            <a:avLst/>
          </a:prstGeom>
          <a:noFill/>
          <a:ln/>
        </p:spPr>
        <p:txBody>
          <a:bodyPr wrap="square" lIns="0" tIns="0" rIns="0" bIns="0" rtlCol="0" anchor="ctr"/>
          <a:lstStyle/>
          <a:p>
            <a:pPr marL="0" indent="0" algn="ctr">
              <a:buNone/>
            </a:pPr>
            <a:r>
              <a:rPr lang="en-US" sz="1500" b="1" dirty="0">
                <a:solidFill>
                  <a:srgbClr val="A8F0A8"/>
                </a:solidFill>
                <a:latin typeface="Arial Black" pitchFamily="34" charset="0"/>
                <a:ea typeface="Arial Black" pitchFamily="34" charset="-122"/>
                <a:cs typeface="Arial Black" pitchFamily="34" charset="-120"/>
              </a:rPr>
              <a:t>SÍ</a:t>
            </a:r>
            <a:endParaRPr lang="en-US" sz="1500" dirty="0"/>
          </a:p>
        </p:txBody>
      </p:sp>
      <p:sp>
        <p:nvSpPr>
          <p:cNvPr id="34" name="Shape 31"/>
          <p:cNvSpPr/>
          <p:nvPr/>
        </p:nvSpPr>
        <p:spPr>
          <a:xfrm>
            <a:off x="8339328" y="2487168"/>
            <a:ext cx="877824" cy="1261872"/>
          </a:xfrm>
          <a:prstGeom prst="rect">
            <a:avLst/>
          </a:prstGeom>
          <a:solidFill>
            <a:srgbClr val="200A0A"/>
          </a:solidFill>
          <a:ln w="25400">
            <a:solidFill>
              <a:srgbClr val="E06060"/>
            </a:solidFill>
            <a:prstDash val="solid"/>
          </a:ln>
          <a:effectLst>
            <a:outerShdw blurRad="152400" dist="38100" dir="8100000" algn="bl" rotWithShape="0">
              <a:srgbClr val="000000">
                <a:alpha val="50000"/>
              </a:srgbClr>
            </a:outerShdw>
          </a:effectLst>
        </p:spPr>
        <p:txBody>
          <a:bodyPr/>
          <a:lstStyle/>
          <a:p>
            <a:endParaRPr lang="es-ES"/>
          </a:p>
        </p:txBody>
      </p:sp>
      <p:sp>
        <p:nvSpPr>
          <p:cNvPr id="35" name="Shape 32"/>
          <p:cNvSpPr/>
          <p:nvPr/>
        </p:nvSpPr>
        <p:spPr>
          <a:xfrm>
            <a:off x="8549640" y="2660904"/>
            <a:ext cx="457200" cy="457200"/>
          </a:xfrm>
          <a:prstGeom prst="rect">
            <a:avLst/>
          </a:prstGeom>
          <a:solidFill>
            <a:srgbClr val="000000">
              <a:alpha val="45000"/>
            </a:srgbClr>
          </a:solidFill>
          <a:ln w="31750">
            <a:solidFill>
              <a:srgbClr val="E06060"/>
            </a:solidFill>
            <a:prstDash val="solid"/>
          </a:ln>
        </p:spPr>
        <p:txBody>
          <a:bodyPr/>
          <a:lstStyle/>
          <a:p>
            <a:endParaRPr lang="es-ES"/>
          </a:p>
        </p:txBody>
      </p:sp>
      <p:sp>
        <p:nvSpPr>
          <p:cNvPr id="36" name="Text 33"/>
          <p:cNvSpPr/>
          <p:nvPr/>
        </p:nvSpPr>
        <p:spPr>
          <a:xfrm>
            <a:off x="8339328" y="3172968"/>
            <a:ext cx="877824" cy="329184"/>
          </a:xfrm>
          <a:prstGeom prst="rect">
            <a:avLst/>
          </a:prstGeom>
          <a:noFill/>
          <a:ln/>
        </p:spPr>
        <p:txBody>
          <a:bodyPr wrap="square" lIns="0" tIns="0" rIns="0" bIns="0" rtlCol="0" anchor="ctr"/>
          <a:lstStyle/>
          <a:p>
            <a:pPr marL="0" indent="0" algn="ctr">
              <a:buNone/>
            </a:pPr>
            <a:r>
              <a:rPr lang="en-US" sz="1500" b="1" dirty="0">
                <a:solidFill>
                  <a:srgbClr val="F0A8A8"/>
                </a:solidFill>
                <a:latin typeface="Arial Black" pitchFamily="34" charset="0"/>
                <a:ea typeface="Arial Black" pitchFamily="34" charset="-122"/>
                <a:cs typeface="Arial Black" pitchFamily="34" charset="-120"/>
              </a:rPr>
              <a:t>NO</a:t>
            </a:r>
            <a:endParaRPr lang="en-US" sz="1500" dirty="0"/>
          </a:p>
        </p:txBody>
      </p:sp>
      <p:sp>
        <p:nvSpPr>
          <p:cNvPr id="37" name="Shape 34"/>
          <p:cNvSpPr/>
          <p:nvPr/>
        </p:nvSpPr>
        <p:spPr>
          <a:xfrm>
            <a:off x="182880" y="3822192"/>
            <a:ext cx="7059168" cy="1261872"/>
          </a:xfrm>
          <a:prstGeom prst="rect">
            <a:avLst/>
          </a:prstGeom>
          <a:solidFill>
            <a:srgbClr val="0E1E34"/>
          </a:solidFill>
          <a:ln w="15240">
            <a:solidFill>
              <a:srgbClr val="C9A84C"/>
            </a:solidFill>
            <a:prstDash val="solid"/>
          </a:ln>
          <a:effectLst>
            <a:outerShdw blurRad="152400" dist="38100" dir="8100000" algn="bl" rotWithShape="0">
              <a:srgbClr val="000000">
                <a:alpha val="50000"/>
              </a:srgbClr>
            </a:outerShdw>
          </a:effectLst>
        </p:spPr>
        <p:txBody>
          <a:bodyPr/>
          <a:lstStyle/>
          <a:p>
            <a:endParaRPr lang="es-ES"/>
          </a:p>
        </p:txBody>
      </p:sp>
      <p:sp>
        <p:nvSpPr>
          <p:cNvPr id="38" name="Shape 35"/>
          <p:cNvSpPr/>
          <p:nvPr/>
        </p:nvSpPr>
        <p:spPr>
          <a:xfrm>
            <a:off x="182880" y="3822192"/>
            <a:ext cx="64008" cy="1261872"/>
          </a:xfrm>
          <a:prstGeom prst="rect">
            <a:avLst/>
          </a:prstGeom>
          <a:solidFill>
            <a:srgbClr val="C9A84C"/>
          </a:solidFill>
          <a:ln w="12700">
            <a:solidFill>
              <a:srgbClr val="C9A84C"/>
            </a:solidFill>
            <a:prstDash val="solid"/>
          </a:ln>
        </p:spPr>
        <p:txBody>
          <a:bodyPr/>
          <a:lstStyle/>
          <a:p>
            <a:endParaRPr lang="es-ES"/>
          </a:p>
        </p:txBody>
      </p:sp>
      <p:sp>
        <p:nvSpPr>
          <p:cNvPr id="39" name="Shape 36"/>
          <p:cNvSpPr/>
          <p:nvPr/>
        </p:nvSpPr>
        <p:spPr>
          <a:xfrm>
            <a:off x="292608" y="4178808"/>
            <a:ext cx="548640" cy="548640"/>
          </a:xfrm>
          <a:prstGeom prst="line">
            <a:avLst/>
          </a:prstGeom>
          <a:solidFill>
            <a:srgbClr val="C9A84C"/>
          </a:solidFill>
          <a:ln w="12700">
            <a:solidFill>
              <a:srgbClr val="C9A84C"/>
            </a:solidFill>
            <a:prstDash val="solid"/>
          </a:ln>
        </p:spPr>
        <p:txBody>
          <a:bodyPr/>
          <a:lstStyle/>
          <a:p>
            <a:endParaRPr lang="es-ES"/>
          </a:p>
        </p:txBody>
      </p:sp>
      <p:sp>
        <p:nvSpPr>
          <p:cNvPr id="40" name="Text 37"/>
          <p:cNvSpPr/>
          <p:nvPr/>
        </p:nvSpPr>
        <p:spPr>
          <a:xfrm>
            <a:off x="292608" y="4178808"/>
            <a:ext cx="548640" cy="548640"/>
          </a:xfrm>
          <a:prstGeom prst="rect">
            <a:avLst/>
          </a:prstGeom>
          <a:noFill/>
          <a:ln/>
        </p:spPr>
        <p:txBody>
          <a:bodyPr wrap="square" lIns="0" tIns="0" rIns="0" bIns="0" rtlCol="0" anchor="ctr"/>
          <a:lstStyle/>
          <a:p>
            <a:pPr marL="0" indent="0" algn="ctr">
              <a:buNone/>
            </a:pPr>
            <a:r>
              <a:rPr lang="en-US" sz="1800" b="1" dirty="0">
                <a:solidFill>
                  <a:srgbClr val="000000"/>
                </a:solidFill>
                <a:latin typeface="Arial Black" pitchFamily="34" charset="0"/>
                <a:ea typeface="Arial Black" pitchFamily="34" charset="-122"/>
                <a:cs typeface="Arial Black" pitchFamily="34" charset="-120"/>
              </a:rPr>
              <a:t>3</a:t>
            </a:r>
            <a:endParaRPr lang="en-US" sz="1800" dirty="0"/>
          </a:p>
        </p:txBody>
      </p:sp>
      <p:sp>
        <p:nvSpPr>
          <p:cNvPr id="41" name="Text 38"/>
          <p:cNvSpPr/>
          <p:nvPr/>
        </p:nvSpPr>
        <p:spPr>
          <a:xfrm>
            <a:off x="969264" y="3931920"/>
            <a:ext cx="6144768" cy="1042416"/>
          </a:xfrm>
          <a:prstGeom prst="rect">
            <a:avLst/>
          </a:prstGeom>
          <a:noFill/>
          <a:ln/>
        </p:spPr>
        <p:txBody>
          <a:bodyPr wrap="square" rtlCol="0" anchor="ctr"/>
          <a:lstStyle/>
          <a:p>
            <a:pPr marL="0" indent="0" algn="l">
              <a:buNone/>
            </a:pPr>
            <a:r>
              <a:rPr lang="en-US" sz="1250" dirty="0">
                <a:solidFill>
                  <a:srgbClr val="FFFFFF"/>
                </a:solidFill>
                <a:latin typeface="Trebuchet MS" pitchFamily="34" charset="0"/>
                <a:ea typeface="Trebuchet MS" pitchFamily="34" charset="-122"/>
                <a:cs typeface="Trebuchet MS" pitchFamily="34" charset="-120"/>
              </a:rPr>
              <a:t>Elijo reflejar el amor de Dios en mis relaciones cercanas, porque es la evidencia más poderosa de que lo conozco de verdad (Juan 17:23; Juan 13:35).</a:t>
            </a:r>
            <a:endParaRPr lang="en-US" sz="1250" dirty="0"/>
          </a:p>
        </p:txBody>
      </p:sp>
      <p:sp>
        <p:nvSpPr>
          <p:cNvPr id="42" name="Shape 39"/>
          <p:cNvSpPr/>
          <p:nvPr/>
        </p:nvSpPr>
        <p:spPr>
          <a:xfrm>
            <a:off x="7351776" y="3822192"/>
            <a:ext cx="877824" cy="1261872"/>
          </a:xfrm>
          <a:prstGeom prst="rect">
            <a:avLst/>
          </a:prstGeom>
          <a:solidFill>
            <a:srgbClr val="0A2014"/>
          </a:solidFill>
          <a:ln w="25400">
            <a:solidFill>
              <a:srgbClr val="4AE06A"/>
            </a:solidFill>
            <a:prstDash val="solid"/>
          </a:ln>
          <a:effectLst>
            <a:outerShdw blurRad="152400" dist="38100" dir="8100000" algn="bl" rotWithShape="0">
              <a:srgbClr val="000000">
                <a:alpha val="50000"/>
              </a:srgbClr>
            </a:outerShdw>
          </a:effectLst>
        </p:spPr>
        <p:txBody>
          <a:bodyPr/>
          <a:lstStyle/>
          <a:p>
            <a:endParaRPr lang="es-ES"/>
          </a:p>
        </p:txBody>
      </p:sp>
      <p:sp>
        <p:nvSpPr>
          <p:cNvPr id="43" name="Shape 40"/>
          <p:cNvSpPr/>
          <p:nvPr/>
        </p:nvSpPr>
        <p:spPr>
          <a:xfrm>
            <a:off x="7562088" y="3995928"/>
            <a:ext cx="457200" cy="457200"/>
          </a:xfrm>
          <a:prstGeom prst="rect">
            <a:avLst/>
          </a:prstGeom>
          <a:solidFill>
            <a:srgbClr val="000000">
              <a:alpha val="45000"/>
            </a:srgbClr>
          </a:solidFill>
          <a:ln w="31750">
            <a:solidFill>
              <a:srgbClr val="4AE06A"/>
            </a:solidFill>
            <a:prstDash val="solid"/>
          </a:ln>
        </p:spPr>
        <p:txBody>
          <a:bodyPr/>
          <a:lstStyle/>
          <a:p>
            <a:endParaRPr lang="es-ES"/>
          </a:p>
        </p:txBody>
      </p:sp>
      <p:sp>
        <p:nvSpPr>
          <p:cNvPr id="44" name="Text 41"/>
          <p:cNvSpPr/>
          <p:nvPr/>
        </p:nvSpPr>
        <p:spPr>
          <a:xfrm>
            <a:off x="7351776" y="4507992"/>
            <a:ext cx="877824" cy="329184"/>
          </a:xfrm>
          <a:prstGeom prst="rect">
            <a:avLst/>
          </a:prstGeom>
          <a:noFill/>
          <a:ln/>
        </p:spPr>
        <p:txBody>
          <a:bodyPr wrap="square" lIns="0" tIns="0" rIns="0" bIns="0" rtlCol="0" anchor="ctr"/>
          <a:lstStyle/>
          <a:p>
            <a:pPr marL="0" indent="0" algn="ctr">
              <a:buNone/>
            </a:pPr>
            <a:r>
              <a:rPr lang="en-US" sz="1500" b="1" dirty="0">
                <a:solidFill>
                  <a:srgbClr val="A8F0A8"/>
                </a:solidFill>
                <a:latin typeface="Arial Black" pitchFamily="34" charset="0"/>
                <a:ea typeface="Arial Black" pitchFamily="34" charset="-122"/>
                <a:cs typeface="Arial Black" pitchFamily="34" charset="-120"/>
              </a:rPr>
              <a:t>SÍ</a:t>
            </a:r>
            <a:endParaRPr lang="en-US" sz="1500" dirty="0"/>
          </a:p>
        </p:txBody>
      </p:sp>
      <p:sp>
        <p:nvSpPr>
          <p:cNvPr id="45" name="Shape 42"/>
          <p:cNvSpPr/>
          <p:nvPr/>
        </p:nvSpPr>
        <p:spPr>
          <a:xfrm>
            <a:off x="8339328" y="3822192"/>
            <a:ext cx="877824" cy="1261872"/>
          </a:xfrm>
          <a:prstGeom prst="rect">
            <a:avLst/>
          </a:prstGeom>
          <a:solidFill>
            <a:srgbClr val="200A0A"/>
          </a:solidFill>
          <a:ln w="25400">
            <a:solidFill>
              <a:srgbClr val="E06060"/>
            </a:solidFill>
            <a:prstDash val="solid"/>
          </a:ln>
          <a:effectLst>
            <a:outerShdw blurRad="152400" dist="38100" dir="8100000" algn="bl" rotWithShape="0">
              <a:srgbClr val="000000">
                <a:alpha val="50000"/>
              </a:srgbClr>
            </a:outerShdw>
          </a:effectLst>
        </p:spPr>
        <p:txBody>
          <a:bodyPr/>
          <a:lstStyle/>
          <a:p>
            <a:endParaRPr lang="es-ES"/>
          </a:p>
        </p:txBody>
      </p:sp>
      <p:sp>
        <p:nvSpPr>
          <p:cNvPr id="46" name="Shape 43"/>
          <p:cNvSpPr/>
          <p:nvPr/>
        </p:nvSpPr>
        <p:spPr>
          <a:xfrm>
            <a:off x="8549640" y="3995928"/>
            <a:ext cx="457200" cy="457200"/>
          </a:xfrm>
          <a:prstGeom prst="rect">
            <a:avLst/>
          </a:prstGeom>
          <a:solidFill>
            <a:srgbClr val="000000">
              <a:alpha val="45000"/>
            </a:srgbClr>
          </a:solidFill>
          <a:ln w="31750">
            <a:solidFill>
              <a:srgbClr val="E06060"/>
            </a:solidFill>
            <a:prstDash val="solid"/>
          </a:ln>
        </p:spPr>
        <p:txBody>
          <a:bodyPr/>
          <a:lstStyle/>
          <a:p>
            <a:endParaRPr lang="es-ES"/>
          </a:p>
        </p:txBody>
      </p:sp>
      <p:sp>
        <p:nvSpPr>
          <p:cNvPr id="47" name="Text 44"/>
          <p:cNvSpPr/>
          <p:nvPr/>
        </p:nvSpPr>
        <p:spPr>
          <a:xfrm>
            <a:off x="8339328" y="4507992"/>
            <a:ext cx="877824" cy="329184"/>
          </a:xfrm>
          <a:prstGeom prst="rect">
            <a:avLst/>
          </a:prstGeom>
          <a:noFill/>
          <a:ln/>
        </p:spPr>
        <p:txBody>
          <a:bodyPr wrap="square" lIns="0" tIns="0" rIns="0" bIns="0" rtlCol="0" anchor="ctr"/>
          <a:lstStyle/>
          <a:p>
            <a:pPr marL="0" indent="0" algn="ctr">
              <a:buNone/>
            </a:pPr>
            <a:r>
              <a:rPr lang="en-US" sz="1500" b="1" dirty="0">
                <a:solidFill>
                  <a:srgbClr val="F0A8A8"/>
                </a:solidFill>
                <a:latin typeface="Arial Black" pitchFamily="34" charset="0"/>
                <a:ea typeface="Arial Black" pitchFamily="34" charset="-122"/>
                <a:cs typeface="Arial Black" pitchFamily="34" charset="-120"/>
              </a:rPr>
              <a:t>NO</a:t>
            </a:r>
            <a:endParaRPr lang="en-US" sz="1500" dirty="0"/>
          </a:p>
        </p:txBody>
      </p:sp>
      <p:sp>
        <p:nvSpPr>
          <p:cNvPr id="48" name="Text 45"/>
          <p:cNvSpPr/>
          <p:nvPr/>
        </p:nvSpPr>
        <p:spPr>
          <a:xfrm>
            <a:off x="182880" y="4686300"/>
            <a:ext cx="8778240" cy="256032"/>
          </a:xfrm>
          <a:prstGeom prst="rect">
            <a:avLst/>
          </a:prstGeom>
          <a:noFill/>
          <a:ln/>
        </p:spPr>
        <p:txBody>
          <a:bodyPr wrap="square" lIns="0" tIns="0" rIns="0" bIns="0" rtlCol="0" anchor="ctr"/>
          <a:lstStyle/>
          <a:p>
            <a:pPr marL="0" indent="0" algn="ctr">
              <a:buNone/>
            </a:pPr>
            <a:r>
              <a:rPr lang="en-US" sz="800" i="1" dirty="0">
                <a:solidFill>
                  <a:srgbClr val="9999BB"/>
                </a:solidFill>
                <a:latin typeface="Calibri" pitchFamily="34" charset="0"/>
                <a:ea typeface="Calibri" pitchFamily="34" charset="-122"/>
                <a:cs typeface="Calibri" pitchFamily="34" charset="-120"/>
              </a:rPr>
              <a:t>«Esta es la vida eterna: que te conozcan a ti, el único Dios verdadero, y a Jesucristo, a quien tú has enviado.» (Juan 17:3)</a:t>
            </a:r>
            <a:endParaRPr lang="en-US" sz="800" dirty="0"/>
          </a:p>
        </p:txBody>
      </p:sp>
      <p:sp>
        <p:nvSpPr>
          <p:cNvPr id="49" name="Text 46"/>
          <p:cNvSpPr/>
          <p:nvPr/>
        </p:nvSpPr>
        <p:spPr>
          <a:xfrm>
            <a:off x="0" y="4960620"/>
            <a:ext cx="9144000" cy="164592"/>
          </a:xfrm>
          <a:prstGeom prst="rect">
            <a:avLst/>
          </a:prstGeom>
          <a:noFill/>
          <a:ln/>
        </p:spPr>
        <p:txBody>
          <a:bodyPr wrap="square" lIns="0" tIns="0" rIns="0" bIns="0" rtlCol="0" anchor="ctr"/>
          <a:lstStyle/>
          <a:p>
            <a:pPr marL="0" indent="0" algn="ctr">
              <a:buNone/>
            </a:pPr>
            <a:r>
              <a:rPr lang="en-US" sz="700" i="1" dirty="0">
                <a:solidFill>
                  <a:srgbClr val="777799"/>
                </a:solidFill>
                <a:latin typeface="Calibri" pitchFamily="34" charset="0"/>
                <a:ea typeface="Calibri" pitchFamily="34" charset="-122"/>
                <a:cs typeface="Calibri" pitchFamily="34" charset="-120"/>
              </a:rPr>
              <a:t>Dr. Tito Goicochea M.  ·  NEED - DSA  ·  II Trimestre 2026</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alpha val="38000"/>
            </a:srgbClr>
          </a:solidFill>
          <a:ln w="12700">
            <a:solidFill>
              <a:srgbClr val="000000"/>
            </a:solidFill>
            <a:prstDash val="solid"/>
          </a:ln>
        </p:spPr>
        <p:txBody>
          <a:bodyPr/>
          <a:lstStyle/>
          <a:p>
            <a:endParaRPr lang="es-ES"/>
          </a:p>
        </p:txBody>
      </p:sp>
      <p:sp>
        <p:nvSpPr>
          <p:cNvPr id="4" name="Shape 1"/>
          <p:cNvSpPr/>
          <p:nvPr/>
        </p:nvSpPr>
        <p:spPr>
          <a:xfrm>
            <a:off x="0" y="0"/>
            <a:ext cx="9144000" cy="54864"/>
          </a:xfrm>
          <a:prstGeom prst="rect">
            <a:avLst/>
          </a:prstGeom>
          <a:solidFill>
            <a:srgbClr val="C9A84C"/>
          </a:solidFill>
          <a:ln w="12700">
            <a:solidFill>
              <a:srgbClr val="C9A84C"/>
            </a:solidFill>
            <a:prstDash val="solid"/>
          </a:ln>
        </p:spPr>
        <p:txBody>
          <a:bodyPr/>
          <a:lstStyle/>
          <a:p>
            <a:endParaRPr lang="es-ES"/>
          </a:p>
        </p:txBody>
      </p:sp>
      <p:sp>
        <p:nvSpPr>
          <p:cNvPr id="5" name="Shape 2"/>
          <p:cNvSpPr/>
          <p:nvPr/>
        </p:nvSpPr>
        <p:spPr>
          <a:xfrm>
            <a:off x="0" y="5070348"/>
            <a:ext cx="9144000" cy="73152"/>
          </a:xfrm>
          <a:prstGeom prst="rect">
            <a:avLst/>
          </a:prstGeom>
          <a:solidFill>
            <a:srgbClr val="C9A84C"/>
          </a:solidFill>
          <a:ln w="12700">
            <a:solidFill>
              <a:srgbClr val="C9A84C"/>
            </a:solidFill>
            <a:prstDash val="solid"/>
          </a:ln>
        </p:spPr>
        <p:txBody>
          <a:bodyPr/>
          <a:lstStyle/>
          <a:p>
            <a:endParaRPr lang="es-ES"/>
          </a:p>
        </p:txBody>
      </p:sp>
      <p:sp>
        <p:nvSpPr>
          <p:cNvPr id="6" name="Text 3"/>
          <p:cNvSpPr/>
          <p:nvPr/>
        </p:nvSpPr>
        <p:spPr>
          <a:xfrm>
            <a:off x="274320" y="621792"/>
            <a:ext cx="8595360" cy="2240280"/>
          </a:xfrm>
          <a:prstGeom prst="rect">
            <a:avLst/>
          </a:prstGeom>
          <a:noFill/>
          <a:ln/>
        </p:spPr>
        <p:txBody>
          <a:bodyPr wrap="square" rtlCol="0" anchor="ctr"/>
          <a:lstStyle/>
          <a:p>
            <a:pPr marL="0" indent="0" algn="ctr">
              <a:buNone/>
            </a:pPr>
            <a:r>
              <a:rPr lang="en-US" sz="7800" b="1" dirty="0">
                <a:solidFill>
                  <a:srgbClr val="FFFFFF"/>
                </a:solidFill>
                <a:latin typeface="Arial Black" pitchFamily="34" charset="0"/>
                <a:ea typeface="Arial Black" pitchFamily="34" charset="-122"/>
                <a:cs typeface="Arial Black" pitchFamily="34" charset="-120"/>
              </a:rPr>
              <a:t>¡Gracias!</a:t>
            </a:r>
            <a:endParaRPr lang="en-US" sz="7800" dirty="0"/>
          </a:p>
        </p:txBody>
      </p:sp>
      <p:sp>
        <p:nvSpPr>
          <p:cNvPr id="7" name="Text 4"/>
          <p:cNvSpPr/>
          <p:nvPr/>
        </p:nvSpPr>
        <p:spPr>
          <a:xfrm>
            <a:off x="274320" y="2907792"/>
            <a:ext cx="8595360" cy="402336"/>
          </a:xfrm>
          <a:prstGeom prst="rect">
            <a:avLst/>
          </a:prstGeom>
          <a:noFill/>
          <a:ln/>
        </p:spPr>
        <p:txBody>
          <a:bodyPr wrap="square" rtlCol="0" anchor="ctr"/>
          <a:lstStyle/>
          <a:p>
            <a:pPr marL="0" indent="0" algn="ctr">
              <a:buNone/>
            </a:pPr>
            <a:r>
              <a:rPr lang="en-US" sz="1600" i="1" dirty="0" err="1">
                <a:solidFill>
                  <a:srgbClr val="C9A84C"/>
                </a:solidFill>
                <a:latin typeface="Trebuchet MS" pitchFamily="34" charset="0"/>
                <a:ea typeface="Trebuchet MS" pitchFamily="34" charset="-122"/>
                <a:cs typeface="Trebuchet MS" pitchFamily="34" charset="-120"/>
              </a:rPr>
              <a:t>Lección</a:t>
            </a:r>
            <a:r>
              <a:rPr lang="en-US" sz="1600" i="1">
                <a:solidFill>
                  <a:srgbClr val="C9A84C"/>
                </a:solidFill>
                <a:latin typeface="Trebuchet MS" pitchFamily="34" charset="0"/>
                <a:ea typeface="Trebuchet MS" pitchFamily="34" charset="-122"/>
                <a:cs typeface="Trebuchet MS" pitchFamily="34" charset="-120"/>
              </a:rPr>
              <a:t> Joven 2  </a:t>
            </a:r>
            <a:r>
              <a:rPr lang="en-US" sz="1600" i="1" dirty="0">
                <a:solidFill>
                  <a:srgbClr val="C9A84C"/>
                </a:solidFill>
                <a:latin typeface="Trebuchet MS" pitchFamily="34" charset="0"/>
                <a:ea typeface="Trebuchet MS" pitchFamily="34" charset="-122"/>
                <a:cs typeface="Trebuchet MS" pitchFamily="34" charset="-120"/>
              </a:rPr>
              <a:t>·  Conociendo a Dios</a:t>
            </a:r>
            <a:endParaRPr lang="en-US" sz="1600" dirty="0"/>
          </a:p>
        </p:txBody>
      </p:sp>
      <p:sp>
        <p:nvSpPr>
          <p:cNvPr id="8" name="Text 5"/>
          <p:cNvSpPr/>
          <p:nvPr/>
        </p:nvSpPr>
        <p:spPr>
          <a:xfrm>
            <a:off x="274320" y="3401568"/>
            <a:ext cx="8595360" cy="804672"/>
          </a:xfrm>
          <a:prstGeom prst="rect">
            <a:avLst/>
          </a:prstGeom>
          <a:noFill/>
          <a:ln/>
        </p:spPr>
        <p:txBody>
          <a:bodyPr wrap="square" rtlCol="0" anchor="ctr"/>
          <a:lstStyle/>
          <a:p>
            <a:pPr marL="0" indent="0" algn="ctr">
              <a:buNone/>
            </a:pPr>
            <a:r>
              <a:rPr lang="en-US" sz="1400" b="1" dirty="0">
                <a:solidFill>
                  <a:srgbClr val="DDDDEE"/>
                </a:solidFill>
                <a:latin typeface="Calibri" pitchFamily="34" charset="0"/>
                <a:ea typeface="Calibri" pitchFamily="34" charset="-122"/>
                <a:cs typeface="Calibri" pitchFamily="34" charset="-120"/>
              </a:rPr>
              <a:t>Dr. Tito Goicochea M.</a:t>
            </a:r>
            <a:endParaRPr lang="en-US" sz="1400" dirty="0"/>
          </a:p>
          <a:p>
            <a:pPr marL="0" indent="0" algn="ctr">
              <a:buNone/>
            </a:pPr>
            <a:r>
              <a:rPr lang="en-US" sz="1400" i="1" dirty="0">
                <a:solidFill>
                  <a:srgbClr val="DDDDEE"/>
                </a:solidFill>
                <a:latin typeface="Calibri" pitchFamily="34" charset="0"/>
                <a:ea typeface="Calibri" pitchFamily="34" charset="-122"/>
                <a:cs typeface="Calibri" pitchFamily="34" charset="-120"/>
              </a:rPr>
              <a:t>NEED - DSA  ·  II Trimestre 2026</a:t>
            </a:r>
            <a:endParaRPr lang="en-US" sz="1400" dirty="0"/>
          </a:p>
        </p:txBody>
      </p:sp>
      <p:sp>
        <p:nvSpPr>
          <p:cNvPr id="9" name="Text 6"/>
          <p:cNvSpPr/>
          <p:nvPr/>
        </p:nvSpPr>
        <p:spPr>
          <a:xfrm>
            <a:off x="0" y="4960620"/>
            <a:ext cx="9144000" cy="164592"/>
          </a:xfrm>
          <a:prstGeom prst="rect">
            <a:avLst/>
          </a:prstGeom>
          <a:noFill/>
          <a:ln/>
        </p:spPr>
        <p:txBody>
          <a:bodyPr wrap="square" lIns="0" tIns="0" rIns="0" bIns="0" rtlCol="0" anchor="ctr"/>
          <a:lstStyle/>
          <a:p>
            <a:pPr marL="0" indent="0" algn="ctr">
              <a:buNone/>
            </a:pPr>
            <a:r>
              <a:rPr lang="en-US" sz="700" i="1" dirty="0">
                <a:solidFill>
                  <a:srgbClr val="777799"/>
                </a:solidFill>
                <a:latin typeface="Calibri" pitchFamily="34" charset="0"/>
                <a:ea typeface="Calibri" pitchFamily="34" charset="-122"/>
                <a:cs typeface="Calibri" pitchFamily="34" charset="-120"/>
              </a:rPr>
              <a:t>Dr. Tito Goicochea M.  ·  NEED - DSA  ·  II Trimestre 2026</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1008</Words>
  <Application>Microsoft Macintosh PowerPoint</Application>
  <PresentationFormat>Presentación en pantalla (16:9)</PresentationFormat>
  <Paragraphs>93</Paragraphs>
  <Slides>8</Slides>
  <Notes>8</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8</vt:i4>
      </vt:variant>
    </vt:vector>
  </HeadingPairs>
  <TitlesOfParts>
    <vt:vector size="14" baseType="lpstr">
      <vt:lpstr>Arial</vt:lpstr>
      <vt:lpstr>Arial Black</vt:lpstr>
      <vt:lpstr>Calibri</vt:lpstr>
      <vt:lpstr>Georgia</vt:lpstr>
      <vt:lpstr>Trebuchet MS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Bosquejo LES Joven L2 — Conociendo a Dios</dc:title>
  <dc:subject>PptxGenJS Presentation</dc:subject>
  <dc:creator>Dr. Tito Goicochea M.</dc:creator>
  <cp:lastModifiedBy>Tito Goicochea Malaver</cp:lastModifiedBy>
  <cp:revision>2</cp:revision>
  <dcterms:created xsi:type="dcterms:W3CDTF">2026-03-29T17:48:04Z</dcterms:created>
  <dcterms:modified xsi:type="dcterms:W3CDTF">2026-03-29T17:59:47Z</dcterms:modified>
</cp:coreProperties>
</file>