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357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201168" y="2926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800" dirty="0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 JOVEN 13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786384"/>
            <a:ext cx="6217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HACIA LA ETERNIDAD</a:t>
            </a:r>
            <a:endParaRPr lang="en-US" sz="5800" dirty="0"/>
          </a:p>
        </p:txBody>
      </p:sp>
      <p:sp>
        <p:nvSpPr>
          <p:cNvPr id="7" name="Shape 4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Apocalipsis 21-22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288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de junio de 2026  ·  II Trimestre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  ·  MOTIVA  (INICIA)  —  ¿Por qué es importante este estudio para mi vida?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8778240" cy="475488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29184" y="7498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0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principal de la semana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74980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BF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Apocalipsis 21-22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82880" y="1298448"/>
            <a:ext cx="8778240" cy="1536192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444466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82880" y="1298448"/>
            <a:ext cx="54864" cy="1536192"/>
          </a:xfrm>
          <a:prstGeom prst="rect">
            <a:avLst/>
          </a:prstGeom>
          <a:solidFill>
            <a:srgbClr val="5566AA"/>
          </a:solidFill>
          <a:ln w="12700">
            <a:solidFill>
              <a:srgbClr val="5566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10896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 Central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0896" y="1609344"/>
            <a:ext cx="8503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Apocalipsis 21-22 presenta la meta final: Dios habitando con su pueblo para siempre, sin muerte, sin llanto, sin separación. Esta esperanza no es una fábula consoladora: es la promesa del Testigo Fiel y Verdadero (Apoc. 3:14). Crecer en nuestra relación con Dios hoy es prepararnos para la relación plena y eterna que viene.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82880" y="2907792"/>
            <a:ext cx="8778240" cy="1828800"/>
          </a:xfrm>
          <a:prstGeom prst="rect">
            <a:avLst/>
          </a:prstGeom>
          <a:solidFill>
            <a:srgbClr val="0A1830">
              <a:alpha val="85000"/>
            </a:srgbClr>
          </a:solidFill>
          <a:ln w="25400">
            <a:solidFill>
              <a:srgbClr val="0ABFB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82880" y="2907792"/>
            <a:ext cx="54864" cy="1828800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— Gran Pregunta de la Semana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10896" y="32918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la visión de la eternidad en Apocalipsis 21-22 cambia la manera en que vivimos, esperamos y crecemos en nuestra relación con Dios hoy?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1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6B3A">
              <a:alpha val="90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7AE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Apocalipsis 21:1-5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7AE8A0">
              <a:alpha val="55000"/>
            </a:srgbClr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nueva creación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radicalmente diferente a la nueva creación de todo lo que conocemos ahora, y por qué «Dios habitará con ellos» es el corazón de la promesa?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desaparece no es la materia sino el dolor: ya no habrá muerte, ni llanto, ni lamento, ni dolor. Dios declara: «Hago nuevas todas las cosas». (Apoc. 21:1-4; Isa. 65:17)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de la promesa no son las comodidades del cielo sino la presencia de Dios: «El tabernáculo de Dios estará con los hombres». (Apoc. 21:3; 22:4; 1 Cor. 13:12)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que comenzamos a cultivar aquí alcanza su plenitud allá: ver a Dios cara a cara, sin velos, sin fe incompleta. (2 Ped. 3:13)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6B3A">
              <a:alpha val="75000"/>
            </a:srgbClr>
          </a:solidFill>
          <a:ln w="127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tenía trece años cuando murió su padre. Un día el pastor leyó: «y ya no habrá muerte». Por primera vez, Clara no imaginó el cielo como algo lejano sino como el lugar donde esa silla dejaría de estar vacía.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2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8B2B00">
              <a:alpha val="90000"/>
            </a:srgbClr>
          </a:solidFill>
          <a:ln w="254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4A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Apocalipsis 21:9-27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F4A878">
              <a:alpha val="55000"/>
            </a:srgbClr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ciudad santa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simbolizan las características de la Nueva Jerusalén —sus muros, sus puertas, su luz— sobre el tipo de vida que Dios prepara para su pueblo?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8B2B00"/>
          </a:solidFill>
          <a:ln w="12700">
            <a:solidFill>
              <a:srgbClr val="8B2B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describe a la Nueva Jerusalén como una novia vestida para su prometido: la eternidad es una boda, una unión definitiva entre Dios y quienes lo amaron. (Apoc. 21:2, 9-11; Juan 14:1-3)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ciudad no necesita sol ni luna: la gloria de Dios la ilumina. Sus puertas nunca se cerrarán: no habrá noche ni amenazas allí. (Apoc. 21:23-25; Isa. 60:11)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nos roba la paz aquí queda fuera de esa ciudad para siempre. (Sal. 84:10; Apoc. 19:7)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8B2B00">
              <a:alpha val="75000"/>
            </a:srgbClr>
          </a:solidFill>
          <a:ln w="127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pareja cuenta los días para la boda porque sabe que ese día comenzarán a vivir juntos para siempre. La preparación no es una carga sino un deleite. Así debería sentirse crecer en la relación con Dios hoy.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3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4A8C">
              <a:alpha val="90000"/>
            </a:srgbClr>
          </a:solidFill>
          <a:ln w="254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88C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Apocalipsis 22:1-7, 17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88C0F8">
              <a:alpha val="55000"/>
            </a:srgbClr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invitación final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ofrece Jesús en Apocalipsis 22:17 a toda alma sedienta, y cómo esa invitación conecta la esperanza de la eternidad con la decisión de hoy?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río del agua de vida fluye del trono de Dios. El árbol de la vida da fruto cada mes: la eternidad no será monótona sino un crecimiento infinito en conocimiento y amor. (Apoc. 22:1-2; Juan 7:37-38)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Espíritu y la esposa dicen: ¡Ven!». Esta es la última invitación de la Biblia: viene hacia nosotros antes de que nosotros vayamos hacia allá. (Apoc. 22:17; Juan 6:37)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Jesús, el Testigo Fiel y Verdadero, cierra el libro con la misma invitación con que lo abrió: «Ven». (Apoc. 3:14; Mat. 11:28)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4A8C">
              <a:alpha val="75000"/>
            </a:srgbClr>
          </a:solidFill>
          <a:ln w="127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eternidad no será una sala de espera infinita. Será un universo entero por explorar junto a quien lo creó. Todo lo que la mente del joven desea explorar estará disponible sin límites, junto al mejor compañero posible: Jesús.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F0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  ·  APLICA  (REFLEXIONA)  —  Reflexión y aplicación a la vida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8741664" cy="1920240"/>
          </a:xfrm>
          <a:prstGeom prst="rect">
            <a:avLst/>
          </a:prstGeom>
          <a:solidFill>
            <a:srgbClr val="000000">
              <a:alpha val="75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01168" y="749808"/>
            <a:ext cx="64008" cy="1920240"/>
          </a:xfrm>
          <a:prstGeom prst="rect">
            <a:avLst/>
          </a:prstGeom>
          <a:solidFill>
            <a:srgbClr val="2E8A4A"/>
          </a:solidFill>
          <a:ln w="12700">
            <a:solidFill>
              <a:srgbClr val="2E8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256032" y="694944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4AE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600" dirty="0"/>
          </a:p>
        </p:txBody>
      </p:sp>
      <p:sp>
        <p:nvSpPr>
          <p:cNvPr id="13" name="Text 10"/>
          <p:cNvSpPr/>
          <p:nvPr/>
        </p:nvSpPr>
        <p:spPr>
          <a:xfrm>
            <a:off x="877824" y="841248"/>
            <a:ext cx="79552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i="1" dirty="0">
                <a:solidFill>
                  <a:srgbClr val="EE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gran conflicto ha terminado. Ya no hay más pecado ni pecadores. Todo el universo está limpio. Una misma pulsación de armonía y júbilo late a través de la vasta creación. Del Ser que todo lo creó manan vida, luz y contentamiento por toda la extensión del espacio infinito. Desde el átomo más imperceptible hasta el mundo más grande, todas las cosas declaran que Dios es amor."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77824" y="26700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AE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G. de White, El conflicto de los siglos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" y="2944368"/>
            <a:ext cx="8741664" cy="45720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329184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Reflexiona: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" y="3328416"/>
            <a:ext cx="8485632" cy="1444752"/>
          </a:xfrm>
          <a:prstGeom prst="rect">
            <a:avLst/>
          </a:prstGeom>
          <a:noFill/>
          <a:ln/>
          <a:effectLst>
            <a:outerShdw blurRad="177800" dist="38100" dir="8100000" algn="bl" rotWithShape="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la esperanza de la eternidad en Apocalipsis 21-22 cambia la manera en que enfrentarás las pruebas y la rutina de esta semana? ¿Qué decisión de hoy está moldeada por lo que esperas para siempre?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  ·  CREA  —  MI DECISIÓN  ·  Esta semana decido...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7059168" cy="347472"/>
          </a:xfrm>
          <a:prstGeom prst="rect">
            <a:avLst/>
          </a:prstGeom>
          <a:solidFill>
            <a:srgbClr val="0E1E34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10896" y="749808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decisión esta semana...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solidFill>
            <a:srgbClr val="1A5C28"/>
          </a:solidFill>
          <a:ln w="12700">
            <a:solidFill>
              <a:srgbClr val="5AE0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solidFill>
            <a:srgbClr val="5C1A1A"/>
          </a:solidFill>
          <a:ln w="1270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82880" y="1152144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0ABFB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82880" y="1152144"/>
            <a:ext cx="64008" cy="1261872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292608" y="1508760"/>
            <a:ext cx="548640" cy="548640"/>
          </a:xfrm>
          <a:prstGeom prst="line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9260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69264" y="1261872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 semana vivo con la esperanza del Apoc. 21:4 como mi ancla: «ya no habrá más llanto ni dolor», y eso cambia cómo enfrento lo que duele hoy (Apoc. 21:4; Rom. 8:18; 2 Cor. 4:17).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51776" y="1152144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7562088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351776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339328" y="1152144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8549640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8339328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82880" y="2487168"/>
            <a:ext cx="7059168" cy="1261872"/>
          </a:xfrm>
          <a:prstGeom prst="rect">
            <a:avLst/>
          </a:prstGeom>
          <a:solidFill>
            <a:srgbClr val="0A1828"/>
          </a:solidFill>
          <a:ln w="15240">
            <a:solidFill>
              <a:srgbClr val="0ABFB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182880" y="2487168"/>
            <a:ext cx="64008" cy="1261872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292608" y="2843784"/>
            <a:ext cx="548640" cy="548640"/>
          </a:xfrm>
          <a:prstGeom prst="line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292608" y="2843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69264" y="2596896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Respondo a la invitación de Apoc. 22:17: «Ven». Me acerco a Jesús ahora, sin esperar el cielo para conocerlo mejor (Apoc. 22:17; Juan 6:37; Mat. 11:28).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351776" y="2487168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7562088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7351776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339328" y="2487168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8549640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8339328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82880" y="3822192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0ABFB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182880" y="3822192"/>
            <a:ext cx="64008" cy="1261872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6"/>
          <p:cNvSpPr/>
          <p:nvPr/>
        </p:nvSpPr>
        <p:spPr>
          <a:xfrm>
            <a:off x="292608" y="4178808"/>
            <a:ext cx="548640" cy="548640"/>
          </a:xfrm>
          <a:prstGeom prst="line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292608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69264" y="3931920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Comparto la esperanza de la eternidad con alguien que lo necesita esta semana, porque una esperanza que no se comparte no cumple su propósito completo en este mundo (Apoc. 22:17; 1 Ped. 3:15).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7351776" y="3822192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40"/>
          <p:cNvSpPr/>
          <p:nvPr/>
        </p:nvSpPr>
        <p:spPr>
          <a:xfrm>
            <a:off x="7562088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7351776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339328" y="3822192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8549640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/>
          <p:nvPr/>
        </p:nvSpPr>
        <p:spPr>
          <a:xfrm>
            <a:off x="8339328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82880" y="46863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«Secará todas las lágrimas de ellos, y ya no habrá muerte, ni llanto, ni lamento, ni dolor.» (Apoc. 21:4)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BF"/>
          </a:solidFill>
          <a:ln w="12700">
            <a:solidFill>
              <a:srgbClr val="0A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74320" y="621792"/>
            <a:ext cx="85953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7800" dirty="0"/>
          </a:p>
        </p:txBody>
      </p:sp>
      <p:sp>
        <p:nvSpPr>
          <p:cNvPr id="7" name="Text 4"/>
          <p:cNvSpPr/>
          <p:nvPr/>
        </p:nvSpPr>
        <p:spPr>
          <a:xfrm>
            <a:off x="274320" y="290779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 err="1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</a:t>
            </a:r>
            <a:r>
              <a:rPr lang="en-US" sz="1600" i="1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Joven 13  </a:t>
            </a:r>
            <a:r>
              <a:rPr lang="en-US" sz="1600" i="1" dirty="0">
                <a:solidFill>
                  <a:srgbClr val="0AB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Hacia la eternidad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3401568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  ·  II Trimestre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Microsoft Macintosh PowerPoint</Application>
  <PresentationFormat>Presentación en pantalla (16:9)</PresentationFormat>
  <Paragraphs>93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Bosquejo LES Joven L13 — Hacia la eternidad</dc:title>
  <dc:subject>PptxGenJS Presentation</dc:subject>
  <dc:creator>Dr. Tito Goicochea M.</dc:creator>
  <cp:lastModifiedBy>Tito Goicochea Malaver</cp:lastModifiedBy>
  <cp:revision>2</cp:revision>
  <dcterms:created xsi:type="dcterms:W3CDTF">2026-03-29T17:48:04Z</dcterms:created>
  <dcterms:modified xsi:type="dcterms:W3CDTF">2026-03-29T18:07:32Z</dcterms:modified>
</cp:coreProperties>
</file>