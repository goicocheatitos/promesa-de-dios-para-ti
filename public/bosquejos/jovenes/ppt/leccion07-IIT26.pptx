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2975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91440" cy="5143500"/>
          </a:xfrm>
          <a:prstGeom prst="rect">
            <a:avLst/>
          </a:prstGeom>
          <a:solidFill>
            <a:srgbClr val="C9A84C"/>
          </a:solidFill>
          <a:ln w="12700">
            <a:solidFill>
              <a:srgbClr val="C9A84C"/>
            </a:solidFill>
            <a:prstDash val="solid"/>
          </a:ln>
        </p:spPr>
        <p:txBody>
          <a:bodyPr/>
          <a:lstStyle/>
          <a:p>
            <a:endParaRPr lang="es-ES"/>
          </a:p>
        </p:txBody>
      </p:sp>
      <p:sp>
        <p:nvSpPr>
          <p:cNvPr id="5" name="Text 2"/>
          <p:cNvSpPr/>
          <p:nvPr/>
        </p:nvSpPr>
        <p:spPr>
          <a:xfrm>
            <a:off x="201168" y="292608"/>
            <a:ext cx="3657600" cy="457200"/>
          </a:xfrm>
          <a:prstGeom prst="rect">
            <a:avLst/>
          </a:prstGeom>
          <a:noFill/>
          <a:ln/>
        </p:spPr>
        <p:txBody>
          <a:bodyPr wrap="square" lIns="0" tIns="0" rIns="0" bIns="0" rtlCol="0" anchor="ctr"/>
          <a:lstStyle/>
          <a:p>
            <a:pPr marL="0" indent="0">
              <a:buNone/>
            </a:pPr>
            <a:r>
              <a:rPr lang="en-US" sz="1400" kern="0" spc="800" dirty="0">
                <a:solidFill>
                  <a:srgbClr val="C9A84C"/>
                </a:solidFill>
                <a:latin typeface="Trebuchet MS" pitchFamily="34" charset="0"/>
                <a:ea typeface="Trebuchet MS" pitchFamily="34" charset="-122"/>
                <a:cs typeface="Trebuchet MS" pitchFamily="34" charset="-120"/>
              </a:rPr>
              <a:t>LECCIÓN JOVEN 7</a:t>
            </a:r>
            <a:endParaRPr lang="en-US" sz="1400" dirty="0"/>
          </a:p>
        </p:txBody>
      </p:sp>
      <p:sp>
        <p:nvSpPr>
          <p:cNvPr id="6" name="Text 3"/>
          <p:cNvSpPr/>
          <p:nvPr/>
        </p:nvSpPr>
        <p:spPr>
          <a:xfrm>
            <a:off x="182880" y="786384"/>
            <a:ext cx="7211148" cy="2286000"/>
          </a:xfrm>
          <a:prstGeom prst="rect">
            <a:avLst/>
          </a:prstGeom>
          <a:noFill/>
          <a:ln/>
        </p:spPr>
        <p:txBody>
          <a:bodyPr wrap="square" rtlCol="0" anchor="ctr"/>
          <a:lstStyle/>
          <a:p>
            <a:pPr marL="0" indent="0" algn="l">
              <a:buNone/>
            </a:pPr>
            <a:r>
              <a:rPr lang="en-US" sz="5800" b="1" dirty="0">
                <a:solidFill>
                  <a:srgbClr val="FFFFFF"/>
                </a:solidFill>
                <a:latin typeface="Arial Black" pitchFamily="34" charset="0"/>
                <a:ea typeface="Arial Black" pitchFamily="34" charset="-122"/>
                <a:cs typeface="Arial Black" pitchFamily="34" charset="-120"/>
              </a:rPr>
              <a:t>LA ORACIÓN PERSEVERANTE</a:t>
            </a:r>
            <a:endParaRPr lang="en-US" sz="5800" dirty="0"/>
          </a:p>
        </p:txBody>
      </p:sp>
      <p:sp>
        <p:nvSpPr>
          <p:cNvPr id="7" name="Shape 4"/>
          <p:cNvSpPr/>
          <p:nvPr/>
        </p:nvSpPr>
        <p:spPr>
          <a:xfrm>
            <a:off x="182880" y="3218688"/>
            <a:ext cx="2926080" cy="475488"/>
          </a:xfrm>
          <a:prstGeom prst="rect">
            <a:avLst/>
          </a:prstGeom>
          <a:solidFill>
            <a:srgbClr val="C9A84C"/>
          </a:solidFill>
          <a:ln w="12700">
            <a:solidFill>
              <a:srgbClr val="C9A84C"/>
            </a:solidFill>
            <a:prstDash val="solid"/>
          </a:ln>
        </p:spPr>
        <p:txBody>
          <a:bodyPr/>
          <a:lstStyle/>
          <a:p>
            <a:endParaRPr lang="es-ES"/>
          </a:p>
        </p:txBody>
      </p:sp>
      <p:sp>
        <p:nvSpPr>
          <p:cNvPr id="8" name="Text 5"/>
          <p:cNvSpPr/>
          <p:nvPr/>
        </p:nvSpPr>
        <p:spPr>
          <a:xfrm>
            <a:off x="182880" y="3218688"/>
            <a:ext cx="2926080" cy="475488"/>
          </a:xfrm>
          <a:prstGeom prst="rect">
            <a:avLst/>
          </a:prstGeom>
          <a:noFill/>
          <a:ln/>
        </p:spPr>
        <p:txBody>
          <a:bodyPr wrap="square" lIns="0" tIns="0" rIns="0" bIns="0" rtlCol="0" anchor="ctr"/>
          <a:lstStyle/>
          <a:p>
            <a:pPr marL="0" indent="0" algn="ctr">
              <a:buNone/>
            </a:pPr>
            <a:r>
              <a:rPr lang="en-US" sz="1500" b="1" dirty="0">
                <a:solidFill>
                  <a:srgbClr val="000000"/>
                </a:solidFill>
                <a:latin typeface="Trebuchet MS" pitchFamily="34" charset="0"/>
                <a:ea typeface="Trebuchet MS" pitchFamily="34" charset="-122"/>
                <a:cs typeface="Trebuchet MS" pitchFamily="34" charset="-120"/>
              </a:rPr>
              <a:t>1 Samuel 1</a:t>
            </a:r>
            <a:endParaRPr lang="en-US" sz="1500" dirty="0"/>
          </a:p>
        </p:txBody>
      </p:sp>
      <p:sp>
        <p:nvSpPr>
          <p:cNvPr id="9" name="Text 6"/>
          <p:cNvSpPr/>
          <p:nvPr/>
        </p:nvSpPr>
        <p:spPr>
          <a:xfrm>
            <a:off x="182880" y="3822192"/>
            <a:ext cx="5486400" cy="274320"/>
          </a:xfrm>
          <a:prstGeom prst="rect">
            <a:avLst/>
          </a:prstGeom>
          <a:noFill/>
          <a:ln/>
        </p:spPr>
        <p:txBody>
          <a:bodyPr wrap="square" lIns="0" tIns="0" rIns="0" bIns="0" rtlCol="0" anchor="ctr"/>
          <a:lstStyle/>
          <a:p>
            <a:pPr marL="0" indent="0">
              <a:buNone/>
            </a:pPr>
            <a:r>
              <a:rPr lang="en-US" sz="1100" i="1" dirty="0">
                <a:solidFill>
                  <a:srgbClr val="AAAACC"/>
                </a:solidFill>
                <a:latin typeface="Calibri" pitchFamily="34" charset="0"/>
                <a:ea typeface="Calibri" pitchFamily="34" charset="-122"/>
                <a:cs typeface="Calibri" pitchFamily="34" charset="-120"/>
              </a:rPr>
              <a:t>16 de mayo de 2026  ·  II Trimestre 2026</a:t>
            </a:r>
            <a:endParaRPr lang="en-US" sz="1100" dirty="0"/>
          </a:p>
        </p:txBody>
      </p:sp>
      <p:sp>
        <p:nvSpPr>
          <p:cNvPr id="10" name="Text 7"/>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C45000"/>
          </a:solidFill>
          <a:ln w="12700">
            <a:solidFill>
              <a:srgbClr val="C4500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C45000"/>
          </a:solidFill>
          <a:ln w="12700">
            <a:solidFill>
              <a:srgbClr val="C4500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D4A0"/>
                </a:solidFill>
                <a:latin typeface="Trebuchet MS" pitchFamily="34" charset="0"/>
                <a:ea typeface="Trebuchet MS" pitchFamily="34" charset="-122"/>
                <a:cs typeface="Trebuchet MS" pitchFamily="34" charset="-120"/>
              </a:rPr>
              <a:t>FASE 1  ·  MOTIVA  (INICIA)  —  ¿Por qué es importante este estudio para mi vida?</a:t>
            </a:r>
            <a:endParaRPr lang="en-US" sz="1600" dirty="0"/>
          </a:p>
        </p:txBody>
      </p:sp>
      <p:sp>
        <p:nvSpPr>
          <p:cNvPr id="9" name="Shape 6"/>
          <p:cNvSpPr/>
          <p:nvPr/>
        </p:nvSpPr>
        <p:spPr>
          <a:xfrm>
            <a:off x="182880" y="749808"/>
            <a:ext cx="8778240" cy="475488"/>
          </a:xfrm>
          <a:prstGeom prst="rect">
            <a:avLst/>
          </a:prstGeom>
          <a:solidFill>
            <a:srgbClr val="000000">
              <a:alpha val="60000"/>
            </a:srgbClr>
          </a:solidFill>
          <a:ln w="19050">
            <a:solidFill>
              <a:srgbClr val="C9A84C"/>
            </a:solidFill>
            <a:prstDash val="solid"/>
          </a:ln>
        </p:spPr>
        <p:txBody>
          <a:bodyPr/>
          <a:lstStyle/>
          <a:p>
            <a:endParaRPr lang="es-ES"/>
          </a:p>
        </p:txBody>
      </p:sp>
      <p:sp>
        <p:nvSpPr>
          <p:cNvPr id="10" name="Text 7"/>
          <p:cNvSpPr/>
          <p:nvPr/>
        </p:nvSpPr>
        <p:spPr>
          <a:xfrm>
            <a:off x="329184" y="749808"/>
            <a:ext cx="2560320" cy="475488"/>
          </a:xfrm>
          <a:prstGeom prst="rect">
            <a:avLst/>
          </a:prstGeom>
          <a:noFill/>
          <a:ln/>
        </p:spPr>
        <p:txBody>
          <a:bodyPr wrap="square" lIns="0" tIns="0" rIns="0" bIns="0" rtlCol="0" anchor="ctr"/>
          <a:lstStyle/>
          <a:p>
            <a:pPr marL="0" indent="0" algn="l">
              <a:buNone/>
            </a:pPr>
            <a:r>
              <a:rPr lang="en-US" sz="1000" i="1" dirty="0">
                <a:solidFill>
                  <a:srgbClr val="E8CC80"/>
                </a:solidFill>
                <a:latin typeface="Calibri" pitchFamily="34" charset="0"/>
                <a:ea typeface="Calibri" pitchFamily="34" charset="-122"/>
                <a:cs typeface="Calibri" pitchFamily="34" charset="-120"/>
              </a:rPr>
              <a:t>Texto principal de la semana</a:t>
            </a:r>
            <a:endParaRPr lang="en-US" sz="1000" dirty="0"/>
          </a:p>
        </p:txBody>
      </p:sp>
      <p:sp>
        <p:nvSpPr>
          <p:cNvPr id="11" name="Text 8"/>
          <p:cNvSpPr/>
          <p:nvPr/>
        </p:nvSpPr>
        <p:spPr>
          <a:xfrm>
            <a:off x="2743200" y="749808"/>
            <a:ext cx="6217920" cy="475488"/>
          </a:xfrm>
          <a:prstGeom prst="rect">
            <a:avLst/>
          </a:prstGeom>
          <a:noFill/>
          <a:ln/>
        </p:spPr>
        <p:txBody>
          <a:bodyPr wrap="square" lIns="0" tIns="0" rIns="0" bIns="0" rtlCol="0" anchor="ctr"/>
          <a:lstStyle/>
          <a:p>
            <a:pPr marL="0" indent="0" algn="l">
              <a:buNone/>
            </a:pPr>
            <a:r>
              <a:rPr lang="en-US" sz="1700" b="1" dirty="0">
                <a:solidFill>
                  <a:srgbClr val="C9A84C"/>
                </a:solidFill>
                <a:latin typeface="Arial Black" pitchFamily="34" charset="0"/>
                <a:ea typeface="Arial Black" pitchFamily="34" charset="-122"/>
                <a:cs typeface="Arial Black" pitchFamily="34" charset="-120"/>
              </a:rPr>
              <a:t>1 Samuel 1</a:t>
            </a:r>
            <a:endParaRPr lang="en-US" sz="1700" dirty="0"/>
          </a:p>
        </p:txBody>
      </p:sp>
      <p:sp>
        <p:nvSpPr>
          <p:cNvPr id="12" name="Shape 9"/>
          <p:cNvSpPr/>
          <p:nvPr/>
        </p:nvSpPr>
        <p:spPr>
          <a:xfrm>
            <a:off x="182880" y="1298448"/>
            <a:ext cx="8778240" cy="1536192"/>
          </a:xfrm>
          <a:prstGeom prst="rect">
            <a:avLst/>
          </a:prstGeom>
          <a:solidFill>
            <a:srgbClr val="000000">
              <a:alpha val="65000"/>
            </a:srgbClr>
          </a:solidFill>
          <a:ln w="12700">
            <a:solidFill>
              <a:srgbClr val="444466"/>
            </a:solidFill>
            <a:prstDash val="solid"/>
          </a:ln>
          <a:effectLst>
            <a:outerShdw blurRad="152400" dist="38100" dir="8100000" algn="bl" rotWithShape="0">
              <a:srgbClr val="000000">
                <a:alpha val="50000"/>
              </a:srgbClr>
            </a:outerShdw>
          </a:effectLst>
        </p:spPr>
        <p:txBody>
          <a:bodyPr/>
          <a:lstStyle/>
          <a:p>
            <a:endParaRPr lang="es-ES"/>
          </a:p>
        </p:txBody>
      </p:sp>
      <p:sp>
        <p:nvSpPr>
          <p:cNvPr id="13" name="Shape 10"/>
          <p:cNvSpPr/>
          <p:nvPr/>
        </p:nvSpPr>
        <p:spPr>
          <a:xfrm>
            <a:off x="182880" y="1298448"/>
            <a:ext cx="54864" cy="1536192"/>
          </a:xfrm>
          <a:prstGeom prst="rect">
            <a:avLst/>
          </a:prstGeom>
          <a:solidFill>
            <a:srgbClr val="5566AA"/>
          </a:solidFill>
          <a:ln w="12700">
            <a:solidFill>
              <a:srgbClr val="5566AA"/>
            </a:solidFill>
            <a:prstDash val="solid"/>
          </a:ln>
        </p:spPr>
        <p:txBody>
          <a:bodyPr/>
          <a:lstStyle/>
          <a:p>
            <a:endParaRPr lang="es-ES"/>
          </a:p>
        </p:txBody>
      </p:sp>
      <p:sp>
        <p:nvSpPr>
          <p:cNvPr id="14" name="Text 11"/>
          <p:cNvSpPr/>
          <p:nvPr/>
        </p:nvSpPr>
        <p:spPr>
          <a:xfrm>
            <a:off x="310896" y="1344168"/>
            <a:ext cx="1828800" cy="256032"/>
          </a:xfrm>
          <a:prstGeom prst="rect">
            <a:avLst/>
          </a:prstGeom>
          <a:noFill/>
          <a:ln/>
        </p:spPr>
        <p:txBody>
          <a:bodyPr wrap="square" lIns="0" tIns="0" rIns="0" bIns="0" rtlCol="0" anchor="ctr"/>
          <a:lstStyle/>
          <a:p>
            <a:pPr marL="0" indent="0">
              <a:buNone/>
            </a:pPr>
            <a:r>
              <a:rPr lang="en-US" sz="1000" b="1" dirty="0">
                <a:solidFill>
                  <a:srgbClr val="8899CC"/>
                </a:solidFill>
                <a:latin typeface="Trebuchet MS" pitchFamily="34" charset="0"/>
                <a:ea typeface="Trebuchet MS" pitchFamily="34" charset="-122"/>
                <a:cs typeface="Trebuchet MS" pitchFamily="34" charset="-120"/>
              </a:rPr>
              <a:t>Tema Central</a:t>
            </a:r>
            <a:endParaRPr lang="en-US" sz="1000" dirty="0"/>
          </a:p>
        </p:txBody>
      </p:sp>
      <p:sp>
        <p:nvSpPr>
          <p:cNvPr id="15" name="Text 12"/>
          <p:cNvSpPr/>
          <p:nvPr/>
        </p:nvSpPr>
        <p:spPr>
          <a:xfrm>
            <a:off x="310896" y="1609344"/>
            <a:ext cx="8503920" cy="1170432"/>
          </a:xfrm>
          <a:prstGeom prst="rect">
            <a:avLst/>
          </a:prstGeom>
          <a:noFill/>
          <a:ln/>
        </p:spPr>
        <p:txBody>
          <a:bodyPr wrap="square" lIns="0" tIns="0" rIns="0" bIns="0" rtlCol="0" anchor="t"/>
          <a:lstStyle/>
          <a:p>
            <a:pPr marL="0" indent="0" algn="l">
              <a:buNone/>
            </a:pPr>
            <a:r>
              <a:rPr lang="en-US" sz="1150" dirty="0">
                <a:solidFill>
                  <a:srgbClr val="DDDDEE"/>
                </a:solidFill>
                <a:latin typeface="Calibri" pitchFamily="34" charset="0"/>
                <a:ea typeface="Calibri" pitchFamily="34" charset="-122"/>
                <a:cs typeface="Calibri" pitchFamily="34" charset="-120"/>
              </a:rPr>
              <a:t>Ana oró con honestidad brutal durante años sin recibir respuesta inmediata. Su historia enseña que la oración perseverante no es la que convence a Dios de cambiar de idea, sino la que nos transforma a nosotros para confiar en su sabiduría y sus tiempos, incluso cuando no entendemos.</a:t>
            </a:r>
            <a:endParaRPr lang="en-US" sz="1150" dirty="0"/>
          </a:p>
        </p:txBody>
      </p:sp>
      <p:sp>
        <p:nvSpPr>
          <p:cNvPr id="16" name="Shape 13"/>
          <p:cNvSpPr/>
          <p:nvPr/>
        </p:nvSpPr>
        <p:spPr>
          <a:xfrm>
            <a:off x="182880" y="2907792"/>
            <a:ext cx="8778240" cy="1828800"/>
          </a:xfrm>
          <a:prstGeom prst="rect">
            <a:avLst/>
          </a:prstGeom>
          <a:solidFill>
            <a:srgbClr val="0A1830">
              <a:alpha val="85000"/>
            </a:srgbClr>
          </a:solidFill>
          <a:ln w="2540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17" name="Shape 14"/>
          <p:cNvSpPr/>
          <p:nvPr/>
        </p:nvSpPr>
        <p:spPr>
          <a:xfrm>
            <a:off x="182880" y="2907792"/>
            <a:ext cx="54864" cy="1828800"/>
          </a:xfrm>
          <a:prstGeom prst="rect">
            <a:avLst/>
          </a:prstGeom>
          <a:solidFill>
            <a:srgbClr val="C9A84C"/>
          </a:solidFill>
          <a:ln w="12700">
            <a:solidFill>
              <a:srgbClr val="C9A84C"/>
            </a:solidFill>
            <a:prstDash val="solid"/>
          </a:ln>
        </p:spPr>
        <p:txBody>
          <a:bodyPr/>
          <a:lstStyle/>
          <a:p>
            <a:endParaRPr lang="es-ES"/>
          </a:p>
        </p:txBody>
      </p:sp>
      <p:sp>
        <p:nvSpPr>
          <p:cNvPr id="18" name="Shape 15"/>
          <p:cNvSpPr/>
          <p:nvPr/>
        </p:nvSpPr>
        <p:spPr>
          <a:xfrm>
            <a:off x="274320" y="2962656"/>
            <a:ext cx="3108960" cy="274320"/>
          </a:xfrm>
          <a:prstGeom prst="rect">
            <a:avLst/>
          </a:prstGeom>
          <a:solidFill>
            <a:srgbClr val="C9A84C"/>
          </a:solidFill>
          <a:ln w="12700">
            <a:solidFill>
              <a:srgbClr val="C9A84C"/>
            </a:solidFill>
            <a:prstDash val="solid"/>
          </a:ln>
        </p:spPr>
        <p:txBody>
          <a:bodyPr/>
          <a:lstStyle/>
          <a:p>
            <a:endParaRPr lang="es-ES"/>
          </a:p>
        </p:txBody>
      </p:sp>
      <p:sp>
        <p:nvSpPr>
          <p:cNvPr id="19" name="Text 16"/>
          <p:cNvSpPr/>
          <p:nvPr/>
        </p:nvSpPr>
        <p:spPr>
          <a:xfrm>
            <a:off x="274320" y="2962656"/>
            <a:ext cx="3108960" cy="27432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GPS — Gran Pregunta de la Semana</a:t>
            </a:r>
            <a:endParaRPr lang="en-US" sz="1000" dirty="0"/>
          </a:p>
        </p:txBody>
      </p:sp>
      <p:sp>
        <p:nvSpPr>
          <p:cNvPr id="20" name="Text 17"/>
          <p:cNvSpPr/>
          <p:nvPr/>
        </p:nvSpPr>
        <p:spPr>
          <a:xfrm>
            <a:off x="310896" y="3291840"/>
            <a:ext cx="8503920" cy="1371600"/>
          </a:xfrm>
          <a:prstGeom prst="rect">
            <a:avLst/>
          </a:prstGeom>
          <a:noFill/>
          <a:ln/>
        </p:spPr>
        <p:txBody>
          <a:bodyPr wrap="square" rtlCol="0" anchor="ctr"/>
          <a:lstStyle/>
          <a:p>
            <a:pPr marL="0" indent="0" algn="ctr">
              <a:buNone/>
            </a:pPr>
            <a:r>
              <a:rPr lang="en-US" sz="1400" b="1" i="1" dirty="0">
                <a:solidFill>
                  <a:srgbClr val="FFFFFF"/>
                </a:solidFill>
                <a:latin typeface="Trebuchet MS" pitchFamily="34" charset="0"/>
                <a:ea typeface="Trebuchet MS" pitchFamily="34" charset="-122"/>
                <a:cs typeface="Trebuchet MS" pitchFamily="34" charset="-120"/>
              </a:rPr>
              <a:t>¿Qué hace la oración cuando Dios parece estar en silencio, y cómo la experiencia de Ana nos enseña a perseverar sin perder la fe ni la honestidad delante de Dios?</a:t>
            </a:r>
            <a:endParaRPr lang="en-US" sz="1400" dirty="0"/>
          </a:p>
        </p:txBody>
      </p:sp>
      <p:sp>
        <p:nvSpPr>
          <p:cNvPr id="21" name="Text 18"/>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1 de 3</a:t>
            </a:r>
            <a:endParaRPr lang="en-US" sz="1600" dirty="0"/>
          </a:p>
        </p:txBody>
      </p:sp>
      <p:sp>
        <p:nvSpPr>
          <p:cNvPr id="9" name="Shape 6"/>
          <p:cNvSpPr/>
          <p:nvPr/>
        </p:nvSpPr>
        <p:spPr>
          <a:xfrm>
            <a:off x="146304" y="749808"/>
            <a:ext cx="2633472" cy="4192524"/>
          </a:xfrm>
          <a:prstGeom prst="rect">
            <a:avLst/>
          </a:prstGeom>
          <a:solidFill>
            <a:srgbClr val="1A6B3A">
              <a:alpha val="90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7AE8A0"/>
          </a:solidFill>
          <a:ln w="12700">
            <a:solidFill>
              <a:srgbClr val="7AE8A0"/>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7AE8A0"/>
                </a:solidFill>
                <a:latin typeface="Arial Black" pitchFamily="34" charset="0"/>
                <a:ea typeface="Arial Black" pitchFamily="34" charset="-122"/>
                <a:cs typeface="Arial Black" pitchFamily="34" charset="-120"/>
              </a:rPr>
              <a:t>01</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1 Samuel 1:1-8</a:t>
            </a:r>
            <a:endParaRPr lang="en-US" sz="1350" dirty="0"/>
          </a:p>
        </p:txBody>
      </p:sp>
      <p:sp>
        <p:nvSpPr>
          <p:cNvPr id="13" name="Shape 10"/>
          <p:cNvSpPr/>
          <p:nvPr/>
        </p:nvSpPr>
        <p:spPr>
          <a:xfrm>
            <a:off x="292608" y="1353312"/>
            <a:ext cx="2231136" cy="20117"/>
          </a:xfrm>
          <a:prstGeom prst="rect">
            <a:avLst/>
          </a:prstGeom>
          <a:solidFill>
            <a:srgbClr val="7AE8A0">
              <a:alpha val="55000"/>
            </a:srgbClr>
          </a:solidFill>
          <a:ln w="12700">
            <a:solidFill>
              <a:srgbClr val="7AE8A0"/>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7AE8A0"/>
                </a:solidFill>
                <a:latin typeface="Trebuchet MS" pitchFamily="34" charset="0"/>
                <a:ea typeface="Trebuchet MS" pitchFamily="34" charset="-122"/>
                <a:cs typeface="Trebuchet MS" pitchFamily="34" charset="-120"/>
              </a:rPr>
              <a:t>El dolor que lleva a Dios</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revela la situación de Ana sobre cómo el dolor más profundo puede convertirse en el punto de partida de una oración genuina?</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6B3A"/>
          </a:solidFill>
          <a:ln w="12700">
            <a:solidFill>
              <a:srgbClr val="1A6B3A"/>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7AE8A0"/>
          </a:solidFill>
          <a:ln w="12700">
            <a:solidFill>
              <a:srgbClr val="7AE8A0"/>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7AE8A0"/>
          </a:solidFill>
          <a:ln w="12700">
            <a:solidFill>
              <a:srgbClr val="7AE8A0"/>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Ana sufría la vergüenza de la esterilidad y la provocación de Penina año tras año. Su dolor era real, profundo y sin salida humana. (1 Sam. 1:6-8; Sal. 62:8)</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7AE8A0"/>
          </a:solidFill>
          <a:ln w="12700">
            <a:solidFill>
              <a:srgbClr val="7AE8A0"/>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Elcaná la amaba pero no podía entender su tristeza. El dolor más profundo tiene una dimensión que solo Dios puede tocar. (1 Sam. 1:8; 2 Cor. 1:3-4)</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7AE8A0"/>
          </a:solidFill>
          <a:ln w="12700">
            <a:solidFill>
              <a:srgbClr val="7AE8A0"/>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En lugar de amargarse, Ana se fue al templo. El dolor fue la puerta, no el muro. (Sal. 39:7; Lam. 3:55-57)</a:t>
            </a:r>
            <a:endParaRPr lang="en-US" sz="1200" dirty="0"/>
          </a:p>
        </p:txBody>
      </p:sp>
      <p:sp>
        <p:nvSpPr>
          <p:cNvPr id="29" name="Shape 26"/>
          <p:cNvSpPr/>
          <p:nvPr/>
        </p:nvSpPr>
        <p:spPr>
          <a:xfrm>
            <a:off x="2907792" y="3516874"/>
            <a:ext cx="6089904" cy="1425458"/>
          </a:xfrm>
          <a:prstGeom prst="rect">
            <a:avLst/>
          </a:prstGeom>
          <a:solidFill>
            <a:srgbClr val="1A6B3A">
              <a:alpha val="75000"/>
            </a:srgbClr>
          </a:solidFill>
          <a:ln w="127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7AE8A0"/>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Muchos jóvenes usan el entretenimiento para tapar el dolor que solo Dios puede sanar. Lo interesante de Ana es que en lugar de amargarse, se fue al templo. El dolor fue la puerta.</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0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2 de 3</a:t>
            </a:r>
            <a:endParaRPr lang="en-US" sz="1600" dirty="0"/>
          </a:p>
        </p:txBody>
      </p:sp>
      <p:sp>
        <p:nvSpPr>
          <p:cNvPr id="9" name="Shape 6"/>
          <p:cNvSpPr/>
          <p:nvPr/>
        </p:nvSpPr>
        <p:spPr>
          <a:xfrm>
            <a:off x="146304" y="749808"/>
            <a:ext cx="2633472" cy="4192524"/>
          </a:xfrm>
          <a:prstGeom prst="rect">
            <a:avLst/>
          </a:prstGeom>
          <a:solidFill>
            <a:srgbClr val="8B2B00">
              <a:alpha val="90000"/>
            </a:srgbClr>
          </a:solidFill>
          <a:ln w="254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F4A878"/>
          </a:solidFill>
          <a:ln w="12700">
            <a:solidFill>
              <a:srgbClr val="F4A87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F4A878"/>
                </a:solidFill>
                <a:latin typeface="Arial Black" pitchFamily="34" charset="0"/>
                <a:ea typeface="Arial Black" pitchFamily="34" charset="-122"/>
                <a:cs typeface="Arial Black" pitchFamily="34" charset="-120"/>
              </a:rPr>
              <a:t>02</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1 Samuel 1:9-18</a:t>
            </a:r>
            <a:endParaRPr lang="en-US" sz="1350" dirty="0"/>
          </a:p>
        </p:txBody>
      </p:sp>
      <p:sp>
        <p:nvSpPr>
          <p:cNvPr id="13" name="Shape 10"/>
          <p:cNvSpPr/>
          <p:nvPr/>
        </p:nvSpPr>
        <p:spPr>
          <a:xfrm>
            <a:off x="292608" y="1353312"/>
            <a:ext cx="2231136" cy="20117"/>
          </a:xfrm>
          <a:prstGeom prst="rect">
            <a:avLst/>
          </a:prstGeom>
          <a:solidFill>
            <a:srgbClr val="F4A878">
              <a:alpha val="55000"/>
            </a:srgbClr>
          </a:solidFill>
          <a:ln w="12700">
            <a:solidFill>
              <a:srgbClr val="F4A87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F4A878"/>
                </a:solidFill>
                <a:latin typeface="Trebuchet MS" pitchFamily="34" charset="0"/>
                <a:ea typeface="Trebuchet MS" pitchFamily="34" charset="-122"/>
                <a:cs typeface="Trebuchet MS" pitchFamily="34" charset="-120"/>
              </a:rPr>
              <a:t>La oración honesta</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características tiene la oración de Ana que la hacen genuina ante Dios, y cómo su honestidad modeló su relación con Dios?</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8B2B00"/>
          </a:solidFill>
          <a:ln w="12700">
            <a:solidFill>
              <a:srgbClr val="8B2B00"/>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F4A878"/>
          </a:solidFill>
          <a:ln w="12700">
            <a:solidFill>
              <a:srgbClr val="F4A87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F4A878"/>
          </a:solidFill>
          <a:ln w="12700">
            <a:solidFill>
              <a:srgbClr val="F4A87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Ana oró con amargura de alma, lloró y vertió su dolor sin filtro. Dios no teme nuestro llanto; teme que dejemos de hablarle. (1 Sam. 1:10-11; Heb. 4:16)</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F4A878"/>
          </a:solidFill>
          <a:ln w="12700">
            <a:solidFill>
              <a:srgbClr val="F4A87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sacerdote Elí la malinterpretó. La fe de Ana no dependía de que los demás la entendieran; dependía solo de Dios. (1 Sam. 1:13-18; Sal. 73:28)</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F4A878"/>
          </a:solidFill>
          <a:ln w="12700">
            <a:solidFill>
              <a:srgbClr val="F4A87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Salió del templo con paz antes de recibir la respuesta. Eso es fe en acción. (Fil. 4:6-7; Sal. 55:22)</a:t>
            </a:r>
            <a:endParaRPr lang="en-US" sz="1200" dirty="0"/>
          </a:p>
        </p:txBody>
      </p:sp>
      <p:sp>
        <p:nvSpPr>
          <p:cNvPr id="29" name="Shape 26"/>
          <p:cNvSpPr/>
          <p:nvPr/>
        </p:nvSpPr>
        <p:spPr>
          <a:xfrm>
            <a:off x="2907792" y="3516874"/>
            <a:ext cx="6089904" cy="1425458"/>
          </a:xfrm>
          <a:prstGeom prst="rect">
            <a:avLst/>
          </a:prstGeom>
          <a:solidFill>
            <a:srgbClr val="8B2B00">
              <a:alpha val="75000"/>
            </a:srgbClr>
          </a:solidFill>
          <a:ln w="127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F4A87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La diferencia entre desahogarse con un amigo y orar a Dios es que en la oración dejamos el problema en manos de quien realmente puede resolverlo. Ana salió con paz aunque nada había cambiado aún.</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6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3 de 3</a:t>
            </a:r>
            <a:endParaRPr lang="en-US" sz="1600" dirty="0"/>
          </a:p>
        </p:txBody>
      </p:sp>
      <p:sp>
        <p:nvSpPr>
          <p:cNvPr id="9" name="Shape 6"/>
          <p:cNvSpPr/>
          <p:nvPr/>
        </p:nvSpPr>
        <p:spPr>
          <a:xfrm>
            <a:off x="146304" y="749808"/>
            <a:ext cx="2633472" cy="4192524"/>
          </a:xfrm>
          <a:prstGeom prst="rect">
            <a:avLst/>
          </a:prstGeom>
          <a:solidFill>
            <a:srgbClr val="1A4A8C">
              <a:alpha val="90000"/>
            </a:srgbClr>
          </a:solidFill>
          <a:ln w="254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88C0F8"/>
          </a:solidFill>
          <a:ln w="12700">
            <a:solidFill>
              <a:srgbClr val="88C0F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88C0F8"/>
                </a:solidFill>
                <a:latin typeface="Arial Black" pitchFamily="34" charset="0"/>
                <a:ea typeface="Arial Black" pitchFamily="34" charset="-122"/>
                <a:cs typeface="Arial Black" pitchFamily="34" charset="-120"/>
              </a:rPr>
              <a:t>03</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1 Samuel 1:19 - 2:10</a:t>
            </a:r>
            <a:endParaRPr lang="en-US" sz="1350" dirty="0"/>
          </a:p>
        </p:txBody>
      </p:sp>
      <p:sp>
        <p:nvSpPr>
          <p:cNvPr id="13" name="Shape 10"/>
          <p:cNvSpPr/>
          <p:nvPr/>
        </p:nvSpPr>
        <p:spPr>
          <a:xfrm>
            <a:off x="292608" y="1353312"/>
            <a:ext cx="2231136" cy="20117"/>
          </a:xfrm>
          <a:prstGeom prst="rect">
            <a:avLst/>
          </a:prstGeom>
          <a:solidFill>
            <a:srgbClr val="88C0F8">
              <a:alpha val="55000"/>
            </a:srgbClr>
          </a:solidFill>
          <a:ln w="12700">
            <a:solidFill>
              <a:srgbClr val="88C0F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88C0F8"/>
                </a:solidFill>
                <a:latin typeface="Trebuchet MS" pitchFamily="34" charset="0"/>
                <a:ea typeface="Trebuchet MS" pitchFamily="34" charset="-122"/>
                <a:cs typeface="Trebuchet MS" pitchFamily="34" charset="-120"/>
              </a:rPr>
              <a:t>La respuesta que transformó todo</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¿Cómo la respuesta de Dios a la oración de Ana fue más grande de lo que ella esperaba, y qué revela su cántico sobre lo que la oración perseverante logra?</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4A8C"/>
          </a:solidFill>
          <a:ln w="12700">
            <a:solidFill>
              <a:srgbClr val="1A4A8C"/>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88C0F8"/>
          </a:solidFill>
          <a:ln w="12700">
            <a:solidFill>
              <a:srgbClr val="88C0F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88C0F8"/>
          </a:solidFill>
          <a:ln w="12700">
            <a:solidFill>
              <a:srgbClr val="88C0F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Dios se acordó de Ana: Samuel, cuyo nombre significa «pedido a Dios», cambiaría la historia de Israel. La demora no fue abandono: fue preparación. (1 Sam. 1:19-20; Jer. 29:11)</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88C0F8"/>
          </a:solidFill>
          <a:ln w="12700">
            <a:solidFill>
              <a:srgbClr val="88C0F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cántico de Ana es un himno de soberanía: Dios humilla a los orgullosos y levanta a los humildes. (1 Sam. 2:1-10; Luc. 1:46-55)</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88C0F8"/>
          </a:solidFill>
          <a:ln w="12700">
            <a:solidFill>
              <a:srgbClr val="88C0F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Ana no solo recibió un hijo; recibió una comprensión profunda de Dios que nunca habría obtenido sin los años de espera. (Sal. 66:18; Efe. 3:20)</a:t>
            </a:r>
            <a:endParaRPr lang="en-US" sz="1200" dirty="0"/>
          </a:p>
        </p:txBody>
      </p:sp>
      <p:sp>
        <p:nvSpPr>
          <p:cNvPr id="29" name="Shape 26"/>
          <p:cNvSpPr/>
          <p:nvPr/>
        </p:nvSpPr>
        <p:spPr>
          <a:xfrm>
            <a:off x="2907792" y="3516874"/>
            <a:ext cx="6089904" cy="1425458"/>
          </a:xfrm>
          <a:prstGeom prst="rect">
            <a:avLst/>
          </a:prstGeom>
          <a:solidFill>
            <a:srgbClr val="1A4A8C">
              <a:alpha val="75000"/>
            </a:srgbClr>
          </a:solidFill>
          <a:ln w="127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88C0F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Un diamante necesita presión y tiempo para formarse. La espera de Ana no fue un error de Dios: fue el proceso que convirtió su oración en la más hermosa acción de gracias de las Escrituras.</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0000"/>
            </a:srgbClr>
          </a:solidFill>
          <a:ln w="12700">
            <a:solidFill>
              <a:srgbClr val="000000"/>
            </a:solidFill>
            <a:prstDash val="solid"/>
          </a:ln>
        </p:spPr>
        <p:txBody>
          <a:bodyPr/>
          <a:lstStyle/>
          <a:p>
            <a:endParaRPr lang="es-ES"/>
          </a:p>
        </p:txBody>
      </p:sp>
      <p:sp>
        <p:nvSpPr>
          <p:cNvPr id="4" name="Shape 1"/>
          <p:cNvSpPr/>
          <p:nvPr/>
        </p:nvSpPr>
        <p:spPr>
          <a:xfrm>
            <a:off x="0" y="2560320"/>
            <a:ext cx="9144000" cy="2583180"/>
          </a:xfrm>
          <a:prstGeom prst="rect">
            <a:avLst/>
          </a:prstGeom>
          <a:solidFill>
            <a:srgbClr val="000000">
              <a:alpha val="62000"/>
            </a:srgbClr>
          </a:solidFill>
          <a:ln w="12700">
            <a:solidFill>
              <a:srgbClr val="000000"/>
            </a:solidFill>
            <a:prstDash val="solid"/>
          </a:ln>
        </p:spPr>
        <p:txBody>
          <a:bodyPr/>
          <a:lstStyle/>
          <a:p>
            <a:endParaRPr lang="es-ES"/>
          </a:p>
        </p:txBody>
      </p:sp>
      <p:sp>
        <p:nvSpPr>
          <p:cNvPr id="5" name="Shape 2"/>
          <p:cNvSpPr/>
          <p:nvPr/>
        </p:nvSpPr>
        <p:spPr>
          <a:xfrm>
            <a:off x="0" y="0"/>
            <a:ext cx="54864" cy="676656"/>
          </a:xfrm>
          <a:prstGeom prst="rect">
            <a:avLst/>
          </a:prstGeom>
          <a:solidFill>
            <a:srgbClr val="1A6B3A"/>
          </a:solidFill>
          <a:ln w="12700">
            <a:solidFill>
              <a:srgbClr val="1A6B3A"/>
            </a:solidFill>
            <a:prstDash val="solid"/>
          </a:ln>
        </p:spPr>
        <p:txBody>
          <a:bodyPr/>
          <a:lstStyle/>
          <a:p>
            <a:endParaRPr lang="es-ES"/>
          </a:p>
        </p:txBody>
      </p:sp>
      <p:sp>
        <p:nvSpPr>
          <p:cNvPr id="6" name="Shape 3"/>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7" name="Shape 4"/>
          <p:cNvSpPr/>
          <p:nvPr/>
        </p:nvSpPr>
        <p:spPr>
          <a:xfrm>
            <a:off x="182880" y="64008"/>
            <a:ext cx="566928" cy="548640"/>
          </a:xfrm>
          <a:prstGeom prst="rect">
            <a:avLst/>
          </a:prstGeom>
          <a:solidFill>
            <a:srgbClr val="1A6B3A"/>
          </a:solidFill>
          <a:ln w="12700">
            <a:solidFill>
              <a:srgbClr val="1A6B3A"/>
            </a:solidFill>
            <a:prstDash val="solid"/>
          </a:ln>
        </p:spPr>
        <p:txBody>
          <a:bodyPr/>
          <a:lstStyle/>
          <a:p>
            <a:endParaRPr lang="es-ES"/>
          </a:p>
        </p:txBody>
      </p:sp>
      <p:sp>
        <p:nvSpPr>
          <p:cNvPr id="8" name="Text 5"/>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9" name="Text 6"/>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F0B8"/>
                </a:solidFill>
                <a:latin typeface="Trebuchet MS" pitchFamily="34" charset="0"/>
                <a:ea typeface="Trebuchet MS" pitchFamily="34" charset="-122"/>
                <a:cs typeface="Trebuchet MS" pitchFamily="34" charset="-120"/>
              </a:rPr>
              <a:t>FASE 3  ·  APLICA  (REFLEXIONA)  —  Reflexión y aplicación a la vida</a:t>
            </a:r>
            <a:endParaRPr lang="en-US" sz="1600" dirty="0"/>
          </a:p>
        </p:txBody>
      </p:sp>
      <p:sp>
        <p:nvSpPr>
          <p:cNvPr id="10" name="Shape 7"/>
          <p:cNvSpPr/>
          <p:nvPr/>
        </p:nvSpPr>
        <p:spPr>
          <a:xfrm>
            <a:off x="201168" y="749808"/>
            <a:ext cx="8741664" cy="1920240"/>
          </a:xfrm>
          <a:prstGeom prst="rect">
            <a:avLst/>
          </a:prstGeom>
          <a:solidFill>
            <a:srgbClr val="000000">
              <a:alpha val="75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1" name="Shape 8"/>
          <p:cNvSpPr/>
          <p:nvPr/>
        </p:nvSpPr>
        <p:spPr>
          <a:xfrm>
            <a:off x="201168" y="749808"/>
            <a:ext cx="64008" cy="1920240"/>
          </a:xfrm>
          <a:prstGeom prst="rect">
            <a:avLst/>
          </a:prstGeom>
          <a:solidFill>
            <a:srgbClr val="2E8A4A"/>
          </a:solidFill>
          <a:ln w="12700">
            <a:solidFill>
              <a:srgbClr val="2E8A4A"/>
            </a:solidFill>
            <a:prstDash val="solid"/>
          </a:ln>
        </p:spPr>
        <p:txBody>
          <a:bodyPr/>
          <a:lstStyle/>
          <a:p>
            <a:endParaRPr lang="es-ES"/>
          </a:p>
        </p:txBody>
      </p:sp>
      <p:sp>
        <p:nvSpPr>
          <p:cNvPr id="12" name="Text 9"/>
          <p:cNvSpPr/>
          <p:nvPr/>
        </p:nvSpPr>
        <p:spPr>
          <a:xfrm>
            <a:off x="256032" y="694944"/>
            <a:ext cx="822960" cy="1097280"/>
          </a:xfrm>
          <a:prstGeom prst="rect">
            <a:avLst/>
          </a:prstGeom>
          <a:noFill/>
          <a:ln/>
        </p:spPr>
        <p:txBody>
          <a:bodyPr wrap="square" lIns="0" tIns="0" rIns="0" bIns="0" rtlCol="0" anchor="t"/>
          <a:lstStyle/>
          <a:p>
            <a:pPr marL="0" indent="0" algn="l">
              <a:buNone/>
            </a:pPr>
            <a:r>
              <a:rPr lang="en-US" sz="7600" b="1" dirty="0">
                <a:solidFill>
                  <a:srgbClr val="4AE89A"/>
                </a:solidFill>
                <a:latin typeface="Georgia" pitchFamily="34" charset="0"/>
                <a:ea typeface="Georgia" pitchFamily="34" charset="-122"/>
                <a:cs typeface="Georgia" pitchFamily="34" charset="-120"/>
              </a:rPr>
              <a:t>“</a:t>
            </a:r>
            <a:endParaRPr lang="en-US" sz="7600" dirty="0"/>
          </a:p>
        </p:txBody>
      </p:sp>
      <p:sp>
        <p:nvSpPr>
          <p:cNvPr id="13" name="Text 10"/>
          <p:cNvSpPr/>
          <p:nvPr/>
        </p:nvSpPr>
        <p:spPr>
          <a:xfrm>
            <a:off x="877824" y="841248"/>
            <a:ext cx="7955280" cy="1481328"/>
          </a:xfrm>
          <a:prstGeom prst="rect">
            <a:avLst/>
          </a:prstGeom>
          <a:noFill/>
          <a:ln/>
        </p:spPr>
        <p:txBody>
          <a:bodyPr wrap="square" rtlCol="0" anchor="ctr"/>
          <a:lstStyle/>
          <a:p>
            <a:pPr marL="0" indent="0" algn="just">
              <a:buNone/>
            </a:pPr>
            <a:r>
              <a:rPr lang="en-US" sz="1350" i="1" dirty="0">
                <a:solidFill>
                  <a:srgbClr val="EEFFEE"/>
                </a:solidFill>
                <a:latin typeface="Calibri" pitchFamily="34" charset="0"/>
                <a:ea typeface="Calibri" pitchFamily="34" charset="-122"/>
                <a:cs typeface="Calibri" pitchFamily="34" charset="-120"/>
              </a:rPr>
              <a:t>"Si consultamos nuestras dudas y temores, o procuramos esclarecer todo lo que no podemos ver claramente, antes de tener fe, las perplejidades solo se acrecentarán y profundizarán. Pero, si vamos a Dios sintiéndonos necesitados y dependientes, como realmente somos, y con humildad y confiada fe le presentamos nuestras necesidades, él puede y va a atender a nuestro clamor."</a:t>
            </a:r>
            <a:endParaRPr lang="en-US" sz="1350" dirty="0"/>
          </a:p>
        </p:txBody>
      </p:sp>
      <p:sp>
        <p:nvSpPr>
          <p:cNvPr id="14" name="Text 11"/>
          <p:cNvSpPr/>
          <p:nvPr/>
        </p:nvSpPr>
        <p:spPr>
          <a:xfrm>
            <a:off x="877824" y="2670048"/>
            <a:ext cx="7955280" cy="201168"/>
          </a:xfrm>
          <a:prstGeom prst="rect">
            <a:avLst/>
          </a:prstGeom>
          <a:noFill/>
          <a:ln/>
        </p:spPr>
        <p:txBody>
          <a:bodyPr wrap="square" lIns="0" tIns="0" rIns="0" bIns="0" rtlCol="0" anchor="ctr"/>
          <a:lstStyle/>
          <a:p>
            <a:pPr marL="0" indent="0" algn="r">
              <a:buNone/>
            </a:pPr>
            <a:r>
              <a:rPr lang="en-US" sz="900" i="1" dirty="0">
                <a:solidFill>
                  <a:srgbClr val="6AE89A"/>
                </a:solidFill>
                <a:latin typeface="Calibri" pitchFamily="34" charset="0"/>
                <a:ea typeface="Calibri" pitchFamily="34" charset="-122"/>
                <a:cs typeface="Calibri" pitchFamily="34" charset="-120"/>
              </a:rPr>
              <a:t>— Elena G. de White, El camino a Cristo</a:t>
            </a:r>
            <a:endParaRPr lang="en-US" sz="900" dirty="0"/>
          </a:p>
        </p:txBody>
      </p:sp>
      <p:sp>
        <p:nvSpPr>
          <p:cNvPr id="15" name="Shape 12"/>
          <p:cNvSpPr/>
          <p:nvPr/>
        </p:nvSpPr>
        <p:spPr>
          <a:xfrm>
            <a:off x="201168" y="2944368"/>
            <a:ext cx="8741664" cy="45720"/>
          </a:xfrm>
          <a:prstGeom prst="rect">
            <a:avLst/>
          </a:prstGeom>
          <a:solidFill>
            <a:srgbClr val="C9A84C"/>
          </a:solidFill>
          <a:ln w="12700">
            <a:solidFill>
              <a:srgbClr val="C9A84C"/>
            </a:solidFill>
            <a:prstDash val="solid"/>
          </a:ln>
        </p:spPr>
        <p:txBody>
          <a:bodyPr/>
          <a:lstStyle/>
          <a:p>
            <a:endParaRPr lang="es-ES"/>
          </a:p>
        </p:txBody>
      </p:sp>
      <p:sp>
        <p:nvSpPr>
          <p:cNvPr id="16" name="Text 13"/>
          <p:cNvSpPr/>
          <p:nvPr/>
        </p:nvSpPr>
        <p:spPr>
          <a:xfrm>
            <a:off x="329184" y="3035808"/>
            <a:ext cx="1463040" cy="274320"/>
          </a:xfrm>
          <a:prstGeom prst="rect">
            <a:avLst/>
          </a:prstGeom>
          <a:noFill/>
          <a:ln/>
        </p:spPr>
        <p:txBody>
          <a:bodyPr wrap="square" lIns="0" tIns="0" rIns="0" bIns="0" rtlCol="0" anchor="ctr"/>
          <a:lstStyle/>
          <a:p>
            <a:pPr marL="0" indent="0">
              <a:buNone/>
            </a:pPr>
            <a:r>
              <a:rPr lang="en-US" sz="1100" b="1" dirty="0">
                <a:solidFill>
                  <a:srgbClr val="C9A84C"/>
                </a:solidFill>
                <a:latin typeface="Trebuchet MS" pitchFamily="34" charset="0"/>
                <a:ea typeface="Trebuchet MS" pitchFamily="34" charset="-122"/>
                <a:cs typeface="Trebuchet MS" pitchFamily="34" charset="-120"/>
              </a:rPr>
              <a:t>Reflexiona:</a:t>
            </a:r>
            <a:endParaRPr lang="en-US" sz="1100" dirty="0"/>
          </a:p>
        </p:txBody>
      </p:sp>
      <p:sp>
        <p:nvSpPr>
          <p:cNvPr id="17" name="Text 14"/>
          <p:cNvSpPr/>
          <p:nvPr/>
        </p:nvSpPr>
        <p:spPr>
          <a:xfrm>
            <a:off x="329184" y="3328416"/>
            <a:ext cx="8485632" cy="1444752"/>
          </a:xfrm>
          <a:prstGeom prst="rect">
            <a:avLst/>
          </a:prstGeom>
          <a:noFill/>
          <a:ln/>
          <a:effectLst>
            <a:outerShdw blurRad="177800" dist="38100" dir="8100000" algn="bl" rotWithShape="0">
              <a:srgbClr val="000000">
                <a:alpha val="80000"/>
              </a:srgbClr>
            </a:outerShdw>
          </a:effectLst>
        </p:spPr>
        <p:txBody>
          <a:bodyPr wrap="square" rtlCol="0" anchor="ctr"/>
          <a:lstStyle/>
          <a:p>
            <a:pPr marL="0" indent="0" algn="ctr">
              <a:buNone/>
            </a:pPr>
            <a:r>
              <a:rPr lang="en-US" sz="1650" b="1" dirty="0">
                <a:solidFill>
                  <a:srgbClr val="FFFFFF"/>
                </a:solidFill>
                <a:latin typeface="Arial Black" pitchFamily="34" charset="0"/>
                <a:ea typeface="Arial Black" pitchFamily="34" charset="-122"/>
                <a:cs typeface="Arial Black" pitchFamily="34" charset="-120"/>
              </a:rPr>
              <a:t>¿Hay algo que llevas tiempo pidiendo a Dios sin ver respuesta? ¿Qué te enseña la historia de Ana sobre cómo seguir orando con fe en lugar de rendirte o amargarte?</a:t>
            </a:r>
            <a:endParaRPr lang="en-US" sz="1650" dirty="0"/>
          </a:p>
        </p:txBody>
      </p:sp>
      <p:sp>
        <p:nvSpPr>
          <p:cNvPr id="18" name="Text 15"/>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7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7A1010"/>
          </a:solidFill>
          <a:ln w="12700">
            <a:solidFill>
              <a:srgbClr val="7A101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7A1010"/>
          </a:solidFill>
          <a:ln w="12700">
            <a:solidFill>
              <a:srgbClr val="7A101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B0B0"/>
                </a:solidFill>
                <a:latin typeface="Trebuchet MS" pitchFamily="34" charset="0"/>
                <a:ea typeface="Trebuchet MS" pitchFamily="34" charset="-122"/>
                <a:cs typeface="Trebuchet MS" pitchFamily="34" charset="-120"/>
              </a:rPr>
              <a:t>FASE 4  ·  CREA  —  MI DECISIÓN  ·  Esta semana decido...</a:t>
            </a:r>
            <a:endParaRPr lang="en-US" sz="1600" dirty="0"/>
          </a:p>
        </p:txBody>
      </p:sp>
      <p:sp>
        <p:nvSpPr>
          <p:cNvPr id="9" name="Shape 6"/>
          <p:cNvSpPr/>
          <p:nvPr/>
        </p:nvSpPr>
        <p:spPr>
          <a:xfrm>
            <a:off x="182880" y="749808"/>
            <a:ext cx="7059168" cy="347472"/>
          </a:xfrm>
          <a:prstGeom prst="rect">
            <a:avLst/>
          </a:prstGeom>
          <a:solidFill>
            <a:srgbClr val="0E1E34"/>
          </a:solidFill>
          <a:ln w="12700">
            <a:solidFill>
              <a:srgbClr val="C9A84C"/>
            </a:solidFill>
            <a:prstDash val="solid"/>
          </a:ln>
        </p:spPr>
        <p:txBody>
          <a:bodyPr/>
          <a:lstStyle/>
          <a:p>
            <a:endParaRPr lang="es-ES"/>
          </a:p>
        </p:txBody>
      </p:sp>
      <p:sp>
        <p:nvSpPr>
          <p:cNvPr id="10" name="Text 7"/>
          <p:cNvSpPr/>
          <p:nvPr/>
        </p:nvSpPr>
        <p:spPr>
          <a:xfrm>
            <a:off x="310896" y="749808"/>
            <a:ext cx="6876288" cy="347472"/>
          </a:xfrm>
          <a:prstGeom prst="rect">
            <a:avLst/>
          </a:prstGeom>
          <a:noFill/>
          <a:ln/>
        </p:spPr>
        <p:txBody>
          <a:bodyPr wrap="square" lIns="0" tIns="0" rIns="0" bIns="0" rtlCol="0" anchor="ctr"/>
          <a:lstStyle/>
          <a:p>
            <a:pPr marL="0" indent="0" algn="l">
              <a:buNone/>
            </a:pPr>
            <a:r>
              <a:rPr lang="en-US" sz="1100" i="1" dirty="0">
                <a:solidFill>
                  <a:srgbClr val="8888AA"/>
                </a:solidFill>
                <a:latin typeface="Calibri" pitchFamily="34" charset="0"/>
                <a:ea typeface="Calibri" pitchFamily="34" charset="-122"/>
                <a:cs typeface="Calibri" pitchFamily="34" charset="-120"/>
              </a:rPr>
              <a:t>Mi decisión esta semana...</a:t>
            </a:r>
            <a:endParaRPr lang="en-US" sz="1100" dirty="0"/>
          </a:p>
        </p:txBody>
      </p:sp>
      <p:sp>
        <p:nvSpPr>
          <p:cNvPr id="11" name="Shape 8"/>
          <p:cNvSpPr/>
          <p:nvPr/>
        </p:nvSpPr>
        <p:spPr>
          <a:xfrm>
            <a:off x="7351776" y="749808"/>
            <a:ext cx="877824" cy="347472"/>
          </a:xfrm>
          <a:prstGeom prst="rect">
            <a:avLst/>
          </a:prstGeom>
          <a:solidFill>
            <a:srgbClr val="1A5C28"/>
          </a:solidFill>
          <a:ln w="12700">
            <a:solidFill>
              <a:srgbClr val="5AE07A"/>
            </a:solidFill>
            <a:prstDash val="solid"/>
          </a:ln>
        </p:spPr>
        <p:txBody>
          <a:bodyPr/>
          <a:lstStyle/>
          <a:p>
            <a:endParaRPr lang="es-ES"/>
          </a:p>
        </p:txBody>
      </p:sp>
      <p:sp>
        <p:nvSpPr>
          <p:cNvPr id="12" name="Text 9"/>
          <p:cNvSpPr/>
          <p:nvPr/>
        </p:nvSpPr>
        <p:spPr>
          <a:xfrm>
            <a:off x="7351776" y="749808"/>
            <a:ext cx="877824" cy="347472"/>
          </a:xfrm>
          <a:prstGeom prst="rect">
            <a:avLst/>
          </a:prstGeom>
          <a:noFill/>
          <a:ln/>
        </p:spPr>
        <p:txBody>
          <a:bodyPr wrap="square" lIns="0" tIns="0" rIns="0" bIns="0" rtlCol="0" anchor="ctr"/>
          <a:lstStyle/>
          <a:p>
            <a:pPr marL="0" indent="0" algn="ctr">
              <a:buNone/>
            </a:pPr>
            <a:r>
              <a:rPr lang="en-US" sz="1800" b="1" dirty="0">
                <a:solidFill>
                  <a:srgbClr val="A8F0A8"/>
                </a:solidFill>
                <a:latin typeface="Arial Black" pitchFamily="34" charset="0"/>
                <a:ea typeface="Arial Black" pitchFamily="34" charset="-122"/>
                <a:cs typeface="Arial Black" pitchFamily="34" charset="-120"/>
              </a:rPr>
              <a:t>SÍ</a:t>
            </a:r>
            <a:endParaRPr lang="en-US" sz="1800" dirty="0"/>
          </a:p>
        </p:txBody>
      </p:sp>
      <p:sp>
        <p:nvSpPr>
          <p:cNvPr id="13" name="Shape 10"/>
          <p:cNvSpPr/>
          <p:nvPr/>
        </p:nvSpPr>
        <p:spPr>
          <a:xfrm>
            <a:off x="8339328" y="749808"/>
            <a:ext cx="877824" cy="347472"/>
          </a:xfrm>
          <a:prstGeom prst="rect">
            <a:avLst/>
          </a:prstGeom>
          <a:solidFill>
            <a:srgbClr val="5C1A1A"/>
          </a:solidFill>
          <a:ln w="12700">
            <a:solidFill>
              <a:srgbClr val="E06060"/>
            </a:solidFill>
            <a:prstDash val="solid"/>
          </a:ln>
        </p:spPr>
        <p:txBody>
          <a:bodyPr/>
          <a:lstStyle/>
          <a:p>
            <a:endParaRPr lang="es-ES"/>
          </a:p>
        </p:txBody>
      </p:sp>
      <p:sp>
        <p:nvSpPr>
          <p:cNvPr id="14" name="Text 11"/>
          <p:cNvSpPr/>
          <p:nvPr/>
        </p:nvSpPr>
        <p:spPr>
          <a:xfrm>
            <a:off x="8339328" y="749808"/>
            <a:ext cx="877824" cy="347472"/>
          </a:xfrm>
          <a:prstGeom prst="rect">
            <a:avLst/>
          </a:prstGeom>
          <a:noFill/>
          <a:ln/>
        </p:spPr>
        <p:txBody>
          <a:bodyPr wrap="square" lIns="0" tIns="0" rIns="0" bIns="0" rtlCol="0" anchor="ctr"/>
          <a:lstStyle/>
          <a:p>
            <a:pPr marL="0" indent="0" algn="ctr">
              <a:buNone/>
            </a:pPr>
            <a:r>
              <a:rPr lang="en-US" sz="1800" b="1" dirty="0">
                <a:solidFill>
                  <a:srgbClr val="F0A8A8"/>
                </a:solidFill>
                <a:latin typeface="Arial Black" pitchFamily="34" charset="0"/>
                <a:ea typeface="Arial Black" pitchFamily="34" charset="-122"/>
                <a:cs typeface="Arial Black" pitchFamily="34" charset="-120"/>
              </a:rPr>
              <a:t>NO</a:t>
            </a:r>
            <a:endParaRPr lang="en-US" sz="1800" dirty="0"/>
          </a:p>
        </p:txBody>
      </p:sp>
      <p:sp>
        <p:nvSpPr>
          <p:cNvPr id="15" name="Shape 12"/>
          <p:cNvSpPr/>
          <p:nvPr/>
        </p:nvSpPr>
        <p:spPr>
          <a:xfrm>
            <a:off x="182880" y="1152144"/>
            <a:ext cx="7059168" cy="1261872"/>
          </a:xfrm>
          <a:prstGeom prst="rect">
            <a:avLst/>
          </a:prstGeom>
          <a:solidFill>
            <a:srgbClr val="0E1E34"/>
          </a:solidFill>
          <a:ln w="1524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16" name="Shape 13"/>
          <p:cNvSpPr/>
          <p:nvPr/>
        </p:nvSpPr>
        <p:spPr>
          <a:xfrm>
            <a:off x="182880" y="1152144"/>
            <a:ext cx="64008" cy="1261872"/>
          </a:xfrm>
          <a:prstGeom prst="rect">
            <a:avLst/>
          </a:prstGeom>
          <a:solidFill>
            <a:srgbClr val="C9A84C"/>
          </a:solidFill>
          <a:ln w="12700">
            <a:solidFill>
              <a:srgbClr val="C9A84C"/>
            </a:solidFill>
            <a:prstDash val="solid"/>
          </a:ln>
        </p:spPr>
        <p:txBody>
          <a:bodyPr/>
          <a:lstStyle/>
          <a:p>
            <a:endParaRPr lang="es-ES"/>
          </a:p>
        </p:txBody>
      </p:sp>
      <p:sp>
        <p:nvSpPr>
          <p:cNvPr id="17" name="Shape 14"/>
          <p:cNvSpPr/>
          <p:nvPr/>
        </p:nvSpPr>
        <p:spPr>
          <a:xfrm>
            <a:off x="292608" y="1508760"/>
            <a:ext cx="548640" cy="548640"/>
          </a:xfrm>
          <a:prstGeom prst="line">
            <a:avLst/>
          </a:prstGeom>
          <a:solidFill>
            <a:srgbClr val="C9A84C"/>
          </a:solidFill>
          <a:ln w="12700">
            <a:solidFill>
              <a:srgbClr val="C9A84C"/>
            </a:solidFill>
            <a:prstDash val="solid"/>
          </a:ln>
        </p:spPr>
        <p:txBody>
          <a:bodyPr/>
          <a:lstStyle/>
          <a:p>
            <a:endParaRPr lang="es-ES"/>
          </a:p>
        </p:txBody>
      </p:sp>
      <p:sp>
        <p:nvSpPr>
          <p:cNvPr id="18" name="Text 15"/>
          <p:cNvSpPr/>
          <p:nvPr/>
        </p:nvSpPr>
        <p:spPr>
          <a:xfrm>
            <a:off x="292608" y="1508760"/>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1</a:t>
            </a:r>
            <a:endParaRPr lang="en-US" sz="1800" dirty="0"/>
          </a:p>
        </p:txBody>
      </p:sp>
      <p:sp>
        <p:nvSpPr>
          <p:cNvPr id="19" name="Text 16"/>
          <p:cNvSpPr/>
          <p:nvPr/>
        </p:nvSpPr>
        <p:spPr>
          <a:xfrm>
            <a:off x="969264" y="1261872"/>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Le presento a Dios esta semana, con la honestidad de Ana, aquella situación que más me pesa, sin fórmulas sino con mi corazón real (1 Sam. 1:10; Sal. 62:8).</a:t>
            </a:r>
            <a:endParaRPr lang="en-US" sz="1250" dirty="0"/>
          </a:p>
        </p:txBody>
      </p:sp>
      <p:sp>
        <p:nvSpPr>
          <p:cNvPr id="20" name="Shape 17"/>
          <p:cNvSpPr/>
          <p:nvPr/>
        </p:nvSpPr>
        <p:spPr>
          <a:xfrm>
            <a:off x="7351776" y="1152144"/>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21" name="Shape 18"/>
          <p:cNvSpPr/>
          <p:nvPr/>
        </p:nvSpPr>
        <p:spPr>
          <a:xfrm>
            <a:off x="7562088" y="1325880"/>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22" name="Text 19"/>
          <p:cNvSpPr/>
          <p:nvPr/>
        </p:nvSpPr>
        <p:spPr>
          <a:xfrm>
            <a:off x="7351776" y="1837944"/>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23" name="Shape 20"/>
          <p:cNvSpPr/>
          <p:nvPr/>
        </p:nvSpPr>
        <p:spPr>
          <a:xfrm>
            <a:off x="8339328" y="1152144"/>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24" name="Shape 21"/>
          <p:cNvSpPr/>
          <p:nvPr/>
        </p:nvSpPr>
        <p:spPr>
          <a:xfrm>
            <a:off x="8549640" y="1325880"/>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25" name="Text 22"/>
          <p:cNvSpPr/>
          <p:nvPr/>
        </p:nvSpPr>
        <p:spPr>
          <a:xfrm>
            <a:off x="8339328" y="1837944"/>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26" name="Shape 23"/>
          <p:cNvSpPr/>
          <p:nvPr/>
        </p:nvSpPr>
        <p:spPr>
          <a:xfrm>
            <a:off x="182880" y="2487168"/>
            <a:ext cx="7059168" cy="1261872"/>
          </a:xfrm>
          <a:prstGeom prst="rect">
            <a:avLst/>
          </a:prstGeom>
          <a:solidFill>
            <a:srgbClr val="0A1828"/>
          </a:solidFill>
          <a:ln w="1524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27" name="Shape 24"/>
          <p:cNvSpPr/>
          <p:nvPr/>
        </p:nvSpPr>
        <p:spPr>
          <a:xfrm>
            <a:off x="182880" y="2487168"/>
            <a:ext cx="64008" cy="1261872"/>
          </a:xfrm>
          <a:prstGeom prst="rect">
            <a:avLst/>
          </a:prstGeom>
          <a:solidFill>
            <a:srgbClr val="C9A84C"/>
          </a:solidFill>
          <a:ln w="12700">
            <a:solidFill>
              <a:srgbClr val="C9A84C"/>
            </a:solidFill>
            <a:prstDash val="solid"/>
          </a:ln>
        </p:spPr>
        <p:txBody>
          <a:bodyPr/>
          <a:lstStyle/>
          <a:p>
            <a:endParaRPr lang="es-ES"/>
          </a:p>
        </p:txBody>
      </p:sp>
      <p:sp>
        <p:nvSpPr>
          <p:cNvPr id="28" name="Shape 25"/>
          <p:cNvSpPr/>
          <p:nvPr/>
        </p:nvSpPr>
        <p:spPr>
          <a:xfrm>
            <a:off x="292608" y="2843784"/>
            <a:ext cx="548640" cy="548640"/>
          </a:xfrm>
          <a:prstGeom prst="line">
            <a:avLst/>
          </a:prstGeom>
          <a:solidFill>
            <a:srgbClr val="C9A84C"/>
          </a:solidFill>
          <a:ln w="12700">
            <a:solidFill>
              <a:srgbClr val="C9A84C"/>
            </a:solidFill>
            <a:prstDash val="solid"/>
          </a:ln>
        </p:spPr>
        <p:txBody>
          <a:bodyPr/>
          <a:lstStyle/>
          <a:p>
            <a:endParaRPr lang="es-ES"/>
          </a:p>
        </p:txBody>
      </p:sp>
      <p:sp>
        <p:nvSpPr>
          <p:cNvPr id="29" name="Text 26"/>
          <p:cNvSpPr/>
          <p:nvPr/>
        </p:nvSpPr>
        <p:spPr>
          <a:xfrm>
            <a:off x="292608" y="2843784"/>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2</a:t>
            </a:r>
            <a:endParaRPr lang="en-US" sz="1800" dirty="0"/>
          </a:p>
        </p:txBody>
      </p:sp>
      <p:sp>
        <p:nvSpPr>
          <p:cNvPr id="30" name="Text 27"/>
          <p:cNvSpPr/>
          <p:nvPr/>
        </p:nvSpPr>
        <p:spPr>
          <a:xfrm>
            <a:off x="969264" y="2596896"/>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Elijo confiar en los tiempos de Dios aunque no entienda su silencio, recordando que la demora no es abandono (Jer. 29:11; Efe. 3:20; Rom. 8:28).</a:t>
            </a:r>
            <a:endParaRPr lang="en-US" sz="1250" dirty="0"/>
          </a:p>
        </p:txBody>
      </p:sp>
      <p:sp>
        <p:nvSpPr>
          <p:cNvPr id="31" name="Shape 28"/>
          <p:cNvSpPr/>
          <p:nvPr/>
        </p:nvSpPr>
        <p:spPr>
          <a:xfrm>
            <a:off x="7351776" y="2487168"/>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32" name="Shape 29"/>
          <p:cNvSpPr/>
          <p:nvPr/>
        </p:nvSpPr>
        <p:spPr>
          <a:xfrm>
            <a:off x="7562088" y="2660904"/>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33" name="Text 30"/>
          <p:cNvSpPr/>
          <p:nvPr/>
        </p:nvSpPr>
        <p:spPr>
          <a:xfrm>
            <a:off x="7351776" y="3172968"/>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34" name="Shape 31"/>
          <p:cNvSpPr/>
          <p:nvPr/>
        </p:nvSpPr>
        <p:spPr>
          <a:xfrm>
            <a:off x="8339328" y="2487168"/>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35" name="Shape 32"/>
          <p:cNvSpPr/>
          <p:nvPr/>
        </p:nvSpPr>
        <p:spPr>
          <a:xfrm>
            <a:off x="8549640" y="2660904"/>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36" name="Text 33"/>
          <p:cNvSpPr/>
          <p:nvPr/>
        </p:nvSpPr>
        <p:spPr>
          <a:xfrm>
            <a:off x="8339328" y="3172968"/>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37" name="Shape 34"/>
          <p:cNvSpPr/>
          <p:nvPr/>
        </p:nvSpPr>
        <p:spPr>
          <a:xfrm>
            <a:off x="182880" y="3822192"/>
            <a:ext cx="7059168" cy="1261872"/>
          </a:xfrm>
          <a:prstGeom prst="rect">
            <a:avLst/>
          </a:prstGeom>
          <a:solidFill>
            <a:srgbClr val="0E1E34"/>
          </a:solidFill>
          <a:ln w="1524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38" name="Shape 35"/>
          <p:cNvSpPr/>
          <p:nvPr/>
        </p:nvSpPr>
        <p:spPr>
          <a:xfrm>
            <a:off x="182880" y="3822192"/>
            <a:ext cx="64008" cy="1261872"/>
          </a:xfrm>
          <a:prstGeom prst="rect">
            <a:avLst/>
          </a:prstGeom>
          <a:solidFill>
            <a:srgbClr val="C9A84C"/>
          </a:solidFill>
          <a:ln w="12700">
            <a:solidFill>
              <a:srgbClr val="C9A84C"/>
            </a:solidFill>
            <a:prstDash val="solid"/>
          </a:ln>
        </p:spPr>
        <p:txBody>
          <a:bodyPr/>
          <a:lstStyle/>
          <a:p>
            <a:endParaRPr lang="es-ES"/>
          </a:p>
        </p:txBody>
      </p:sp>
      <p:sp>
        <p:nvSpPr>
          <p:cNvPr id="39" name="Shape 36"/>
          <p:cNvSpPr/>
          <p:nvPr/>
        </p:nvSpPr>
        <p:spPr>
          <a:xfrm>
            <a:off x="292608" y="4178808"/>
            <a:ext cx="548640" cy="548640"/>
          </a:xfrm>
          <a:prstGeom prst="line">
            <a:avLst/>
          </a:prstGeom>
          <a:solidFill>
            <a:srgbClr val="C9A84C"/>
          </a:solidFill>
          <a:ln w="12700">
            <a:solidFill>
              <a:srgbClr val="C9A84C"/>
            </a:solidFill>
            <a:prstDash val="solid"/>
          </a:ln>
        </p:spPr>
        <p:txBody>
          <a:bodyPr/>
          <a:lstStyle/>
          <a:p>
            <a:endParaRPr lang="es-ES"/>
          </a:p>
        </p:txBody>
      </p:sp>
      <p:sp>
        <p:nvSpPr>
          <p:cNvPr id="40" name="Text 37"/>
          <p:cNvSpPr/>
          <p:nvPr/>
        </p:nvSpPr>
        <p:spPr>
          <a:xfrm>
            <a:off x="292608" y="4178808"/>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3</a:t>
            </a:r>
            <a:endParaRPr lang="en-US" sz="1800" dirty="0"/>
          </a:p>
        </p:txBody>
      </p:sp>
      <p:sp>
        <p:nvSpPr>
          <p:cNvPr id="41" name="Text 38"/>
          <p:cNvSpPr/>
          <p:nvPr/>
        </p:nvSpPr>
        <p:spPr>
          <a:xfrm>
            <a:off x="969264" y="3931920"/>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Esta semana escribo un cántico de agradecimiento a Dios por las respuestas pasadas que no reconocí en el momento, como lo hizo Ana (1 Sam. 2:1-10; Sal. 92:1-2).</a:t>
            </a:r>
            <a:endParaRPr lang="en-US" sz="1250" dirty="0"/>
          </a:p>
        </p:txBody>
      </p:sp>
      <p:sp>
        <p:nvSpPr>
          <p:cNvPr id="42" name="Shape 39"/>
          <p:cNvSpPr/>
          <p:nvPr/>
        </p:nvSpPr>
        <p:spPr>
          <a:xfrm>
            <a:off x="7351776" y="3822192"/>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43" name="Shape 40"/>
          <p:cNvSpPr/>
          <p:nvPr/>
        </p:nvSpPr>
        <p:spPr>
          <a:xfrm>
            <a:off x="7562088" y="3995928"/>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44" name="Text 41"/>
          <p:cNvSpPr/>
          <p:nvPr/>
        </p:nvSpPr>
        <p:spPr>
          <a:xfrm>
            <a:off x="7351776" y="4507992"/>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45" name="Shape 42"/>
          <p:cNvSpPr/>
          <p:nvPr/>
        </p:nvSpPr>
        <p:spPr>
          <a:xfrm>
            <a:off x="8339328" y="3822192"/>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46" name="Shape 43"/>
          <p:cNvSpPr/>
          <p:nvPr/>
        </p:nvSpPr>
        <p:spPr>
          <a:xfrm>
            <a:off x="8549640" y="3995928"/>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47" name="Text 44"/>
          <p:cNvSpPr/>
          <p:nvPr/>
        </p:nvSpPr>
        <p:spPr>
          <a:xfrm>
            <a:off x="8339328" y="4507992"/>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48" name="Text 45"/>
          <p:cNvSpPr/>
          <p:nvPr/>
        </p:nvSpPr>
        <p:spPr>
          <a:xfrm>
            <a:off x="182880" y="4686300"/>
            <a:ext cx="8778240" cy="256032"/>
          </a:xfrm>
          <a:prstGeom prst="rect">
            <a:avLst/>
          </a:prstGeom>
          <a:noFill/>
          <a:ln/>
        </p:spPr>
        <p:txBody>
          <a:bodyPr wrap="square" lIns="0" tIns="0" rIns="0" bIns="0" rtlCol="0" anchor="ctr"/>
          <a:lstStyle/>
          <a:p>
            <a:pPr marL="0" indent="0" algn="ctr">
              <a:buNone/>
            </a:pPr>
            <a:r>
              <a:rPr lang="en-US" sz="800" i="1" dirty="0">
                <a:solidFill>
                  <a:srgbClr val="9999BB"/>
                </a:solidFill>
                <a:latin typeface="Calibri" pitchFamily="34" charset="0"/>
                <a:ea typeface="Calibri" pitchFamily="34" charset="-122"/>
                <a:cs typeface="Calibri" pitchFamily="34" charset="-120"/>
              </a:rPr>
              <a:t>«Ana oró al Señor y lloró amargamente.» (1 Sam. 1:10)</a:t>
            </a:r>
            <a:endParaRPr lang="en-US" sz="800" dirty="0"/>
          </a:p>
        </p:txBody>
      </p:sp>
      <p:sp>
        <p:nvSpPr>
          <p:cNvPr id="49" name="Text 4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8000"/>
            </a:srgbClr>
          </a:solidFill>
          <a:ln w="12700">
            <a:solidFill>
              <a:srgbClr val="000000"/>
            </a:solidFill>
            <a:prstDash val="solid"/>
          </a:ln>
        </p:spPr>
        <p:txBody>
          <a:bodyPr/>
          <a:lstStyle/>
          <a:p>
            <a:endParaRPr lang="es-ES"/>
          </a:p>
        </p:txBody>
      </p:sp>
      <p:sp>
        <p:nvSpPr>
          <p:cNvPr id="4" name="Shape 1"/>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s-ES"/>
          </a:p>
        </p:txBody>
      </p:sp>
      <p:sp>
        <p:nvSpPr>
          <p:cNvPr id="5" name="Shape 2"/>
          <p:cNvSpPr/>
          <p:nvPr/>
        </p:nvSpPr>
        <p:spPr>
          <a:xfrm>
            <a:off x="0" y="5070348"/>
            <a:ext cx="9144000" cy="73152"/>
          </a:xfrm>
          <a:prstGeom prst="rect">
            <a:avLst/>
          </a:prstGeom>
          <a:solidFill>
            <a:srgbClr val="C9A84C"/>
          </a:solidFill>
          <a:ln w="12700">
            <a:solidFill>
              <a:srgbClr val="C9A84C"/>
            </a:solidFill>
            <a:prstDash val="solid"/>
          </a:ln>
        </p:spPr>
        <p:txBody>
          <a:bodyPr/>
          <a:lstStyle/>
          <a:p>
            <a:endParaRPr lang="es-ES"/>
          </a:p>
        </p:txBody>
      </p:sp>
      <p:sp>
        <p:nvSpPr>
          <p:cNvPr id="6" name="Text 3"/>
          <p:cNvSpPr/>
          <p:nvPr/>
        </p:nvSpPr>
        <p:spPr>
          <a:xfrm>
            <a:off x="274320" y="621792"/>
            <a:ext cx="8595360" cy="2240280"/>
          </a:xfrm>
          <a:prstGeom prst="rect">
            <a:avLst/>
          </a:prstGeom>
          <a:noFill/>
          <a:ln/>
        </p:spPr>
        <p:txBody>
          <a:bodyPr wrap="square" rtlCol="0" anchor="ctr"/>
          <a:lstStyle/>
          <a:p>
            <a:pPr marL="0" indent="0" algn="ctr">
              <a:buNone/>
            </a:pPr>
            <a:r>
              <a:rPr lang="en-US" sz="7800" b="1" dirty="0">
                <a:solidFill>
                  <a:srgbClr val="FFFFFF"/>
                </a:solidFill>
                <a:latin typeface="Arial Black" pitchFamily="34" charset="0"/>
                <a:ea typeface="Arial Black" pitchFamily="34" charset="-122"/>
                <a:cs typeface="Arial Black" pitchFamily="34" charset="-120"/>
              </a:rPr>
              <a:t>¡Gracias!</a:t>
            </a:r>
            <a:endParaRPr lang="en-US" sz="7800" dirty="0"/>
          </a:p>
        </p:txBody>
      </p:sp>
      <p:sp>
        <p:nvSpPr>
          <p:cNvPr id="7" name="Text 4"/>
          <p:cNvSpPr/>
          <p:nvPr/>
        </p:nvSpPr>
        <p:spPr>
          <a:xfrm>
            <a:off x="274320" y="2907792"/>
            <a:ext cx="8595360" cy="402336"/>
          </a:xfrm>
          <a:prstGeom prst="rect">
            <a:avLst/>
          </a:prstGeom>
          <a:noFill/>
          <a:ln/>
        </p:spPr>
        <p:txBody>
          <a:bodyPr wrap="square" rtlCol="0" anchor="ctr"/>
          <a:lstStyle/>
          <a:p>
            <a:pPr marL="0" indent="0" algn="ctr">
              <a:buNone/>
            </a:pPr>
            <a:r>
              <a:rPr lang="en-US" sz="1600" i="1" dirty="0" err="1">
                <a:solidFill>
                  <a:srgbClr val="C9A84C"/>
                </a:solidFill>
                <a:latin typeface="Trebuchet MS" pitchFamily="34" charset="0"/>
                <a:ea typeface="Trebuchet MS" pitchFamily="34" charset="-122"/>
                <a:cs typeface="Trebuchet MS" pitchFamily="34" charset="-120"/>
              </a:rPr>
              <a:t>Lección</a:t>
            </a:r>
            <a:r>
              <a:rPr lang="en-US" sz="1600" i="1">
                <a:solidFill>
                  <a:srgbClr val="C9A84C"/>
                </a:solidFill>
                <a:latin typeface="Trebuchet MS" pitchFamily="34" charset="0"/>
                <a:ea typeface="Trebuchet MS" pitchFamily="34" charset="-122"/>
                <a:cs typeface="Trebuchet MS" pitchFamily="34" charset="-120"/>
              </a:rPr>
              <a:t> Joven 7  </a:t>
            </a:r>
            <a:r>
              <a:rPr lang="en-US" sz="1600" i="1" dirty="0">
                <a:solidFill>
                  <a:srgbClr val="C9A84C"/>
                </a:solidFill>
                <a:latin typeface="Trebuchet MS" pitchFamily="34" charset="0"/>
                <a:ea typeface="Trebuchet MS" pitchFamily="34" charset="-122"/>
                <a:cs typeface="Trebuchet MS" pitchFamily="34" charset="-120"/>
              </a:rPr>
              <a:t>·  La oración perseverante</a:t>
            </a:r>
            <a:endParaRPr lang="en-US" sz="1600" dirty="0"/>
          </a:p>
        </p:txBody>
      </p:sp>
      <p:sp>
        <p:nvSpPr>
          <p:cNvPr id="8" name="Text 5"/>
          <p:cNvSpPr/>
          <p:nvPr/>
        </p:nvSpPr>
        <p:spPr>
          <a:xfrm>
            <a:off x="274320" y="3401568"/>
            <a:ext cx="8595360" cy="804672"/>
          </a:xfrm>
          <a:prstGeom prst="rect">
            <a:avLst/>
          </a:prstGeom>
          <a:noFill/>
          <a:ln/>
        </p:spPr>
        <p:txBody>
          <a:bodyPr wrap="square" rtlCol="0" anchor="ctr"/>
          <a:lstStyle/>
          <a:p>
            <a:pPr marL="0" indent="0" algn="ctr">
              <a:buNone/>
            </a:pPr>
            <a:r>
              <a:rPr lang="en-US" sz="1400" b="1" dirty="0">
                <a:solidFill>
                  <a:srgbClr val="DDDDEE"/>
                </a:solidFill>
                <a:latin typeface="Calibri" pitchFamily="34" charset="0"/>
                <a:ea typeface="Calibri" pitchFamily="34" charset="-122"/>
                <a:cs typeface="Calibri" pitchFamily="34" charset="-120"/>
              </a:rPr>
              <a:t>Dr. Tito Goicochea M.</a:t>
            </a:r>
            <a:endParaRPr lang="en-US" sz="1400" dirty="0"/>
          </a:p>
          <a:p>
            <a:pPr marL="0" indent="0" algn="ctr">
              <a:buNone/>
            </a:pPr>
            <a:r>
              <a:rPr lang="en-US" sz="1400" i="1" dirty="0">
                <a:solidFill>
                  <a:srgbClr val="DDDDEE"/>
                </a:solidFill>
                <a:latin typeface="Calibri" pitchFamily="34" charset="0"/>
                <a:ea typeface="Calibri" pitchFamily="34" charset="-122"/>
                <a:cs typeface="Calibri" pitchFamily="34" charset="-120"/>
              </a:rPr>
              <a:t>NEED - DSA  ·  II Trimestre 2026</a:t>
            </a:r>
            <a:endParaRPr lang="en-US" sz="1400" dirty="0"/>
          </a:p>
        </p:txBody>
      </p:sp>
      <p:sp>
        <p:nvSpPr>
          <p:cNvPr id="9" name="Text 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1129</Words>
  <Application>Microsoft Macintosh PowerPoint</Application>
  <PresentationFormat>Presentación en pantalla (16:9)</PresentationFormat>
  <Paragraphs>93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Black</vt:lpstr>
      <vt:lpstr>Calibri</vt:lpstr>
      <vt:lpstr>Georgia</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Bosquejo LES Joven L7 — La oración perseverante</dc:title>
  <dc:subject>PptxGenJS Presentation</dc:subject>
  <dc:creator>Dr. Tito Goicochea M.</dc:creator>
  <cp:lastModifiedBy>Tito Goicochea Malaver</cp:lastModifiedBy>
  <cp:revision>2</cp:revision>
  <dcterms:created xsi:type="dcterms:W3CDTF">2026-03-29T17:48:04Z</dcterms:created>
  <dcterms:modified xsi:type="dcterms:W3CDTF">2026-03-29T18:03:08Z</dcterms:modified>
</cp:coreProperties>
</file>