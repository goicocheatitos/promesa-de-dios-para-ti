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465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E87C1E"/>
          </a:solidFill>
          <a:ln w="12700">
            <a:solidFill>
              <a:srgbClr val="E87C1E"/>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E87C1E"/>
                </a:solidFill>
                <a:latin typeface="Trebuchet MS" pitchFamily="34" charset="0"/>
                <a:ea typeface="Trebuchet MS" pitchFamily="34" charset="-122"/>
                <a:cs typeface="Trebuchet MS" pitchFamily="34" charset="-120"/>
              </a:rPr>
              <a:t>LECCIÓN JOVEN 6</a:t>
            </a:r>
            <a:endParaRPr lang="en-US" sz="1400" dirty="0"/>
          </a:p>
        </p:txBody>
      </p:sp>
      <p:sp>
        <p:nvSpPr>
          <p:cNvPr id="6" name="Text 3"/>
          <p:cNvSpPr/>
          <p:nvPr/>
        </p:nvSpPr>
        <p:spPr>
          <a:xfrm>
            <a:off x="182880" y="786384"/>
            <a:ext cx="6217920"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MI VIDA DE ORACIÓN</a:t>
            </a:r>
            <a:endParaRPr lang="en-US" sz="5800" dirty="0"/>
          </a:p>
        </p:txBody>
      </p:sp>
      <p:sp>
        <p:nvSpPr>
          <p:cNvPr id="7" name="Shape 4"/>
          <p:cNvSpPr/>
          <p:nvPr/>
        </p:nvSpPr>
        <p:spPr>
          <a:xfrm>
            <a:off x="182880" y="3218688"/>
            <a:ext cx="2926080" cy="475488"/>
          </a:xfrm>
          <a:prstGeom prst="rect">
            <a:avLst/>
          </a:prstGeom>
          <a:solidFill>
            <a:srgbClr val="E87C1E"/>
          </a:solidFill>
          <a:ln w="12700">
            <a:solidFill>
              <a:srgbClr val="E87C1E"/>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Daniel 6</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9 de mayo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E87C1E"/>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F5B06A"/>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E87C1E"/>
                </a:solidFill>
                <a:latin typeface="Arial Black" pitchFamily="34" charset="0"/>
                <a:ea typeface="Arial Black" pitchFamily="34" charset="-122"/>
                <a:cs typeface="Arial Black" pitchFamily="34" charset="-120"/>
              </a:rPr>
              <a:t>Daniel 6</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Daniel 6 presenta a un hombre cuya vida de oración no era un método ni una obligación: era la conexión vital con Dios que lo sostenía en medio del poder, la presión y la amenaza. La oración constante no es una práctica para personas con mucho tiempo libre; es el hábito de quien entiende que sin Dios nada tiene sentido.</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E87C1E"/>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E87C1E"/>
          </a:solidFill>
          <a:ln w="12700">
            <a:solidFill>
              <a:srgbClr val="E87C1E"/>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E87C1E"/>
          </a:solidFill>
          <a:ln w="12700">
            <a:solidFill>
              <a:srgbClr val="E87C1E"/>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¿Qué hacía diferente la vida de oración de Daniel a la de una práctica religiosa rutinaria, y cómo podemos construir esa misma conexión con Dios en nuestra vida cotidiana?</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Daniel 6:1-5</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El carácter que la oración formó</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dice la evaluación de los enemigos de Daniel sobre el tipo de carácter que su vida de oración había producido en él?</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Los sátrapas buscaron en Daniel alguna falta o corrupción y no encontraron nada. Un hombre de oración genuina no vive doble vida. (Dan. 6:4-5; Fil. 4:8-9)</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única forma de atacarlo era a través de «la ley de su Dios»: su relación con Dios era su punto más visible. (Dan. 6:5; Mat. 5:14-16)</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hábito de oración no era oculto; era parte inamovible de su identidad pública. (Hech. 4:20; Sal. 5:3)</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 joven que ora genuinamente cada día comienza a hablar diferente, a reaccionar diferente ante los conflictos. Sus amigos no saben exactamente por qué, pero notan que hay algo distinto en él.</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Daniel 6:6-13</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Orar a pesar del edicto</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revela la reacción de Daniel ante el edicto real sobre la naturaleza de su oración, y por qué fue más fuerte que el miedo a la muerte?</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Cuando Daniel supo del edicto, no cambió nada. Abrió las ventanas y oró tres veces al día como siempre. (Dan. 6:10; 1 Tes. 5:17)</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oración no era una reacción a la crisis sino el fundamento permanente de toda su vida. (Sal. 55:17; Sal. 141:2)</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Su vida de oración no podía privatizarse porque era el corazón de su identidad pública. (Dan. 6:10-13; Hech. 5:29)</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La diferencia entre quien ora solo en crisis y quien ora tres veces al día es como entre quien llama a su padre solo cuando necesita dinero y quien habla con él cada día porque lo ama.</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Daniel 6:14-23</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La oración que Dios responde</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revela la liberación de Daniel sobre cómo Dios responde a una vida de oración fiel, y cómo ese testimonio impacta incluso a los no creyentes?</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rey Darío pasó la noche sin dormir, sin comer. La fidelidad de Daniel en la oración había tocado al propio rey que lo condenaba. (Dan. 6:14, 18; 1 Ped. 3:15-16)</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ángel fue enviado para cerrar la boca de los leones. Dios no siempre nos libra de las pruebas, pero siempre está en ellas con nosotros. (Dan. 6:22; Isa. 43:2)</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Una vida de oración genuina es un testimonio que va más allá de lo que decimos. (Mat. 5:16; Sal. 91:11)</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Enoc caminaba con Dios en medio de trabajo activo. «Cuanto más intensas eran sus labores, tanto más constantes y fervorosas eran sus oraciones.» La oración no resta tiempo a la vida; la multiplica en calidad.</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"En medio de una vida de activa labor, Enoc mantenía fielmente su comunión con Dios. Cuanto más intensas y urgentes eran sus labores, tanto más constantes y fervorosas eran sus oraciones. Las relaciones entre Dios y cada alma son tan distintivas y plenas como si no hubiera otra persona sobre la tierra a quien brindar su cuidado, amor y atención."</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Patriarcas y profetas</a:t>
            </a:r>
            <a:endParaRPr lang="en-US" sz="900" dirty="0"/>
          </a:p>
        </p:txBody>
      </p:sp>
      <p:sp>
        <p:nvSpPr>
          <p:cNvPr id="15" name="Shape 12"/>
          <p:cNvSpPr/>
          <p:nvPr/>
        </p:nvSpPr>
        <p:spPr>
          <a:xfrm>
            <a:off x="201168" y="2944368"/>
            <a:ext cx="8741664" cy="45720"/>
          </a:xfrm>
          <a:prstGeom prst="rect">
            <a:avLst/>
          </a:prstGeom>
          <a:solidFill>
            <a:srgbClr val="E87C1E"/>
          </a:solidFill>
          <a:ln w="12700">
            <a:solidFill>
              <a:srgbClr val="E87C1E"/>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E87C1E"/>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¿Qué cambio concreto en tu rutina diaria necesitas hacer ESTA SEMANA para que tu vida de oración sea constante como la de Daniel, no reactiva como la de muchos creyentes de hoy?</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E87C1E"/>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E87C1E"/>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E87C1E"/>
          </a:solidFill>
          <a:ln w="12700">
            <a:solidFill>
              <a:srgbClr val="E87C1E"/>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E87C1E"/>
          </a:solidFill>
          <a:ln w="12700">
            <a:solidFill>
              <a:srgbClr val="E87C1E"/>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 semana establezco un horario fijo para orar al menos una vez al día y lo mantengo aunque no tenga ganas (Dan. 6:10; Sal. 5:3).</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E87C1E"/>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E87C1E"/>
          </a:solidFill>
          <a:ln w="12700">
            <a:solidFill>
              <a:srgbClr val="E87C1E"/>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E87C1E"/>
          </a:solidFill>
          <a:ln w="12700">
            <a:solidFill>
              <a:srgbClr val="E87C1E"/>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Abro la puerta a Dios también en los momentos buenos, no solo cuando tengo problemas, hablando con él de mis alegrías esta semana (1 Tes. 5:17; Fil. 4:4-6).</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E87C1E"/>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E87C1E"/>
          </a:solidFill>
          <a:ln w="12700">
            <a:solidFill>
              <a:srgbClr val="E87C1E"/>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E87C1E"/>
          </a:solidFill>
          <a:ln w="12700">
            <a:solidFill>
              <a:srgbClr val="E87C1E"/>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Pido al Espíritu Santo que forme en mí el carácter que la oración genuina produjo en Daniel: integridad visible ante los demás (Luc. 11:13; Fil. 4:8).</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«Daniel entró a su casa, donde tenía las ventanas de su cuarto abiertas en dirección a Jerusalén, y se arrodilló tres veces al día para orar.» (Dan. 6:10)</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E87C1E"/>
          </a:solidFill>
          <a:ln w="12700">
            <a:solidFill>
              <a:srgbClr val="E87C1E"/>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E87C1E"/>
          </a:solidFill>
          <a:ln w="12700">
            <a:solidFill>
              <a:srgbClr val="E87C1E"/>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E87C1E"/>
                </a:solidFill>
                <a:latin typeface="Trebuchet MS" pitchFamily="34" charset="0"/>
                <a:ea typeface="Trebuchet MS" pitchFamily="34" charset="-122"/>
                <a:cs typeface="Trebuchet MS" pitchFamily="34" charset="-120"/>
              </a:rPr>
              <a:t>Lección</a:t>
            </a:r>
            <a:r>
              <a:rPr lang="en-US" sz="1600" i="1">
                <a:solidFill>
                  <a:srgbClr val="E87C1E"/>
                </a:solidFill>
                <a:latin typeface="Trebuchet MS" pitchFamily="34" charset="0"/>
                <a:ea typeface="Trebuchet MS" pitchFamily="34" charset="-122"/>
                <a:cs typeface="Trebuchet MS" pitchFamily="34" charset="-120"/>
              </a:rPr>
              <a:t> Joven 6  </a:t>
            </a:r>
            <a:r>
              <a:rPr lang="en-US" sz="1600" i="1" dirty="0">
                <a:solidFill>
                  <a:srgbClr val="E87C1E"/>
                </a:solidFill>
                <a:latin typeface="Trebuchet MS" pitchFamily="34" charset="0"/>
                <a:ea typeface="Trebuchet MS" pitchFamily="34" charset="-122"/>
                <a:cs typeface="Trebuchet MS" pitchFamily="34" charset="-120"/>
              </a:rPr>
              <a:t>·  Mi vida de oración</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1134</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L6 — Mi vida de oración</dc:title>
  <dc:subject>PptxGenJS Presentation</dc:subject>
  <dc:creator>Dr. Tito Goicochea M.</dc:creator>
  <cp:lastModifiedBy>Tito Goicochea Malaver</cp:lastModifiedBy>
  <cp:revision>2</cp:revision>
  <dcterms:created xsi:type="dcterms:W3CDTF">2026-03-29T17:48:04Z</dcterms:created>
  <dcterms:modified xsi:type="dcterms:W3CDTF">2026-03-29T18:02:27Z</dcterms:modified>
</cp:coreProperties>
</file>