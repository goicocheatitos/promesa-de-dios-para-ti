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9612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91440" cy="5143500"/>
          </a:xfrm>
          <a:prstGeom prst="rect">
            <a:avLst/>
          </a:prstGeom>
          <a:solidFill>
            <a:srgbClr val="0ABFBF"/>
          </a:solidFill>
          <a:ln w="12700">
            <a:solidFill>
              <a:srgbClr val="0ABFBF"/>
            </a:solidFill>
            <a:prstDash val="solid"/>
          </a:ln>
        </p:spPr>
        <p:txBody>
          <a:bodyPr/>
          <a:lstStyle/>
          <a:p>
            <a:endParaRPr lang="es-ES"/>
          </a:p>
        </p:txBody>
      </p:sp>
      <p:sp>
        <p:nvSpPr>
          <p:cNvPr id="5" name="Text 2"/>
          <p:cNvSpPr/>
          <p:nvPr/>
        </p:nvSpPr>
        <p:spPr>
          <a:xfrm>
            <a:off x="201168" y="292608"/>
            <a:ext cx="3657600" cy="457200"/>
          </a:xfrm>
          <a:prstGeom prst="rect">
            <a:avLst/>
          </a:prstGeom>
          <a:noFill/>
          <a:ln/>
        </p:spPr>
        <p:txBody>
          <a:bodyPr wrap="square" lIns="0" tIns="0" rIns="0" bIns="0" rtlCol="0" anchor="ctr"/>
          <a:lstStyle/>
          <a:p>
            <a:pPr marL="0" indent="0">
              <a:buNone/>
            </a:pPr>
            <a:r>
              <a:rPr lang="en-US" sz="1400" kern="0" spc="800" dirty="0">
                <a:solidFill>
                  <a:srgbClr val="0ABFBF"/>
                </a:solidFill>
                <a:latin typeface="Trebuchet MS" pitchFamily="34" charset="0"/>
                <a:ea typeface="Trebuchet MS" pitchFamily="34" charset="-122"/>
                <a:cs typeface="Trebuchet MS" pitchFamily="34" charset="-120"/>
              </a:rPr>
              <a:t>LECCIÓN JOVEN 3</a:t>
            </a:r>
            <a:endParaRPr lang="en-US" sz="1400" dirty="0"/>
          </a:p>
        </p:txBody>
      </p:sp>
      <p:sp>
        <p:nvSpPr>
          <p:cNvPr id="6" name="Text 3"/>
          <p:cNvSpPr/>
          <p:nvPr/>
        </p:nvSpPr>
        <p:spPr>
          <a:xfrm>
            <a:off x="182880" y="786384"/>
            <a:ext cx="6217920" cy="2286000"/>
          </a:xfrm>
          <a:prstGeom prst="rect">
            <a:avLst/>
          </a:prstGeom>
          <a:noFill/>
          <a:ln/>
        </p:spPr>
        <p:txBody>
          <a:bodyPr wrap="square" rtlCol="0" anchor="ctr"/>
          <a:lstStyle/>
          <a:p>
            <a:pPr marL="0" indent="0" algn="l">
              <a:buNone/>
            </a:pPr>
            <a:r>
              <a:rPr lang="en-US" sz="5800" b="1" dirty="0">
                <a:solidFill>
                  <a:srgbClr val="FFFFFF"/>
                </a:solidFill>
                <a:latin typeface="Arial Black" pitchFamily="34" charset="0"/>
                <a:ea typeface="Arial Black" pitchFamily="34" charset="-122"/>
                <a:cs typeface="Arial Black" pitchFamily="34" charset="-120"/>
              </a:rPr>
              <a:t>ORGULLO VERSUS HUMILDAD</a:t>
            </a:r>
            <a:endParaRPr lang="en-US" sz="5800" dirty="0"/>
          </a:p>
        </p:txBody>
      </p:sp>
      <p:sp>
        <p:nvSpPr>
          <p:cNvPr id="7" name="Shape 4"/>
          <p:cNvSpPr/>
          <p:nvPr/>
        </p:nvSpPr>
        <p:spPr>
          <a:xfrm>
            <a:off x="182880" y="3218688"/>
            <a:ext cx="2926080" cy="475488"/>
          </a:xfrm>
          <a:prstGeom prst="rect">
            <a:avLst/>
          </a:prstGeom>
          <a:solidFill>
            <a:srgbClr val="0ABFBF"/>
          </a:solidFill>
          <a:ln w="12700">
            <a:solidFill>
              <a:srgbClr val="0ABFBF"/>
            </a:solidFill>
            <a:prstDash val="solid"/>
          </a:ln>
        </p:spPr>
        <p:txBody>
          <a:bodyPr/>
          <a:lstStyle/>
          <a:p>
            <a:endParaRPr lang="es-ES"/>
          </a:p>
        </p:txBody>
      </p:sp>
      <p:sp>
        <p:nvSpPr>
          <p:cNvPr id="8" name="Text 5"/>
          <p:cNvSpPr/>
          <p:nvPr/>
        </p:nvSpPr>
        <p:spPr>
          <a:xfrm>
            <a:off x="182880" y="3218688"/>
            <a:ext cx="2926080" cy="475488"/>
          </a:xfrm>
          <a:prstGeom prst="rect">
            <a:avLst/>
          </a:prstGeom>
          <a:noFill/>
          <a:ln/>
        </p:spPr>
        <p:txBody>
          <a:bodyPr wrap="square" lIns="0" tIns="0" rIns="0" bIns="0" rtlCol="0" anchor="ctr"/>
          <a:lstStyle/>
          <a:p>
            <a:pPr marL="0" indent="0" algn="ctr">
              <a:buNone/>
            </a:pPr>
            <a:r>
              <a:rPr lang="en-US" sz="1500" b="1" dirty="0">
                <a:solidFill>
                  <a:srgbClr val="000000"/>
                </a:solidFill>
                <a:latin typeface="Trebuchet MS" pitchFamily="34" charset="0"/>
                <a:ea typeface="Trebuchet MS" pitchFamily="34" charset="-122"/>
                <a:cs typeface="Trebuchet MS" pitchFamily="34" charset="-120"/>
              </a:rPr>
              <a:t>Lucas 18:9-14</a:t>
            </a:r>
            <a:endParaRPr lang="en-US" sz="1500" dirty="0"/>
          </a:p>
        </p:txBody>
      </p:sp>
      <p:sp>
        <p:nvSpPr>
          <p:cNvPr id="9" name="Text 6"/>
          <p:cNvSpPr/>
          <p:nvPr/>
        </p:nvSpPr>
        <p:spPr>
          <a:xfrm>
            <a:off x="182880" y="3822192"/>
            <a:ext cx="5486400" cy="274320"/>
          </a:xfrm>
          <a:prstGeom prst="rect">
            <a:avLst/>
          </a:prstGeom>
          <a:noFill/>
          <a:ln/>
        </p:spPr>
        <p:txBody>
          <a:bodyPr wrap="square" lIns="0" tIns="0" rIns="0" bIns="0" rtlCol="0" anchor="ctr"/>
          <a:lstStyle/>
          <a:p>
            <a:pPr marL="0" indent="0">
              <a:buNone/>
            </a:pPr>
            <a:r>
              <a:rPr lang="en-US" sz="1100" i="1" dirty="0">
                <a:solidFill>
                  <a:srgbClr val="AAAACC"/>
                </a:solidFill>
                <a:latin typeface="Calibri" pitchFamily="34" charset="0"/>
                <a:ea typeface="Calibri" pitchFamily="34" charset="-122"/>
                <a:cs typeface="Calibri" pitchFamily="34" charset="-120"/>
              </a:rPr>
              <a:t>18 de abril de 2026  ·  II Trimestre 2026</a:t>
            </a:r>
            <a:endParaRPr lang="en-US" sz="1100" dirty="0"/>
          </a:p>
        </p:txBody>
      </p:sp>
      <p:sp>
        <p:nvSpPr>
          <p:cNvPr id="10" name="Text 7"/>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C45000"/>
          </a:solidFill>
          <a:ln w="12700">
            <a:solidFill>
              <a:srgbClr val="C4500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C45000"/>
          </a:solidFill>
          <a:ln w="12700">
            <a:solidFill>
              <a:srgbClr val="C4500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D4A0"/>
                </a:solidFill>
                <a:latin typeface="Trebuchet MS" pitchFamily="34" charset="0"/>
                <a:ea typeface="Trebuchet MS" pitchFamily="34" charset="-122"/>
                <a:cs typeface="Trebuchet MS" pitchFamily="34" charset="-120"/>
              </a:rPr>
              <a:t>FASE 1  ·  MOTIVA  (INICIA)  —  ¿Por qué es importante este estudio para mi vida?</a:t>
            </a:r>
            <a:endParaRPr lang="en-US" sz="1600" dirty="0"/>
          </a:p>
        </p:txBody>
      </p:sp>
      <p:sp>
        <p:nvSpPr>
          <p:cNvPr id="9" name="Shape 6"/>
          <p:cNvSpPr/>
          <p:nvPr/>
        </p:nvSpPr>
        <p:spPr>
          <a:xfrm>
            <a:off x="182880" y="749808"/>
            <a:ext cx="8778240" cy="475488"/>
          </a:xfrm>
          <a:prstGeom prst="rect">
            <a:avLst/>
          </a:prstGeom>
          <a:solidFill>
            <a:srgbClr val="000000">
              <a:alpha val="60000"/>
            </a:srgbClr>
          </a:solidFill>
          <a:ln w="19050">
            <a:solidFill>
              <a:srgbClr val="0ABFBF"/>
            </a:solidFill>
            <a:prstDash val="solid"/>
          </a:ln>
        </p:spPr>
        <p:txBody>
          <a:bodyPr/>
          <a:lstStyle/>
          <a:p>
            <a:endParaRPr lang="es-ES"/>
          </a:p>
        </p:txBody>
      </p:sp>
      <p:sp>
        <p:nvSpPr>
          <p:cNvPr id="10" name="Text 7"/>
          <p:cNvSpPr/>
          <p:nvPr/>
        </p:nvSpPr>
        <p:spPr>
          <a:xfrm>
            <a:off x="329184" y="749808"/>
            <a:ext cx="2560320" cy="475488"/>
          </a:xfrm>
          <a:prstGeom prst="rect">
            <a:avLst/>
          </a:prstGeom>
          <a:noFill/>
          <a:ln/>
        </p:spPr>
        <p:txBody>
          <a:bodyPr wrap="square" lIns="0" tIns="0" rIns="0" bIns="0" rtlCol="0" anchor="ctr"/>
          <a:lstStyle/>
          <a:p>
            <a:pPr marL="0" indent="0" algn="l">
              <a:buNone/>
            </a:pPr>
            <a:r>
              <a:rPr lang="en-US" sz="1000" i="1" dirty="0">
                <a:solidFill>
                  <a:srgbClr val="60DFDF"/>
                </a:solidFill>
                <a:latin typeface="Calibri" pitchFamily="34" charset="0"/>
                <a:ea typeface="Calibri" pitchFamily="34" charset="-122"/>
                <a:cs typeface="Calibri" pitchFamily="34" charset="-120"/>
              </a:rPr>
              <a:t>Texto principal de la semana</a:t>
            </a:r>
            <a:endParaRPr lang="en-US" sz="1000" dirty="0"/>
          </a:p>
        </p:txBody>
      </p:sp>
      <p:sp>
        <p:nvSpPr>
          <p:cNvPr id="11" name="Text 8"/>
          <p:cNvSpPr/>
          <p:nvPr/>
        </p:nvSpPr>
        <p:spPr>
          <a:xfrm>
            <a:off x="2743200" y="749808"/>
            <a:ext cx="6217920" cy="475488"/>
          </a:xfrm>
          <a:prstGeom prst="rect">
            <a:avLst/>
          </a:prstGeom>
          <a:noFill/>
          <a:ln/>
        </p:spPr>
        <p:txBody>
          <a:bodyPr wrap="square" lIns="0" tIns="0" rIns="0" bIns="0" rtlCol="0" anchor="ctr"/>
          <a:lstStyle/>
          <a:p>
            <a:pPr marL="0" indent="0" algn="l">
              <a:buNone/>
            </a:pPr>
            <a:r>
              <a:rPr lang="en-US" sz="1700" b="1" dirty="0">
                <a:solidFill>
                  <a:srgbClr val="0ABFBF"/>
                </a:solidFill>
                <a:latin typeface="Arial Black" pitchFamily="34" charset="0"/>
                <a:ea typeface="Arial Black" pitchFamily="34" charset="-122"/>
                <a:cs typeface="Arial Black" pitchFamily="34" charset="-120"/>
              </a:rPr>
              <a:t>Lucas 18:9-14</a:t>
            </a:r>
            <a:endParaRPr lang="en-US" sz="1700" dirty="0"/>
          </a:p>
        </p:txBody>
      </p:sp>
      <p:sp>
        <p:nvSpPr>
          <p:cNvPr id="12" name="Shape 9"/>
          <p:cNvSpPr/>
          <p:nvPr/>
        </p:nvSpPr>
        <p:spPr>
          <a:xfrm>
            <a:off x="182880" y="1298448"/>
            <a:ext cx="8778240" cy="1536192"/>
          </a:xfrm>
          <a:prstGeom prst="rect">
            <a:avLst/>
          </a:prstGeom>
          <a:solidFill>
            <a:srgbClr val="000000">
              <a:alpha val="65000"/>
            </a:srgbClr>
          </a:solidFill>
          <a:ln w="12700">
            <a:solidFill>
              <a:srgbClr val="444466"/>
            </a:solidFill>
            <a:prstDash val="solid"/>
          </a:ln>
          <a:effectLst>
            <a:outerShdw blurRad="152400" dist="38100" dir="8100000" algn="bl" rotWithShape="0">
              <a:srgbClr val="000000">
                <a:alpha val="50000"/>
              </a:srgbClr>
            </a:outerShdw>
          </a:effectLst>
        </p:spPr>
        <p:txBody>
          <a:bodyPr/>
          <a:lstStyle/>
          <a:p>
            <a:endParaRPr lang="es-ES"/>
          </a:p>
        </p:txBody>
      </p:sp>
      <p:sp>
        <p:nvSpPr>
          <p:cNvPr id="13" name="Shape 10"/>
          <p:cNvSpPr/>
          <p:nvPr/>
        </p:nvSpPr>
        <p:spPr>
          <a:xfrm>
            <a:off x="182880" y="1298448"/>
            <a:ext cx="54864" cy="1536192"/>
          </a:xfrm>
          <a:prstGeom prst="rect">
            <a:avLst/>
          </a:prstGeom>
          <a:solidFill>
            <a:srgbClr val="5566AA"/>
          </a:solidFill>
          <a:ln w="12700">
            <a:solidFill>
              <a:srgbClr val="5566AA"/>
            </a:solidFill>
            <a:prstDash val="solid"/>
          </a:ln>
        </p:spPr>
        <p:txBody>
          <a:bodyPr/>
          <a:lstStyle/>
          <a:p>
            <a:endParaRPr lang="es-ES"/>
          </a:p>
        </p:txBody>
      </p:sp>
      <p:sp>
        <p:nvSpPr>
          <p:cNvPr id="14" name="Text 11"/>
          <p:cNvSpPr/>
          <p:nvPr/>
        </p:nvSpPr>
        <p:spPr>
          <a:xfrm>
            <a:off x="310896" y="1344168"/>
            <a:ext cx="1828800" cy="256032"/>
          </a:xfrm>
          <a:prstGeom prst="rect">
            <a:avLst/>
          </a:prstGeom>
          <a:noFill/>
          <a:ln/>
        </p:spPr>
        <p:txBody>
          <a:bodyPr wrap="square" lIns="0" tIns="0" rIns="0" bIns="0" rtlCol="0" anchor="ctr"/>
          <a:lstStyle/>
          <a:p>
            <a:pPr marL="0" indent="0">
              <a:buNone/>
            </a:pPr>
            <a:r>
              <a:rPr lang="en-US" sz="1000" b="1" dirty="0">
                <a:solidFill>
                  <a:srgbClr val="8899CC"/>
                </a:solidFill>
                <a:latin typeface="Trebuchet MS" pitchFamily="34" charset="0"/>
                <a:ea typeface="Trebuchet MS" pitchFamily="34" charset="-122"/>
                <a:cs typeface="Trebuchet MS" pitchFamily="34" charset="-120"/>
              </a:rPr>
              <a:t>Tema Central</a:t>
            </a:r>
            <a:endParaRPr lang="en-US" sz="1000" dirty="0"/>
          </a:p>
        </p:txBody>
      </p:sp>
      <p:sp>
        <p:nvSpPr>
          <p:cNvPr id="15" name="Text 12"/>
          <p:cNvSpPr/>
          <p:nvPr/>
        </p:nvSpPr>
        <p:spPr>
          <a:xfrm>
            <a:off x="310896" y="1609344"/>
            <a:ext cx="8503920" cy="1170432"/>
          </a:xfrm>
          <a:prstGeom prst="rect">
            <a:avLst/>
          </a:prstGeom>
          <a:noFill/>
          <a:ln/>
        </p:spPr>
        <p:txBody>
          <a:bodyPr wrap="square" lIns="0" tIns="0" rIns="0" bIns="0" rtlCol="0" anchor="t"/>
          <a:lstStyle/>
          <a:p>
            <a:pPr marL="0" indent="0" algn="l">
              <a:buNone/>
            </a:pPr>
            <a:r>
              <a:rPr lang="en-US" sz="1150" dirty="0">
                <a:solidFill>
                  <a:srgbClr val="DDDDEE"/>
                </a:solidFill>
                <a:latin typeface="Calibri" pitchFamily="34" charset="0"/>
                <a:ea typeface="Calibri" pitchFamily="34" charset="-122"/>
                <a:cs typeface="Calibri" pitchFamily="34" charset="-120"/>
              </a:rPr>
              <a:t>La parábola del fariseo y el publicano invierte los valores del mundo: quien se autoexalta ante Dios queda sin justificación, y quien reconoce su necesidad sale justificado. El orgullo es la barrera número uno para una relación genuina con Dios y con los demás.</a:t>
            </a:r>
            <a:endParaRPr lang="en-US" sz="1150" dirty="0"/>
          </a:p>
        </p:txBody>
      </p:sp>
      <p:sp>
        <p:nvSpPr>
          <p:cNvPr id="16" name="Shape 13"/>
          <p:cNvSpPr/>
          <p:nvPr/>
        </p:nvSpPr>
        <p:spPr>
          <a:xfrm>
            <a:off x="182880" y="2907792"/>
            <a:ext cx="8778240" cy="1828800"/>
          </a:xfrm>
          <a:prstGeom prst="rect">
            <a:avLst/>
          </a:prstGeom>
          <a:solidFill>
            <a:srgbClr val="0A1830">
              <a:alpha val="85000"/>
            </a:srgbClr>
          </a:solidFill>
          <a:ln w="25400">
            <a:solidFill>
              <a:srgbClr val="0ABFBF"/>
            </a:solidFill>
            <a:prstDash val="solid"/>
          </a:ln>
          <a:effectLst>
            <a:outerShdw blurRad="152400" dist="38100" dir="8100000" algn="bl" rotWithShape="0">
              <a:srgbClr val="000000">
                <a:alpha val="50000"/>
              </a:srgbClr>
            </a:outerShdw>
          </a:effectLst>
        </p:spPr>
        <p:txBody>
          <a:bodyPr/>
          <a:lstStyle/>
          <a:p>
            <a:endParaRPr lang="es-ES"/>
          </a:p>
        </p:txBody>
      </p:sp>
      <p:sp>
        <p:nvSpPr>
          <p:cNvPr id="17" name="Shape 14"/>
          <p:cNvSpPr/>
          <p:nvPr/>
        </p:nvSpPr>
        <p:spPr>
          <a:xfrm>
            <a:off x="182880" y="2907792"/>
            <a:ext cx="54864" cy="1828800"/>
          </a:xfrm>
          <a:prstGeom prst="rect">
            <a:avLst/>
          </a:prstGeom>
          <a:solidFill>
            <a:srgbClr val="0ABFBF"/>
          </a:solidFill>
          <a:ln w="12700">
            <a:solidFill>
              <a:srgbClr val="0ABFBF"/>
            </a:solidFill>
            <a:prstDash val="solid"/>
          </a:ln>
        </p:spPr>
        <p:txBody>
          <a:bodyPr/>
          <a:lstStyle/>
          <a:p>
            <a:endParaRPr lang="es-ES"/>
          </a:p>
        </p:txBody>
      </p:sp>
      <p:sp>
        <p:nvSpPr>
          <p:cNvPr id="18" name="Shape 15"/>
          <p:cNvSpPr/>
          <p:nvPr/>
        </p:nvSpPr>
        <p:spPr>
          <a:xfrm>
            <a:off x="274320" y="2962656"/>
            <a:ext cx="3108960" cy="274320"/>
          </a:xfrm>
          <a:prstGeom prst="rect">
            <a:avLst/>
          </a:prstGeom>
          <a:solidFill>
            <a:srgbClr val="0ABFBF"/>
          </a:solidFill>
          <a:ln w="12700">
            <a:solidFill>
              <a:srgbClr val="0ABFBF"/>
            </a:solidFill>
            <a:prstDash val="solid"/>
          </a:ln>
        </p:spPr>
        <p:txBody>
          <a:bodyPr/>
          <a:lstStyle/>
          <a:p>
            <a:endParaRPr lang="es-ES"/>
          </a:p>
        </p:txBody>
      </p:sp>
      <p:sp>
        <p:nvSpPr>
          <p:cNvPr id="19" name="Text 16"/>
          <p:cNvSpPr/>
          <p:nvPr/>
        </p:nvSpPr>
        <p:spPr>
          <a:xfrm>
            <a:off x="274320" y="2962656"/>
            <a:ext cx="3108960" cy="27432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GPS — Gran Pregunta de la Semana</a:t>
            </a:r>
            <a:endParaRPr lang="en-US" sz="1000" dirty="0"/>
          </a:p>
        </p:txBody>
      </p:sp>
      <p:sp>
        <p:nvSpPr>
          <p:cNvPr id="20" name="Text 17"/>
          <p:cNvSpPr/>
          <p:nvPr/>
        </p:nvSpPr>
        <p:spPr>
          <a:xfrm>
            <a:off x="310896" y="3291840"/>
            <a:ext cx="8503920" cy="1371600"/>
          </a:xfrm>
          <a:prstGeom prst="rect">
            <a:avLst/>
          </a:prstGeom>
          <a:noFill/>
          <a:ln/>
        </p:spPr>
        <p:txBody>
          <a:bodyPr wrap="square" rtlCol="0" anchor="ctr"/>
          <a:lstStyle/>
          <a:p>
            <a:pPr marL="0" indent="0" algn="ctr">
              <a:buNone/>
            </a:pPr>
            <a:r>
              <a:rPr lang="en-US" sz="1400" b="1" i="1" dirty="0">
                <a:solidFill>
                  <a:srgbClr val="FFFFFF"/>
                </a:solidFill>
                <a:latin typeface="Trebuchet MS" pitchFamily="34" charset="0"/>
                <a:ea typeface="Trebuchet MS" pitchFamily="34" charset="-122"/>
                <a:cs typeface="Trebuchet MS" pitchFamily="34" charset="-120"/>
              </a:rPr>
              <a:t>¿Cómo el orgullo distorsiona nuestra percepción de nosotros mismos ante Dios, y qué actitud concreta nos abre a recibir su gracia?</a:t>
            </a:r>
            <a:endParaRPr lang="en-US" sz="1400" dirty="0"/>
          </a:p>
        </p:txBody>
      </p:sp>
      <p:sp>
        <p:nvSpPr>
          <p:cNvPr id="21" name="Text 18"/>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1 de 3</a:t>
            </a:r>
            <a:endParaRPr lang="en-US" sz="1600" dirty="0"/>
          </a:p>
        </p:txBody>
      </p:sp>
      <p:sp>
        <p:nvSpPr>
          <p:cNvPr id="9" name="Shape 6"/>
          <p:cNvSpPr/>
          <p:nvPr/>
        </p:nvSpPr>
        <p:spPr>
          <a:xfrm>
            <a:off x="146304" y="749808"/>
            <a:ext cx="2633472" cy="4192524"/>
          </a:xfrm>
          <a:prstGeom prst="rect">
            <a:avLst/>
          </a:prstGeom>
          <a:solidFill>
            <a:srgbClr val="1A6B3A">
              <a:alpha val="90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7AE8A0"/>
          </a:solidFill>
          <a:ln w="12700">
            <a:solidFill>
              <a:srgbClr val="7AE8A0"/>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7AE8A0"/>
                </a:solidFill>
                <a:latin typeface="Arial Black" pitchFamily="34" charset="0"/>
                <a:ea typeface="Arial Black" pitchFamily="34" charset="-122"/>
                <a:cs typeface="Arial Black" pitchFamily="34" charset="-120"/>
              </a:rPr>
              <a:t>01</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Lucas 18:9-11</a:t>
            </a:r>
            <a:endParaRPr lang="en-US" sz="1350" dirty="0"/>
          </a:p>
        </p:txBody>
      </p:sp>
      <p:sp>
        <p:nvSpPr>
          <p:cNvPr id="13" name="Shape 10"/>
          <p:cNvSpPr/>
          <p:nvPr/>
        </p:nvSpPr>
        <p:spPr>
          <a:xfrm>
            <a:off x="292608" y="1353312"/>
            <a:ext cx="2231136" cy="20117"/>
          </a:xfrm>
          <a:prstGeom prst="rect">
            <a:avLst/>
          </a:prstGeom>
          <a:solidFill>
            <a:srgbClr val="7AE8A0">
              <a:alpha val="55000"/>
            </a:srgbClr>
          </a:solidFill>
          <a:ln w="12700">
            <a:solidFill>
              <a:srgbClr val="7AE8A0"/>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7AE8A0"/>
                </a:solidFill>
                <a:latin typeface="Trebuchet MS" pitchFamily="34" charset="0"/>
                <a:ea typeface="Trebuchet MS" pitchFamily="34" charset="-122"/>
                <a:cs typeface="Trebuchet MS" pitchFamily="34" charset="-120"/>
              </a:rPr>
              <a:t>El espejo roto del orgullo</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revela la actitud del fariseo sobre cómo el orgullo distorsiona nuestra autopercepción espiritual?</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6B3A"/>
          </a:solidFill>
          <a:ln w="12700">
            <a:solidFill>
              <a:srgbClr val="1A6B3A"/>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7AE8A0"/>
          </a:solidFill>
          <a:ln w="12700">
            <a:solidFill>
              <a:srgbClr val="7AE8A0"/>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7AE8A0"/>
          </a:solidFill>
          <a:ln w="12700">
            <a:solidFill>
              <a:srgbClr val="7AE8A0"/>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fariseo no ora a Dios; se celebra a sí mismo delante de un testigo divino. Su «gratitud» es comparación disfrazada de piedad. (Luc. 18:9-11; Prov. 16:18)</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7AE8A0"/>
          </a:solidFill>
          <a:ln w="12700">
            <a:solidFill>
              <a:srgbClr val="7AE8A0"/>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orgullo puede habitar en quien conoce todas las doctrinas, asiste cada sábado y paga el diezmo. (Mat. 23:25-28; Luc. 14:11)</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7AE8A0"/>
          </a:solidFill>
          <a:ln w="12700">
            <a:solidFill>
              <a:srgbClr val="7AE8A0"/>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orgulloso rara vez se identifica con el fariseo: esa ceguera es precisamente la trampa. (Jer. 17:9)</a:t>
            </a:r>
            <a:endParaRPr lang="en-US" sz="1200" dirty="0"/>
          </a:p>
        </p:txBody>
      </p:sp>
      <p:sp>
        <p:nvSpPr>
          <p:cNvPr id="29" name="Shape 26"/>
          <p:cNvSpPr/>
          <p:nvPr/>
        </p:nvSpPr>
        <p:spPr>
          <a:xfrm>
            <a:off x="2907792" y="3516874"/>
            <a:ext cx="6089904" cy="1425458"/>
          </a:xfrm>
          <a:prstGeom prst="rect">
            <a:avLst/>
          </a:prstGeom>
          <a:solidFill>
            <a:srgbClr val="1A6B3A">
              <a:alpha val="75000"/>
            </a:srgbClr>
          </a:solidFill>
          <a:ln w="127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7AE8A0"/>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Después de un sermón sobre el orgullo, la primera reacción de muchos es pensar en alguien de la iglesia que «realmente necesitaba escuchar esto». Esa reacción ya es la trampa del fariseo en tiempo real.</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0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2 de 3</a:t>
            </a:r>
            <a:endParaRPr lang="en-US" sz="1600" dirty="0"/>
          </a:p>
        </p:txBody>
      </p:sp>
      <p:sp>
        <p:nvSpPr>
          <p:cNvPr id="9" name="Shape 6"/>
          <p:cNvSpPr/>
          <p:nvPr/>
        </p:nvSpPr>
        <p:spPr>
          <a:xfrm>
            <a:off x="146304" y="749808"/>
            <a:ext cx="2633472" cy="4192524"/>
          </a:xfrm>
          <a:prstGeom prst="rect">
            <a:avLst/>
          </a:prstGeom>
          <a:solidFill>
            <a:srgbClr val="8B2B00">
              <a:alpha val="90000"/>
            </a:srgbClr>
          </a:solidFill>
          <a:ln w="254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F4A878"/>
          </a:solidFill>
          <a:ln w="12700">
            <a:solidFill>
              <a:srgbClr val="F4A87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F4A878"/>
                </a:solidFill>
                <a:latin typeface="Arial Black" pitchFamily="34" charset="0"/>
                <a:ea typeface="Arial Black" pitchFamily="34" charset="-122"/>
                <a:cs typeface="Arial Black" pitchFamily="34" charset="-120"/>
              </a:rPr>
              <a:t>02</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Lucas 18:12-13</a:t>
            </a:r>
            <a:endParaRPr lang="en-US" sz="1350" dirty="0"/>
          </a:p>
        </p:txBody>
      </p:sp>
      <p:sp>
        <p:nvSpPr>
          <p:cNvPr id="13" name="Shape 10"/>
          <p:cNvSpPr/>
          <p:nvPr/>
        </p:nvSpPr>
        <p:spPr>
          <a:xfrm>
            <a:off x="292608" y="1353312"/>
            <a:ext cx="2231136" cy="20117"/>
          </a:xfrm>
          <a:prstGeom prst="rect">
            <a:avLst/>
          </a:prstGeom>
          <a:solidFill>
            <a:srgbClr val="F4A878">
              <a:alpha val="55000"/>
            </a:srgbClr>
          </a:solidFill>
          <a:ln w="12700">
            <a:solidFill>
              <a:srgbClr val="F4A87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F4A878"/>
                </a:solidFill>
                <a:latin typeface="Trebuchet MS" pitchFamily="34" charset="0"/>
                <a:ea typeface="Trebuchet MS" pitchFamily="34" charset="-122"/>
                <a:cs typeface="Trebuchet MS" pitchFamily="34" charset="-120"/>
              </a:rPr>
              <a:t>La oración que llega al cielo</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tiene la oración del publicano que la hace genuina ante Dios, a diferencia de la del fariseo?</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8B2B00"/>
          </a:solidFill>
          <a:ln w="12700">
            <a:solidFill>
              <a:srgbClr val="8B2B00"/>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F4A878"/>
          </a:solidFill>
          <a:ln w="12700">
            <a:solidFill>
              <a:srgbClr val="F4A87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F4A878"/>
          </a:solidFill>
          <a:ln w="12700">
            <a:solidFill>
              <a:srgbClr val="F4A87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publicano solo dice «ten piedad de mí, que soy un pecador». Esa honestidad radical es la única moneda que Dios acepta. (Luc. 18:13; 1 Juan 1:9)</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F4A878"/>
          </a:solidFill>
          <a:ln w="12700">
            <a:solidFill>
              <a:srgbClr val="F4A87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No se atreve ni a levantar los ojos: no es depresión sino conciencia de quién es Dios y quién es él. (Luc. 18:13; Isa. 6:5)</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F4A878"/>
          </a:solidFill>
          <a:ln w="12700">
            <a:solidFill>
              <a:srgbClr val="F4A87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Cuanto más nos acercamos a Dios, más conscientes somos de nuestra necesidad, no menos. (Sal. 51:17; Fil. 3:8)</a:t>
            </a:r>
            <a:endParaRPr lang="en-US" sz="1200" dirty="0"/>
          </a:p>
        </p:txBody>
      </p:sp>
      <p:sp>
        <p:nvSpPr>
          <p:cNvPr id="29" name="Shape 26"/>
          <p:cNvSpPr/>
          <p:nvPr/>
        </p:nvSpPr>
        <p:spPr>
          <a:xfrm>
            <a:off x="2907792" y="3516874"/>
            <a:ext cx="6089904" cy="1425458"/>
          </a:xfrm>
          <a:prstGeom prst="rect">
            <a:avLst/>
          </a:prstGeom>
          <a:solidFill>
            <a:srgbClr val="8B2B00">
              <a:alpha val="75000"/>
            </a:srgbClr>
          </a:solidFill>
          <a:ln w="127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F4A87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Un joven que lleva años en la iglesia y nunca sintió que necesitaba pedir perdón debería preocuparse. La sensibilidad al pecado es señal de salud espiritual, no de debilidad.</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6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3 de 3</a:t>
            </a:r>
            <a:endParaRPr lang="en-US" sz="1600" dirty="0"/>
          </a:p>
        </p:txBody>
      </p:sp>
      <p:sp>
        <p:nvSpPr>
          <p:cNvPr id="9" name="Shape 6"/>
          <p:cNvSpPr/>
          <p:nvPr/>
        </p:nvSpPr>
        <p:spPr>
          <a:xfrm>
            <a:off x="146304" y="749808"/>
            <a:ext cx="2633472" cy="4192524"/>
          </a:xfrm>
          <a:prstGeom prst="rect">
            <a:avLst/>
          </a:prstGeom>
          <a:solidFill>
            <a:srgbClr val="1A4A8C">
              <a:alpha val="90000"/>
            </a:srgbClr>
          </a:solidFill>
          <a:ln w="254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88C0F8"/>
          </a:solidFill>
          <a:ln w="12700">
            <a:solidFill>
              <a:srgbClr val="88C0F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88C0F8"/>
                </a:solidFill>
                <a:latin typeface="Arial Black" pitchFamily="34" charset="0"/>
                <a:ea typeface="Arial Black" pitchFamily="34" charset="-122"/>
                <a:cs typeface="Arial Black" pitchFamily="34" charset="-120"/>
              </a:rPr>
              <a:t>03</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Lucas 18:14</a:t>
            </a:r>
            <a:endParaRPr lang="en-US" sz="1350" dirty="0"/>
          </a:p>
        </p:txBody>
      </p:sp>
      <p:sp>
        <p:nvSpPr>
          <p:cNvPr id="13" name="Shape 10"/>
          <p:cNvSpPr/>
          <p:nvPr/>
        </p:nvSpPr>
        <p:spPr>
          <a:xfrm>
            <a:off x="292608" y="1353312"/>
            <a:ext cx="2231136" cy="20117"/>
          </a:xfrm>
          <a:prstGeom prst="rect">
            <a:avLst/>
          </a:prstGeom>
          <a:solidFill>
            <a:srgbClr val="88C0F8">
              <a:alpha val="55000"/>
            </a:srgbClr>
          </a:solidFill>
          <a:ln w="12700">
            <a:solidFill>
              <a:srgbClr val="88C0F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88C0F8"/>
                </a:solidFill>
                <a:latin typeface="Trebuchet MS" pitchFamily="34" charset="0"/>
                <a:ea typeface="Trebuchet MS" pitchFamily="34" charset="-122"/>
                <a:cs typeface="Trebuchet MS" pitchFamily="34" charset="-120"/>
              </a:rPr>
              <a:t>El reino al revés</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¿Por qué el principio «el que se humilla será engrandecido» es tan radicalmente opuesto a los valores del mundo?</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4A8C"/>
          </a:solidFill>
          <a:ln w="12700">
            <a:solidFill>
              <a:srgbClr val="1A4A8C"/>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88C0F8"/>
          </a:solidFill>
          <a:ln w="12700">
            <a:solidFill>
              <a:srgbClr val="88C0F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88C0F8"/>
          </a:solidFill>
          <a:ln w="12700">
            <a:solidFill>
              <a:srgbClr val="88C0F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publicano —marginado, despreciado— salió justificado; el fariseo —respetado, ejemplar— no. (Luc. 18:14; Mat. 5:3)</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88C0F8"/>
          </a:solidFill>
          <a:ln w="12700">
            <a:solidFill>
              <a:srgbClr val="88C0F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Cristo única y exclusivamente puede salvar al que se reconoce pecador; el orgullo bloquea esa puerta. (Fil. 2:5-8; Mar. 10:42-45)</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88C0F8"/>
          </a:solidFill>
          <a:ln w="12700">
            <a:solidFill>
              <a:srgbClr val="88C0F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Jesús es el ejemplo supremo: «Yo estoy entre vosotros como el que sirve». La humildad es poder que no necesita demostrar nada. (Luc. 22:27; Fil. 2:3-4)</a:t>
            </a:r>
            <a:endParaRPr lang="en-US" sz="1200" dirty="0"/>
          </a:p>
        </p:txBody>
      </p:sp>
      <p:sp>
        <p:nvSpPr>
          <p:cNvPr id="29" name="Shape 26"/>
          <p:cNvSpPr/>
          <p:nvPr/>
        </p:nvSpPr>
        <p:spPr>
          <a:xfrm>
            <a:off x="2907792" y="3516874"/>
            <a:ext cx="6089904" cy="1425458"/>
          </a:xfrm>
          <a:prstGeom prst="rect">
            <a:avLst/>
          </a:prstGeom>
          <a:solidFill>
            <a:srgbClr val="1A4A8C">
              <a:alpha val="75000"/>
            </a:srgbClr>
          </a:solidFill>
          <a:ln w="127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88C0F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La humildad no es pensar que no servimos para nada; es dejar de pensar obsesivamente en nosotros mismos. Jesús era el ser más poderoso del universo y se arrodilló a lavar pies.</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0000"/>
            </a:srgbClr>
          </a:solidFill>
          <a:ln w="12700">
            <a:solidFill>
              <a:srgbClr val="000000"/>
            </a:solidFill>
            <a:prstDash val="solid"/>
          </a:ln>
        </p:spPr>
        <p:txBody>
          <a:bodyPr/>
          <a:lstStyle/>
          <a:p>
            <a:endParaRPr lang="es-ES"/>
          </a:p>
        </p:txBody>
      </p:sp>
      <p:sp>
        <p:nvSpPr>
          <p:cNvPr id="4" name="Shape 1"/>
          <p:cNvSpPr/>
          <p:nvPr/>
        </p:nvSpPr>
        <p:spPr>
          <a:xfrm>
            <a:off x="0" y="2560320"/>
            <a:ext cx="9144000" cy="2583180"/>
          </a:xfrm>
          <a:prstGeom prst="rect">
            <a:avLst/>
          </a:prstGeom>
          <a:solidFill>
            <a:srgbClr val="000000">
              <a:alpha val="62000"/>
            </a:srgbClr>
          </a:solidFill>
          <a:ln w="12700">
            <a:solidFill>
              <a:srgbClr val="000000"/>
            </a:solidFill>
            <a:prstDash val="solid"/>
          </a:ln>
        </p:spPr>
        <p:txBody>
          <a:bodyPr/>
          <a:lstStyle/>
          <a:p>
            <a:endParaRPr lang="es-ES"/>
          </a:p>
        </p:txBody>
      </p:sp>
      <p:sp>
        <p:nvSpPr>
          <p:cNvPr id="5" name="Shape 2"/>
          <p:cNvSpPr/>
          <p:nvPr/>
        </p:nvSpPr>
        <p:spPr>
          <a:xfrm>
            <a:off x="0" y="0"/>
            <a:ext cx="54864" cy="676656"/>
          </a:xfrm>
          <a:prstGeom prst="rect">
            <a:avLst/>
          </a:prstGeom>
          <a:solidFill>
            <a:srgbClr val="1A6B3A"/>
          </a:solidFill>
          <a:ln w="12700">
            <a:solidFill>
              <a:srgbClr val="1A6B3A"/>
            </a:solidFill>
            <a:prstDash val="solid"/>
          </a:ln>
        </p:spPr>
        <p:txBody>
          <a:bodyPr/>
          <a:lstStyle/>
          <a:p>
            <a:endParaRPr lang="es-ES"/>
          </a:p>
        </p:txBody>
      </p:sp>
      <p:sp>
        <p:nvSpPr>
          <p:cNvPr id="6" name="Shape 3"/>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7" name="Shape 4"/>
          <p:cNvSpPr/>
          <p:nvPr/>
        </p:nvSpPr>
        <p:spPr>
          <a:xfrm>
            <a:off x="182880" y="64008"/>
            <a:ext cx="566928" cy="548640"/>
          </a:xfrm>
          <a:prstGeom prst="rect">
            <a:avLst/>
          </a:prstGeom>
          <a:solidFill>
            <a:srgbClr val="1A6B3A"/>
          </a:solidFill>
          <a:ln w="12700">
            <a:solidFill>
              <a:srgbClr val="1A6B3A"/>
            </a:solidFill>
            <a:prstDash val="solid"/>
          </a:ln>
        </p:spPr>
        <p:txBody>
          <a:bodyPr/>
          <a:lstStyle/>
          <a:p>
            <a:endParaRPr lang="es-ES"/>
          </a:p>
        </p:txBody>
      </p:sp>
      <p:sp>
        <p:nvSpPr>
          <p:cNvPr id="8" name="Text 5"/>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9" name="Text 6"/>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F0B8"/>
                </a:solidFill>
                <a:latin typeface="Trebuchet MS" pitchFamily="34" charset="0"/>
                <a:ea typeface="Trebuchet MS" pitchFamily="34" charset="-122"/>
                <a:cs typeface="Trebuchet MS" pitchFamily="34" charset="-120"/>
              </a:rPr>
              <a:t>FASE 3  ·  APLICA  (REFLEXIONA)  —  Reflexión y aplicación a la vida</a:t>
            </a:r>
            <a:endParaRPr lang="en-US" sz="1600" dirty="0"/>
          </a:p>
        </p:txBody>
      </p:sp>
      <p:sp>
        <p:nvSpPr>
          <p:cNvPr id="10" name="Shape 7"/>
          <p:cNvSpPr/>
          <p:nvPr/>
        </p:nvSpPr>
        <p:spPr>
          <a:xfrm>
            <a:off x="201168" y="749808"/>
            <a:ext cx="8741664" cy="1920240"/>
          </a:xfrm>
          <a:prstGeom prst="rect">
            <a:avLst/>
          </a:prstGeom>
          <a:solidFill>
            <a:srgbClr val="000000">
              <a:alpha val="75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1" name="Shape 8"/>
          <p:cNvSpPr/>
          <p:nvPr/>
        </p:nvSpPr>
        <p:spPr>
          <a:xfrm>
            <a:off x="201168" y="749808"/>
            <a:ext cx="64008" cy="1920240"/>
          </a:xfrm>
          <a:prstGeom prst="rect">
            <a:avLst/>
          </a:prstGeom>
          <a:solidFill>
            <a:srgbClr val="2E8A4A"/>
          </a:solidFill>
          <a:ln w="12700">
            <a:solidFill>
              <a:srgbClr val="2E8A4A"/>
            </a:solidFill>
            <a:prstDash val="solid"/>
          </a:ln>
        </p:spPr>
        <p:txBody>
          <a:bodyPr/>
          <a:lstStyle/>
          <a:p>
            <a:endParaRPr lang="es-ES"/>
          </a:p>
        </p:txBody>
      </p:sp>
      <p:sp>
        <p:nvSpPr>
          <p:cNvPr id="12" name="Text 9"/>
          <p:cNvSpPr/>
          <p:nvPr/>
        </p:nvSpPr>
        <p:spPr>
          <a:xfrm>
            <a:off x="256032" y="694944"/>
            <a:ext cx="822960" cy="1097280"/>
          </a:xfrm>
          <a:prstGeom prst="rect">
            <a:avLst/>
          </a:prstGeom>
          <a:noFill/>
          <a:ln/>
        </p:spPr>
        <p:txBody>
          <a:bodyPr wrap="square" lIns="0" tIns="0" rIns="0" bIns="0" rtlCol="0" anchor="t"/>
          <a:lstStyle/>
          <a:p>
            <a:pPr marL="0" indent="0" algn="l">
              <a:buNone/>
            </a:pPr>
            <a:r>
              <a:rPr lang="en-US" sz="7600" b="1" dirty="0">
                <a:solidFill>
                  <a:srgbClr val="4AE89A"/>
                </a:solidFill>
                <a:latin typeface="Georgia" pitchFamily="34" charset="0"/>
                <a:ea typeface="Georgia" pitchFamily="34" charset="-122"/>
                <a:cs typeface="Georgia" pitchFamily="34" charset="-120"/>
              </a:rPr>
              <a:t>“</a:t>
            </a:r>
            <a:endParaRPr lang="en-US" sz="7600" dirty="0"/>
          </a:p>
        </p:txBody>
      </p:sp>
      <p:sp>
        <p:nvSpPr>
          <p:cNvPr id="13" name="Text 10"/>
          <p:cNvSpPr/>
          <p:nvPr/>
        </p:nvSpPr>
        <p:spPr>
          <a:xfrm>
            <a:off x="877824" y="841248"/>
            <a:ext cx="7955280" cy="1481328"/>
          </a:xfrm>
          <a:prstGeom prst="rect">
            <a:avLst/>
          </a:prstGeom>
          <a:noFill/>
          <a:ln/>
        </p:spPr>
        <p:txBody>
          <a:bodyPr wrap="square" rtlCol="0" anchor="ctr"/>
          <a:lstStyle/>
          <a:p>
            <a:pPr marL="0" indent="0" algn="just">
              <a:buNone/>
            </a:pPr>
            <a:r>
              <a:rPr lang="en-US" sz="1350" i="1" dirty="0">
                <a:solidFill>
                  <a:srgbClr val="EEFFEE"/>
                </a:solidFill>
                <a:latin typeface="Calibri" pitchFamily="34" charset="0"/>
                <a:ea typeface="Calibri" pitchFamily="34" charset="-122"/>
                <a:cs typeface="Calibri" pitchFamily="34" charset="-120"/>
              </a:rPr>
              <a:t>"Mientras más nos acerquemos a Jesús, y más claramente discernamos la pureza de su carácter, más claramente discerniremos la excesiva pecaminosidad del pecado y menos nos sentiremos inclinados a ensalzarnos a nosotros mismos. Aquellos a quienes el cielo reconoce como santos son los últimos en alardear de su propia bondad."</a:t>
            </a:r>
            <a:endParaRPr lang="en-US" sz="1350" dirty="0"/>
          </a:p>
        </p:txBody>
      </p:sp>
      <p:sp>
        <p:nvSpPr>
          <p:cNvPr id="14" name="Text 11"/>
          <p:cNvSpPr/>
          <p:nvPr/>
        </p:nvSpPr>
        <p:spPr>
          <a:xfrm>
            <a:off x="877824" y="2670048"/>
            <a:ext cx="7955280" cy="201168"/>
          </a:xfrm>
          <a:prstGeom prst="rect">
            <a:avLst/>
          </a:prstGeom>
          <a:noFill/>
          <a:ln/>
        </p:spPr>
        <p:txBody>
          <a:bodyPr wrap="square" lIns="0" tIns="0" rIns="0" bIns="0" rtlCol="0" anchor="ctr"/>
          <a:lstStyle/>
          <a:p>
            <a:pPr marL="0" indent="0" algn="r">
              <a:buNone/>
            </a:pPr>
            <a:r>
              <a:rPr lang="en-US" sz="900" i="1" dirty="0">
                <a:solidFill>
                  <a:srgbClr val="6AE89A"/>
                </a:solidFill>
                <a:latin typeface="Calibri" pitchFamily="34" charset="0"/>
                <a:ea typeface="Calibri" pitchFamily="34" charset="-122"/>
                <a:cs typeface="Calibri" pitchFamily="34" charset="-120"/>
              </a:rPr>
              <a:t>— Elena G. de White, El Deseado de todas las gentes</a:t>
            </a:r>
            <a:endParaRPr lang="en-US" sz="900" dirty="0"/>
          </a:p>
        </p:txBody>
      </p:sp>
      <p:sp>
        <p:nvSpPr>
          <p:cNvPr id="15" name="Shape 12"/>
          <p:cNvSpPr/>
          <p:nvPr/>
        </p:nvSpPr>
        <p:spPr>
          <a:xfrm>
            <a:off x="201168" y="2944368"/>
            <a:ext cx="8741664" cy="45720"/>
          </a:xfrm>
          <a:prstGeom prst="rect">
            <a:avLst/>
          </a:prstGeom>
          <a:solidFill>
            <a:srgbClr val="0ABFBF"/>
          </a:solidFill>
          <a:ln w="12700">
            <a:solidFill>
              <a:srgbClr val="0ABFBF"/>
            </a:solidFill>
            <a:prstDash val="solid"/>
          </a:ln>
        </p:spPr>
        <p:txBody>
          <a:bodyPr/>
          <a:lstStyle/>
          <a:p>
            <a:endParaRPr lang="es-ES"/>
          </a:p>
        </p:txBody>
      </p:sp>
      <p:sp>
        <p:nvSpPr>
          <p:cNvPr id="16" name="Text 13"/>
          <p:cNvSpPr/>
          <p:nvPr/>
        </p:nvSpPr>
        <p:spPr>
          <a:xfrm>
            <a:off x="329184" y="3035808"/>
            <a:ext cx="1463040" cy="274320"/>
          </a:xfrm>
          <a:prstGeom prst="rect">
            <a:avLst/>
          </a:prstGeom>
          <a:noFill/>
          <a:ln/>
        </p:spPr>
        <p:txBody>
          <a:bodyPr wrap="square" lIns="0" tIns="0" rIns="0" bIns="0" rtlCol="0" anchor="ctr"/>
          <a:lstStyle/>
          <a:p>
            <a:pPr marL="0" indent="0">
              <a:buNone/>
            </a:pPr>
            <a:r>
              <a:rPr lang="en-US" sz="1100" b="1" dirty="0">
                <a:solidFill>
                  <a:srgbClr val="0ABFBF"/>
                </a:solidFill>
                <a:latin typeface="Trebuchet MS" pitchFamily="34" charset="0"/>
                <a:ea typeface="Trebuchet MS" pitchFamily="34" charset="-122"/>
                <a:cs typeface="Trebuchet MS" pitchFamily="34" charset="-120"/>
              </a:rPr>
              <a:t>Reflexiona:</a:t>
            </a:r>
            <a:endParaRPr lang="en-US" sz="1100" dirty="0"/>
          </a:p>
        </p:txBody>
      </p:sp>
      <p:sp>
        <p:nvSpPr>
          <p:cNvPr id="17" name="Text 14"/>
          <p:cNvSpPr/>
          <p:nvPr/>
        </p:nvSpPr>
        <p:spPr>
          <a:xfrm>
            <a:off x="329184" y="3328416"/>
            <a:ext cx="8485632" cy="1444752"/>
          </a:xfrm>
          <a:prstGeom prst="rect">
            <a:avLst/>
          </a:prstGeom>
          <a:noFill/>
          <a:ln/>
          <a:effectLst>
            <a:outerShdw blurRad="177800" dist="38100" dir="8100000" algn="bl" rotWithShape="0">
              <a:srgbClr val="000000">
                <a:alpha val="80000"/>
              </a:srgbClr>
            </a:outerShdw>
          </a:effectLst>
        </p:spPr>
        <p:txBody>
          <a:bodyPr wrap="square" rtlCol="0" anchor="ctr"/>
          <a:lstStyle/>
          <a:p>
            <a:pPr marL="0" indent="0" algn="ctr">
              <a:buNone/>
            </a:pPr>
            <a:r>
              <a:rPr lang="en-US" sz="1650" b="1" dirty="0">
                <a:solidFill>
                  <a:srgbClr val="FFFFFF"/>
                </a:solidFill>
                <a:latin typeface="Arial Black" pitchFamily="34" charset="0"/>
                <a:ea typeface="Arial Black" pitchFamily="34" charset="-122"/>
                <a:cs typeface="Arial Black" pitchFamily="34" charset="-120"/>
              </a:rPr>
              <a:t>¿En qué área de tu vida —relaciones, servicio, vida de iglesia— el orgullo te impide recibir lo que Dios quiere darte? ¿Qué decisión concreta de humildad puedes tomar ESTA SEMANA?</a:t>
            </a:r>
            <a:endParaRPr lang="en-US" sz="1650" dirty="0"/>
          </a:p>
        </p:txBody>
      </p:sp>
      <p:sp>
        <p:nvSpPr>
          <p:cNvPr id="18" name="Text 15"/>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7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7A1010"/>
          </a:solidFill>
          <a:ln w="12700">
            <a:solidFill>
              <a:srgbClr val="7A101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7A1010"/>
          </a:solidFill>
          <a:ln w="12700">
            <a:solidFill>
              <a:srgbClr val="7A101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B0B0"/>
                </a:solidFill>
                <a:latin typeface="Trebuchet MS" pitchFamily="34" charset="0"/>
                <a:ea typeface="Trebuchet MS" pitchFamily="34" charset="-122"/>
                <a:cs typeface="Trebuchet MS" pitchFamily="34" charset="-120"/>
              </a:rPr>
              <a:t>FASE 4  ·  CREA  —  MI DECISIÓN  ·  Esta semana decido...</a:t>
            </a:r>
            <a:endParaRPr lang="en-US" sz="1600" dirty="0"/>
          </a:p>
        </p:txBody>
      </p:sp>
      <p:sp>
        <p:nvSpPr>
          <p:cNvPr id="9" name="Shape 6"/>
          <p:cNvSpPr/>
          <p:nvPr/>
        </p:nvSpPr>
        <p:spPr>
          <a:xfrm>
            <a:off x="182880" y="749808"/>
            <a:ext cx="7059168" cy="347472"/>
          </a:xfrm>
          <a:prstGeom prst="rect">
            <a:avLst/>
          </a:prstGeom>
          <a:solidFill>
            <a:srgbClr val="0E1E34"/>
          </a:solidFill>
          <a:ln w="12700">
            <a:solidFill>
              <a:srgbClr val="0ABFBF"/>
            </a:solidFill>
            <a:prstDash val="solid"/>
          </a:ln>
        </p:spPr>
        <p:txBody>
          <a:bodyPr/>
          <a:lstStyle/>
          <a:p>
            <a:endParaRPr lang="es-ES"/>
          </a:p>
        </p:txBody>
      </p:sp>
      <p:sp>
        <p:nvSpPr>
          <p:cNvPr id="10" name="Text 7"/>
          <p:cNvSpPr/>
          <p:nvPr/>
        </p:nvSpPr>
        <p:spPr>
          <a:xfrm>
            <a:off x="310896" y="749808"/>
            <a:ext cx="6876288" cy="347472"/>
          </a:xfrm>
          <a:prstGeom prst="rect">
            <a:avLst/>
          </a:prstGeom>
          <a:noFill/>
          <a:ln/>
        </p:spPr>
        <p:txBody>
          <a:bodyPr wrap="square" lIns="0" tIns="0" rIns="0" bIns="0" rtlCol="0" anchor="ctr"/>
          <a:lstStyle/>
          <a:p>
            <a:pPr marL="0" indent="0" algn="l">
              <a:buNone/>
            </a:pPr>
            <a:r>
              <a:rPr lang="en-US" sz="1100" i="1" dirty="0">
                <a:solidFill>
                  <a:srgbClr val="8888AA"/>
                </a:solidFill>
                <a:latin typeface="Calibri" pitchFamily="34" charset="0"/>
                <a:ea typeface="Calibri" pitchFamily="34" charset="-122"/>
                <a:cs typeface="Calibri" pitchFamily="34" charset="-120"/>
              </a:rPr>
              <a:t>Mi decisión esta semana...</a:t>
            </a:r>
            <a:endParaRPr lang="en-US" sz="1100" dirty="0"/>
          </a:p>
        </p:txBody>
      </p:sp>
      <p:sp>
        <p:nvSpPr>
          <p:cNvPr id="11" name="Shape 8"/>
          <p:cNvSpPr/>
          <p:nvPr/>
        </p:nvSpPr>
        <p:spPr>
          <a:xfrm>
            <a:off x="7351776" y="749808"/>
            <a:ext cx="877824" cy="347472"/>
          </a:xfrm>
          <a:prstGeom prst="rect">
            <a:avLst/>
          </a:prstGeom>
          <a:solidFill>
            <a:srgbClr val="1A5C28"/>
          </a:solidFill>
          <a:ln w="12700">
            <a:solidFill>
              <a:srgbClr val="5AE07A"/>
            </a:solidFill>
            <a:prstDash val="solid"/>
          </a:ln>
        </p:spPr>
        <p:txBody>
          <a:bodyPr/>
          <a:lstStyle/>
          <a:p>
            <a:endParaRPr lang="es-ES"/>
          </a:p>
        </p:txBody>
      </p:sp>
      <p:sp>
        <p:nvSpPr>
          <p:cNvPr id="12" name="Text 9"/>
          <p:cNvSpPr/>
          <p:nvPr/>
        </p:nvSpPr>
        <p:spPr>
          <a:xfrm>
            <a:off x="7351776" y="749808"/>
            <a:ext cx="877824" cy="347472"/>
          </a:xfrm>
          <a:prstGeom prst="rect">
            <a:avLst/>
          </a:prstGeom>
          <a:noFill/>
          <a:ln/>
        </p:spPr>
        <p:txBody>
          <a:bodyPr wrap="square" lIns="0" tIns="0" rIns="0" bIns="0" rtlCol="0" anchor="ctr"/>
          <a:lstStyle/>
          <a:p>
            <a:pPr marL="0" indent="0" algn="ctr">
              <a:buNone/>
            </a:pPr>
            <a:r>
              <a:rPr lang="en-US" sz="1800" b="1" dirty="0">
                <a:solidFill>
                  <a:srgbClr val="A8F0A8"/>
                </a:solidFill>
                <a:latin typeface="Arial Black" pitchFamily="34" charset="0"/>
                <a:ea typeface="Arial Black" pitchFamily="34" charset="-122"/>
                <a:cs typeface="Arial Black" pitchFamily="34" charset="-120"/>
              </a:rPr>
              <a:t>SÍ</a:t>
            </a:r>
            <a:endParaRPr lang="en-US" sz="1800" dirty="0"/>
          </a:p>
        </p:txBody>
      </p:sp>
      <p:sp>
        <p:nvSpPr>
          <p:cNvPr id="13" name="Shape 10"/>
          <p:cNvSpPr/>
          <p:nvPr/>
        </p:nvSpPr>
        <p:spPr>
          <a:xfrm>
            <a:off x="8339328" y="749808"/>
            <a:ext cx="877824" cy="347472"/>
          </a:xfrm>
          <a:prstGeom prst="rect">
            <a:avLst/>
          </a:prstGeom>
          <a:solidFill>
            <a:srgbClr val="5C1A1A"/>
          </a:solidFill>
          <a:ln w="12700">
            <a:solidFill>
              <a:srgbClr val="E06060"/>
            </a:solidFill>
            <a:prstDash val="solid"/>
          </a:ln>
        </p:spPr>
        <p:txBody>
          <a:bodyPr/>
          <a:lstStyle/>
          <a:p>
            <a:endParaRPr lang="es-ES"/>
          </a:p>
        </p:txBody>
      </p:sp>
      <p:sp>
        <p:nvSpPr>
          <p:cNvPr id="14" name="Text 11"/>
          <p:cNvSpPr/>
          <p:nvPr/>
        </p:nvSpPr>
        <p:spPr>
          <a:xfrm>
            <a:off x="8339328" y="749808"/>
            <a:ext cx="877824" cy="347472"/>
          </a:xfrm>
          <a:prstGeom prst="rect">
            <a:avLst/>
          </a:prstGeom>
          <a:noFill/>
          <a:ln/>
        </p:spPr>
        <p:txBody>
          <a:bodyPr wrap="square" lIns="0" tIns="0" rIns="0" bIns="0" rtlCol="0" anchor="ctr"/>
          <a:lstStyle/>
          <a:p>
            <a:pPr marL="0" indent="0" algn="ctr">
              <a:buNone/>
            </a:pPr>
            <a:r>
              <a:rPr lang="en-US" sz="1800" b="1" dirty="0">
                <a:solidFill>
                  <a:srgbClr val="F0A8A8"/>
                </a:solidFill>
                <a:latin typeface="Arial Black" pitchFamily="34" charset="0"/>
                <a:ea typeface="Arial Black" pitchFamily="34" charset="-122"/>
                <a:cs typeface="Arial Black" pitchFamily="34" charset="-120"/>
              </a:rPr>
              <a:t>NO</a:t>
            </a:r>
            <a:endParaRPr lang="en-US" sz="1800" dirty="0"/>
          </a:p>
        </p:txBody>
      </p:sp>
      <p:sp>
        <p:nvSpPr>
          <p:cNvPr id="15" name="Shape 12"/>
          <p:cNvSpPr/>
          <p:nvPr/>
        </p:nvSpPr>
        <p:spPr>
          <a:xfrm>
            <a:off x="182880" y="1152144"/>
            <a:ext cx="7059168" cy="1261872"/>
          </a:xfrm>
          <a:prstGeom prst="rect">
            <a:avLst/>
          </a:prstGeom>
          <a:solidFill>
            <a:srgbClr val="0E1E34"/>
          </a:solidFill>
          <a:ln w="15240">
            <a:solidFill>
              <a:srgbClr val="0ABFBF"/>
            </a:solidFill>
            <a:prstDash val="solid"/>
          </a:ln>
          <a:effectLst>
            <a:outerShdw blurRad="152400" dist="38100" dir="8100000" algn="bl" rotWithShape="0">
              <a:srgbClr val="000000">
                <a:alpha val="50000"/>
              </a:srgbClr>
            </a:outerShdw>
          </a:effectLst>
        </p:spPr>
        <p:txBody>
          <a:bodyPr/>
          <a:lstStyle/>
          <a:p>
            <a:endParaRPr lang="es-ES"/>
          </a:p>
        </p:txBody>
      </p:sp>
      <p:sp>
        <p:nvSpPr>
          <p:cNvPr id="16" name="Shape 13"/>
          <p:cNvSpPr/>
          <p:nvPr/>
        </p:nvSpPr>
        <p:spPr>
          <a:xfrm>
            <a:off x="182880" y="1152144"/>
            <a:ext cx="64008" cy="1261872"/>
          </a:xfrm>
          <a:prstGeom prst="rect">
            <a:avLst/>
          </a:prstGeom>
          <a:solidFill>
            <a:srgbClr val="0ABFBF"/>
          </a:solidFill>
          <a:ln w="12700">
            <a:solidFill>
              <a:srgbClr val="0ABFBF"/>
            </a:solidFill>
            <a:prstDash val="solid"/>
          </a:ln>
        </p:spPr>
        <p:txBody>
          <a:bodyPr/>
          <a:lstStyle/>
          <a:p>
            <a:endParaRPr lang="es-ES"/>
          </a:p>
        </p:txBody>
      </p:sp>
      <p:sp>
        <p:nvSpPr>
          <p:cNvPr id="17" name="Shape 14"/>
          <p:cNvSpPr/>
          <p:nvPr/>
        </p:nvSpPr>
        <p:spPr>
          <a:xfrm>
            <a:off x="292608" y="1508760"/>
            <a:ext cx="548640" cy="548640"/>
          </a:xfrm>
          <a:prstGeom prst="line">
            <a:avLst/>
          </a:prstGeom>
          <a:solidFill>
            <a:srgbClr val="0ABFBF"/>
          </a:solidFill>
          <a:ln w="12700">
            <a:solidFill>
              <a:srgbClr val="0ABFBF"/>
            </a:solidFill>
            <a:prstDash val="solid"/>
          </a:ln>
        </p:spPr>
        <p:txBody>
          <a:bodyPr/>
          <a:lstStyle/>
          <a:p>
            <a:endParaRPr lang="es-ES"/>
          </a:p>
        </p:txBody>
      </p:sp>
      <p:sp>
        <p:nvSpPr>
          <p:cNvPr id="18" name="Text 15"/>
          <p:cNvSpPr/>
          <p:nvPr/>
        </p:nvSpPr>
        <p:spPr>
          <a:xfrm>
            <a:off x="292608" y="1508760"/>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1</a:t>
            </a:r>
            <a:endParaRPr lang="en-US" sz="1800" dirty="0"/>
          </a:p>
        </p:txBody>
      </p:sp>
      <p:sp>
        <p:nvSpPr>
          <p:cNvPr id="19" name="Text 16"/>
          <p:cNvSpPr/>
          <p:nvPr/>
        </p:nvSpPr>
        <p:spPr>
          <a:xfrm>
            <a:off x="969264" y="1261872"/>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Esta semana oro con la honestidad del publicano: «Ten piedad de mí, que soy un pecador», sin comparaciones ni justificaciones (Luc. 18:13).</a:t>
            </a:r>
            <a:endParaRPr lang="en-US" sz="1250" dirty="0"/>
          </a:p>
        </p:txBody>
      </p:sp>
      <p:sp>
        <p:nvSpPr>
          <p:cNvPr id="20" name="Shape 17"/>
          <p:cNvSpPr/>
          <p:nvPr/>
        </p:nvSpPr>
        <p:spPr>
          <a:xfrm>
            <a:off x="7351776" y="1152144"/>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21" name="Shape 18"/>
          <p:cNvSpPr/>
          <p:nvPr/>
        </p:nvSpPr>
        <p:spPr>
          <a:xfrm>
            <a:off x="7562088" y="1325880"/>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22" name="Text 19"/>
          <p:cNvSpPr/>
          <p:nvPr/>
        </p:nvSpPr>
        <p:spPr>
          <a:xfrm>
            <a:off x="7351776" y="1837944"/>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23" name="Shape 20"/>
          <p:cNvSpPr/>
          <p:nvPr/>
        </p:nvSpPr>
        <p:spPr>
          <a:xfrm>
            <a:off x="8339328" y="1152144"/>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24" name="Shape 21"/>
          <p:cNvSpPr/>
          <p:nvPr/>
        </p:nvSpPr>
        <p:spPr>
          <a:xfrm>
            <a:off x="8549640" y="1325880"/>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25" name="Text 22"/>
          <p:cNvSpPr/>
          <p:nvPr/>
        </p:nvSpPr>
        <p:spPr>
          <a:xfrm>
            <a:off x="8339328" y="1837944"/>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26" name="Shape 23"/>
          <p:cNvSpPr/>
          <p:nvPr/>
        </p:nvSpPr>
        <p:spPr>
          <a:xfrm>
            <a:off x="182880" y="2487168"/>
            <a:ext cx="7059168" cy="1261872"/>
          </a:xfrm>
          <a:prstGeom prst="rect">
            <a:avLst/>
          </a:prstGeom>
          <a:solidFill>
            <a:srgbClr val="0A1828"/>
          </a:solidFill>
          <a:ln w="15240">
            <a:solidFill>
              <a:srgbClr val="0ABFBF"/>
            </a:solidFill>
            <a:prstDash val="solid"/>
          </a:ln>
          <a:effectLst>
            <a:outerShdw blurRad="152400" dist="38100" dir="8100000" algn="bl" rotWithShape="0">
              <a:srgbClr val="000000">
                <a:alpha val="50000"/>
              </a:srgbClr>
            </a:outerShdw>
          </a:effectLst>
        </p:spPr>
        <p:txBody>
          <a:bodyPr/>
          <a:lstStyle/>
          <a:p>
            <a:endParaRPr lang="es-ES"/>
          </a:p>
        </p:txBody>
      </p:sp>
      <p:sp>
        <p:nvSpPr>
          <p:cNvPr id="27" name="Shape 24"/>
          <p:cNvSpPr/>
          <p:nvPr/>
        </p:nvSpPr>
        <p:spPr>
          <a:xfrm>
            <a:off x="182880" y="2487168"/>
            <a:ext cx="64008" cy="1261872"/>
          </a:xfrm>
          <a:prstGeom prst="rect">
            <a:avLst/>
          </a:prstGeom>
          <a:solidFill>
            <a:srgbClr val="0ABFBF"/>
          </a:solidFill>
          <a:ln w="12700">
            <a:solidFill>
              <a:srgbClr val="0ABFBF"/>
            </a:solidFill>
            <a:prstDash val="solid"/>
          </a:ln>
        </p:spPr>
        <p:txBody>
          <a:bodyPr/>
          <a:lstStyle/>
          <a:p>
            <a:endParaRPr lang="es-ES"/>
          </a:p>
        </p:txBody>
      </p:sp>
      <p:sp>
        <p:nvSpPr>
          <p:cNvPr id="28" name="Shape 25"/>
          <p:cNvSpPr/>
          <p:nvPr/>
        </p:nvSpPr>
        <p:spPr>
          <a:xfrm>
            <a:off x="292608" y="2843784"/>
            <a:ext cx="548640" cy="548640"/>
          </a:xfrm>
          <a:prstGeom prst="line">
            <a:avLst/>
          </a:prstGeom>
          <a:solidFill>
            <a:srgbClr val="0ABFBF"/>
          </a:solidFill>
          <a:ln w="12700">
            <a:solidFill>
              <a:srgbClr val="0ABFBF"/>
            </a:solidFill>
            <a:prstDash val="solid"/>
          </a:ln>
        </p:spPr>
        <p:txBody>
          <a:bodyPr/>
          <a:lstStyle/>
          <a:p>
            <a:endParaRPr lang="es-ES"/>
          </a:p>
        </p:txBody>
      </p:sp>
      <p:sp>
        <p:nvSpPr>
          <p:cNvPr id="29" name="Text 26"/>
          <p:cNvSpPr/>
          <p:nvPr/>
        </p:nvSpPr>
        <p:spPr>
          <a:xfrm>
            <a:off x="292608" y="2843784"/>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2</a:t>
            </a:r>
            <a:endParaRPr lang="en-US" sz="1800" dirty="0"/>
          </a:p>
        </p:txBody>
      </p:sp>
      <p:sp>
        <p:nvSpPr>
          <p:cNvPr id="30" name="Text 27"/>
          <p:cNvSpPr/>
          <p:nvPr/>
        </p:nvSpPr>
        <p:spPr>
          <a:xfrm>
            <a:off x="969264" y="2596896"/>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Elijo poner a los demás en primer lugar en al menos una situación concreta esta semana, siguiendo el ejemplo de Jesús (Fil. 2:3-4).</a:t>
            </a:r>
            <a:endParaRPr lang="en-US" sz="1250" dirty="0"/>
          </a:p>
        </p:txBody>
      </p:sp>
      <p:sp>
        <p:nvSpPr>
          <p:cNvPr id="31" name="Shape 28"/>
          <p:cNvSpPr/>
          <p:nvPr/>
        </p:nvSpPr>
        <p:spPr>
          <a:xfrm>
            <a:off x="7351776" y="2487168"/>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32" name="Shape 29"/>
          <p:cNvSpPr/>
          <p:nvPr/>
        </p:nvSpPr>
        <p:spPr>
          <a:xfrm>
            <a:off x="7562088" y="2660904"/>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33" name="Text 30"/>
          <p:cNvSpPr/>
          <p:nvPr/>
        </p:nvSpPr>
        <p:spPr>
          <a:xfrm>
            <a:off x="7351776" y="3172968"/>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34" name="Shape 31"/>
          <p:cNvSpPr/>
          <p:nvPr/>
        </p:nvSpPr>
        <p:spPr>
          <a:xfrm>
            <a:off x="8339328" y="2487168"/>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35" name="Shape 32"/>
          <p:cNvSpPr/>
          <p:nvPr/>
        </p:nvSpPr>
        <p:spPr>
          <a:xfrm>
            <a:off x="8549640" y="2660904"/>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36" name="Text 33"/>
          <p:cNvSpPr/>
          <p:nvPr/>
        </p:nvSpPr>
        <p:spPr>
          <a:xfrm>
            <a:off x="8339328" y="3172968"/>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37" name="Shape 34"/>
          <p:cNvSpPr/>
          <p:nvPr/>
        </p:nvSpPr>
        <p:spPr>
          <a:xfrm>
            <a:off x="182880" y="3822192"/>
            <a:ext cx="7059168" cy="1261872"/>
          </a:xfrm>
          <a:prstGeom prst="rect">
            <a:avLst/>
          </a:prstGeom>
          <a:solidFill>
            <a:srgbClr val="0E1E34"/>
          </a:solidFill>
          <a:ln w="15240">
            <a:solidFill>
              <a:srgbClr val="0ABFBF"/>
            </a:solidFill>
            <a:prstDash val="solid"/>
          </a:ln>
          <a:effectLst>
            <a:outerShdw blurRad="152400" dist="38100" dir="8100000" algn="bl" rotWithShape="0">
              <a:srgbClr val="000000">
                <a:alpha val="50000"/>
              </a:srgbClr>
            </a:outerShdw>
          </a:effectLst>
        </p:spPr>
        <p:txBody>
          <a:bodyPr/>
          <a:lstStyle/>
          <a:p>
            <a:endParaRPr lang="es-ES"/>
          </a:p>
        </p:txBody>
      </p:sp>
      <p:sp>
        <p:nvSpPr>
          <p:cNvPr id="38" name="Shape 35"/>
          <p:cNvSpPr/>
          <p:nvPr/>
        </p:nvSpPr>
        <p:spPr>
          <a:xfrm>
            <a:off x="182880" y="3822192"/>
            <a:ext cx="64008" cy="1261872"/>
          </a:xfrm>
          <a:prstGeom prst="rect">
            <a:avLst/>
          </a:prstGeom>
          <a:solidFill>
            <a:srgbClr val="0ABFBF"/>
          </a:solidFill>
          <a:ln w="12700">
            <a:solidFill>
              <a:srgbClr val="0ABFBF"/>
            </a:solidFill>
            <a:prstDash val="solid"/>
          </a:ln>
        </p:spPr>
        <p:txBody>
          <a:bodyPr/>
          <a:lstStyle/>
          <a:p>
            <a:endParaRPr lang="es-ES"/>
          </a:p>
        </p:txBody>
      </p:sp>
      <p:sp>
        <p:nvSpPr>
          <p:cNvPr id="39" name="Shape 36"/>
          <p:cNvSpPr/>
          <p:nvPr/>
        </p:nvSpPr>
        <p:spPr>
          <a:xfrm>
            <a:off x="292608" y="4178808"/>
            <a:ext cx="548640" cy="548640"/>
          </a:xfrm>
          <a:prstGeom prst="line">
            <a:avLst/>
          </a:prstGeom>
          <a:solidFill>
            <a:srgbClr val="0ABFBF"/>
          </a:solidFill>
          <a:ln w="12700">
            <a:solidFill>
              <a:srgbClr val="0ABFBF"/>
            </a:solidFill>
            <a:prstDash val="solid"/>
          </a:ln>
        </p:spPr>
        <p:txBody>
          <a:bodyPr/>
          <a:lstStyle/>
          <a:p>
            <a:endParaRPr lang="es-ES"/>
          </a:p>
        </p:txBody>
      </p:sp>
      <p:sp>
        <p:nvSpPr>
          <p:cNvPr id="40" name="Text 37"/>
          <p:cNvSpPr/>
          <p:nvPr/>
        </p:nvSpPr>
        <p:spPr>
          <a:xfrm>
            <a:off x="292608" y="4178808"/>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3</a:t>
            </a:r>
            <a:endParaRPr lang="en-US" sz="1800" dirty="0"/>
          </a:p>
        </p:txBody>
      </p:sp>
      <p:sp>
        <p:nvSpPr>
          <p:cNvPr id="41" name="Text 38"/>
          <p:cNvSpPr/>
          <p:nvPr/>
        </p:nvSpPr>
        <p:spPr>
          <a:xfrm>
            <a:off x="969264" y="3931920"/>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Pido a Dios que me muestre con claridad dónde el orgullo bloquea mi relación con él y con las personas que me rodean (Prov. 16:18; Sant. 4:6).</a:t>
            </a:r>
            <a:endParaRPr lang="en-US" sz="1250" dirty="0"/>
          </a:p>
        </p:txBody>
      </p:sp>
      <p:sp>
        <p:nvSpPr>
          <p:cNvPr id="42" name="Shape 39"/>
          <p:cNvSpPr/>
          <p:nvPr/>
        </p:nvSpPr>
        <p:spPr>
          <a:xfrm>
            <a:off x="7351776" y="3822192"/>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43" name="Shape 40"/>
          <p:cNvSpPr/>
          <p:nvPr/>
        </p:nvSpPr>
        <p:spPr>
          <a:xfrm>
            <a:off x="7562088" y="3995928"/>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44" name="Text 41"/>
          <p:cNvSpPr/>
          <p:nvPr/>
        </p:nvSpPr>
        <p:spPr>
          <a:xfrm>
            <a:off x="7351776" y="4507992"/>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45" name="Shape 42"/>
          <p:cNvSpPr/>
          <p:nvPr/>
        </p:nvSpPr>
        <p:spPr>
          <a:xfrm>
            <a:off x="8339328" y="3822192"/>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46" name="Shape 43"/>
          <p:cNvSpPr/>
          <p:nvPr/>
        </p:nvSpPr>
        <p:spPr>
          <a:xfrm>
            <a:off x="8549640" y="3995928"/>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47" name="Text 44"/>
          <p:cNvSpPr/>
          <p:nvPr/>
        </p:nvSpPr>
        <p:spPr>
          <a:xfrm>
            <a:off x="8339328" y="4507992"/>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48" name="Text 45"/>
          <p:cNvSpPr/>
          <p:nvPr/>
        </p:nvSpPr>
        <p:spPr>
          <a:xfrm>
            <a:off x="182880" y="4686300"/>
            <a:ext cx="8778240" cy="256032"/>
          </a:xfrm>
          <a:prstGeom prst="rect">
            <a:avLst/>
          </a:prstGeom>
          <a:noFill/>
          <a:ln/>
        </p:spPr>
        <p:txBody>
          <a:bodyPr wrap="square" lIns="0" tIns="0" rIns="0" bIns="0" rtlCol="0" anchor="ctr"/>
          <a:lstStyle/>
          <a:p>
            <a:pPr marL="0" indent="0" algn="ctr">
              <a:buNone/>
            </a:pPr>
            <a:r>
              <a:rPr lang="en-US" sz="800" i="1" dirty="0">
                <a:solidFill>
                  <a:srgbClr val="9999BB"/>
                </a:solidFill>
                <a:latin typeface="Calibri" pitchFamily="34" charset="0"/>
                <a:ea typeface="Calibri" pitchFamily="34" charset="-122"/>
                <a:cs typeface="Calibri" pitchFamily="34" charset="-120"/>
              </a:rPr>
              <a:t>«Porque todo el que se engrandece será humillado, y el que se humilla será engrandecido.» (Luc. 18:14)</a:t>
            </a:r>
            <a:endParaRPr lang="en-US" sz="800" dirty="0"/>
          </a:p>
        </p:txBody>
      </p:sp>
      <p:sp>
        <p:nvSpPr>
          <p:cNvPr id="49" name="Text 4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8000"/>
            </a:srgbClr>
          </a:solidFill>
          <a:ln w="12700">
            <a:solidFill>
              <a:srgbClr val="000000"/>
            </a:solidFill>
            <a:prstDash val="solid"/>
          </a:ln>
        </p:spPr>
        <p:txBody>
          <a:bodyPr/>
          <a:lstStyle/>
          <a:p>
            <a:endParaRPr lang="es-ES"/>
          </a:p>
        </p:txBody>
      </p:sp>
      <p:sp>
        <p:nvSpPr>
          <p:cNvPr id="4" name="Shape 1"/>
          <p:cNvSpPr/>
          <p:nvPr/>
        </p:nvSpPr>
        <p:spPr>
          <a:xfrm>
            <a:off x="0" y="0"/>
            <a:ext cx="9144000" cy="54864"/>
          </a:xfrm>
          <a:prstGeom prst="rect">
            <a:avLst/>
          </a:prstGeom>
          <a:solidFill>
            <a:srgbClr val="0ABFBF"/>
          </a:solidFill>
          <a:ln w="12700">
            <a:solidFill>
              <a:srgbClr val="0ABFBF"/>
            </a:solidFill>
            <a:prstDash val="solid"/>
          </a:ln>
        </p:spPr>
        <p:txBody>
          <a:bodyPr/>
          <a:lstStyle/>
          <a:p>
            <a:endParaRPr lang="es-ES"/>
          </a:p>
        </p:txBody>
      </p:sp>
      <p:sp>
        <p:nvSpPr>
          <p:cNvPr id="5" name="Shape 2"/>
          <p:cNvSpPr/>
          <p:nvPr/>
        </p:nvSpPr>
        <p:spPr>
          <a:xfrm>
            <a:off x="0" y="5070348"/>
            <a:ext cx="9144000" cy="73152"/>
          </a:xfrm>
          <a:prstGeom prst="rect">
            <a:avLst/>
          </a:prstGeom>
          <a:solidFill>
            <a:srgbClr val="0ABFBF"/>
          </a:solidFill>
          <a:ln w="12700">
            <a:solidFill>
              <a:srgbClr val="0ABFBF"/>
            </a:solidFill>
            <a:prstDash val="solid"/>
          </a:ln>
        </p:spPr>
        <p:txBody>
          <a:bodyPr/>
          <a:lstStyle/>
          <a:p>
            <a:endParaRPr lang="es-ES"/>
          </a:p>
        </p:txBody>
      </p:sp>
      <p:sp>
        <p:nvSpPr>
          <p:cNvPr id="6" name="Text 3"/>
          <p:cNvSpPr/>
          <p:nvPr/>
        </p:nvSpPr>
        <p:spPr>
          <a:xfrm>
            <a:off x="274320" y="621792"/>
            <a:ext cx="8595360" cy="2240280"/>
          </a:xfrm>
          <a:prstGeom prst="rect">
            <a:avLst/>
          </a:prstGeom>
          <a:noFill/>
          <a:ln/>
        </p:spPr>
        <p:txBody>
          <a:bodyPr wrap="square" rtlCol="0" anchor="ctr"/>
          <a:lstStyle/>
          <a:p>
            <a:pPr marL="0" indent="0" algn="ctr">
              <a:buNone/>
            </a:pPr>
            <a:r>
              <a:rPr lang="en-US" sz="7800" b="1" dirty="0">
                <a:solidFill>
                  <a:srgbClr val="FFFFFF"/>
                </a:solidFill>
                <a:latin typeface="Arial Black" pitchFamily="34" charset="0"/>
                <a:ea typeface="Arial Black" pitchFamily="34" charset="-122"/>
                <a:cs typeface="Arial Black" pitchFamily="34" charset="-120"/>
              </a:rPr>
              <a:t>¡Gracias!</a:t>
            </a:r>
            <a:endParaRPr lang="en-US" sz="7800" dirty="0"/>
          </a:p>
        </p:txBody>
      </p:sp>
      <p:sp>
        <p:nvSpPr>
          <p:cNvPr id="7" name="Text 4"/>
          <p:cNvSpPr/>
          <p:nvPr/>
        </p:nvSpPr>
        <p:spPr>
          <a:xfrm>
            <a:off x="274320" y="2907792"/>
            <a:ext cx="8595360" cy="402336"/>
          </a:xfrm>
          <a:prstGeom prst="rect">
            <a:avLst/>
          </a:prstGeom>
          <a:noFill/>
          <a:ln/>
        </p:spPr>
        <p:txBody>
          <a:bodyPr wrap="square" rtlCol="0" anchor="ctr"/>
          <a:lstStyle/>
          <a:p>
            <a:pPr marL="0" indent="0" algn="ctr">
              <a:buNone/>
            </a:pPr>
            <a:r>
              <a:rPr lang="en-US" sz="1600" i="1" dirty="0" err="1">
                <a:solidFill>
                  <a:srgbClr val="0ABFBF"/>
                </a:solidFill>
                <a:latin typeface="Trebuchet MS" pitchFamily="34" charset="0"/>
                <a:ea typeface="Trebuchet MS" pitchFamily="34" charset="-122"/>
                <a:cs typeface="Trebuchet MS" pitchFamily="34" charset="-120"/>
              </a:rPr>
              <a:t>Lección</a:t>
            </a:r>
            <a:r>
              <a:rPr lang="en-US" sz="1600" i="1">
                <a:solidFill>
                  <a:srgbClr val="0ABFBF"/>
                </a:solidFill>
                <a:latin typeface="Trebuchet MS" pitchFamily="34" charset="0"/>
                <a:ea typeface="Trebuchet MS" pitchFamily="34" charset="-122"/>
                <a:cs typeface="Trebuchet MS" pitchFamily="34" charset="-120"/>
              </a:rPr>
              <a:t> Joven 3  </a:t>
            </a:r>
            <a:r>
              <a:rPr lang="en-US" sz="1600" i="1" dirty="0">
                <a:solidFill>
                  <a:srgbClr val="0ABFBF"/>
                </a:solidFill>
                <a:latin typeface="Trebuchet MS" pitchFamily="34" charset="0"/>
                <a:ea typeface="Trebuchet MS" pitchFamily="34" charset="-122"/>
                <a:cs typeface="Trebuchet MS" pitchFamily="34" charset="-120"/>
              </a:rPr>
              <a:t>·  Orgullo versus humildad</a:t>
            </a:r>
            <a:endParaRPr lang="en-US" sz="1600" dirty="0"/>
          </a:p>
        </p:txBody>
      </p:sp>
      <p:sp>
        <p:nvSpPr>
          <p:cNvPr id="8" name="Text 5"/>
          <p:cNvSpPr/>
          <p:nvPr/>
        </p:nvSpPr>
        <p:spPr>
          <a:xfrm>
            <a:off x="274320" y="3401568"/>
            <a:ext cx="8595360" cy="804672"/>
          </a:xfrm>
          <a:prstGeom prst="rect">
            <a:avLst/>
          </a:prstGeom>
          <a:noFill/>
          <a:ln/>
        </p:spPr>
        <p:txBody>
          <a:bodyPr wrap="square" rtlCol="0" anchor="ctr"/>
          <a:lstStyle/>
          <a:p>
            <a:pPr marL="0" indent="0" algn="ctr">
              <a:buNone/>
            </a:pPr>
            <a:r>
              <a:rPr lang="en-US" sz="1400" b="1" dirty="0">
                <a:solidFill>
                  <a:srgbClr val="DDDDEE"/>
                </a:solidFill>
                <a:latin typeface="Calibri" pitchFamily="34" charset="0"/>
                <a:ea typeface="Calibri" pitchFamily="34" charset="-122"/>
                <a:cs typeface="Calibri" pitchFamily="34" charset="-120"/>
              </a:rPr>
              <a:t>Dr. Tito Goicochea M.</a:t>
            </a:r>
            <a:endParaRPr lang="en-US" sz="1400" dirty="0"/>
          </a:p>
          <a:p>
            <a:pPr marL="0" indent="0" algn="ctr">
              <a:buNone/>
            </a:pPr>
            <a:r>
              <a:rPr lang="en-US" sz="1400" i="1" dirty="0">
                <a:solidFill>
                  <a:srgbClr val="DDDDEE"/>
                </a:solidFill>
                <a:latin typeface="Calibri" pitchFamily="34" charset="0"/>
                <a:ea typeface="Calibri" pitchFamily="34" charset="-122"/>
                <a:cs typeface="Calibri" pitchFamily="34" charset="-120"/>
              </a:rPr>
              <a:t>NEED - DSA  ·  II Trimestre 2026</a:t>
            </a:r>
            <a:endParaRPr lang="en-US" sz="1400" dirty="0"/>
          </a:p>
        </p:txBody>
      </p:sp>
      <p:sp>
        <p:nvSpPr>
          <p:cNvPr id="9" name="Text 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1034</Words>
  <Application>Microsoft Macintosh PowerPoint</Application>
  <PresentationFormat>Presentación en pantalla (16:9)</PresentationFormat>
  <Paragraphs>93</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 Black</vt:lpstr>
      <vt:lpstr>Calibri</vt:lpstr>
      <vt:lpstr>Georgia</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Bosquejo LES Joven L3 — Orgullo versus humildad</dc:title>
  <dc:subject>PptxGenJS Presentation</dc:subject>
  <dc:creator>Dr. Tito Goicochea M.</dc:creator>
  <cp:lastModifiedBy>Tito Goicochea Malaver</cp:lastModifiedBy>
  <cp:revision>2</cp:revision>
  <dcterms:created xsi:type="dcterms:W3CDTF">2026-03-29T17:48:04Z</dcterms:created>
  <dcterms:modified xsi:type="dcterms:W3CDTF">2026-03-29T18:00:33Z</dcterms:modified>
</cp:coreProperties>
</file>