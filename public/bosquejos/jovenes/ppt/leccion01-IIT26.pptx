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07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201168" y="2926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800" dirty="0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 JOVEN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786384"/>
            <a:ext cx="6217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GOLPE DE REALIDAD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Apocalipsis 3:14-22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288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abril de 2026  ·  II Trimestre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  ·  MOTIVA  (INICIA)  —  ¿Por qué es importante este estudio para mi vida?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8778240" cy="475488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29184" y="7498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5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principal de la semana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74980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8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3:14-22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82880" y="1298448"/>
            <a:ext cx="8778240" cy="1536192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44446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82880" y="1298448"/>
            <a:ext cx="54864" cy="1536192"/>
          </a:xfrm>
          <a:prstGeom prst="rect">
            <a:avLst/>
          </a:prstGeom>
          <a:solidFill>
            <a:srgbClr val="5566AA"/>
          </a:solidFill>
          <a:ln w="12700">
            <a:solidFill>
              <a:srgbClr val="5566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10896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Central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0896" y="1609344"/>
            <a:ext cx="8503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lección confronta al joven con la tibieza espiritual: la peligrosa comodidad de creer que estamos bien cuando Dios nos ve pobres y ciegos (Apoc. 3:17). Cristo no condena sino que llama a abrir la puerta para restaurar la comunión real con él, única fuente de vida genuina (Juan 15:5).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82880" y="2907792"/>
            <a:ext cx="8778240" cy="1828800"/>
          </a:xfrm>
          <a:prstGeom prst="rect">
            <a:avLst/>
          </a:prstGeom>
          <a:solidFill>
            <a:srgbClr val="0A1830">
              <a:alpha val="85000"/>
            </a:srgbClr>
          </a:solidFill>
          <a:ln w="25400">
            <a:solidFill>
              <a:srgbClr val="E87C1E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82880" y="2907792"/>
            <a:ext cx="54864" cy="18288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— Gran Pregunta de la Semana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10896" y="32918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diferencia hay entre practicar la religión y tener una comunión real con Cristo, y cómo esa diferencia determina nuestra condición espiritual verdadera?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1 de 4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6B3A">
              <a:alpha val="90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7AE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3:14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7AE8A0">
              <a:alpha val="55000"/>
            </a:srgbClr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testigo que no miente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autoridad habla Cristo aquí y por qué debemos tomarlo en serio antes de escuchar lo que viene a decirnos?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 se presenta como el Amén, el Testigo Fiel y el Principio de la creación. (Apoc. 3:14)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diagnóstico es exacto y su motivación es el amor, no la crítica. (Juan 8:32; Heb. 4:12)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confiar en lo que dice aunque contradiga lo que sentimos. (Isa. 65:16)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6B3A">
              <a:alpha val="75000"/>
            </a:srgbClr>
          </a:solidFill>
          <a:ln w="127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médico que oculta la verdad en el chequeo no cuida al paciente. Cristo dice la verdad porque quiere que vivamos.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2 de 4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8B2B00">
              <a:alpha val="90000"/>
            </a:srgbClr>
          </a:solidFill>
          <a:ln w="254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4A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3:15-17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F4A878">
              <a:alpha val="55000"/>
            </a:srgbClr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diagnóstico que incomoda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describe Cristo sobre la condición de estos creyentes y por qué la tibieza es más peligrosa que el frío o el calor espiritual?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8B2B00"/>
          </a:solidFill>
          <a:ln w="12700">
            <a:solidFill>
              <a:srgbClr val="8B2B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tibieza es autosuficiencia espiritual disfrazada de bienestar religioso. (Apoc. 3:15-16; Mat. 23:25-28)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«Pobre, ciego y desnudo» describe al joven que cree que lo tiene todo. (Apoc. 3:17; Jer. 17:9)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honestidad de Cristo es parte de su gracia: un médico que oculta la verdad no cuida al paciente. (Apoc. 3:19; Prov. 27:6)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8B2B00">
              <a:alpha val="75000"/>
            </a:srgbClr>
          </a:solidFill>
          <a:ln w="127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que lleva años en la iglesia, lidera un ministerio, pero en privado no ora ni busca a Dios — eso es Laodicea hoy.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3 de 4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4A8C">
              <a:alpha val="90000"/>
            </a:srgbClr>
          </a:solidFill>
          <a:ln w="254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88C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3:18-19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88C0F8">
              <a:alpha val="55000"/>
            </a:srgbClr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oferta gratuita de gracia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ofrece Cristo para resolver nuestra condición y cómo espera que lo recibamos?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= fe genuina · Vestiduras blancas = su justicia · Colirio = visión espiritual real. (Apoc. 3:18)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 un regalo de gracia, no un premio al esfuerzo religioso. (Isa. 55:1-2; Zac. 3:3-4)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esperada no es más actividad sino arrepentimiento: un giro completo de dirección. (Apoc. 3:19; Heb. 12:6)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4A8C">
              <a:alpha val="75000"/>
            </a:srgbClr>
          </a:solidFill>
          <a:ln w="127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padre ve a su hijo perdiéndose y le extiende la mano sin condiciones. La oferta es real, pero requiere que el hijo dé la vuelta.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4 de 4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5A1A80">
              <a:alpha val="90000"/>
            </a:srgbClr>
          </a:solidFill>
          <a:ln w="25400">
            <a:solidFill>
              <a:srgbClr val="8040C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C890F8"/>
          </a:solidFill>
          <a:ln w="12700">
            <a:solidFill>
              <a:srgbClr val="C89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C89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3:20-22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C890F8">
              <a:alpha val="55000"/>
            </a:srgbClr>
          </a:solidFill>
          <a:ln w="12700">
            <a:solidFill>
              <a:srgbClr val="C89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89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puerta y la promesa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imagen usa Cristo para describir la comunión que propone y qué promete a quien le abre?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8040C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5A1A80"/>
          </a:solidFill>
          <a:ln w="12700">
            <a:solidFill>
              <a:srgbClr val="5A1A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C890F8"/>
          </a:solidFill>
          <a:ln w="12700">
            <a:solidFill>
              <a:srgbClr val="C89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C890F8"/>
          </a:solidFill>
          <a:ln w="12700">
            <a:solidFill>
              <a:srgbClr val="C89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 juntos: símbolo bíblico de la intimidad más profunda entre personas. (Apoc. 3:20; Luc. 22:27-30)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C890F8"/>
          </a:solidFill>
          <a:ln w="12700">
            <a:solidFill>
              <a:srgbClr val="C89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 llama a la puerta y espera — no irrumpe ni obliga a nadie. (Juan 15:4-5; Luc. 11:13)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C890F8"/>
          </a:solidFill>
          <a:ln w="12700">
            <a:solidFill>
              <a:srgbClr val="C89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quien vence promete sentarse con él en su trono: adopción, no arrogancia. (Apoc. 3:21; Rom. 8:17)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5A1A80">
              <a:alpha val="75000"/>
            </a:srgbClr>
          </a:solidFill>
          <a:ln w="12700">
            <a:solidFill>
              <a:srgbClr val="8040C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89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 lleva tiempo llamando a tu puerta. No entra sin que tú lo invites. Muchos jóvenes escuchan el llamado pero posponen abrir.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F0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  ·  APLICA  (REFLEXIONA)  —  Reflexión y aplicación a la vida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8741664" cy="1920240"/>
          </a:xfrm>
          <a:prstGeom prst="rect">
            <a:avLst/>
          </a:prstGeom>
          <a:solidFill>
            <a:srgbClr val="000000">
              <a:alpha val="75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01168" y="749808"/>
            <a:ext cx="64008" cy="1920240"/>
          </a:xfrm>
          <a:prstGeom prst="rect">
            <a:avLst/>
          </a:prstGeom>
          <a:solidFill>
            <a:srgbClr val="2E8A4A"/>
          </a:solidFill>
          <a:ln w="12700">
            <a:solidFill>
              <a:srgbClr val="2E8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56032" y="694944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4AE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877824" y="841248"/>
            <a:ext cx="79552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i="1" dirty="0">
                <a:solidFill>
                  <a:srgbClr val="EE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conexión del sarmiento con la vid representa la relación que deben mantener conmigo. La vida de la vid llega a ser la vida del sarmiento… El permanecer en Cristo significa un constante recibir de su Espíritu, una vida de entrega sin reservas a su servicio. El canal de comunicación debe estar continuamente abierto entre el hombre y su Dios."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7824" y="26700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AE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G. de White, El Deseado de todas las gentes, pp. 629-630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" y="2944368"/>
            <a:ext cx="8741664" cy="4572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329184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Reflexiona: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" y="3328416"/>
            <a:ext cx="8485632" cy="1444752"/>
          </a:xfrm>
          <a:prstGeom prst="rect">
            <a:avLst/>
          </a:prstGeom>
          <a:noFill/>
          <a:ln/>
          <a:effectLst>
            <a:outerShdw blurRad="177800" dist="38100" dir="8100000" algn="bl" rotWithShape="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cambio concreto puedes hacer ESTA SEMANA en tu relación con Cristo para pasar de la religión que practicas a la comunión real que él te propone en Apocalipsis 3:20?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  ·  CREA  —  MI DECISIÓN  ·  Esta semana decido...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7059168" cy="347472"/>
          </a:xfrm>
          <a:prstGeom prst="rect">
            <a:avLst/>
          </a:prstGeom>
          <a:solidFill>
            <a:srgbClr val="0E1E34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10896" y="749808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decisión esta semana...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solidFill>
            <a:srgbClr val="1A5C28"/>
          </a:solidFill>
          <a:ln w="12700">
            <a:solidFill>
              <a:srgbClr val="5AE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solidFill>
            <a:srgbClr val="5C1A1A"/>
          </a:solidFill>
          <a:ln w="1270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82880" y="1152144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E87C1E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82880" y="1152144"/>
            <a:ext cx="64008" cy="126187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292608" y="1508760"/>
            <a:ext cx="548640" cy="548640"/>
          </a:xfrm>
          <a:prstGeom prst="lin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926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9264" y="1261872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Acepto honestamente el diagnóstico de Cristo sobre mi vida espiritual y le pido que me dé el colirio para ver mi condición real (Apoc. 3:17-18).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51776" y="1152144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7562088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351776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339328" y="1152144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8549640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8339328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82880" y="2487168"/>
            <a:ext cx="7059168" cy="1261872"/>
          </a:xfrm>
          <a:prstGeom prst="rect">
            <a:avLst/>
          </a:prstGeom>
          <a:solidFill>
            <a:srgbClr val="0A1828"/>
          </a:solidFill>
          <a:ln w="15240">
            <a:solidFill>
              <a:srgbClr val="E87C1E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182880" y="2487168"/>
            <a:ext cx="64008" cy="126187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292608" y="2843784"/>
            <a:ext cx="548640" cy="548640"/>
          </a:xfrm>
          <a:prstGeom prst="lin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292608" y="2843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69264" y="2596896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Recibo su oferta de gracia: le pido el oro, las vestiduras blancas y el Espíritu Santo que me hacen rico de verdad (Apoc. 3:18; Luc. 11:13).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351776" y="2487168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7562088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7351776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339328" y="2487168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8549640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8339328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82880" y="3822192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E87C1E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182880" y="3822192"/>
            <a:ext cx="64008" cy="126187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6"/>
          <p:cNvSpPr/>
          <p:nvPr/>
        </p:nvSpPr>
        <p:spPr>
          <a:xfrm>
            <a:off x="292608" y="4178808"/>
            <a:ext cx="548640" cy="548640"/>
          </a:xfrm>
          <a:prstGeom prst="lin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292608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69264" y="3931920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abro la puerta hoy: establezco un tiempo de comunión diaria con Cristo esta semana y ceno con él cada día (Apoc. 3:20; Juan 15:4).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7351776" y="3822192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7562088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7351776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339328" y="3822192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549640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/>
          <p:nvPr/>
        </p:nvSpPr>
        <p:spPr>
          <a:xfrm>
            <a:off x="8339328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82880" y="46863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 alguno oye mi voz y abre la puerta, entré a su casa y cenaremos juntos.» (Apoc. 3:20)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74320" y="621792"/>
            <a:ext cx="8595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800" dirty="0"/>
          </a:p>
        </p:txBody>
      </p:sp>
      <p:sp>
        <p:nvSpPr>
          <p:cNvPr id="7" name="Text 4"/>
          <p:cNvSpPr/>
          <p:nvPr/>
        </p:nvSpPr>
        <p:spPr>
          <a:xfrm>
            <a:off x="274320" y="290779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 err="1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</a:t>
            </a:r>
            <a:r>
              <a:rPr lang="en-US" sz="1600" i="1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Joven 1  </a:t>
            </a:r>
            <a:r>
              <a:rPr lang="en-US" sz="1600" i="1" dirty="0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Golpe de realidad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3401568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  ·  II Trimestre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Microsoft Macintosh PowerPoint</Application>
  <PresentationFormat>Presentación en pantalla (16:9)</PresentationFormat>
  <Paragraphs>107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Bosquejo LES Joven L1 — Golpe de realidad</dc:title>
  <dc:subject>PptxGenJS Presentation</dc:subject>
  <dc:creator>Dr. Tito Goicochea M.</dc:creator>
  <cp:lastModifiedBy>Tito Goicochea Malaver</cp:lastModifiedBy>
  <cp:revision>2</cp:revision>
  <dcterms:created xsi:type="dcterms:W3CDTF">2026-03-29T17:48:04Z</dcterms:created>
  <dcterms:modified xsi:type="dcterms:W3CDTF">2026-03-29T17:59:03Z</dcterms:modified>
</cp:coreProperties>
</file>