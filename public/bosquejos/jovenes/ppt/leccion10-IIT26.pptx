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5985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12834"/>
            <a:ext cx="9144000" cy="51435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2"/>
          <p:cNvSpPr/>
          <p:nvPr/>
        </p:nvSpPr>
        <p:spPr>
          <a:xfrm>
            <a:off x="201168" y="29260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800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LECCIÓN JOVEN 10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82880" y="786384"/>
            <a:ext cx="825167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ARREPENTIMIENTO Y PERDÓN</a:t>
            </a:r>
            <a:endParaRPr lang="en-US" sz="5800" dirty="0"/>
          </a:p>
        </p:txBody>
      </p:sp>
      <p:sp>
        <p:nvSpPr>
          <p:cNvPr id="7" name="Shape 4"/>
          <p:cNvSpPr/>
          <p:nvPr/>
        </p:nvSpPr>
        <p:spPr>
          <a:xfrm>
            <a:off x="182880" y="3218688"/>
            <a:ext cx="2926080" cy="475488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82880" y="3218688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Éxodo 34:1-9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82880" y="3822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 junio de 2026  ·  II Trimestre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C45000"/>
          </a:solidFill>
          <a:ln w="12700">
            <a:solidFill>
              <a:srgbClr val="C45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C45000"/>
          </a:solidFill>
          <a:ln w="12700">
            <a:solidFill>
              <a:srgbClr val="C45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D4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1  ·  MOTIVA  (INICIA)  —  ¿Por qué es importante este estudio para mi vida?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2880" y="749808"/>
            <a:ext cx="8778240" cy="475488"/>
          </a:xfrm>
          <a:prstGeom prst="rect">
            <a:avLst/>
          </a:prstGeom>
          <a:solidFill>
            <a:srgbClr val="000000">
              <a:alpha val="60000"/>
            </a:srgbClr>
          </a:solidFill>
          <a:ln w="1905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29184" y="749808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0E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principal de la semana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0" y="749808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C89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Éxodo 34:1-9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82880" y="1298448"/>
            <a:ext cx="8778240" cy="1536192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444466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0"/>
          <p:cNvSpPr/>
          <p:nvPr/>
        </p:nvSpPr>
        <p:spPr>
          <a:xfrm>
            <a:off x="182880" y="1298448"/>
            <a:ext cx="54864" cy="1536192"/>
          </a:xfrm>
          <a:prstGeom prst="rect">
            <a:avLst/>
          </a:prstGeom>
          <a:solidFill>
            <a:srgbClr val="5566AA"/>
          </a:solidFill>
          <a:ln w="12700">
            <a:solidFill>
              <a:srgbClr val="5566A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310896" y="1344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9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Tema Central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10896" y="1609344"/>
            <a:ext cx="85039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Éxodo 34 registra el momento más oscuro de Israel: el becerro de oro. Y sin embargo, es allí donde Dios revela con más claridad su carácter: tierno, compasivo, fiel, perdonador. El arrepentimiento genuino no es solo remordimiento sino un giro de dirección hacia el Dios que siempre está dispuesto a comenzar de nuevo.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182880" y="2907792"/>
            <a:ext cx="8778240" cy="1828800"/>
          </a:xfrm>
          <a:prstGeom prst="rect">
            <a:avLst/>
          </a:prstGeom>
          <a:solidFill>
            <a:srgbClr val="0A1830">
              <a:alpha val="85000"/>
            </a:srgbClr>
          </a:solidFill>
          <a:ln w="25400">
            <a:solidFill>
              <a:srgbClr val="00C896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182880" y="2907792"/>
            <a:ext cx="54864" cy="18288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74320" y="2962656"/>
            <a:ext cx="3108960" cy="2743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/>
          <p:nvPr/>
        </p:nvSpPr>
        <p:spPr>
          <a:xfrm>
            <a:off x="274320" y="29626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GPS — Gran Pregunta de la Semana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10896" y="3291840"/>
            <a:ext cx="8503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revela Éxodo 34 sobre el carácter de Dios ante la traición del pueblo, y cómo esa revelación transforma la manera en que nos acercamos a él cuando fallamos?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 ·  EXPLORA  —  Tópico 1 de 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6304" y="749808"/>
            <a:ext cx="2633472" cy="4192524"/>
          </a:xfrm>
          <a:prstGeom prst="rect">
            <a:avLst/>
          </a:prstGeom>
          <a:solidFill>
            <a:srgbClr val="1A6B3A">
              <a:alpha val="90000"/>
            </a:srgbClr>
          </a:solidFill>
          <a:ln w="2540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6304" y="749808"/>
            <a:ext cx="64008" cy="4192524"/>
          </a:xfrm>
          <a:prstGeom prst="rect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6304" y="80467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7AE8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92608" y="87782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Éxodo 34:1-4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92608" y="1353312"/>
            <a:ext cx="2231136" cy="20117"/>
          </a:xfrm>
          <a:prstGeom prst="rect">
            <a:avLst/>
          </a:prstGeom>
          <a:solidFill>
            <a:srgbClr val="7AE8A0">
              <a:alpha val="55000"/>
            </a:srgbClr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92608" y="14447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E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Dios toma la iniciativa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92608" y="2322576"/>
            <a:ext cx="2231136" cy="20117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92608" y="2432304"/>
            <a:ext cx="2395728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revela el hecho de que Dios ordene a Moisés preparar nuevas tablas —después de que Israel rompió el pacto— sobre quién da el primer paso en la restauración?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07792" y="749808"/>
            <a:ext cx="6089904" cy="2515514"/>
          </a:xfrm>
          <a:prstGeom prst="rect">
            <a:avLst/>
          </a:prstGeom>
          <a:solidFill>
            <a:srgbClr val="000000">
              <a:alpha val="58000"/>
            </a:srgbClr>
          </a:solidFill>
          <a:ln w="1524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07792" y="749808"/>
            <a:ext cx="6089904" cy="310896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907792" y="749808"/>
            <a:ext cx="64008" cy="310896"/>
          </a:xfrm>
          <a:prstGeom prst="rect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035808" y="749808"/>
            <a:ext cx="5907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PRINCIPALES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54096" y="1409852"/>
            <a:ext cx="128016" cy="128016"/>
          </a:xfrm>
          <a:prstGeom prst="line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255264" y="111556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Pocas semanas después del pacto solemne, Israel adoró un becerro de oro y las tablas fueron rotas. Pero Dios le dijo a Moisés: «Prepara dos tablas nuevas». (Éxo. 34:1; Joel 2:12-14)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35808" y="1823009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054096" y="2126437"/>
            <a:ext cx="128016" cy="128016"/>
          </a:xfrm>
          <a:prstGeom prst="line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255264" y="1832153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carácter de Dios —no el mérito humano— es la condición del perdón. Él siempre toma la iniciativa. (Hech. 3:19; Rom. 5:8; Hech. 5:31)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35808" y="2539594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054096" y="2843022"/>
            <a:ext cx="128016" cy="128016"/>
          </a:xfrm>
          <a:prstGeom prst="line">
            <a:avLst/>
          </a:prstGeom>
          <a:solidFill>
            <a:srgbClr val="7AE8A0"/>
          </a:solidFill>
          <a:ln w="12700">
            <a:solidFill>
              <a:srgbClr val="7AE8A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3255264" y="254873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padre del hijo pródigo corrió a su encuentro cuando lo vio desde lejos. Dios corre antes de que el hijo llegue. (Luc. 15:20; Rom. 2:4)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907792" y="3516874"/>
            <a:ext cx="6089904" cy="1425458"/>
          </a:xfrm>
          <a:prstGeom prst="rect">
            <a:avLst/>
          </a:prstGeom>
          <a:solidFill>
            <a:srgbClr val="1A6B3A">
              <a:alpha val="75000"/>
            </a:srgbClr>
          </a:solidFill>
          <a:ln w="1270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2907792" y="3516874"/>
            <a:ext cx="6089904" cy="27432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017520" y="3516874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7AE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ILUSTRACIÓN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54096" y="3809482"/>
            <a:ext cx="5833872" cy="1077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padre del hijo pródigo no esperó a que el hijo llegara a la puerta: cuando lo vio desde lejos, corrió a su encuentro. El arrepentimiento es el hijo que empieza a caminar; pero Dios corre antes.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 ·  EXPLORA  —  Tópico 2 de 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6304" y="749808"/>
            <a:ext cx="2633472" cy="4192524"/>
          </a:xfrm>
          <a:prstGeom prst="rect">
            <a:avLst/>
          </a:prstGeom>
          <a:solidFill>
            <a:srgbClr val="8B2B00">
              <a:alpha val="90000"/>
            </a:srgbClr>
          </a:solidFill>
          <a:ln w="25400">
            <a:solidFill>
              <a:srgbClr val="C0401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6304" y="749808"/>
            <a:ext cx="64008" cy="4192524"/>
          </a:xfrm>
          <a:prstGeom prst="rect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6304" y="80467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F4A87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92608" y="87782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Éxodo 34:5-7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92608" y="1353312"/>
            <a:ext cx="2231136" cy="20117"/>
          </a:xfrm>
          <a:prstGeom prst="rect">
            <a:avLst/>
          </a:prstGeom>
          <a:solidFill>
            <a:srgbClr val="F4A878">
              <a:alpha val="55000"/>
            </a:srgbClr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92608" y="14447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4A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 carácter que perdona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92608" y="2322576"/>
            <a:ext cx="2231136" cy="20117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92608" y="2432304"/>
            <a:ext cx="2395728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revelan los ocho atributos que Dios proclama sobre cómo es él realmente, y cómo cambia conocerlos nuestra actitud al confesar?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07792" y="749808"/>
            <a:ext cx="6089904" cy="2515514"/>
          </a:xfrm>
          <a:prstGeom prst="rect">
            <a:avLst/>
          </a:prstGeom>
          <a:solidFill>
            <a:srgbClr val="000000">
              <a:alpha val="58000"/>
            </a:srgbClr>
          </a:solidFill>
          <a:ln w="15240">
            <a:solidFill>
              <a:srgbClr val="C0401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07792" y="749808"/>
            <a:ext cx="6089904" cy="310896"/>
          </a:xfrm>
          <a:prstGeom prst="rect">
            <a:avLst/>
          </a:prstGeom>
          <a:solidFill>
            <a:srgbClr val="8B2B00"/>
          </a:solidFill>
          <a:ln w="12700">
            <a:solidFill>
              <a:srgbClr val="8B2B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907792" y="749808"/>
            <a:ext cx="64008" cy="310896"/>
          </a:xfrm>
          <a:prstGeom prst="rect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035808" y="749808"/>
            <a:ext cx="5907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PRINCIPALES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54096" y="1409852"/>
            <a:ext cx="128016" cy="128016"/>
          </a:xfrm>
          <a:prstGeom prst="line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255264" y="111556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Dios proclama su propio nombre: tierno, compasivo, paciente, grande en amor y verdad, fiel, perdonador de maldad, rebeldía y pecado. (Éxo. 34:6-7; Sal. 103:3-8)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35808" y="1823009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054096" y="2126437"/>
            <a:ext cx="128016" cy="128016"/>
          </a:xfrm>
          <a:prstGeom prst="line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255264" y="1832153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perdón no es una concesión de un Dios enojado; es la expresión natural de su carácter fundamental. (1 Juan 1:9; 1 Juan 2:2)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35808" y="2539594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054096" y="2843022"/>
            <a:ext cx="128016" cy="128016"/>
          </a:xfrm>
          <a:prstGeom prst="line">
            <a:avLst/>
          </a:prstGeom>
          <a:solidFill>
            <a:srgbClr val="F4A878"/>
          </a:solidFill>
          <a:ln w="12700">
            <a:solidFill>
              <a:srgbClr val="F4A87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3255264" y="254873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lista termina: «de ninguna manera dará por inocente al culpable». El perdón es costoso; por eso es completamente gratuito para nosotros. (Éxo. 34:7; Rom. 3:25-26)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907792" y="3516874"/>
            <a:ext cx="6089904" cy="1425458"/>
          </a:xfrm>
          <a:prstGeom prst="rect">
            <a:avLst/>
          </a:prstGeom>
          <a:solidFill>
            <a:srgbClr val="8B2B00">
              <a:alpha val="75000"/>
            </a:srgbClr>
          </a:solidFill>
          <a:ln w="12700">
            <a:solidFill>
              <a:srgbClr val="C0401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2907792" y="3516874"/>
            <a:ext cx="6089904" cy="27432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017520" y="3516874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F4A8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ILUSTRACIÓN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54096" y="3809482"/>
            <a:ext cx="5833872" cy="1077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juez condena a su propio hijo para cumplir la ley y luego paga él mismo la multa, la justicia se cumple y el amor se expresa al máximo. Eso es exactamente lo que Dios hizo en la cruz.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46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0E4A8C"/>
          </a:solidFill>
          <a:ln w="12700">
            <a:solidFill>
              <a:srgbClr val="0E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C8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  ·  EXPLORA  —  Tópico 3 de 3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46304" y="749808"/>
            <a:ext cx="2633472" cy="4192524"/>
          </a:xfrm>
          <a:prstGeom prst="rect">
            <a:avLst/>
          </a:prstGeom>
          <a:solidFill>
            <a:srgbClr val="1A4A8C">
              <a:alpha val="90000"/>
            </a:srgbClr>
          </a:solidFill>
          <a:ln w="25400">
            <a:solidFill>
              <a:srgbClr val="2A6AC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146304" y="749808"/>
            <a:ext cx="64008" cy="4192524"/>
          </a:xfrm>
          <a:prstGeom prst="rect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146304" y="804672"/>
            <a:ext cx="26334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3800" b="1" dirty="0">
                <a:solidFill>
                  <a:srgbClr val="88C0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292608" y="87782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Éxodo 34:8-9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292608" y="1353312"/>
            <a:ext cx="2231136" cy="20117"/>
          </a:xfrm>
          <a:prstGeom prst="rect">
            <a:avLst/>
          </a:prstGeom>
          <a:solidFill>
            <a:srgbClr val="88C0F8">
              <a:alpha val="55000"/>
            </a:srgbClr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292608" y="1444752"/>
            <a:ext cx="2395728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C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respuesta del arrepentimiento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92608" y="2322576"/>
            <a:ext cx="2231136" cy="20117"/>
          </a:xfrm>
          <a:prstGeom prst="rect">
            <a:avLst/>
          </a:prstGeom>
          <a:solidFill>
            <a:srgbClr val="FFFFFF">
              <a:alpha val="3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292608" y="2432304"/>
            <a:ext cx="2395728" cy="2400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Moisés cuando escucha la proclamación del carácter de Dios, y cómo esa respuesta modela el arrepentimiento genuino?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07792" y="749808"/>
            <a:ext cx="6089904" cy="2515514"/>
          </a:xfrm>
          <a:prstGeom prst="rect">
            <a:avLst/>
          </a:prstGeom>
          <a:solidFill>
            <a:srgbClr val="000000">
              <a:alpha val="58000"/>
            </a:srgbClr>
          </a:solidFill>
          <a:ln w="15240">
            <a:solidFill>
              <a:srgbClr val="2A6AC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5"/>
          <p:cNvSpPr/>
          <p:nvPr/>
        </p:nvSpPr>
        <p:spPr>
          <a:xfrm>
            <a:off x="2907792" y="749808"/>
            <a:ext cx="6089904" cy="310896"/>
          </a:xfrm>
          <a:prstGeom prst="rect">
            <a:avLst/>
          </a:prstGeom>
          <a:solidFill>
            <a:srgbClr val="1A4A8C"/>
          </a:solidFill>
          <a:ln w="12700">
            <a:solidFill>
              <a:srgbClr val="1A4A8C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Shape 16"/>
          <p:cNvSpPr/>
          <p:nvPr/>
        </p:nvSpPr>
        <p:spPr>
          <a:xfrm>
            <a:off x="2907792" y="749808"/>
            <a:ext cx="64008" cy="310896"/>
          </a:xfrm>
          <a:prstGeom prst="rect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7"/>
          <p:cNvSpPr/>
          <p:nvPr/>
        </p:nvSpPr>
        <p:spPr>
          <a:xfrm>
            <a:off x="3035808" y="749808"/>
            <a:ext cx="5907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IDEAS PRINCIPALES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3054096" y="1409852"/>
            <a:ext cx="128016" cy="128016"/>
          </a:xfrm>
          <a:prstGeom prst="line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3255264" y="111556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Moisés se inclinó rápidamente y adoró. Luego pidió: «Perdonad nuestra maldad». El arrepentimiento de Moisés comenzó con adoración, no con una lista de promesas. (Éxo. 34:8-9; Rom. 2:4)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035808" y="1823009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3054096" y="2126437"/>
            <a:ext cx="128016" cy="128016"/>
          </a:xfrm>
          <a:prstGeom prst="line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3255264" y="1832153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arrepentimiento genuino incluye tristeza por el pecado y abandono de éste. No es solo «lo siento»; es «no lo volveré a hacer». (Sal. 51:1-4; Éxo. 34:9)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035808" y="2539594"/>
            <a:ext cx="5833872" cy="16459"/>
          </a:xfrm>
          <a:prstGeom prst="rect">
            <a:avLst/>
          </a:prstGeom>
          <a:solidFill>
            <a:srgbClr val="FFFFFF">
              <a:alpha val="18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3054096" y="2843022"/>
            <a:ext cx="128016" cy="128016"/>
          </a:xfrm>
          <a:prstGeom prst="line">
            <a:avLst/>
          </a:prstGeom>
          <a:solidFill>
            <a:srgbClr val="88C0F8"/>
          </a:solidFill>
          <a:ln w="12700">
            <a:solidFill>
              <a:srgbClr val="88C0F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5"/>
          <p:cNvSpPr/>
          <p:nvPr/>
        </p:nvSpPr>
        <p:spPr>
          <a:xfrm>
            <a:off x="3255264" y="2548738"/>
            <a:ext cx="5614416" cy="7165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E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ofrece su túnica de justicia a cambio de nuestros harapos sucios. (Zac. 3:3-5; Isa. 61:10; Apoc. 3:18)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907792" y="3516874"/>
            <a:ext cx="6089904" cy="1425458"/>
          </a:xfrm>
          <a:prstGeom prst="rect">
            <a:avLst/>
          </a:prstGeom>
          <a:solidFill>
            <a:srgbClr val="1A4A8C">
              <a:alpha val="75000"/>
            </a:srgbClr>
          </a:solidFill>
          <a:ln w="12700">
            <a:solidFill>
              <a:srgbClr val="2A6ACC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Shape 27"/>
          <p:cNvSpPr/>
          <p:nvPr/>
        </p:nvSpPr>
        <p:spPr>
          <a:xfrm>
            <a:off x="2907792" y="3516874"/>
            <a:ext cx="6089904" cy="274320"/>
          </a:xfrm>
          <a:prstGeom prst="rect">
            <a:avLst/>
          </a:prstGeom>
          <a:solidFill>
            <a:srgbClr val="000000">
              <a:alpha val="5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8"/>
          <p:cNvSpPr/>
          <p:nvPr/>
        </p:nvSpPr>
        <p:spPr>
          <a:xfrm>
            <a:off x="3017520" y="3516874"/>
            <a:ext cx="5925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88C0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ILUSTRACIÓN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054096" y="3809482"/>
            <a:ext cx="5833872" cy="10779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una diferencia entre pedir perdón para librarse de las consecuencias y pedir perdón porque uno entiende cuánto dolió lo que hizo. El segundo es el que Dios acepta y que produce cambio real.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30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2560320"/>
            <a:ext cx="9144000" cy="258318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1A6B3A"/>
          </a:solidFill>
          <a:ln w="12700">
            <a:solidFill>
              <a:srgbClr val="1A6B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A0F0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3  ·  APLICA  (REFLEXIONA)  —  Reflexión y aplicación a la vida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01168" y="749808"/>
            <a:ext cx="8741664" cy="1920240"/>
          </a:xfrm>
          <a:prstGeom prst="rect">
            <a:avLst/>
          </a:prstGeom>
          <a:solidFill>
            <a:srgbClr val="000000">
              <a:alpha val="75000"/>
            </a:srgbClr>
          </a:solidFill>
          <a:ln w="25400">
            <a:solidFill>
              <a:srgbClr val="2E8A4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201168" y="749808"/>
            <a:ext cx="64008" cy="1920240"/>
          </a:xfrm>
          <a:prstGeom prst="rect">
            <a:avLst/>
          </a:prstGeom>
          <a:solidFill>
            <a:srgbClr val="2E8A4A"/>
          </a:solidFill>
          <a:ln w="12700">
            <a:solidFill>
              <a:srgbClr val="2E8A4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256032" y="694944"/>
            <a:ext cx="822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600" b="1" dirty="0">
                <a:solidFill>
                  <a:srgbClr val="4AE8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600" dirty="0"/>
          </a:p>
        </p:txBody>
      </p:sp>
      <p:sp>
        <p:nvSpPr>
          <p:cNvPr id="13" name="Text 10"/>
          <p:cNvSpPr/>
          <p:nvPr/>
        </p:nvSpPr>
        <p:spPr>
          <a:xfrm>
            <a:off x="877824" y="841248"/>
            <a:ext cx="795528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50" i="1" dirty="0">
                <a:solidFill>
                  <a:srgbClr val="EEFF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 es genuino ningún arrepentimiento que no obre una reforma. La justicia de Cristo no es un manto para cubrir pecados que no han sido confesados ni abandonados; es un principio de vida que transforma el carácter y rige la conducta. La santidad es integridad para con Dios; es la entrega total del corazón y la vida para que en ellos residan los principios del cielo."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77824" y="2670048"/>
            <a:ext cx="7955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AE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Elena G. de White, El camino a Cristo, p. 57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01168" y="2944368"/>
            <a:ext cx="8741664" cy="4572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329184" y="30358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Reflexiona: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29184" y="3328416"/>
            <a:ext cx="8485632" cy="1444752"/>
          </a:xfrm>
          <a:prstGeom prst="rect">
            <a:avLst/>
          </a:prstGeom>
          <a:noFill/>
          <a:ln/>
          <a:effectLst>
            <a:outerShdw blurRad="177800" dist="38100" dir="8100000" algn="bl" rotWithShape="0">
              <a:srgbClr val="000000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¿Hay algo que has confesado repetidamente sin abandonarlo? ¿Cómo la revelación del carácter de Dios en Éxodo 34 puede cambiar tu actitud esta semana hacia el arrepentimiento y el perdón?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4864" cy="676656"/>
          </a:xfrm>
          <a:prstGeom prst="rect">
            <a:avLst/>
          </a:prstGeom>
          <a:solidFill>
            <a:srgbClr val="7A1010"/>
          </a:solidFill>
          <a:ln w="12700">
            <a:solidFill>
              <a:srgbClr val="7A101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128016" y="18288"/>
            <a:ext cx="9144000" cy="64008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3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solidFill>
            <a:srgbClr val="7A1010"/>
          </a:solidFill>
          <a:ln w="12700">
            <a:solidFill>
              <a:srgbClr val="7A101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182880" y="64008"/>
            <a:ext cx="566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7824" y="118872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B0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4  ·  CREA  —  MI DECISIÓN  ·  Esta semana decido...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82880" y="749808"/>
            <a:ext cx="7059168" cy="347472"/>
          </a:xfrm>
          <a:prstGeom prst="rect">
            <a:avLst/>
          </a:prstGeom>
          <a:solidFill>
            <a:srgbClr val="0E1E34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10896" y="749808"/>
            <a:ext cx="6876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decisión esta semana...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51776" y="749808"/>
            <a:ext cx="877824" cy="347472"/>
          </a:xfrm>
          <a:prstGeom prst="rect">
            <a:avLst/>
          </a:prstGeom>
          <a:solidFill>
            <a:srgbClr val="1A5C28"/>
          </a:solidFill>
          <a:ln w="12700">
            <a:solidFill>
              <a:srgbClr val="5AE07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7351776" y="74980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339328" y="749808"/>
            <a:ext cx="877824" cy="347472"/>
          </a:xfrm>
          <a:prstGeom prst="rect">
            <a:avLst/>
          </a:prstGeom>
          <a:solidFill>
            <a:srgbClr val="5C1A1A"/>
          </a:solidFill>
          <a:ln w="1270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8339328" y="749808"/>
            <a:ext cx="877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182880" y="1152144"/>
            <a:ext cx="7059168" cy="1261872"/>
          </a:xfrm>
          <a:prstGeom prst="rect">
            <a:avLst/>
          </a:prstGeom>
          <a:solidFill>
            <a:srgbClr val="0E1E34"/>
          </a:solidFill>
          <a:ln w="15240">
            <a:solidFill>
              <a:srgbClr val="00C896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182880" y="1152144"/>
            <a:ext cx="64008" cy="12618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292608" y="1508760"/>
            <a:ext cx="548640" cy="548640"/>
          </a:xfrm>
          <a:prstGeom prst="lin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29260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969264" y="1261872"/>
            <a:ext cx="6144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 arrodillo esta semana ante el Dios de Éxodo 34 y le confieso con honestidad el pecado que he estado ocultando o justificando (Éxo. 34:8-9; 1 Juan 1:9).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351776" y="1152144"/>
            <a:ext cx="877824" cy="1261872"/>
          </a:xfrm>
          <a:prstGeom prst="rect">
            <a:avLst/>
          </a:prstGeom>
          <a:solidFill>
            <a:srgbClr val="0A2014"/>
          </a:solidFill>
          <a:ln w="25400">
            <a:solidFill>
              <a:srgbClr val="4AE06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7562088" y="1325880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4AE0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9"/>
          <p:cNvSpPr/>
          <p:nvPr/>
        </p:nvSpPr>
        <p:spPr>
          <a:xfrm>
            <a:off x="7351776" y="1837944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8339328" y="1152144"/>
            <a:ext cx="877824" cy="1261872"/>
          </a:xfrm>
          <a:prstGeom prst="rect">
            <a:avLst/>
          </a:prstGeom>
          <a:solidFill>
            <a:srgbClr val="200A0A"/>
          </a:solidFill>
          <a:ln w="25400">
            <a:solidFill>
              <a:srgbClr val="E0606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8549640" y="1325880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/>
          <p:nvPr/>
        </p:nvSpPr>
        <p:spPr>
          <a:xfrm>
            <a:off x="8339328" y="1837944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82880" y="2487168"/>
            <a:ext cx="7059168" cy="1261872"/>
          </a:xfrm>
          <a:prstGeom prst="rect">
            <a:avLst/>
          </a:prstGeom>
          <a:solidFill>
            <a:srgbClr val="0A1828"/>
          </a:solidFill>
          <a:ln w="15240">
            <a:solidFill>
              <a:srgbClr val="00C896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4"/>
          <p:cNvSpPr/>
          <p:nvPr/>
        </p:nvSpPr>
        <p:spPr>
          <a:xfrm>
            <a:off x="182880" y="2487168"/>
            <a:ext cx="64008" cy="12618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292608" y="2843784"/>
            <a:ext cx="548640" cy="548640"/>
          </a:xfrm>
          <a:prstGeom prst="lin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/>
          <p:nvPr/>
        </p:nvSpPr>
        <p:spPr>
          <a:xfrm>
            <a:off x="292608" y="2843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69264" y="2596896"/>
            <a:ext cx="6144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Recibo la túnica de justicia de Jesús esta semana: dejo de intentar coser la mía y acepto la que solo él puede dar (Isa. 61:10; Zac. 3:3-5; Apoc. 3:18).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7351776" y="2487168"/>
            <a:ext cx="877824" cy="1261872"/>
          </a:xfrm>
          <a:prstGeom prst="rect">
            <a:avLst/>
          </a:prstGeom>
          <a:solidFill>
            <a:srgbClr val="0A2014"/>
          </a:solidFill>
          <a:ln w="25400">
            <a:solidFill>
              <a:srgbClr val="4AE06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29"/>
          <p:cNvSpPr/>
          <p:nvPr/>
        </p:nvSpPr>
        <p:spPr>
          <a:xfrm>
            <a:off x="7562088" y="2660904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4AE0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/>
          <p:nvPr/>
        </p:nvSpPr>
        <p:spPr>
          <a:xfrm>
            <a:off x="7351776" y="317296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339328" y="2487168"/>
            <a:ext cx="877824" cy="1261872"/>
          </a:xfrm>
          <a:prstGeom prst="rect">
            <a:avLst/>
          </a:prstGeom>
          <a:solidFill>
            <a:srgbClr val="200A0A"/>
          </a:solidFill>
          <a:ln w="25400">
            <a:solidFill>
              <a:srgbClr val="E0606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2"/>
          <p:cNvSpPr/>
          <p:nvPr/>
        </p:nvSpPr>
        <p:spPr>
          <a:xfrm>
            <a:off x="8549640" y="2660904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6" name="Text 33"/>
          <p:cNvSpPr/>
          <p:nvPr/>
        </p:nvSpPr>
        <p:spPr>
          <a:xfrm>
            <a:off x="8339328" y="3172968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182880" y="3822192"/>
            <a:ext cx="7059168" cy="1261872"/>
          </a:xfrm>
          <a:prstGeom prst="rect">
            <a:avLst/>
          </a:prstGeom>
          <a:solidFill>
            <a:srgbClr val="0E1E34"/>
          </a:solidFill>
          <a:ln w="15240">
            <a:solidFill>
              <a:srgbClr val="00C896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8" name="Shape 35"/>
          <p:cNvSpPr/>
          <p:nvPr/>
        </p:nvSpPr>
        <p:spPr>
          <a:xfrm>
            <a:off x="182880" y="3822192"/>
            <a:ext cx="64008" cy="12618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Shape 36"/>
          <p:cNvSpPr/>
          <p:nvPr/>
        </p:nvSpPr>
        <p:spPr>
          <a:xfrm>
            <a:off x="292608" y="4178808"/>
            <a:ext cx="548640" cy="548640"/>
          </a:xfrm>
          <a:prstGeom prst="lin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0" name="Text 37"/>
          <p:cNvSpPr/>
          <p:nvPr/>
        </p:nvSpPr>
        <p:spPr>
          <a:xfrm>
            <a:off x="292608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969264" y="3931920"/>
            <a:ext cx="614476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Perdono esta semana a alguien que me ha herido, con la misma medida con que Dios me perdona a mí, porque el perdón recibido que no se comparte deja de fluir (Mat. 6:12; Efe. 4:32).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7351776" y="3822192"/>
            <a:ext cx="877824" cy="1261872"/>
          </a:xfrm>
          <a:prstGeom prst="rect">
            <a:avLst/>
          </a:prstGeom>
          <a:solidFill>
            <a:srgbClr val="0A2014"/>
          </a:solidFill>
          <a:ln w="25400">
            <a:solidFill>
              <a:srgbClr val="4AE06A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3" name="Shape 40"/>
          <p:cNvSpPr/>
          <p:nvPr/>
        </p:nvSpPr>
        <p:spPr>
          <a:xfrm>
            <a:off x="7562088" y="3995928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4AE06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4" name="Text 41"/>
          <p:cNvSpPr/>
          <p:nvPr/>
        </p:nvSpPr>
        <p:spPr>
          <a:xfrm>
            <a:off x="7351776" y="4507992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F0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SÍ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8339328" y="3822192"/>
            <a:ext cx="877824" cy="1261872"/>
          </a:xfrm>
          <a:prstGeom prst="rect">
            <a:avLst/>
          </a:prstGeom>
          <a:solidFill>
            <a:srgbClr val="200A0A"/>
          </a:solidFill>
          <a:ln w="25400">
            <a:solidFill>
              <a:srgbClr val="E06060"/>
            </a:solidFill>
            <a:prstDash val="solid"/>
          </a:ln>
          <a:effectLst>
            <a:outerShdw blurRad="152400" dist="381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6" name="Shape 43"/>
          <p:cNvSpPr/>
          <p:nvPr/>
        </p:nvSpPr>
        <p:spPr>
          <a:xfrm>
            <a:off x="8549640" y="3995928"/>
            <a:ext cx="457200" cy="457200"/>
          </a:xfrm>
          <a:prstGeom prst="rect">
            <a:avLst/>
          </a:prstGeom>
          <a:solidFill>
            <a:srgbClr val="000000">
              <a:alpha val="45000"/>
            </a:srgbClr>
          </a:solidFill>
          <a:ln w="31750">
            <a:solidFill>
              <a:srgbClr val="E0606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4"/>
          <p:cNvSpPr/>
          <p:nvPr/>
        </p:nvSpPr>
        <p:spPr>
          <a:xfrm>
            <a:off x="8339328" y="4507992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0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</a:t>
            </a:r>
            <a:endParaRPr lang="en-US" sz="1500" dirty="0"/>
          </a:p>
        </p:txBody>
      </p:sp>
      <p:sp>
        <p:nvSpPr>
          <p:cNvPr id="48" name="Text 45"/>
          <p:cNvSpPr/>
          <p:nvPr/>
        </p:nvSpPr>
        <p:spPr>
          <a:xfrm>
            <a:off x="182880" y="4686300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«Dios tierno y compasivo, paciente y grande en amor y verdad. Por mil generaciones se mantiene fiel en su amor y perdona la maldad, la rebeldía y el pecado.» (Éxo. 34:6-7)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38000"/>
            </a:srgbClr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3"/>
          <p:cNvSpPr/>
          <p:nvPr/>
        </p:nvSpPr>
        <p:spPr>
          <a:xfrm>
            <a:off x="274320" y="621792"/>
            <a:ext cx="85953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¡Gracias!</a:t>
            </a:r>
            <a:endParaRPr lang="en-US" sz="7800" dirty="0"/>
          </a:p>
        </p:txBody>
      </p:sp>
      <p:sp>
        <p:nvSpPr>
          <p:cNvPr id="7" name="Text 4"/>
          <p:cNvSpPr/>
          <p:nvPr/>
        </p:nvSpPr>
        <p:spPr>
          <a:xfrm>
            <a:off x="274320" y="2907792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 err="1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Lección</a:t>
            </a:r>
            <a:r>
              <a:rPr lang="en-US" sz="1600" i="1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Joven 10  </a:t>
            </a:r>
            <a:r>
              <a:rPr lang="en-US" sz="1600" i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 Arrepentimiento y perdón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74320" y="3401568"/>
            <a:ext cx="8595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DD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- DSA  ·  II Trimestre 2026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0" y="4960620"/>
            <a:ext cx="9144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77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Tito Goicochea M.  ·  NEED - DSA  ·  II Trimestre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1183</Words>
  <Application>Microsoft Macintosh PowerPoint</Application>
  <PresentationFormat>Presentación en pantalla (16:9)</PresentationFormat>
  <Paragraphs>93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Georgia</vt:lpstr>
      <vt:lpstr>Trebuchet MS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Bosquejo LES Joven L10 — Arrepentimiento y perdón</dc:title>
  <dc:subject>PptxGenJS Presentation</dc:subject>
  <dc:creator>Dr. Tito Goicochea M.</dc:creator>
  <cp:lastModifiedBy>Tito Goicochea Malaver</cp:lastModifiedBy>
  <cp:revision>2</cp:revision>
  <dcterms:created xsi:type="dcterms:W3CDTF">2026-03-29T17:48:04Z</dcterms:created>
  <dcterms:modified xsi:type="dcterms:W3CDTF">2026-03-29T18:05:48Z</dcterms:modified>
</cp:coreProperties>
</file>