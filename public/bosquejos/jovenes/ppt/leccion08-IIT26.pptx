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22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01168" y="292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JOVEN 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786384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FE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Marcos 9:14-29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mayo de 2026  ·  II Trimestre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 ·  MOTIVA  (INICIA)  —  ¿Por qué es importante este estudio para mi vida?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8778240" cy="475488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29184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0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 de la semana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74980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B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9:14-29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82880" y="1298448"/>
            <a:ext cx="8778240" cy="1536192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44446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82880" y="1298448"/>
            <a:ext cx="54864" cy="1536192"/>
          </a:xfrm>
          <a:prstGeom prst="rect">
            <a:avLst/>
          </a:prstGeom>
          <a:solidFill>
            <a:srgbClr val="5566AA"/>
          </a:solidFill>
          <a:ln w="12700">
            <a:solidFill>
              <a:srgbClr val="5566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10896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Central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" y="1609344"/>
            <a:ext cx="8503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9:14-29 coloca la fe en el centro de una crisis real: un padre desesperado, discípulos impotentes y un hijo sufriente. Jesús no exige fe perfecta; responde a la fe mínima que clama «Ayúdame a creer más». La fe genuina no es ausencia de duda sino decisión de acudir a Cristo con lo que se tiene.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82880" y="2907792"/>
            <a:ext cx="8778240" cy="1828800"/>
          </a:xfrm>
          <a:prstGeom prst="rect">
            <a:avLst/>
          </a:prstGeom>
          <a:solidFill>
            <a:srgbClr val="0A1830">
              <a:alpha val="85000"/>
            </a:srgbClr>
          </a:solidFill>
          <a:ln w="2540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82880" y="2907792"/>
            <a:ext cx="54864" cy="182880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— Gran Pregunta de la Semana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0896" y="32918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diferencia hay entre la fe como sentimiento y la fe como decisión, y cómo respondemos cuando sentimos que la nuestra no es suficiente?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1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6B3A">
              <a:alpha val="90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7AE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9:14-19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7AE8A0">
              <a:alpha val="55000"/>
            </a:srgbClr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los discípulos no pueden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revela el fracaso de los discípulos sobre las causas de la fe débil, y cómo reacciona Jesús ante esa impotencia?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discípulos tenían autoridad delegada para echar demonios, pero fallaron. El problema no era su técnica sino el estado de su relación con Dios. (Mar. 9:19; Mar. 6:7; Juan 15:5)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los llama «generación incrédula»: la fe no opera aislada de la comunión con Jesús. (Mat. 17:20; Juan 14:1)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Jesús cuando todo falló es en sí mismo un acto de fe. El padre acudió a él a pesar del fracaso de los discípulos. (Mar. 9:17-18; Heb. 12:2)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6B3A">
              <a:alpha val="75000"/>
            </a:srgbClr>
          </a:solidFill>
          <a:ln w="127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alpinista ciego subió el Everest confiando en la voz de su guía. No veía el camino ni tenía garantías. Solo siguió la voz, paso a paso. La fe bíblica no es ver todo: es caminar porque confías en quien te llama.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2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8B2B00">
              <a:alpha val="90000"/>
            </a:srgbClr>
          </a:solidFill>
          <a:ln w="254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4A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9:20-24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F4A878">
              <a:alpha val="55000"/>
            </a:srgbClr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fe con duda incluida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Jesús responde a la petición del padre que mezcla fe y duda, y qué aprendemos sobre la naturaleza de la fe que Dios acepta?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8B2B00"/>
          </a:solidFill>
          <a:ln w="12700">
            <a:solidFill>
              <a:srgbClr val="8B2B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formula una petición llena de duda: «Si puedes hacer algo…». Jesús no lo descalifica: «Todo es posible para el que cree». (Mar. 9:22-24; Rom. 12:3)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del padre es honesta: «Creo; ayúdame a creer más». Eso es suficiente para Jesús. (Mar. 9:24; Mat. 17:20)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 no es un sentimiento ni una certeza absoluta; es la decisión de dirigirse a Cristo con lo que se tiene, incluyendo la duda. (Heb. 11:6)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8B2B00">
              <a:alpha val="75000"/>
            </a:srgbClr>
          </a:solidFill>
          <a:ln w="127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duda no es lo opuesto de la fe; la indiferencia lo es. Pedro dudó mientras caminaba sobre el agua, pero al menos salió del bote. Los que quedaron adentro no tuvieron dudas porque nunca intentaron nada.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3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4A8C">
              <a:alpha val="90000"/>
            </a:srgbClr>
          </a:solidFill>
          <a:ln w="254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88C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Marcos 9:25-29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88C0F8">
              <a:alpha val="55000"/>
            </a:srgbClr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fe que ora y ayuna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Jesús dice que este tipo de demonio no puede ser expulsado sino con oración y ayuno, y qué nos enseña sobre cultivar una fe que actúa?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«Este género no puede salir sino con oración y ayuno»: la fe eficaz no es un momento de emoción religiosa; crece en la disciplina de la comunión profunda con Dios. (Mar. 9:29; Dan. 9:3)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es el origen y perfeccionador de la fe (Heb. 12:2): nuestra fe crece al mirar a él. (Heb. 12:2; Apoc. 14:12)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pueblo de los últimos días tiene la fe de Jesús: no solo fe en él, sino la misma fe arraigada en una relación real con el Padre. (Gal. 2:20)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4A8C">
              <a:alpha val="75000"/>
            </a:srgbClr>
          </a:solidFill>
          <a:ln w="127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músico no espera sentirse inspirado para practicar: practica y la inspiración viene. La fe funciona igual: no espera sentirla para orar; ora y la fe crece. Los discípulos fallaron por falta de práctica.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F0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 ·  APLICA  (REFLEXIONA)  —  Reflexión y aplicación a la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8741664" cy="1920240"/>
          </a:xfrm>
          <a:prstGeom prst="rect">
            <a:avLst/>
          </a:prstGeom>
          <a:solidFill>
            <a:srgbClr val="000000">
              <a:alpha val="75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01168" y="749808"/>
            <a:ext cx="64008" cy="1920240"/>
          </a:xfrm>
          <a:prstGeom prst="rect">
            <a:avLst/>
          </a:prstGeom>
          <a:solidFill>
            <a:srgbClr val="2E8A4A"/>
          </a:solidFill>
          <a:ln w="12700">
            <a:solidFill>
              <a:srgbClr val="2E8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6032" y="6949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4AE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877824" y="841248"/>
            <a:ext cx="79552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i="1" dirty="0">
                <a:solidFill>
                  <a:srgbClr val="EE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nada al parecer tan débil, y no obstante tan invencible, como el alma que siente su insignificancia y confía por completo en los méritos del Salvador. Mediante la oración, el estudio de su Palabra y el creer que su presencia mora en el corazón, el más débil ser humano puede vincularse con el Cristo vivo, quien lo tendrá de la mano y nunca lo soltará."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7824" y="2670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AE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G. de White, El ministerio de curación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" y="2944368"/>
            <a:ext cx="8741664" cy="4572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29184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Reflexiona: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" y="3328416"/>
            <a:ext cx="8485632" cy="1444752"/>
          </a:xfrm>
          <a:prstGeom prst="rect">
            <a:avLst/>
          </a:prstGeom>
          <a:noFill/>
          <a:ln/>
          <a:effectLst>
            <a:outerShdw blurRad="177800" dist="38100" dir="8100000" algn="bl" rotWithShape="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¿En qué área de tu vida sientes que tu fe es como la del padre —mezclada con duda— y no has acudido a Jesús todavía porque no te sientes listo? ¿Qué harás esta semana para ir a él con lo que tienes?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 ·  CREA  —  MI DECISIÓN  ·  Esta semana decido...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7059168" cy="347472"/>
          </a:xfrm>
          <a:prstGeom prst="rect">
            <a:avLst/>
          </a:prstGeom>
          <a:solidFill>
            <a:srgbClr val="0E1E34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10896" y="74980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decisión esta semana...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solidFill>
            <a:srgbClr val="1A5C28"/>
          </a:solidFill>
          <a:ln w="12700">
            <a:solidFill>
              <a:srgbClr val="5AE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solidFill>
            <a:srgbClr val="5C1A1A"/>
          </a:solidFill>
          <a:ln w="1270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82880" y="1152144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82880" y="1152144"/>
            <a:ext cx="64008" cy="126187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292608" y="1508760"/>
            <a:ext cx="548640" cy="548640"/>
          </a:xfrm>
          <a:prstGeom prst="line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926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9264" y="1261872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Acudo a Jesús esta semana con la honestidad del padre: «Creo; ayúdame a creer más», en esa situación donde mi fe es débil (Mar. 9:24; Heb. 11:6).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1152144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562088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51776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39328" y="1152144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8549640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8339328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82880" y="2487168"/>
            <a:ext cx="7059168" cy="1261872"/>
          </a:xfrm>
          <a:prstGeom prst="rect">
            <a:avLst/>
          </a:prstGeom>
          <a:solidFill>
            <a:srgbClr val="0A1828"/>
          </a:solidFill>
          <a:ln w="1524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182880" y="2487168"/>
            <a:ext cx="64008" cy="126187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292608" y="2843784"/>
            <a:ext cx="548640" cy="548640"/>
          </a:xfrm>
          <a:prstGeom prst="line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292608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69264" y="2596896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Construyo mi fe con la práctica diaria de la oración y el estudio de la Biblia esta semana, sabiendo que la fe crece con el uso (Mar. 9:29; Rom. 10:17).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51776" y="2487168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562088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7351776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339328" y="2487168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8549640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339328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82880" y="3822192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82880" y="3822192"/>
            <a:ext cx="64008" cy="126187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292608" y="4178808"/>
            <a:ext cx="548640" cy="548640"/>
          </a:xfrm>
          <a:prstGeom prst="line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29260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69264" y="3931920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Elijo nutrir la creencia y no la duda: me concentraré en las evidencias de la fidelidad de Dios en mi historia, no en mis miedos (Heb. 12:2; Fil. 4:8).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351776" y="3822192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7562088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7351776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339328" y="3822192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549640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8339328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82880" y="46863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«¡Todo es posible para el que cree!» (Mar. 9:23)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74320" y="621792"/>
            <a:ext cx="8595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</a:t>
            </a:r>
            <a:r>
              <a:rPr lang="en-US" sz="1600" i="1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Joven 8  </a:t>
            </a:r>
            <a:r>
              <a:rPr lang="en-US" sz="1600" i="1" dirty="0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La fe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3401568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  ·  II Trimestre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</Words>
  <Application>Microsoft Macintosh PowerPoint</Application>
  <PresentationFormat>Presentación en pantalla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Bosquejo LES Joven L8 — La fe</dc:title>
  <dc:subject>PptxGenJS Presentation</dc:subject>
  <dc:creator>Dr. Tito Goicochea M.</dc:creator>
  <cp:lastModifiedBy>Tito Goicochea Malaver</cp:lastModifiedBy>
  <cp:revision>2</cp:revision>
  <dcterms:created xsi:type="dcterms:W3CDTF">2026-03-29T17:48:04Z</dcterms:created>
  <dcterms:modified xsi:type="dcterms:W3CDTF">2026-03-29T18:03:42Z</dcterms:modified>
</cp:coreProperties>
</file>